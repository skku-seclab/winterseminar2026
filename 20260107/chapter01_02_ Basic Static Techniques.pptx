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65" r:id="rId3"/>
    <p:sldId id="258" r:id="rId4"/>
    <p:sldId id="266" r:id="rId5"/>
    <p:sldId id="268" r:id="rId6"/>
    <p:sldId id="269" r:id="rId7"/>
    <p:sldId id="270" r:id="rId8"/>
    <p:sldId id="271" r:id="rId9"/>
    <p:sldId id="272" r:id="rId10"/>
    <p:sldId id="273" r:id="rId11"/>
    <p:sldId id="278" r:id="rId12"/>
    <p:sldId id="279" r:id="rId13"/>
    <p:sldId id="282" r:id="rId14"/>
    <p:sldId id="276" r:id="rId15"/>
    <p:sldId id="277" r:id="rId16"/>
    <p:sldId id="280" r:id="rId17"/>
    <p:sldId id="281" r:id="rId18"/>
    <p:sldId id="274" r:id="rId19"/>
    <p:sldId id="283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284" r:id="rId30"/>
    <p:sldId id="287" r:id="rId31"/>
    <p:sldId id="288" r:id="rId32"/>
    <p:sldId id="289" r:id="rId33"/>
    <p:sldId id="290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A60"/>
    <a:srgbClr val="FF6C0F"/>
    <a:srgbClr val="8DC63F"/>
    <a:srgbClr val="0E3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80952" autoAdjust="0"/>
  </p:normalViewPr>
  <p:slideViewPr>
    <p:cSldViewPr snapToGrid="0">
      <p:cViewPr varScale="1">
        <p:scale>
          <a:sx n="90" d="100"/>
          <a:sy n="90" d="100"/>
        </p:scale>
        <p:origin x="1398" y="9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CC621-216F-499B-9B5B-408EB0F55172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5C1BC-9048-44A1-A535-90989F6A5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2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283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271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821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272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318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420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117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388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915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437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528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205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690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1543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151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2677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7831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587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246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602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55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7706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7129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https://naado.tistory.com/39</a:t>
            </a:r>
          </a:p>
          <a:p>
            <a:endParaRPr lang="en-US" altLang="ko-KR" dirty="0"/>
          </a:p>
          <a:p>
            <a:r>
              <a:rPr lang="ko-KR" altLang="en-US" dirty="0"/>
              <a:t>툴들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5C1BC-9048-44A1-A535-90989F6A5F23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462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EA856-137F-2B6D-616D-6524FE1D6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764787"/>
            <a:ext cx="10668000" cy="1893211"/>
          </a:xfrm>
        </p:spPr>
        <p:txBody>
          <a:bodyPr anchor="ctr"/>
          <a:lstStyle>
            <a:lvl1pPr algn="l">
              <a:defRPr sz="6000" b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DFD40D-EB18-2D99-EABE-E1CF76390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" y="265799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01E629-6076-4A10-B553-9E9948D8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BDF8-D6E6-4735-97F7-0BB98E86D14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A2DAC7-9A9A-14FD-8604-D0F76C290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CB6408-98B0-E8EB-0392-741CC730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B566-F391-4F4F-B3C9-3DF2634BAA2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9546FC-575E-F7BC-69F3-AEFB2C420EDE}"/>
              </a:ext>
            </a:extLst>
          </p:cNvPr>
          <p:cNvSpPr/>
          <p:nvPr userDrawn="1"/>
        </p:nvSpPr>
        <p:spPr>
          <a:xfrm>
            <a:off x="177800" y="496110"/>
            <a:ext cx="10983686" cy="6041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9FE1E4-8FDD-A2F1-0A8C-A8DA2FAD8653}"/>
              </a:ext>
            </a:extLst>
          </p:cNvPr>
          <p:cNvSpPr/>
          <p:nvPr userDrawn="1"/>
        </p:nvSpPr>
        <p:spPr>
          <a:xfrm>
            <a:off x="0" y="6415236"/>
            <a:ext cx="12192000" cy="45561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67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E8D63-39E0-86B0-04C5-9EAAD3CB7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4A8F0-F2E2-9920-DB0C-EB809D6B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2EF42-2F4B-C80A-627D-F58D5E653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BDF8-D6E6-4735-97F7-0BB98E86D14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3590CA-5F5A-3BB7-3ABB-6723C3991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54B139-4E94-9E86-E878-E7DAF050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B566-F391-4F4F-B3C9-3DF2634BA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05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FCB63-F80C-778D-5A1F-5F7A6E175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58B267-8060-616B-54C9-B17DFA236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55781F-0404-DEF6-EB73-F60E7127C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BDF8-D6E6-4735-97F7-0BB98E86D14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E17B42-9714-A90C-3A04-F772B452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F1932A-B38E-28EC-7C1D-304BBD34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B566-F391-4F4F-B3C9-3DF2634BA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51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6D7915-FBD5-2668-1F6F-D52A90FC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B8CFEE-DFD8-9F0D-7D54-FF6392544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4787E-B527-AB27-1813-4C42BFEB2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E6B94C-38C7-C2E4-2B83-95392820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BDF8-D6E6-4735-97F7-0BB98E86D14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2282F0-303B-90F8-2B31-4BFAA635E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6396DE-8C3F-1631-429F-C1A4F6D3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B566-F391-4F4F-B3C9-3DF2634BA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362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30245-BE11-27F2-732F-6F5B57642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1D7E12-5CDD-C7DF-766B-746845A30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271292-5B8D-AE92-91D6-0081F89A7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FCC2CF-820B-D55C-1588-43B449BB2E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896269-9A61-1201-54E2-9180BFDEE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C47627-8FFD-C39E-D516-303BB829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BDF8-D6E6-4735-97F7-0BB98E86D14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78358E5-45E0-53C1-3B43-C2AD2C67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EA9B4C-BE6A-6063-E649-CE62CCD9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B566-F391-4F4F-B3C9-3DF2634BA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124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B73C8-972A-468C-574A-08ACCAFED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D59512-6035-2ADC-7EF5-87426AF7F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BDF8-D6E6-4735-97F7-0BB98E86D14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5D7133-53C4-9863-CACC-6AC7E4A9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93BAF3-CB52-B9C7-9D40-206CE521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B566-F391-4F4F-B3C9-3DF2634BA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83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F2CF250-1A1E-29A7-F874-C5F4A7E0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BDF8-D6E6-4735-97F7-0BB98E86D14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F92DF1-2C2D-D62C-EEDB-79A1A7030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04DC36-5A51-F99D-2668-348A304D6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B566-F391-4F4F-B3C9-3DF2634BA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73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AF488-1A6B-46CB-B9A4-5FEDA36AD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280D3C-3684-7111-55D7-402A715E6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4AC225-2507-9DD3-A0D6-FB203E341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BCF66E-0A54-BA35-35BF-6EBE4BEE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BDF8-D6E6-4735-97F7-0BB98E86D14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F23E52-700E-F33F-02A8-F4632CAD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B67D2B-46AC-CBA2-682C-727F7799F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B566-F391-4F4F-B3C9-3DF2634BA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51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7D55FF-397F-67E5-0568-FB6E384C8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2EEA18-3E4B-28F0-2007-CA8E625F5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2A92D1-BB7E-1FA4-0E70-8B79582D3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F6492C-9E39-E434-8134-590ACE7EA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BDF8-D6E6-4735-97F7-0BB98E86D14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839415-3375-1BC8-E389-DC42DDE48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315BF3-4214-12E1-42A6-FC5894865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B566-F391-4F4F-B3C9-3DF2634BA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885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6DC272-A4F6-4716-A654-E6A3855C0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DB2CE3-5A83-5C6B-B19E-A2F4621EC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2F4E4C-55FF-9BCF-DC44-44C196675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BDF8-D6E6-4735-97F7-0BB98E86D14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DFA59F-C91E-A3B7-BF01-AA390CAD6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E40FB1-61A5-5E8F-4861-C92CF5B7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B566-F391-4F4F-B3C9-3DF2634BA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38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EA6376D-738C-D4D6-6D5D-2FD798B05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0F6584-9235-C524-5AB3-36806D6FF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159D79-F4E1-528E-140C-2BF3F84B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BDF8-D6E6-4735-97F7-0BB98E86D14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B38AA3-E8A7-7D53-5348-57A1F8FFC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6DA94D-2DB4-FCFF-CEB6-AE1ACC3D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B566-F391-4F4F-B3C9-3DF2634BA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62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B8B6EA6-4765-0E8C-FDBD-6566AFB29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486" y="136525"/>
            <a:ext cx="11219543" cy="955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726C8B-2F27-C9D7-375B-A0134CCC5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486" y="1509486"/>
            <a:ext cx="11219543" cy="4667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4B7BC0-356D-9000-2746-7C10D7724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BBDF8-D6E6-4735-97F7-0BB98E86D14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430E43-0645-3FE8-CCFC-68AE14CE9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668500-28C2-5981-86EA-E1695133E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7B566-F391-4F4F-B3C9-3DF2634BAA2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7B87D8-727D-A088-E4FB-C3428C8541D6}"/>
              </a:ext>
            </a:extLst>
          </p:cNvPr>
          <p:cNvSpPr/>
          <p:nvPr userDrawn="1"/>
        </p:nvSpPr>
        <p:spPr>
          <a:xfrm>
            <a:off x="0" y="6415236"/>
            <a:ext cx="12192000" cy="455617"/>
          </a:xfrm>
          <a:prstGeom prst="rect">
            <a:avLst/>
          </a:prstGeom>
          <a:solidFill>
            <a:srgbClr val="072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85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72A60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A220C-1DD8-78A5-0CCC-42E2B59E8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764787"/>
            <a:ext cx="10697030" cy="1893211"/>
          </a:xfrm>
        </p:spPr>
        <p:txBody>
          <a:bodyPr anchor="ctr">
            <a:noAutofit/>
          </a:bodyPr>
          <a:lstStyle/>
          <a:p>
            <a:r>
              <a:rPr lang="en-US" altLang="ko-KR" sz="4800" b="1" dirty="0">
                <a:solidFill>
                  <a:srgbClr val="072A60"/>
                </a:solidFill>
                <a:latin typeface="Cambria" panose="02040503050406030204" pitchFamily="18" charset="0"/>
              </a:rPr>
              <a:t>Practical malware analysis</a:t>
            </a:r>
            <a:endParaRPr lang="ko-KR" altLang="en-US" sz="4800" b="1" dirty="0">
              <a:solidFill>
                <a:srgbClr val="072A6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65F1F0-676D-D5D3-FB8C-08B962D7D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9525" y="2657998"/>
            <a:ext cx="9144000" cy="496501"/>
          </a:xfrm>
        </p:spPr>
        <p:txBody>
          <a:bodyPr anchor="ctr">
            <a:normAutofit/>
          </a:bodyPr>
          <a:lstStyle/>
          <a:p>
            <a:r>
              <a:rPr lang="en-US" altLang="ko-KR" sz="1800" dirty="0">
                <a:solidFill>
                  <a:srgbClr val="072A60"/>
                </a:solidFill>
                <a:latin typeface="Cambria" panose="02040503050406030204" pitchFamily="18" charset="0"/>
              </a:rPr>
              <a:t>Chapter 0-1</a:t>
            </a:r>
            <a:endParaRPr lang="ko-KR" altLang="en-US" sz="1800" dirty="0">
              <a:solidFill>
                <a:srgbClr val="072A60"/>
              </a:solidFill>
              <a:latin typeface="Cambria" panose="02040503050406030204" pitchFamily="18" charset="0"/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577A180F-C9CE-24BB-A351-5631A43CC06D}"/>
              </a:ext>
            </a:extLst>
          </p:cNvPr>
          <p:cNvSpPr txBox="1">
            <a:spLocks/>
          </p:cNvSpPr>
          <p:nvPr/>
        </p:nvSpPr>
        <p:spPr>
          <a:xfrm>
            <a:off x="203200" y="5024063"/>
            <a:ext cx="9144000" cy="1069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rgbClr val="072A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Presenter</a:t>
            </a:r>
          </a:p>
          <a:p>
            <a:r>
              <a:rPr lang="en-US" altLang="ko-KR" sz="2000" dirty="0" err="1">
                <a:solidFill>
                  <a:srgbClr val="072A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Soolin</a:t>
            </a:r>
            <a:r>
              <a:rPr lang="en-US" altLang="ko-KR" sz="2000" dirty="0">
                <a:solidFill>
                  <a:srgbClr val="072A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Kim</a:t>
            </a:r>
            <a:endParaRPr lang="ko-KR" altLang="en-US" sz="2000" dirty="0">
              <a:solidFill>
                <a:srgbClr val="072A6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328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11381-D822-4E0C-3C44-C94684B50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is Malware?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DE3948-EA6B-CBEA-ED96-24A55786D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Malware is defined as software designed to disrupt, damage, or gain unauthorized access to systems.</a:t>
            </a:r>
          </a:p>
          <a:p>
            <a:pPr lvl="1"/>
            <a:r>
              <a:rPr lang="en-US" altLang="ko-KR" dirty="0"/>
              <a:t>any software that harms users, systems, or networks</a:t>
            </a:r>
          </a:p>
          <a:p>
            <a:r>
              <a:rPr lang="en-US" altLang="ko-KR" dirty="0"/>
              <a:t>Classification is based on behavior and impact rather than names or labels.</a:t>
            </a:r>
          </a:p>
          <a:p>
            <a:r>
              <a:rPr lang="en-US" altLang="ko-KR" dirty="0"/>
              <a:t>Modern malware often exhibits hybrid characteristics.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1939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B9B4B0-5725-E4BD-602D-BEB74D63D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Goals of Malware Analysis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95F3E1-37B6-A471-C41A-2AB53AAE1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define malware and explain the objectives of malware analysis.</a:t>
            </a:r>
          </a:p>
          <a:p>
            <a:r>
              <a:rPr lang="en-US" altLang="ko-KR" dirty="0"/>
              <a:t>To classify major malware types and threat models.</a:t>
            </a:r>
          </a:p>
          <a:p>
            <a:r>
              <a:rPr lang="en-US" altLang="ko-KR" dirty="0"/>
              <a:t>To distinguish static and dynamic analysis methodologies.</a:t>
            </a:r>
          </a:p>
          <a:p>
            <a:r>
              <a:rPr lang="en-US" altLang="ko-KR" dirty="0"/>
              <a:t>To apply fundamental static analysis techniques using industry-standard tools.</a:t>
            </a:r>
          </a:p>
          <a:p>
            <a:r>
              <a:rPr lang="en-US" altLang="ko-KR" dirty="0"/>
              <a:t>To interpret PE file structures and extract security-relevant artifacts.</a:t>
            </a:r>
          </a:p>
        </p:txBody>
      </p:sp>
    </p:spTree>
    <p:extLst>
      <p:ext uri="{BB962C8B-B14F-4D97-AF65-F5344CB8AC3E}">
        <p14:creationId xmlns:p14="http://schemas.microsoft.com/office/powerpoint/2010/main" val="2037114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5A6A9-7138-8A95-6E40-D5FC7744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Malware Types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2743CA-F95A-FD59-0029-324D1369E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/>
              <a:t>Backdoors</a:t>
            </a:r>
            <a:r>
              <a:rPr lang="en-US" altLang="ko-KR" dirty="0"/>
              <a:t> enable unauthorized remote access and command execution.</a:t>
            </a:r>
          </a:p>
          <a:p>
            <a:r>
              <a:rPr lang="en-US" altLang="ko-KR" b="1" dirty="0"/>
              <a:t>Botnets</a:t>
            </a:r>
            <a:r>
              <a:rPr lang="en-US" altLang="ko-KR" dirty="0"/>
              <a:t> consist of multiple compromised hosts controlled by a C2 infrastructure.</a:t>
            </a:r>
          </a:p>
          <a:p>
            <a:r>
              <a:rPr lang="en-US" altLang="ko-KR" b="1" dirty="0"/>
              <a:t>Downloaders</a:t>
            </a:r>
            <a:r>
              <a:rPr lang="en-US" altLang="ko-KR" dirty="0"/>
              <a:t> are specialized in retrieving and installing additional malware.</a:t>
            </a:r>
          </a:p>
          <a:p>
            <a:r>
              <a:rPr lang="en-US" altLang="ko-KR" b="1" dirty="0"/>
              <a:t>Information-stealing malware</a:t>
            </a:r>
            <a:r>
              <a:rPr lang="en-US" altLang="ko-KR" dirty="0"/>
              <a:t> exfiltrates sensitive data from infected systems.</a:t>
            </a:r>
          </a:p>
          <a:p>
            <a:r>
              <a:rPr lang="en-US" altLang="ko-KR" b="1" dirty="0"/>
              <a:t>Launchers</a:t>
            </a:r>
            <a:r>
              <a:rPr lang="en-US" altLang="ko-KR" dirty="0"/>
              <a:t> execute secondary malicious payloads using stealth techniques.</a:t>
            </a:r>
          </a:p>
          <a:p>
            <a:r>
              <a:rPr lang="en-US" altLang="ko-KR" b="1" dirty="0"/>
              <a:t>Rootkits</a:t>
            </a:r>
            <a:r>
              <a:rPr lang="en-US" altLang="ko-KR" dirty="0"/>
              <a:t> conceal malware presence to evade detection.</a:t>
            </a:r>
          </a:p>
          <a:p>
            <a:r>
              <a:rPr lang="en-US" altLang="ko-KR" b="1" dirty="0"/>
              <a:t>Scareware</a:t>
            </a:r>
            <a:r>
              <a:rPr lang="en-US" altLang="ko-KR" dirty="0"/>
              <a:t> manipulates user fear to induce financial gain.</a:t>
            </a:r>
          </a:p>
          <a:p>
            <a:r>
              <a:rPr lang="en-US" altLang="ko-KR" b="1" dirty="0"/>
              <a:t>Spam</a:t>
            </a:r>
            <a:r>
              <a:rPr lang="en-US" altLang="ko-KR" dirty="0"/>
              <a:t> malware abuses infected hosts for mass message distribution.</a:t>
            </a:r>
          </a:p>
          <a:p>
            <a:r>
              <a:rPr lang="en-US" altLang="ko-KR" b="1" dirty="0"/>
              <a:t>Worms</a:t>
            </a:r>
            <a:r>
              <a:rPr lang="en-US" altLang="ko-KR" dirty="0"/>
              <a:t> and </a:t>
            </a:r>
            <a:r>
              <a:rPr lang="en-US" altLang="ko-KR" b="1" dirty="0"/>
              <a:t>viruses</a:t>
            </a:r>
            <a:r>
              <a:rPr lang="en-US" altLang="ko-KR" dirty="0"/>
              <a:t> propagate autonomously across systems.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707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C6A70-2194-6CD6-E0D8-8989B74D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Outputs: Host-Based vs Network Signatures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F5FB0B-EC23-8DC1-0F22-46B70BF97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Host-based indicators derived from system artifacts</a:t>
            </a:r>
          </a:p>
          <a:p>
            <a:pPr lvl="1"/>
            <a:r>
              <a:rPr lang="en-US" altLang="ko-KR" dirty="0"/>
              <a:t>Such as files, registry keys, services, processes</a:t>
            </a:r>
          </a:p>
          <a:p>
            <a:r>
              <a:rPr lang="en-US" altLang="ko-KR" dirty="0"/>
              <a:t>Network-based indicators derived from traffic behavior</a:t>
            </a:r>
          </a:p>
          <a:p>
            <a:pPr lvl="1"/>
            <a:r>
              <a:rPr lang="en-US" altLang="ko-KR" dirty="0"/>
              <a:t>IPs/domains/URLs, ports, traffic patterns</a:t>
            </a:r>
          </a:p>
          <a:p>
            <a:r>
              <a:rPr lang="en-US" altLang="ko-KR" dirty="0"/>
              <a:t>Contextual intelligence supporting incident response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306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6B9CB-39BE-3332-0C6D-C99A45F1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Analysis Approaches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1FDF14-6DD4-84AC-10AB-98CAF2825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Static analysis: examine without execution</a:t>
            </a:r>
          </a:p>
          <a:p>
            <a:pPr lvl="1"/>
            <a:r>
              <a:rPr lang="en-US" altLang="ko-KR" dirty="0"/>
              <a:t>Basic: quick metadata and clues</a:t>
            </a:r>
          </a:p>
          <a:p>
            <a:pPr lvl="1"/>
            <a:r>
              <a:rPr lang="en-US" altLang="ko-KR" dirty="0"/>
              <a:t>Advanced: disassembly and reverse engineering</a:t>
            </a:r>
          </a:p>
          <a:p>
            <a:r>
              <a:rPr lang="en-US" altLang="ko-KR" dirty="0"/>
              <a:t>Dynamic analysis: execute and observe behavior</a:t>
            </a:r>
          </a:p>
          <a:p>
            <a:pPr lvl="1"/>
            <a:r>
              <a:rPr lang="en-US" altLang="ko-KR" dirty="0"/>
              <a:t>Basic: sandbox observation</a:t>
            </a:r>
          </a:p>
          <a:p>
            <a:pPr lvl="1"/>
            <a:r>
              <a:rPr lang="en-US" altLang="ko-KR" dirty="0"/>
              <a:t>Advanced: debugger-based inspection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446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6F856-403A-2E49-2D4C-04850491C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 Static Analysis Techniques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A2D232-3CAC-646C-4D6B-F4F827735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766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4A9A6-9A6F-1290-B51D-7B133FF13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Antivirus Scanning (</a:t>
            </a:r>
            <a:r>
              <a:rPr lang="en-US" altLang="ko-KR" dirty="0" err="1"/>
              <a:t>VirusTotal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9D046A-3C8C-92C0-CA7E-9CA9C111C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Scan with multiple engines to check prior identification</a:t>
            </a:r>
          </a:p>
          <a:p>
            <a:r>
              <a:rPr lang="en-US" altLang="ko-KR" dirty="0"/>
              <a:t>Useful early reference, not a final decision</a:t>
            </a:r>
          </a:p>
          <a:p>
            <a:r>
              <a:rPr lang="en-US" altLang="ko-KR" dirty="0"/>
              <a:t>Rare/targeted malware may evade signatures</a:t>
            </a:r>
            <a:endParaRPr lang="ko-KR" altLang="en-US" dirty="0"/>
          </a:p>
        </p:txBody>
      </p:sp>
      <p:pic>
        <p:nvPicPr>
          <p:cNvPr id="4" name="내용 개체 틀 10" descr="텍스트, 멀티미디어 소프트웨어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2113D3-928C-A5A1-ECEA-3B9D4EBAA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83" y="3458940"/>
            <a:ext cx="10551210" cy="1501610"/>
          </a:xfrm>
          <a:prstGeom prst="rect">
            <a:avLst/>
          </a:prstGeom>
        </p:spPr>
      </p:pic>
      <p:pic>
        <p:nvPicPr>
          <p:cNvPr id="5" name="그림 4" descr="멀티미디어 소프트웨어, 소프트웨어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97557A-5361-4749-29EC-FC794975F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83" y="5031190"/>
            <a:ext cx="10551210" cy="156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51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F6FEC-DD1E-7D99-5712-710954C2D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Hashing for Identification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543E89-B1C0-CA13-10FB-43929AAB2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87" y="1509486"/>
            <a:ext cx="7438402" cy="4667477"/>
          </a:xfrm>
        </p:spPr>
        <p:txBody>
          <a:bodyPr/>
          <a:lstStyle/>
          <a:p>
            <a:r>
              <a:rPr lang="en-US" altLang="ko-KR" dirty="0"/>
              <a:t>Common algorithms include MD5, SHA-1 or SHA-2 as a file fingerprint</a:t>
            </a:r>
          </a:p>
          <a:p>
            <a:r>
              <a:rPr lang="en-US" altLang="ko-KR" dirty="0"/>
              <a:t>Hash values uniquely identify binary artifacts. </a:t>
            </a:r>
          </a:p>
          <a:p>
            <a:r>
              <a:rPr lang="en-US" altLang="ko-KR" dirty="0"/>
              <a:t>Hashes facilitate sample tracking and information sharing.</a:t>
            </a:r>
            <a:endParaRPr lang="ko-KR" altLang="en-US" dirty="0"/>
          </a:p>
        </p:txBody>
      </p:sp>
      <p:pic>
        <p:nvPicPr>
          <p:cNvPr id="6" name="그림 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25FA24-0882-1B5D-4D8B-A5885F2B1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889" y="1291380"/>
            <a:ext cx="4047460" cy="427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21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5388B-CFEC-8787-95F6-278F63107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Md5deep vs WinMD5 Calculator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EFF3FC-E191-4067-C082-EA278872A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Md5deep (CLI): fast, scalable, script-friendly</a:t>
            </a:r>
          </a:p>
          <a:p>
            <a:r>
              <a:rPr lang="en-US" altLang="ko-KR" dirty="0"/>
              <a:t>WinMD5 Calculator (GUI): simple, interactive, single-file checks</a:t>
            </a:r>
          </a:p>
          <a:p>
            <a:r>
              <a:rPr lang="en-US" altLang="ko-KR" dirty="0"/>
              <a:t>Both produce the same MD5 output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9DDF0-ACFD-FBA4-4537-77E6240A53E1}"/>
              </a:ext>
            </a:extLst>
          </p:cNvPr>
          <p:cNvSpPr txBox="1"/>
          <p:nvPr/>
        </p:nvSpPr>
        <p:spPr>
          <a:xfrm>
            <a:off x="3296093" y="4486940"/>
            <a:ext cx="760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But… </a:t>
            </a:r>
            <a:endParaRPr lang="ko-KR" altLang="en-US" dirty="0"/>
          </a:p>
        </p:txBody>
      </p:sp>
      <p:pic>
        <p:nvPicPr>
          <p:cNvPr id="13" name="그림 12" descr="상징, 텍스트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559DDD-BFA0-9782-2214-30CB07541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978" y="4110702"/>
            <a:ext cx="6000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914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ED28D-4306-A69D-89DF-89613FE5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 Format: Structure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472763-87B1-9A93-D2DA-8B470A982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PE = Windows executable format</a:t>
            </a:r>
          </a:p>
          <a:p>
            <a:r>
              <a:rPr lang="en-US" altLang="ko-KR" dirty="0"/>
              <a:t>Composed of headers + sections</a:t>
            </a:r>
          </a:p>
          <a:p>
            <a:r>
              <a:rPr lang="en-US" altLang="ko-KR" dirty="0"/>
              <a:t>Headers store metadata needed by the Windows loader</a:t>
            </a:r>
            <a:endParaRPr lang="ko-KR" altLang="en-US" dirty="0"/>
          </a:p>
        </p:txBody>
      </p:sp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4AEDBD-E596-A958-BD9C-916627325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851" y="3098270"/>
            <a:ext cx="6188149" cy="332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25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9FBDC-8D79-1527-E3C6-0FAB9D3C0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PE Sections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CD0A4C-45D3-6B58-8452-4067E181C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.text: executable instructions</a:t>
            </a:r>
          </a:p>
          <a:p>
            <a:r>
              <a:rPr lang="en-US" altLang="ko-KR" dirty="0"/>
              <a:t>.</a:t>
            </a:r>
            <a:r>
              <a:rPr lang="en-US" altLang="ko-KR" dirty="0" err="1"/>
              <a:t>rdata</a:t>
            </a:r>
            <a:r>
              <a:rPr lang="en-US" altLang="ko-KR" dirty="0"/>
              <a:t>: read-only data, import/export info</a:t>
            </a:r>
          </a:p>
          <a:p>
            <a:r>
              <a:rPr lang="en-US" altLang="ko-KR" dirty="0"/>
              <a:t>.data: global writable data</a:t>
            </a:r>
          </a:p>
          <a:p>
            <a:r>
              <a:rPr lang="en-US" altLang="ko-KR" dirty="0"/>
              <a:t>.</a:t>
            </a:r>
            <a:r>
              <a:rPr lang="en-US" altLang="ko-KR" dirty="0" err="1"/>
              <a:t>rsrc</a:t>
            </a:r>
            <a:r>
              <a:rPr lang="en-US" altLang="ko-KR" dirty="0"/>
              <a:t>: resources (icons, dialogs, strings)</a:t>
            </a:r>
          </a:p>
          <a:p>
            <a:r>
              <a:rPr lang="en-US" altLang="ko-KR" dirty="0"/>
              <a:t>Unusual section names or size mismatches can indicate packing</a:t>
            </a:r>
            <a:endParaRPr lang="ko-KR" altLang="en-US" dirty="0"/>
          </a:p>
        </p:txBody>
      </p:sp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6527FB-5D52-07B3-F6B9-A9453B25E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22" y="3925172"/>
            <a:ext cx="5773478" cy="310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34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41501-4DB0-32AA-8477-828322C8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 Header Fields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C0C858-4952-C312-437C-96D138415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Time Date Stamp: compile time (may be forged)</a:t>
            </a:r>
          </a:p>
          <a:p>
            <a:r>
              <a:rPr lang="en-US" altLang="ko-KR" dirty="0"/>
              <a:t>Subsystem: GUI vs Console</a:t>
            </a:r>
          </a:p>
          <a:p>
            <a:r>
              <a:rPr lang="en-US" altLang="ko-KR" dirty="0"/>
              <a:t>Section sizes: Virtual Size vs Raw Size</a:t>
            </a:r>
            <a:endParaRPr lang="ko-KR" altLang="en-US" dirty="0"/>
          </a:p>
        </p:txBody>
      </p:sp>
      <p:pic>
        <p:nvPicPr>
          <p:cNvPr id="4" name="그림 3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03F0AE-2DBE-F1D6-7E7E-B9A572907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01" y="3038254"/>
            <a:ext cx="5631380" cy="3319550"/>
          </a:xfrm>
          <a:prstGeom prst="rect">
            <a:avLst/>
          </a:prstGeom>
        </p:spPr>
      </p:pic>
      <p:pic>
        <p:nvPicPr>
          <p:cNvPr id="5" name="그림 4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DC1F73-DA14-144B-73A7-9C0329DE2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036" y="3255532"/>
            <a:ext cx="5773478" cy="310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94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E5E15-51F3-5CBC-89DE-701EEBD7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Packed and Obfuscated Malware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E6A9B-6046-D032-5DD5-FA6BB1FA6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Obfuscation techniques obscure program logic.</a:t>
            </a:r>
          </a:p>
          <a:p>
            <a:r>
              <a:rPr lang="en-US" altLang="ko-KR" dirty="0"/>
              <a:t>Packing compresses or encrypts payloads for runtime unpacking.</a:t>
            </a:r>
          </a:p>
          <a:p>
            <a:r>
              <a:rPr lang="en-US" altLang="ko-KR" dirty="0"/>
              <a:t>Indicators include sparse strings and minimal import tables.</a:t>
            </a:r>
          </a:p>
        </p:txBody>
      </p:sp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856F1D-44D4-4CE8-3ACC-F2DDBDA04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0894"/>
            <a:ext cx="6843271" cy="3677106"/>
          </a:xfrm>
          <a:prstGeom prst="rect">
            <a:avLst/>
          </a:prstGeom>
        </p:spPr>
      </p:pic>
      <p:pic>
        <p:nvPicPr>
          <p:cNvPr id="5" name="그림 4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94C02F-2351-F270-B6D1-539706EEF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967" y="3324060"/>
            <a:ext cx="5578548" cy="319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077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54AAE5-FAC7-CFEA-CA67-089E5A0C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Packer Identification (</a:t>
            </a:r>
            <a:r>
              <a:rPr lang="en-US" altLang="ko-KR" dirty="0" err="1"/>
              <a:t>PEiD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6A6109-45FC-4BA9-FD2A-766BDD24F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Detect packer/compiler signatures</a:t>
            </a:r>
          </a:p>
          <a:p>
            <a:r>
              <a:rPr lang="en-US" altLang="ko-KR" dirty="0"/>
              <a:t>Helpful for quick triage and unpacking decisions</a:t>
            </a:r>
          </a:p>
          <a:p>
            <a:r>
              <a:rPr lang="en-US" altLang="ko-KR" dirty="0"/>
              <a:t>Some packers (e.g., UPX) may be unpacked easily</a:t>
            </a:r>
            <a:endParaRPr lang="ko-KR" altLang="en-US" dirty="0"/>
          </a:p>
        </p:txBody>
      </p:sp>
      <p:pic>
        <p:nvPicPr>
          <p:cNvPr id="7" name="그림 6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895DE8-47E2-B3FE-2F6C-47FFE5789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374" y="3163738"/>
            <a:ext cx="5578548" cy="319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69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87324-64C9-2768-7510-EBAEF777C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Imports: Inferring Capabilities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FAF63-B5EF-525A-01FD-BC5DAEC48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87" y="1509486"/>
            <a:ext cx="5523464" cy="4667477"/>
          </a:xfrm>
        </p:spPr>
        <p:txBody>
          <a:bodyPr/>
          <a:lstStyle/>
          <a:p>
            <a:r>
              <a:rPr lang="en-US" altLang="ko-KR" dirty="0"/>
              <a:t>Imports list external DLL functions used by the program</a:t>
            </a:r>
          </a:p>
          <a:p>
            <a:r>
              <a:rPr lang="en-US" altLang="ko-KR" dirty="0"/>
              <a:t>Key clue for functionality inference</a:t>
            </a:r>
          </a:p>
          <a:p>
            <a:pPr lvl="1"/>
            <a:r>
              <a:rPr lang="en-US" altLang="ko-KR" dirty="0"/>
              <a:t>Example: </a:t>
            </a:r>
            <a:r>
              <a:rPr lang="en-US" altLang="ko-KR" dirty="0" err="1"/>
              <a:t>CopyFile</a:t>
            </a:r>
            <a:r>
              <a:rPr lang="en-US" altLang="ko-KR" dirty="0"/>
              <a:t> → likely download behavior</a:t>
            </a:r>
            <a:endParaRPr lang="ko-KR" altLang="en-US" dirty="0"/>
          </a:p>
        </p:txBody>
      </p:sp>
      <p:pic>
        <p:nvPicPr>
          <p:cNvPr id="7" name="그림 6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10C9AD-87CB-168B-3A29-F78551AED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36180"/>
            <a:ext cx="573405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51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EC8032-6EC2-EF2A-9562-8EC09C44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Exports: What the Binary Provides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67D773-8DEB-8207-ACB8-262C04175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Exports are functions provided to other programs</a:t>
            </a:r>
          </a:p>
          <a:p>
            <a:r>
              <a:rPr lang="en-US" altLang="ko-KR" dirty="0"/>
              <a:t>Common in </a:t>
            </a:r>
            <a:r>
              <a:rPr lang="en-US" altLang="ko-KR" dirty="0" err="1"/>
              <a:t>DLLsExport</a:t>
            </a:r>
            <a:r>
              <a:rPr lang="en-US" altLang="ko-KR" dirty="0"/>
              <a:t> names can hint at purpose, but may be misleading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942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24C16-EBF5-3FB1-6A5C-8D81AA3A3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Strings Analysis: Why It Matters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2FEDCA-3F16-F20B-BCF1-00A8CABC0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Embedded strings provide insight into program functionality.</a:t>
            </a:r>
          </a:p>
          <a:p>
            <a:pPr lvl="1"/>
            <a:r>
              <a:rPr lang="en-US" altLang="ko-KR" dirty="0"/>
              <a:t>APIs, DLLs, IPs, URLs, messages</a:t>
            </a:r>
          </a:p>
          <a:p>
            <a:r>
              <a:rPr lang="en-US" altLang="ko-KR" dirty="0"/>
              <a:t>Error messages can expose intent and dependencies</a:t>
            </a:r>
          </a:p>
          <a:p>
            <a:r>
              <a:rPr lang="en-US" altLang="ko-KR" dirty="0"/>
              <a:t>Context-aware interpretation is essential to avoid false conclusions.</a:t>
            </a:r>
            <a:endParaRPr lang="ko-KR" altLang="en-US" dirty="0"/>
          </a:p>
        </p:txBody>
      </p:sp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204A76-817F-F89A-ABE6-1A27DF50D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88032"/>
            <a:ext cx="6101184" cy="3369968"/>
          </a:xfrm>
          <a:prstGeom prst="rect">
            <a:avLst/>
          </a:prstGeom>
        </p:spPr>
      </p:pic>
      <p:pic>
        <p:nvPicPr>
          <p:cNvPr id="6" name="그림 5" descr="텍스트, 소프트웨어, 컴퓨터 아이콘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88E9FB-7613-A076-A30B-47880C9C0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" y="4105275"/>
            <a:ext cx="70961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31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42F6B-9B6E-C934-3011-E6822E893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Tools for PE Analysis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F50267-2FED-E0F2-D7DC-C8C0515AE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IDA Free</a:t>
            </a:r>
          </a:p>
          <a:p>
            <a:pPr lvl="1"/>
            <a:r>
              <a:rPr lang="en-US" altLang="ko-KR" dirty="0"/>
              <a:t>Analysis of imported DLLs and API functions; inspection of the .</a:t>
            </a:r>
            <a:r>
              <a:rPr lang="en-US" altLang="ko-KR" dirty="0" err="1"/>
              <a:t>rsrc</a:t>
            </a:r>
            <a:r>
              <a:rPr lang="en-US" altLang="ko-KR" dirty="0"/>
              <a:t> section</a:t>
            </a:r>
          </a:p>
          <a:p>
            <a:r>
              <a:rPr lang="en-US" altLang="ko-KR" dirty="0" err="1"/>
              <a:t>PEiD</a:t>
            </a:r>
            <a:endParaRPr lang="en-US" altLang="ko-KR" dirty="0"/>
          </a:p>
          <a:p>
            <a:pPr lvl="1"/>
            <a:r>
              <a:rPr lang="en-US" altLang="ko-KR" dirty="0"/>
              <a:t>Detection of packers and obfuscation</a:t>
            </a:r>
          </a:p>
          <a:p>
            <a:r>
              <a:rPr lang="en-US" altLang="ko-KR" dirty="0" err="1"/>
              <a:t>Peview</a:t>
            </a:r>
            <a:endParaRPr lang="en-US" altLang="ko-KR" dirty="0"/>
          </a:p>
          <a:p>
            <a:pPr lvl="1"/>
            <a:r>
              <a:rPr lang="en-US" altLang="ko-KR" dirty="0"/>
              <a:t>Examination PE headers and section metadata</a:t>
            </a:r>
          </a:p>
        </p:txBody>
      </p:sp>
      <p:pic>
        <p:nvPicPr>
          <p:cNvPr id="9" name="그림 8" descr="텍스트, 포스터, 인간의 얼굴, 여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BC9C37-CEB7-3B8F-ABB7-268912402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834" y="1420221"/>
            <a:ext cx="676275" cy="1019175"/>
          </a:xfrm>
          <a:prstGeom prst="rect">
            <a:avLst/>
          </a:prstGeom>
        </p:spPr>
      </p:pic>
      <p:pic>
        <p:nvPicPr>
          <p:cNvPr id="11" name="그림 10" descr="텍스트, 원, 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0E211E-0A59-AE26-69AE-5F59F50DC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132" y="3653061"/>
            <a:ext cx="762000" cy="685800"/>
          </a:xfrm>
          <a:prstGeom prst="rect">
            <a:avLst/>
          </a:prstGeom>
        </p:spPr>
      </p:pic>
      <p:pic>
        <p:nvPicPr>
          <p:cNvPr id="15" name="그림 14" descr="텍스트, 폰트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0752FD-5947-1630-2A49-0BD645F26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360" y="2672869"/>
            <a:ext cx="6858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94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0A571-E812-A009-75D5-A130A2029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Lab 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192317-9B22-F5B0-50C5-31B9A9A3F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dirty="0"/>
              <a:t>1. Upload the files to </a:t>
            </a:r>
            <a:r>
              <a:rPr lang="en-US" altLang="ko-KR" i="1" dirty="0" err="1"/>
              <a:t>VirusTotal</a:t>
            </a:r>
            <a:r>
              <a:rPr lang="en-US" altLang="ko-KR" i="1" dirty="0"/>
              <a:t> </a:t>
            </a:r>
            <a:r>
              <a:rPr lang="en-US" altLang="ko-KR" dirty="0"/>
              <a:t>and view the reports. Does either file match any </a:t>
            </a:r>
            <a:r>
              <a:rPr lang="en-US" altLang="ko-KR" b="1" dirty="0"/>
              <a:t>existing antivirus signatures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en-US" altLang="ko-KR" b="1" dirty="0"/>
              <a:t>When</a:t>
            </a:r>
            <a:r>
              <a:rPr lang="en-US" altLang="ko-KR" dirty="0"/>
              <a:t> were these files compiled?</a:t>
            </a:r>
          </a:p>
          <a:p>
            <a:pPr marL="0" indent="0">
              <a:buNone/>
            </a:pPr>
            <a:r>
              <a:rPr lang="en-US" altLang="ko-KR" dirty="0"/>
              <a:t>3. Are there </a:t>
            </a:r>
            <a:r>
              <a:rPr lang="en-US" altLang="ko-KR" b="1" dirty="0"/>
              <a:t>any indications </a:t>
            </a:r>
            <a:r>
              <a:rPr lang="en-US" altLang="ko-KR" dirty="0"/>
              <a:t>that either of these files </a:t>
            </a:r>
            <a:r>
              <a:rPr lang="en-US" altLang="ko-KR" b="1" dirty="0"/>
              <a:t>is packed or obfuscated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If so, what are these indicators?</a:t>
            </a:r>
          </a:p>
          <a:p>
            <a:pPr marL="0" indent="0">
              <a:buNone/>
            </a:pPr>
            <a:r>
              <a:rPr lang="en-US" altLang="ko-KR" dirty="0"/>
              <a:t>4. Do any </a:t>
            </a:r>
            <a:r>
              <a:rPr lang="en-US" altLang="ko-KR" b="1" dirty="0"/>
              <a:t>imports hint </a:t>
            </a:r>
            <a:r>
              <a:rPr lang="en-US" altLang="ko-KR" dirty="0"/>
              <a:t>at what this malware does? If so, which imports</a:t>
            </a:r>
          </a:p>
          <a:p>
            <a:pPr marL="0" indent="0">
              <a:buNone/>
            </a:pPr>
            <a:r>
              <a:rPr lang="en-US" altLang="ko-KR" dirty="0"/>
              <a:t>are they?</a:t>
            </a:r>
          </a:p>
          <a:p>
            <a:pPr marL="0" indent="0">
              <a:buNone/>
            </a:pPr>
            <a:r>
              <a:rPr lang="en-US" altLang="ko-KR" dirty="0"/>
              <a:t>5. Are there any other files or </a:t>
            </a:r>
            <a:r>
              <a:rPr lang="en-US" altLang="ko-KR" b="1" dirty="0"/>
              <a:t>host-based indicators</a:t>
            </a:r>
            <a:r>
              <a:rPr lang="en-US" altLang="ko-KR" dirty="0"/>
              <a:t> that you could look for</a:t>
            </a:r>
          </a:p>
          <a:p>
            <a:pPr marL="0" indent="0">
              <a:buNone/>
            </a:pPr>
            <a:r>
              <a:rPr lang="en-US" altLang="ko-KR" dirty="0"/>
              <a:t>on infected systems?</a:t>
            </a:r>
          </a:p>
          <a:p>
            <a:pPr marL="0" indent="0">
              <a:buNone/>
            </a:pPr>
            <a:r>
              <a:rPr lang="en-US" altLang="ko-KR" dirty="0"/>
              <a:t>6. What </a:t>
            </a:r>
            <a:r>
              <a:rPr lang="en-US" altLang="ko-KR" b="1" dirty="0"/>
              <a:t>network-based indicators </a:t>
            </a:r>
            <a:r>
              <a:rPr lang="en-US" altLang="ko-KR" dirty="0"/>
              <a:t>could be used to find this malware on</a:t>
            </a:r>
          </a:p>
          <a:p>
            <a:pPr marL="0" indent="0">
              <a:buNone/>
            </a:pPr>
            <a:r>
              <a:rPr lang="en-US" altLang="ko-KR" dirty="0"/>
              <a:t>infected machines?</a:t>
            </a:r>
          </a:p>
          <a:p>
            <a:pPr marL="0" indent="0">
              <a:buNone/>
            </a:pPr>
            <a:r>
              <a:rPr lang="en-US" altLang="ko-KR" dirty="0"/>
              <a:t>7. What would you </a:t>
            </a:r>
            <a:r>
              <a:rPr lang="en-US" altLang="ko-KR" b="1" dirty="0"/>
              <a:t>guess is the purpose </a:t>
            </a:r>
            <a:r>
              <a:rPr lang="en-US" altLang="ko-KR" dirty="0"/>
              <a:t>of these files?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9697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C87EB-7534-BED5-6520-DCFB92AD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Does either file match any existing antivirus signatures?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D605C8-9004-B05B-70EA-E5454A62C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내용 개체 틀 10" descr="텍스트, 멀티미디어 소프트웨어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ECA9D9-BDC7-D982-7794-EB4F6E434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54814"/>
            <a:ext cx="11218862" cy="1596628"/>
          </a:xfrm>
          <a:prstGeom prst="rect">
            <a:avLst/>
          </a:prstGeom>
        </p:spPr>
      </p:pic>
      <p:pic>
        <p:nvPicPr>
          <p:cNvPr id="5" name="그림 4" descr="멀티미디어 소프트웨어, 소프트웨어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EC177F-BAD4-AB09-28DE-474F8402F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39340"/>
            <a:ext cx="12192000" cy="1806558"/>
          </a:xfrm>
          <a:prstGeom prst="rect">
            <a:avLst/>
          </a:prstGeom>
        </p:spPr>
      </p:pic>
      <p:pic>
        <p:nvPicPr>
          <p:cNvPr id="8" name="그림 7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437E88-CAFE-B3B2-958B-6566DC36B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965" y="537719"/>
            <a:ext cx="4400550" cy="467677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F6E8BB3-95A7-4493-F799-6B17963267CD}"/>
              </a:ext>
            </a:extLst>
          </p:cNvPr>
          <p:cNvSpPr/>
          <p:nvPr/>
        </p:nvSpPr>
        <p:spPr>
          <a:xfrm>
            <a:off x="7805965" y="2353355"/>
            <a:ext cx="4386035" cy="2303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940DED-E0B0-6090-AC43-228726B4D274}"/>
              </a:ext>
            </a:extLst>
          </p:cNvPr>
          <p:cNvSpPr/>
          <p:nvPr/>
        </p:nvSpPr>
        <p:spPr>
          <a:xfrm>
            <a:off x="1855277" y="4045889"/>
            <a:ext cx="4386035" cy="322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 descr="상징, 텍스트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4B46DF-2723-0ED0-4CAA-44CA366E93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2441" y="614175"/>
            <a:ext cx="6000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9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1D295E-BCFD-93A2-3D64-7C8EF785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When were these files compiled?</a:t>
            </a:r>
            <a:endParaRPr lang="ko-KR" altLang="en-US" dirty="0"/>
          </a:p>
        </p:txBody>
      </p:sp>
      <p:pic>
        <p:nvPicPr>
          <p:cNvPr id="4" name="그림 3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BE467D-5B99-DC6F-CA57-33F09C7AC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597" y="1656021"/>
            <a:ext cx="8143875" cy="4800600"/>
          </a:xfrm>
          <a:prstGeom prst="rect">
            <a:avLst/>
          </a:prstGeom>
        </p:spPr>
      </p:pic>
      <p:pic>
        <p:nvPicPr>
          <p:cNvPr id="8" name="그림 7" descr="텍스트, 원, 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AC5C8C-7F05-399A-EF8B-BD78E9D66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637" y="1656021"/>
            <a:ext cx="762000" cy="6858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71A3B7B-EC64-D4D4-2F56-31AF695CDFA8}"/>
              </a:ext>
            </a:extLst>
          </p:cNvPr>
          <p:cNvSpPr/>
          <p:nvPr/>
        </p:nvSpPr>
        <p:spPr>
          <a:xfrm>
            <a:off x="6434365" y="4331010"/>
            <a:ext cx="5070063" cy="272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BD1D19-6ABA-7EB9-8385-C530267E9E32}"/>
              </a:ext>
            </a:extLst>
          </p:cNvPr>
          <p:cNvSpPr/>
          <p:nvPr/>
        </p:nvSpPr>
        <p:spPr>
          <a:xfrm>
            <a:off x="6642966" y="2857072"/>
            <a:ext cx="5070063" cy="272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62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07ECB-CDD9-2831-7C88-11B974D76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Are there any indications that either of these files is packed or obfuscated?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91C43DF-FE7A-78F3-211A-76CEFB6135F0}"/>
              </a:ext>
            </a:extLst>
          </p:cNvPr>
          <p:cNvGrpSpPr/>
          <p:nvPr/>
        </p:nvGrpSpPr>
        <p:grpSpPr>
          <a:xfrm>
            <a:off x="304547" y="1210437"/>
            <a:ext cx="5580297" cy="3194422"/>
            <a:chOff x="493485" y="1545703"/>
            <a:chExt cx="5580297" cy="3194422"/>
          </a:xfrm>
        </p:grpSpPr>
        <p:pic>
          <p:nvPicPr>
            <p:cNvPr id="4" name="그림 3" descr="텍스트, 스크린샷, 디스플레이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E2CF7E0-9E45-C4D8-0348-555B69757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485" y="1545703"/>
              <a:ext cx="5580297" cy="319442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01A9A72-AF0E-F0B4-3DC8-BBE613BCC1B8}"/>
                </a:ext>
              </a:extLst>
            </p:cNvPr>
            <p:cNvSpPr/>
            <p:nvPr/>
          </p:nvSpPr>
          <p:spPr>
            <a:xfrm>
              <a:off x="557284" y="3800692"/>
              <a:ext cx="3904697" cy="23700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A461A9B-E2A2-FABB-F573-BB03DDB781B2}"/>
              </a:ext>
            </a:extLst>
          </p:cNvPr>
          <p:cNvGrpSpPr/>
          <p:nvPr/>
        </p:nvGrpSpPr>
        <p:grpSpPr>
          <a:xfrm>
            <a:off x="5948643" y="1210437"/>
            <a:ext cx="5769234" cy="3194421"/>
            <a:chOff x="6118219" y="1547698"/>
            <a:chExt cx="5769234" cy="3194421"/>
          </a:xfrm>
        </p:grpSpPr>
        <p:pic>
          <p:nvPicPr>
            <p:cNvPr id="7" name="그림 6" descr="텍스트, 스크린샷, 디스플레이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867ED6E-CBB1-85B9-D9FB-C7B0CF337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8219" y="1547698"/>
              <a:ext cx="5769234" cy="319442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6954081-AB71-1203-22A3-46CCF338079D}"/>
                </a:ext>
              </a:extLst>
            </p:cNvPr>
            <p:cNvSpPr/>
            <p:nvPr/>
          </p:nvSpPr>
          <p:spPr>
            <a:xfrm>
              <a:off x="6171271" y="3843224"/>
              <a:ext cx="3904697" cy="23700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3240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6F5DF-F634-E44F-346D-FBFE6F6B7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Do any imports hint at what this malware does?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EA220F-CD93-5B20-4C52-F9148C3A8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4" name="그림 1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BAEAA2-2F1F-3309-C9B6-5F37BD572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07" y="1304552"/>
            <a:ext cx="5734050" cy="3695700"/>
          </a:xfrm>
          <a:prstGeom prst="rect">
            <a:avLst/>
          </a:prstGeom>
        </p:spPr>
      </p:pic>
      <p:pic>
        <p:nvPicPr>
          <p:cNvPr id="16" name="그림 1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E23189-4D9D-DD31-6E0C-689F452CA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403" y="1388656"/>
            <a:ext cx="5743575" cy="459105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DE40E612-13CA-2930-E826-3F0B924922FB}"/>
              </a:ext>
            </a:extLst>
          </p:cNvPr>
          <p:cNvSpPr/>
          <p:nvPr/>
        </p:nvSpPr>
        <p:spPr>
          <a:xfrm>
            <a:off x="493486" y="4218039"/>
            <a:ext cx="5109872" cy="194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C94602-2E9D-CC67-74F4-82AE89E89960}"/>
              </a:ext>
            </a:extLst>
          </p:cNvPr>
          <p:cNvSpPr/>
          <p:nvPr/>
        </p:nvSpPr>
        <p:spPr>
          <a:xfrm>
            <a:off x="493486" y="3308958"/>
            <a:ext cx="5109872" cy="194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58F0384-1201-546D-5CAD-36ECDC8DBC1B}"/>
              </a:ext>
            </a:extLst>
          </p:cNvPr>
          <p:cNvSpPr/>
          <p:nvPr/>
        </p:nvSpPr>
        <p:spPr>
          <a:xfrm>
            <a:off x="6292088" y="1995824"/>
            <a:ext cx="5070063" cy="3965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4761D03-F811-6CAF-60D3-3321FEB4AD03}"/>
              </a:ext>
            </a:extLst>
          </p:cNvPr>
          <p:cNvSpPr/>
          <p:nvPr/>
        </p:nvSpPr>
        <p:spPr>
          <a:xfrm>
            <a:off x="6227536" y="3918772"/>
            <a:ext cx="5070063" cy="10814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375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0C1D3-F7C3-393A-B2E6-FA5BB95F0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79" y="554185"/>
            <a:ext cx="11219543" cy="955301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altLang="ko-KR" dirty="0"/>
              <a:t>Are there any other files or host-based indicators that you could look for</a:t>
            </a:r>
            <a:br>
              <a:rPr lang="en-US" altLang="ko-KR" dirty="0"/>
            </a:br>
            <a:r>
              <a:rPr lang="en-US" altLang="ko-KR" dirty="0"/>
              <a:t>on infected systems?</a:t>
            </a:r>
            <a:endParaRPr lang="ko-KR" altLang="en-US" dirty="0"/>
          </a:p>
        </p:txBody>
      </p:sp>
      <p:pic>
        <p:nvPicPr>
          <p:cNvPr id="4" name="그림 3" descr="텍스트, 소프트웨어, 컴퓨터 아이콘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211545-C349-D63F-9ED5-040A11AA2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65" y="1955616"/>
            <a:ext cx="9238895" cy="358394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4C9692F-02AA-00C6-BBBB-15C9D2F6B882}"/>
              </a:ext>
            </a:extLst>
          </p:cNvPr>
          <p:cNvSpPr/>
          <p:nvPr/>
        </p:nvSpPr>
        <p:spPr>
          <a:xfrm>
            <a:off x="2779485" y="3893749"/>
            <a:ext cx="6651593" cy="8271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398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B4BAB-C157-B360-1E2C-B49F602B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228" y="466134"/>
            <a:ext cx="11219543" cy="955301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altLang="ko-KR" dirty="0"/>
              <a:t>What network-based indicators could be used to find this malware on infected machines?</a:t>
            </a:r>
            <a:endParaRPr lang="ko-KR" altLang="en-US" dirty="0"/>
          </a:p>
        </p:txBody>
      </p:sp>
      <p:pic>
        <p:nvPicPr>
          <p:cNvPr id="5" name="그림 4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719536-8EF6-966E-6D43-A91C7152F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544" y="2063492"/>
            <a:ext cx="7352018" cy="406086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A6EB2FC-C11B-32DB-D5CA-ECFCDEC26317}"/>
              </a:ext>
            </a:extLst>
          </p:cNvPr>
          <p:cNvSpPr/>
          <p:nvPr/>
        </p:nvSpPr>
        <p:spPr>
          <a:xfrm>
            <a:off x="4792584" y="4701823"/>
            <a:ext cx="4638495" cy="10822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329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EFE4A-32E7-2D4F-DA1C-204EF65D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What would you guess is the purpose of these files?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8D3FDD-C6AF-5B04-59B3-C707A40AA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</a:t>
            </a:r>
            <a:r>
              <a:rPr lang="en-US" altLang="ko-KR" i="1" u="sng" dirty="0" err="1"/>
              <a:t>CreateProcess</a:t>
            </a:r>
            <a:r>
              <a:rPr lang="en-US" altLang="ko-KR" dirty="0"/>
              <a:t> and </a:t>
            </a:r>
            <a:r>
              <a:rPr lang="en-US" altLang="ko-KR" i="1" u="sng" dirty="0"/>
              <a:t>Sleep</a:t>
            </a:r>
            <a:r>
              <a:rPr lang="en-US" altLang="ko-KR" dirty="0"/>
              <a:t> functions are commonly used in backdoor malware.</a:t>
            </a:r>
          </a:p>
          <a:p>
            <a:r>
              <a:rPr lang="en-US" altLang="ko-KR" dirty="0"/>
              <a:t>The presence of the exec string suggests execution of backdoor commands via </a:t>
            </a:r>
            <a:r>
              <a:rPr lang="en-US" altLang="ko-KR" i="1" u="sng" dirty="0" err="1"/>
              <a:t>CreateProcess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The </a:t>
            </a:r>
            <a:r>
              <a:rPr lang="en-US" altLang="ko-KR" i="1" u="sng" dirty="0"/>
              <a:t>sleep</a:t>
            </a:r>
            <a:r>
              <a:rPr lang="en-US" altLang="ko-KR" dirty="0"/>
              <a:t> string indicates functionality to pause execution, likely used to control backdoor activity timing.</a:t>
            </a:r>
          </a:p>
          <a:p>
            <a:r>
              <a:rPr lang="en-US" altLang="ko-KR" dirty="0"/>
              <a:t>Strings resembling </a:t>
            </a:r>
            <a:r>
              <a:rPr lang="en-US" altLang="ko-KR" i="1" u="sng" dirty="0"/>
              <a:t>IP</a:t>
            </a:r>
            <a:r>
              <a:rPr lang="en-US" altLang="ko-KR" dirty="0"/>
              <a:t> addresses suggest network communication used by the backdoor.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1999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F03B3-18BC-EF94-42D2-3539E997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QnA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DB9505-7518-BD10-02AB-E8362AE15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981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8BB24-6920-E5D4-6F66-3F13652EB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내용 개체 틀 10" descr="텍스트, 멀티미디어 소프트웨어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D264F7-C9CD-E13E-A55E-64DC50062D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3713" y="3045024"/>
            <a:ext cx="11218862" cy="1596628"/>
          </a:xfrm>
          <a:prstGeom prst="rect">
            <a:avLst/>
          </a:prstGeom>
        </p:spPr>
      </p:pic>
      <p:pic>
        <p:nvPicPr>
          <p:cNvPr id="5" name="그림 4" descr="멀티미디어 소프트웨어, 소프트웨어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EE4C4F-6860-B149-F08D-4E733F77B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" y="4827496"/>
            <a:ext cx="12192000" cy="1806558"/>
          </a:xfrm>
          <a:prstGeom prst="rect">
            <a:avLst/>
          </a:prstGeom>
        </p:spPr>
      </p:pic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F2986C-118C-567D-22A0-6788E8ECC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656"/>
            <a:ext cx="4400550" cy="4648200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40818C-28BD-EC0F-1460-1677F47FB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147982"/>
            <a:ext cx="5676900" cy="1371600"/>
          </a:xfrm>
          <a:prstGeom prst="rect">
            <a:avLst/>
          </a:prstGeom>
        </p:spPr>
      </p:pic>
      <p:pic>
        <p:nvPicPr>
          <p:cNvPr id="13" name="그림 12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AA9F7B-67A2-C85C-B8FE-3D0520193E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0987" y="2281237"/>
            <a:ext cx="4010025" cy="2295525"/>
          </a:xfrm>
          <a:prstGeom prst="rect">
            <a:avLst/>
          </a:prstGeom>
        </p:spPr>
      </p:pic>
      <p:pic>
        <p:nvPicPr>
          <p:cNvPr id="15" name="그림 14" descr="텍스트, 포스터, 인간의 얼굴, 여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4BAE8E-DEF6-FF50-D8D4-0085F921B2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7862" y="2919412"/>
            <a:ext cx="67627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50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FB048-B9AD-E2D7-2D6A-5CEE0540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9AB7F-B4E2-C198-AA98-29BF155E6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039CD3-23E1-83A8-BDF2-FC844AD54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62" y="1028700"/>
            <a:ext cx="814387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107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6CBE0-3463-E802-805D-7E4EA637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22FF29-C0CC-FA8E-F4F1-786D62897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15E738-B952-3FDC-911A-1806B998D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5" y="942975"/>
            <a:ext cx="920115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85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E359E-B969-B65E-F588-388FA8925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4F989F-EBC0-674D-C617-6563BBC0C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1A34B8-9930-38A2-8AD7-63DA81C11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25" y="671512"/>
            <a:ext cx="7296150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269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B2ED8-6DDB-F072-5FFA-1F372E24E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44808-F0EB-7716-5714-8A7F4C613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소프트웨어, 컴퓨터 아이콘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2E5B56-1C3E-1F3F-9EB3-3DAFF7A25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086" y="681037"/>
            <a:ext cx="7096125" cy="2752725"/>
          </a:xfrm>
          <a:prstGeom prst="rect">
            <a:avLst/>
          </a:prstGeom>
        </p:spPr>
      </p:pic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4260E0-6F4F-FEB3-4FE7-377B18DBD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561" y="3262313"/>
            <a:ext cx="527685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012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plate">
      <a:majorFont>
        <a:latin typeface="Cambria"/>
        <a:ea typeface="함초롬돋움"/>
        <a:cs typeface=""/>
      </a:majorFont>
      <a:minorFont>
        <a:latin typeface="Cambria"/>
        <a:ea typeface="함초롬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941</Words>
  <Application>Microsoft Office PowerPoint</Application>
  <PresentationFormat>와이드스크린</PresentationFormat>
  <Paragraphs>144</Paragraphs>
  <Slides>33</Slides>
  <Notes>24</Notes>
  <HiddenSlides>4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맑은 고딕</vt:lpstr>
      <vt:lpstr>Arial</vt:lpstr>
      <vt:lpstr>Cambria</vt:lpstr>
      <vt:lpstr>Office 테마</vt:lpstr>
      <vt:lpstr>Practical malware analysis</vt:lpstr>
      <vt:lpstr>What is Malware?</vt:lpstr>
      <vt:lpstr>The Goals of Malware Analysis</vt:lpstr>
      <vt:lpstr>Common Malware Types</vt:lpstr>
      <vt:lpstr>Outputs: Host-Based vs Network Signatures</vt:lpstr>
      <vt:lpstr>Analysis Approaches</vt:lpstr>
      <vt:lpstr>Basic Static Analysis Techniques</vt:lpstr>
      <vt:lpstr>Antivirus Scanning (VirusTotal)</vt:lpstr>
      <vt:lpstr>Hashing for Identification</vt:lpstr>
      <vt:lpstr>Md5deep vs WinMD5 Calculator</vt:lpstr>
      <vt:lpstr>PE Format: Structure</vt:lpstr>
      <vt:lpstr>Common PE Sections</vt:lpstr>
      <vt:lpstr>Key Header Fields</vt:lpstr>
      <vt:lpstr>Packed and Obfuscated Malware</vt:lpstr>
      <vt:lpstr>Packer Identification (PEiD)</vt:lpstr>
      <vt:lpstr>Imports: Inferring Capabilities</vt:lpstr>
      <vt:lpstr>Exports: What the Binary Provides</vt:lpstr>
      <vt:lpstr>Strings Analysis: Why It Matters</vt:lpstr>
      <vt:lpstr>Tools for PE Analysis</vt:lpstr>
      <vt:lpstr>Lab 01</vt:lpstr>
      <vt:lpstr>Does either file match any existing antivirus signatures?</vt:lpstr>
      <vt:lpstr>When were these files compiled?</vt:lpstr>
      <vt:lpstr>Are there any indications that either of these files is packed or obfuscated?</vt:lpstr>
      <vt:lpstr>Do any imports hint at what this malware does?</vt:lpstr>
      <vt:lpstr>Are there any other files or host-based indicators that you could look for on infected systems?</vt:lpstr>
      <vt:lpstr>What network-based indicators could be used to find this malware on infected machines?</vt:lpstr>
      <vt:lpstr>What would you guess is the purpose of these files?</vt:lpstr>
      <vt:lpstr>QnA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Joern-Based Static Analysis and Code Gadget Generation</dc:title>
  <dc:creator>김수린</dc:creator>
  <cp:lastModifiedBy>김수린</cp:lastModifiedBy>
  <cp:revision>638</cp:revision>
  <dcterms:created xsi:type="dcterms:W3CDTF">2025-05-22T13:37:34Z</dcterms:created>
  <dcterms:modified xsi:type="dcterms:W3CDTF">2026-01-07T05:45:50Z</dcterms:modified>
</cp:coreProperties>
</file>