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4"/>
  </p:notesMasterIdLst>
  <p:sldIdLst>
    <p:sldId id="256" r:id="rId5"/>
    <p:sldId id="257" r:id="rId6"/>
    <p:sldId id="298" r:id="rId7"/>
    <p:sldId id="268" r:id="rId8"/>
    <p:sldId id="269" r:id="rId9"/>
    <p:sldId id="260" r:id="rId10"/>
    <p:sldId id="270" r:id="rId11"/>
    <p:sldId id="273" r:id="rId12"/>
    <p:sldId id="261" r:id="rId13"/>
    <p:sldId id="276" r:id="rId14"/>
    <p:sldId id="275" r:id="rId15"/>
    <p:sldId id="274" r:id="rId16"/>
    <p:sldId id="277" r:id="rId17"/>
    <p:sldId id="263" r:id="rId18"/>
    <p:sldId id="300" r:id="rId19"/>
    <p:sldId id="278" r:id="rId20"/>
    <p:sldId id="279" r:id="rId21"/>
    <p:sldId id="264" r:id="rId22"/>
    <p:sldId id="280" r:id="rId23"/>
    <p:sldId id="265" r:id="rId24"/>
    <p:sldId id="266" r:id="rId25"/>
    <p:sldId id="301" r:id="rId26"/>
    <p:sldId id="283" r:id="rId27"/>
    <p:sldId id="303" r:id="rId28"/>
    <p:sldId id="304" r:id="rId29"/>
    <p:sldId id="281" r:id="rId30"/>
    <p:sldId id="302" r:id="rId31"/>
    <p:sldId id="299" r:id="rId32"/>
    <p:sldId id="285" r:id="rId33"/>
    <p:sldId id="287" r:id="rId34"/>
    <p:sldId id="288" r:id="rId35"/>
    <p:sldId id="289" r:id="rId36"/>
    <p:sldId id="313" r:id="rId37"/>
    <p:sldId id="305" r:id="rId38"/>
    <p:sldId id="312" r:id="rId39"/>
    <p:sldId id="290" r:id="rId40"/>
    <p:sldId id="306" r:id="rId41"/>
    <p:sldId id="308" r:id="rId42"/>
    <p:sldId id="309" r:id="rId43"/>
    <p:sldId id="310" r:id="rId44"/>
    <p:sldId id="292" r:id="rId45"/>
    <p:sldId id="293" r:id="rId46"/>
    <p:sldId id="294" r:id="rId47"/>
    <p:sldId id="311" r:id="rId48"/>
    <p:sldId id="315" r:id="rId49"/>
    <p:sldId id="296" r:id="rId50"/>
    <p:sldId id="297" r:id="rId51"/>
    <p:sldId id="316" r:id="rId52"/>
    <p:sldId id="317" r:id="rId53"/>
    <p:sldId id="318" r:id="rId54"/>
    <p:sldId id="327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74"/>
    <a:srgbClr val="FFFFFF"/>
    <a:srgbClr val="3E7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9DEE16-4B0F-436A-BF34-DA59F343A8EA}" v="29" dt="2026-01-12T12:34:47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83273" autoAdjust="0"/>
  </p:normalViewPr>
  <p:slideViewPr>
    <p:cSldViewPr snapToGrid="0">
      <p:cViewPr varScale="1">
        <p:scale>
          <a:sx n="92" d="100"/>
          <a:sy n="92" d="100"/>
        </p:scale>
        <p:origin x="13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28102-F32F-42F3-AEB0-8318151AF858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EF3D-E672-4991-A852-C034CD2E2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259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814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easy to identify Base64-encoded content</a:t>
            </a:r>
          </a:p>
          <a:p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 the Cookie value appears to remain constant, it looks like the attacker is sending two different encoded messages in the two GET requests.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777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E44A3-F8EA-5DD3-CCAB-572F0FC12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A35D38-2340-A914-4506-CD7400CD4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EFAE7A-3251-70FA-8182-B736BE875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easy to identify Base64-encoded content</a:t>
            </a:r>
          </a:p>
          <a:p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 the Cookie value appears to remain constant, it looks like the attacker is sending two different encoded messages in the two GET requests.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FD14B-F5D0-FE2A-EE97-F80912458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610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56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고엔트로피</a:t>
            </a:r>
            <a:r>
              <a:rPr lang="ko-KR" altLang="en-US" dirty="0"/>
              <a:t> 콘텐츠 기법은 다소 투박하며 최후의 수단으로 사용하는 것이 가장 좋습니다</a:t>
            </a:r>
            <a:r>
              <a:rPr lang="en-US" altLang="ko-KR" dirty="0"/>
              <a:t>. </a:t>
            </a:r>
            <a:r>
              <a:rPr lang="ko-KR" altLang="en-US" dirty="0"/>
              <a:t>사진</a:t>
            </a:r>
            <a:r>
              <a:rPr lang="en-US" altLang="ko-KR" dirty="0"/>
              <a:t>, </a:t>
            </a:r>
            <a:r>
              <a:rPr lang="ko-KR" altLang="en-US" dirty="0"/>
              <a:t>동영상</a:t>
            </a:r>
            <a:r>
              <a:rPr lang="en-US" altLang="ko-KR" dirty="0"/>
              <a:t>, </a:t>
            </a:r>
            <a:r>
              <a:rPr lang="ko-KR" altLang="en-US" dirty="0"/>
              <a:t>오디오 파일 및 기타 압축 데이터와 같은 많은 유형의 콘텐츠는 높은 엔트로피를 나타내며 헤더를 제외하고는 암호화된 콘텐츠와 구별할 수 없습니다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774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428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49613-E43C-414F-750E-06838BC4D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38B1B7-A3A5-D240-807E-6E45B8294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A21968-1370-6BEA-5006-9492A5594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CDB4D0-AE20-7BB0-3829-F2E3DCE67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066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characteristics of simple encoding schemes : (</a:t>
            </a:r>
            <a:r>
              <a:rPr lang="ko-KR" altLang="en-US" dirty="0"/>
              <a:t>작은 크기와 암호화 방식의 모호성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686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600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953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C943B-768D-EE62-2166-E45E2F3FE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3757CD-C7E4-9073-F0CC-5ED49AFE0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B2ABCB-39A1-425F-9485-B871FB4A5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B55396-3A2C-E87D-8915-2AADC5DF4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721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0ED1A-75DB-C1B0-EA2C-C14D43D93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B0A525-F861-4B6B-0160-2C553A23A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400F73-55D7-425E-D874-0282EC705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0BB63D-0864-DAAD-ED74-33A80FFB3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441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519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1: An example of a Python function that implements a NULL-preserving XOR encoding</a:t>
            </a:r>
            <a:br>
              <a:rPr lang="en-US" altLang="ko-KR" dirty="0"/>
            </a:br>
            <a:r>
              <a:rPr lang="en-US" altLang="ko-KR" dirty="0"/>
              <a:t>2: A small Python script that translates the custom Base64 characters to the standard Base64 characters, and then uses the standard function that is part of the Python base64 library </a:t>
            </a:r>
            <a:r>
              <a:rPr lang="en-US" altLang="ko-KR" dirty="0" err="1"/>
              <a:t>decodestring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07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611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03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25DC2-0336-B9A4-6AC1-2AD9C685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863A9C-6616-3D37-E440-89EE63AD9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0C3FEA-3CB5-1D27-A7F1-798FCFAD8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464D-10FE-69F7-91BD-4F2C34104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270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7364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9783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EEF3D-E672-4991-A852-C034CD2E2388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0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A5F31-8057-9379-B2B1-35FD51696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5E2CDA-50AB-73E7-8739-A1539BCE4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5A0F01-CC63-9D36-4693-1D9D16D7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B56C5B-B08B-1F40-AE6F-16EE17E50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Winter Textbook Seminar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EED041-9703-8644-FC1E-D340A73E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58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6DF35-D8B3-CFED-C704-E09CD325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A73F95-5112-1E6A-4327-EE0BB8E76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DAF4D-AD33-6852-AD3D-DF06BBA64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>
                <a:ea typeface="Calibri" panose="020F0502020204030204" pitchFamily="34" charset="0"/>
              </a:rPr>
              <a:t>Practical Malware Analysis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302F59-51F5-8229-5D02-840BE6B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>
                <a:ea typeface="Calibri" panose="020F0502020204030204" pitchFamily="34" charset="0"/>
              </a:rPr>
              <a:t>Winter Textbook Seminar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81C59-7B55-A471-9CF9-13C0E048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D597884-96A2-417C-BAD5-907463B9A000}" type="slidenum">
              <a:rPr lang="ko-KR" altLang="en-US" smtClean="0"/>
              <a:pPr/>
              <a:t>‹#›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C5CCFE-2E8F-415D-A01A-265B44C99744}"/>
              </a:ext>
            </a:extLst>
          </p:cNvPr>
          <p:cNvSpPr/>
          <p:nvPr userDrawn="1"/>
        </p:nvSpPr>
        <p:spPr>
          <a:xfrm>
            <a:off x="664234" y="681487"/>
            <a:ext cx="173966" cy="680588"/>
          </a:xfrm>
          <a:prstGeom prst="rect">
            <a:avLst/>
          </a:prstGeom>
          <a:solidFill>
            <a:srgbClr val="003E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8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4F142-93F1-DAB4-5F4E-1BC458EA1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E838CE-1D86-C3BF-04F3-F91DEF5FB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6E5C9-2AA9-69BA-F7A7-D179E69C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43F592-9292-1A8F-354F-B441CD21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Winter Textbook Seminar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10CB0E-0058-98D1-FFCF-C8891395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068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9D811-C20E-0EA3-FB66-32DBDF83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27B6ED-2CD2-2C4C-7CFC-F20298C95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AFAF6-9AF5-1DE2-E9F1-F9A4938B7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76B94E-91A2-CDEF-3670-FDD37C3C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B50B7F-FBF9-0A51-BDE1-9B71EC605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Winter Textbook Seminar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F4C8F8-5D5F-FE6E-3AB0-0187FB1F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58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BC0E7-1CA0-18D4-27EC-BF44732E9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21422B-3C34-A233-2301-B308655A6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FBD0B8-C429-889F-8C9F-4E5495FD2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AD9992-4247-AB03-52C7-188241066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0EE8F6-1CB2-EA4C-9C27-E1B8D097A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EFCD45-22DA-06EB-745C-C9FC6D91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367D23-6F79-8CEF-9EDE-ACA13FF90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Winter Textbook Seminar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DEAAF0-B4BD-F101-6766-F9A616CD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70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4B4BF-B28B-606B-24A1-DC482320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A92084-7B07-6007-E8CD-13F49DD7B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337FF7-2153-24EB-8106-F80C3FAE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Winter Textbook Seminar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11AE23-3D18-393F-CE74-87DB5DEC9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13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4842F1-7C42-5CEB-F434-16E253F3D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FAC405-9B18-9445-8F1C-E2E1A09D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Winter Textbook Seminar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BD2DB4-4C25-387F-FD26-F6AE082D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426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9CC30-A064-A4BB-1D99-C0BA6254D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831300-DA0C-24E2-0D7A-98164028C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A98BEE-FB6E-6488-CC1C-39C7E8A42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368E56-B2B2-A306-0E5B-CAF01A11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6E98DA-24F7-20DB-1320-3D417454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Winter Textbook Seminar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75C870-17CD-E470-1ADE-82E38EEF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260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00972-5883-5C5F-4AF7-E20B9BBB1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226E43C-143F-B4A7-BD58-3DDB4A376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EF6791-55E4-5E74-91A8-A2802565E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78EA4C-3BA7-A612-A524-A1A96204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4839C-2A4C-92DC-C955-920A2F2F9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Winter Textbook Seminar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63EF2C-1656-F5A4-30A7-0A32F6BA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04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85662-15DA-A324-42B6-8E5A1E8FB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686ADC-08F3-CDC4-8E5C-02548E6F5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93545C-FE91-5B29-5D54-4E777D5C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3970DB-EFA6-A64F-82D7-A7597519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Winter Textbook Seminar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8A5F0-6D65-DC34-5244-49E808D8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22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5D8D30-5052-7C63-103D-89434533F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824B05-938A-40A5-8F4A-42FEBF071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D5EE7F-55D5-E915-D42B-484D149FE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77CBF4-3C9C-CFE2-A707-53912C82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Winter Textbook Seminar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6AAA95-C153-34CD-1D33-51CAB62D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81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C2D5BA-E5E8-5048-CAF8-3725D57A5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84D9E9-D593-7E4F-BF33-0A7C4D88B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A6CD5B-7EB0-EC8D-78C4-74DE9C91A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/>
              <a:t>Practical Malware Analysis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22CF6F-3F80-7172-650E-48CB0C0C5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/>
              <a:t>Winter Textbook Seminar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F190CC-0803-74DD-4271-B58C5D3F9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D597884-96A2-417C-BAD5-907463B9A0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83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0E871-2812-4F35-2322-4C33B5894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4000" b="1" dirty="0">
                <a:solidFill>
                  <a:srgbClr val="003E74"/>
                </a:solidFill>
              </a:rPr>
              <a:t>Chapter </a:t>
            </a:r>
            <a:r>
              <a:rPr lang="en-US" altLang="ko-KR" sz="4800" b="1" dirty="0">
                <a:solidFill>
                  <a:srgbClr val="003E74"/>
                </a:solidFill>
              </a:rPr>
              <a:t>13</a:t>
            </a:r>
            <a:r>
              <a:rPr lang="en-US" altLang="ko-KR" sz="4000" b="1" dirty="0">
                <a:solidFill>
                  <a:srgbClr val="003E74"/>
                </a:solidFill>
              </a:rPr>
              <a:t>. Data</a:t>
            </a:r>
            <a:r>
              <a:rPr lang="ko-KR" altLang="en-US" sz="4000" b="1" dirty="0">
                <a:solidFill>
                  <a:srgbClr val="003E74"/>
                </a:solidFill>
              </a:rPr>
              <a:t> </a:t>
            </a:r>
            <a:r>
              <a:rPr lang="en-US" altLang="ko-KR" sz="4000" b="1" dirty="0">
                <a:solidFill>
                  <a:srgbClr val="003E74"/>
                </a:solidFill>
              </a:rPr>
              <a:t>Encoding</a:t>
            </a:r>
            <a:endParaRPr lang="ko-KR" altLang="en-US" sz="4000" b="1" dirty="0">
              <a:solidFill>
                <a:srgbClr val="003E74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45BDC2-D478-7202-F933-FCB481F09D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en-US" altLang="ko-KR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Winter Textbook Seminar </a:t>
            </a:r>
            <a:r>
              <a:rPr lang="en-US" altLang="ko-K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altLang="ko-KR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Malware Analysis</a:t>
            </a:r>
          </a:p>
          <a:p>
            <a:endParaRPr lang="en-US" altLang="ko-KR" sz="15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5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Presenter: </a:t>
            </a:r>
            <a:r>
              <a:rPr lang="en-US" altLang="ko-KR" sz="15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Kyungbin</a:t>
            </a:r>
            <a:r>
              <a:rPr lang="en-US" altLang="ko-KR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Ryu</a:t>
            </a:r>
          </a:p>
          <a:p>
            <a:r>
              <a:rPr lang="en-US" altLang="ko-KR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2026. 02. 04</a:t>
            </a:r>
            <a:endParaRPr lang="ko-KR" alt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267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3E17E-1620-5603-C81B-9F636ED2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Goal of Analyzing Encoding Algorithms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149DC-723D-EBBE-D08C-801ED46B0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Encoding?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reversible transformation of data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another representation for safe storage, transmission, or processing</a:t>
            </a:r>
          </a:p>
          <a:p>
            <a:pPr marL="0" indent="0">
              <a:buNone/>
            </a:pPr>
            <a:endParaRPr lang="en-US" altLang="ko-KR" sz="2000" b="1" dirty="0">
              <a:solidFill>
                <a:srgbClr val="003E7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 for</a:t>
            </a:r>
            <a:r>
              <a:rPr lang="ko-KR" altLang="en-US" sz="2000" b="1" dirty="0">
                <a:solidFill>
                  <a:srgbClr val="003E7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Malware …</a:t>
            </a:r>
            <a:endParaRPr lang="en-US" altLang="ko-KR" b="1" dirty="0">
              <a:solidFill>
                <a:srgbClr val="003E7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Hide malicious activities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disguise its internal workings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Hide configuration information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information to a staging file before stealing it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strings used by the malware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Disguise the malware as a legitimate tool</a:t>
            </a:r>
          </a:p>
          <a:p>
            <a:pPr marL="457200" lvl="1" indent="0">
              <a:buNone/>
            </a:pP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D23852-0537-FA10-C5D1-428D178F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61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BBB6-C37E-10B0-5926-63E55A9F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2D9C7-3319-5E28-1648-782069E0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Goal of Analyzing Encoding Algorithms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1DA3C8-63BA-6B30-5137-CD21615C4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Encoding?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reversible transformation of data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another representation for safe storage, transmission, or processing</a:t>
            </a:r>
          </a:p>
          <a:p>
            <a:pPr marL="0" indent="0">
              <a:buNone/>
            </a:pPr>
            <a:endParaRPr lang="en-US" altLang="ko-KR" sz="2000" b="1" dirty="0">
              <a:solidFill>
                <a:srgbClr val="003E7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 for</a:t>
            </a:r>
            <a:r>
              <a:rPr lang="ko-KR" altLang="en-US" sz="2000" b="1" dirty="0">
                <a:solidFill>
                  <a:srgbClr val="003E7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Malware …</a:t>
            </a:r>
            <a:endParaRPr lang="en-US" altLang="ko-KR" b="1" dirty="0">
              <a:solidFill>
                <a:srgbClr val="003E7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Hide malicious activities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disguise its internal workings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Hide configuration information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information to a staging file before stealing it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strings used by the malware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Disguise the malware as a legitimate tool</a:t>
            </a:r>
          </a:p>
          <a:p>
            <a:pPr marL="457200" lvl="1" indent="0">
              <a:buNone/>
            </a:pP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784FCC-BB5D-780D-09C6-A4007191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29BC517-540A-6277-28E5-43B9F2D97F78}"/>
              </a:ext>
            </a:extLst>
          </p:cNvPr>
          <p:cNvSpPr/>
          <p:nvPr/>
        </p:nvSpPr>
        <p:spPr>
          <a:xfrm>
            <a:off x="854364" y="5242651"/>
            <a:ext cx="10483272" cy="703408"/>
          </a:xfrm>
          <a:prstGeom prst="roundRect">
            <a:avLst>
              <a:gd name="adj" fmla="val 11724"/>
            </a:avLst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encoding functions </a:t>
            </a:r>
            <a:r>
              <a:rPr lang="en-US" altLang="ko-K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then use that knowledge to </a:t>
            </a:r>
            <a:r>
              <a:rPr lang="en-US" altLang="ko-KR" sz="2000" b="1" u="sng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decode the attacker’s secrets</a:t>
            </a:r>
            <a:endParaRPr lang="ko-KR" altLang="en-US" sz="2000" b="1" u="sng" dirty="0">
              <a:solidFill>
                <a:srgbClr val="003E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390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0E354-6B38-71EE-91BD-3A43FA404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268A0-939B-5627-6133-8EA226A0B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 of Simple Ciphers for Malware</a:t>
            </a: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enough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be used in space-constrained environments</a:t>
            </a: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 obvious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 more complex ciphers</a:t>
            </a: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overhead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thus little impact on performance</a:t>
            </a:r>
          </a:p>
          <a:p>
            <a:pPr marL="0" indent="0">
              <a:buNone/>
            </a:pPr>
            <a:endParaRPr lang="en-US" altLang="ko-KR" sz="2000" b="1" dirty="0">
              <a:solidFill>
                <a:srgbClr val="003E7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</a:t>
            </a:r>
          </a:p>
          <a:p>
            <a:pPr marL="0" indent="0">
              <a:buNone/>
            </a:pP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 Caesar Cipher</a:t>
            </a:r>
          </a:p>
          <a:p>
            <a:pPr marL="0" indent="0">
              <a:buNone/>
            </a:pP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 XOR</a:t>
            </a:r>
          </a:p>
          <a:p>
            <a:pPr marL="0" indent="0">
              <a:buNone/>
            </a:pP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 Base64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8D701A-EA34-542F-9E2B-3D13F59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E67C080-F38C-6F7D-C65D-3A3A8B8DD13F}"/>
              </a:ext>
            </a:extLst>
          </p:cNvPr>
          <p:cNvSpPr/>
          <p:nvPr/>
        </p:nvSpPr>
        <p:spPr>
          <a:xfrm>
            <a:off x="9152854" y="128756"/>
            <a:ext cx="1260000" cy="288000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97F5167-C82E-87F7-881A-D050C220E2F2}"/>
              </a:ext>
            </a:extLst>
          </p:cNvPr>
          <p:cNvSpPr/>
          <p:nvPr/>
        </p:nvSpPr>
        <p:spPr>
          <a:xfrm>
            <a:off x="8458201" y="688360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Ciphers</a:t>
            </a:r>
            <a:endParaRPr lang="ko-KR" altLang="en-US" sz="1300" b="1" dirty="0">
              <a:solidFill>
                <a:srgbClr val="003E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DC2D93E9-FB3A-DAA0-5BA5-B5AC8D836C99}"/>
              </a:ext>
            </a:extLst>
          </p:cNvPr>
          <p:cNvCxnSpPr>
            <a:cxnSpLocks/>
            <a:stCxn id="47" idx="0"/>
            <a:endCxn id="46" idx="2"/>
          </p:cNvCxnSpPr>
          <p:nvPr/>
        </p:nvCxnSpPr>
        <p:spPr>
          <a:xfrm rot="5400000" flipH="1" flipV="1">
            <a:off x="9299725" y="205232"/>
            <a:ext cx="271604" cy="694653"/>
          </a:xfrm>
          <a:prstGeom prst="bentConnector3">
            <a:avLst>
              <a:gd name="adj1" fmla="val 50000"/>
            </a:avLst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A6D248E-D563-910A-5ECC-F6DEC24D50AF}"/>
              </a:ext>
            </a:extLst>
          </p:cNvPr>
          <p:cNvSpPr txBox="1"/>
          <p:nvPr/>
        </p:nvSpPr>
        <p:spPr>
          <a:xfrm>
            <a:off x="8627145" y="1304493"/>
            <a:ext cx="126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Caesar Cipher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Base64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F91FD0B-D21B-D434-4977-FFAEE1A67933}"/>
              </a:ext>
            </a:extLst>
          </p:cNvPr>
          <p:cNvGrpSpPr/>
          <p:nvPr/>
        </p:nvGrpSpPr>
        <p:grpSpPr>
          <a:xfrm>
            <a:off x="8549915" y="1451337"/>
            <a:ext cx="142875" cy="398808"/>
            <a:chOff x="8067820" y="2743200"/>
            <a:chExt cx="526616" cy="68580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C158329-E1CB-4619-1681-D80DBDF50670}"/>
                </a:ext>
              </a:extLst>
            </p:cNvPr>
            <p:cNvCxnSpPr/>
            <p:nvPr/>
          </p:nvCxnSpPr>
          <p:spPr>
            <a:xfrm>
              <a:off x="8083559" y="2743200"/>
              <a:ext cx="0" cy="68580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41656FEE-ECFE-02D0-0AD4-9CFB272A5DF6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275258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72D0FE14-809F-6E27-CE39-3E7FA445614A}"/>
                </a:ext>
              </a:extLst>
            </p:cNvPr>
            <p:cNvCxnSpPr>
              <a:cxnSpLocks/>
            </p:cNvCxnSpPr>
            <p:nvPr/>
          </p:nvCxnSpPr>
          <p:spPr>
            <a:xfrm>
              <a:off x="8072582" y="341933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3506E9C-E83F-34E2-AA5A-37A3A3DB69B5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3085956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6097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5A38D-5FA2-CCEE-A5E6-3A1A45E7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B7747-F6F9-9EF7-A4E1-6D4E021D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(1) Caesar Cipher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5C339E-A9B0-5A57-5A2F-45A80AE0B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letters of the alphabet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characters </a:t>
            </a:r>
            <a:r>
              <a:rPr lang="en-US" altLang="ko-K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</a:t>
            </a:r>
            <a:r>
              <a:rPr lang="ko-KR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an arbitrary number; usually known as k = 3)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ADB1F5-5119-3860-5DA6-D0B56528A3A4}"/>
              </a:ext>
            </a:extLst>
          </p:cNvPr>
          <p:cNvGrpSpPr/>
          <p:nvPr/>
        </p:nvGrpSpPr>
        <p:grpSpPr>
          <a:xfrm>
            <a:off x="4322619" y="2809189"/>
            <a:ext cx="3352800" cy="1239622"/>
            <a:chOff x="277091" y="2292566"/>
            <a:chExt cx="4378036" cy="1708728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773EB01-17F0-AB6C-DE7C-10FE61C37955}"/>
                </a:ext>
              </a:extLst>
            </p:cNvPr>
            <p:cNvSpPr/>
            <p:nvPr/>
          </p:nvSpPr>
          <p:spPr>
            <a:xfrm>
              <a:off x="277091" y="2292566"/>
              <a:ext cx="4378036" cy="1708728"/>
            </a:xfrm>
            <a:prstGeom prst="roundRect">
              <a:avLst>
                <a:gd name="adj" fmla="val 261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Georgia" panose="02040502050405020303" pitchFamily="18" charset="0"/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  <a:latin typeface="Georgia" panose="02040502050405020303" pitchFamily="18" charset="0"/>
                </a:rPr>
                <a:t>AT</a:t>
              </a:r>
              <a:r>
                <a:rPr lang="en-US" altLang="ko-KR" sz="900" dirty="0">
                  <a:solidFill>
                    <a:schemeClr val="tx1"/>
                  </a:solidFill>
                  <a:latin typeface="Georgia" panose="02040502050405020303" pitchFamily="18" charset="0"/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  <a:latin typeface="Georgia" panose="02040502050405020303" pitchFamily="18" charset="0"/>
                </a:rPr>
                <a:t>TACK AT NOON</a:t>
              </a: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Georgia" panose="02040502050405020303" pitchFamily="18" charset="0"/>
                </a:rPr>
                <a:t>DWWDFN DW QRRQ</a:t>
              </a:r>
              <a:endParaRPr lang="ko-KR" altLang="en-US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ECA25584-AFD9-047E-8048-065E6A637BE0}"/>
                </a:ext>
              </a:extLst>
            </p:cNvPr>
            <p:cNvCxnSpPr/>
            <p:nvPr/>
          </p:nvCxnSpPr>
          <p:spPr>
            <a:xfrm>
              <a:off x="332509" y="2410691"/>
              <a:ext cx="4248727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5A7CDB41-93E9-2D76-96BE-5C252A26F26C}"/>
                </a:ext>
              </a:extLst>
            </p:cNvPr>
            <p:cNvCxnSpPr/>
            <p:nvPr/>
          </p:nvCxnSpPr>
          <p:spPr>
            <a:xfrm>
              <a:off x="341745" y="3874655"/>
              <a:ext cx="4248727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04C6E3A-84A1-6518-18C3-E5FF227F08F9}"/>
              </a:ext>
            </a:extLst>
          </p:cNvPr>
          <p:cNvSpPr/>
          <p:nvPr/>
        </p:nvSpPr>
        <p:spPr>
          <a:xfrm>
            <a:off x="3998191" y="4217508"/>
            <a:ext cx="4001656" cy="123962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ko-KR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ko-KR" sz="1400" dirty="0">
                <a:solidFill>
                  <a:srgbClr val="C0000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ko-KR" sz="1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DEFGHIJ</a:t>
            </a:r>
            <a:r>
              <a:rPr lang="en-US" altLang="ko-KR" sz="1400" dirty="0">
                <a:solidFill>
                  <a:schemeClr val="accent3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ko-KR" sz="1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</a:t>
            </a:r>
            <a:r>
              <a:rPr lang="en-US" altLang="ko-KR" sz="1400" dirty="0">
                <a:solidFill>
                  <a:schemeClr val="accent3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ko-KR" sz="1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PQRS</a:t>
            </a:r>
            <a:r>
              <a:rPr lang="en-US" altLang="ko-KR" sz="1400" dirty="0">
                <a:solidFill>
                  <a:schemeClr val="accent3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ko-KR" sz="1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UVWXYZ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1400" dirty="0">
                <a:solidFill>
                  <a:schemeClr val="accent3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ko-KR" sz="1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1400" dirty="0">
                <a:solidFill>
                  <a:schemeClr val="accent3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ko-KR" sz="1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GHIJKLM</a:t>
            </a:r>
            <a:r>
              <a:rPr lang="en-US" altLang="ko-KR" sz="1400" dirty="0">
                <a:solidFill>
                  <a:schemeClr val="accent3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1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altLang="ko-KR" sz="1400" dirty="0">
                <a:solidFill>
                  <a:schemeClr val="accent3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QR</a:t>
            </a:r>
            <a:r>
              <a:rPr lang="en-US" altLang="ko-KR" sz="1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STUV</a:t>
            </a:r>
            <a:r>
              <a:rPr lang="en-US" altLang="ko-KR" sz="1400" dirty="0">
                <a:solidFill>
                  <a:schemeClr val="accent3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ko-KR" sz="1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altLang="ko-KR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ko-KR" alt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C7F70F5-4003-EBA9-9408-F0CC2CA0E8BB}"/>
              </a:ext>
            </a:extLst>
          </p:cNvPr>
          <p:cNvCxnSpPr>
            <a:cxnSpLocks/>
          </p:cNvCxnSpPr>
          <p:nvPr/>
        </p:nvCxnSpPr>
        <p:spPr>
          <a:xfrm>
            <a:off x="4506190" y="4693796"/>
            <a:ext cx="0" cy="2794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CC4B6F6-C854-4DF8-F7D7-227321C3EDD3}"/>
              </a:ext>
            </a:extLst>
          </p:cNvPr>
          <p:cNvCxnSpPr>
            <a:cxnSpLocks/>
          </p:cNvCxnSpPr>
          <p:nvPr/>
        </p:nvCxnSpPr>
        <p:spPr>
          <a:xfrm>
            <a:off x="4747490" y="4693796"/>
            <a:ext cx="0" cy="2794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FC8C1DC-E31B-698B-EFC5-8DC7B8D9A197}"/>
              </a:ext>
            </a:extLst>
          </p:cNvPr>
          <p:cNvCxnSpPr>
            <a:cxnSpLocks/>
          </p:cNvCxnSpPr>
          <p:nvPr/>
        </p:nvCxnSpPr>
        <p:spPr>
          <a:xfrm>
            <a:off x="5604740" y="4693796"/>
            <a:ext cx="0" cy="2794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D016F30-41F8-DB0C-10B3-5E8B466D1638}"/>
              </a:ext>
            </a:extLst>
          </p:cNvPr>
          <p:cNvCxnSpPr>
            <a:cxnSpLocks/>
          </p:cNvCxnSpPr>
          <p:nvPr/>
        </p:nvCxnSpPr>
        <p:spPr>
          <a:xfrm>
            <a:off x="5998440" y="4693796"/>
            <a:ext cx="0" cy="2794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AE87E8F-ADC3-F679-5A9C-D114609D9810}"/>
              </a:ext>
            </a:extLst>
          </p:cNvPr>
          <p:cNvCxnSpPr>
            <a:cxnSpLocks/>
          </p:cNvCxnSpPr>
          <p:nvPr/>
        </p:nvCxnSpPr>
        <p:spPr>
          <a:xfrm>
            <a:off x="6131790" y="4693796"/>
            <a:ext cx="0" cy="2794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7A6D306-2FD9-B457-4FEE-BF98F0DA98C5}"/>
              </a:ext>
            </a:extLst>
          </p:cNvPr>
          <p:cNvCxnSpPr>
            <a:cxnSpLocks/>
          </p:cNvCxnSpPr>
          <p:nvPr/>
        </p:nvCxnSpPr>
        <p:spPr>
          <a:xfrm>
            <a:off x="6703290" y="4693796"/>
            <a:ext cx="0" cy="2794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111AC8-AB4C-C0E3-0D60-D130B8E9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839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8802-E886-CE35-6C58-16A5E1C9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3BE8B-49A0-DEFA-C315-5CF855AB6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BBA1A8-32E5-7A95-334B-608599203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static byte value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0x3C)</a:t>
            </a:r>
            <a:endParaRPr lang="en-US" altLang="ko-K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limited to printable characters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only a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machine-code instruction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supports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reversibility</a:t>
            </a:r>
          </a:p>
        </p:txBody>
      </p:sp>
      <p:pic>
        <p:nvPicPr>
          <p:cNvPr id="9" name="그림 8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E07FE4-2F4B-64D7-8DA6-C834BAB69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266" y="3628919"/>
            <a:ext cx="6100118" cy="21945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139FCF-E1DD-987C-6F5F-7F160A12FC7F}"/>
              </a:ext>
            </a:extLst>
          </p:cNvPr>
          <p:cNvSpPr txBox="1"/>
          <p:nvPr/>
        </p:nvSpPr>
        <p:spPr>
          <a:xfrm>
            <a:off x="3842342" y="4479642"/>
            <a:ext cx="757382" cy="38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0x3C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B7ACDD6B-4489-09A9-E6CF-98F50B5C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19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24640-B5A6-DFE5-47E5-E9176B97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8C45D-54FE-7610-EC42-7DB8BE790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12516-E765-0FF2-68F7-9B1F55A3C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a </a:t>
            </a:r>
            <a:r>
              <a:rPr lang="en-US" altLang="ko-KR" b="1" dirty="0"/>
              <a:t>static byte value </a:t>
            </a:r>
            <a:r>
              <a:rPr lang="en-US" altLang="ko-KR" dirty="0"/>
              <a:t>(e.g., 0x3C)</a:t>
            </a:r>
            <a:endParaRPr lang="en-US" altLang="ko-KR" b="1" dirty="0"/>
          </a:p>
          <a:p>
            <a:r>
              <a:rPr lang="en-US" altLang="ko-KR" b="1" dirty="0"/>
              <a:t>Not limited to printable characters</a:t>
            </a:r>
          </a:p>
          <a:p>
            <a:r>
              <a:rPr lang="en-US" altLang="ko-KR" dirty="0"/>
              <a:t>Requires only a </a:t>
            </a:r>
            <a:r>
              <a:rPr lang="en-US" altLang="ko-KR" b="1" dirty="0"/>
              <a:t>single machine-code instruction</a:t>
            </a:r>
            <a:r>
              <a:rPr lang="en-US" altLang="ko-KR" dirty="0"/>
              <a:t> and supports </a:t>
            </a:r>
            <a:r>
              <a:rPr lang="en-US" altLang="ko-KR" b="1" dirty="0"/>
              <a:t>reversibility</a:t>
            </a:r>
          </a:p>
        </p:txBody>
      </p:sp>
      <p:pic>
        <p:nvPicPr>
          <p:cNvPr id="9" name="그림 8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B11808-857A-11F1-1D2A-5C0A2C119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266" y="3628919"/>
            <a:ext cx="6100118" cy="21945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91F6C1-96F1-7BBA-379B-DCE7F93D8EF3}"/>
              </a:ext>
            </a:extLst>
          </p:cNvPr>
          <p:cNvSpPr txBox="1"/>
          <p:nvPr/>
        </p:nvSpPr>
        <p:spPr>
          <a:xfrm>
            <a:off x="3842342" y="4479642"/>
            <a:ext cx="757382" cy="38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0x3C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3518F-94F2-E7B8-6855-63FA4A01814D}"/>
              </a:ext>
            </a:extLst>
          </p:cNvPr>
          <p:cNvSpPr txBox="1"/>
          <p:nvPr/>
        </p:nvSpPr>
        <p:spPr>
          <a:xfrm>
            <a:off x="8164945" y="3816628"/>
            <a:ext cx="35837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0x41 =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0100 000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“A”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0x3C =	0011 1100      (Key)</a:t>
            </a:r>
          </a:p>
          <a:p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0x7D =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0111 1101</a:t>
            </a:r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“}”</a:t>
            </a:r>
            <a:endParaRPr lang="ko-KR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E35CA83-CBA3-0DF6-3C48-79BC76AFD2AB}"/>
              </a:ext>
            </a:extLst>
          </p:cNvPr>
          <p:cNvCxnSpPr/>
          <p:nvPr/>
        </p:nvCxnSpPr>
        <p:spPr>
          <a:xfrm>
            <a:off x="7887855" y="4544295"/>
            <a:ext cx="3546763" cy="0"/>
          </a:xfrm>
          <a:prstGeom prst="line">
            <a:avLst/>
          </a:prstGeom>
          <a:ln w="28575"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EDD761-70D1-7531-66E1-9DFCA39A4885}"/>
              </a:ext>
            </a:extLst>
          </p:cNvPr>
          <p:cNvSpPr/>
          <p:nvPr/>
        </p:nvSpPr>
        <p:spPr>
          <a:xfrm>
            <a:off x="1124794" y="3628919"/>
            <a:ext cx="595214" cy="21945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55412B-AAD6-0481-B978-0714309CC4D5}"/>
              </a:ext>
            </a:extLst>
          </p:cNvPr>
          <p:cNvSpPr/>
          <p:nvPr/>
        </p:nvSpPr>
        <p:spPr>
          <a:xfrm>
            <a:off x="1238562" y="5016957"/>
            <a:ext cx="368565" cy="295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3F855B-F2C2-5F0A-8F99-6163FA87DA89}"/>
              </a:ext>
            </a:extLst>
          </p:cNvPr>
          <p:cNvSpPr/>
          <p:nvPr/>
        </p:nvSpPr>
        <p:spPr>
          <a:xfrm>
            <a:off x="1244516" y="5420215"/>
            <a:ext cx="368565" cy="295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AA8D002-5400-EA7D-D1B9-8661E7C8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6DDBB4-D7AC-A923-7148-D6C5EE5F4B8E}"/>
              </a:ext>
            </a:extLst>
          </p:cNvPr>
          <p:cNvSpPr/>
          <p:nvPr/>
        </p:nvSpPr>
        <p:spPr>
          <a:xfrm>
            <a:off x="2528688" y="5016957"/>
            <a:ext cx="368565" cy="295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4B9A98-290B-3594-EEDD-9EED5E0A6774}"/>
              </a:ext>
            </a:extLst>
          </p:cNvPr>
          <p:cNvSpPr/>
          <p:nvPr/>
        </p:nvSpPr>
        <p:spPr>
          <a:xfrm>
            <a:off x="2534642" y="5420215"/>
            <a:ext cx="368565" cy="295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E7299B-F371-3ACF-2455-40B134D1C70E}"/>
              </a:ext>
            </a:extLst>
          </p:cNvPr>
          <p:cNvSpPr/>
          <p:nvPr/>
        </p:nvSpPr>
        <p:spPr>
          <a:xfrm>
            <a:off x="4253202" y="5017096"/>
            <a:ext cx="368565" cy="295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DD95E5-4357-D5F0-4A7A-49A31F049821}"/>
              </a:ext>
            </a:extLst>
          </p:cNvPr>
          <p:cNvSpPr/>
          <p:nvPr/>
        </p:nvSpPr>
        <p:spPr>
          <a:xfrm>
            <a:off x="4249920" y="5420354"/>
            <a:ext cx="368565" cy="295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81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C22C-CE11-9D3B-AEC4-6E1036ADC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CE0296-DEB1-0286-4A3B-18D0360F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5860C-9060-91EB-0798-C2736FBF3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a </a:t>
            </a:r>
            <a:r>
              <a:rPr lang="en-US" altLang="ko-KR" b="1" dirty="0"/>
              <a:t>static byte value </a:t>
            </a:r>
            <a:r>
              <a:rPr lang="en-US" altLang="ko-KR" dirty="0"/>
              <a:t>(e.g., 0x3C)</a:t>
            </a:r>
            <a:endParaRPr lang="en-US" altLang="ko-KR" b="1" dirty="0"/>
          </a:p>
          <a:p>
            <a:r>
              <a:rPr lang="en-US" altLang="ko-KR" b="1" dirty="0"/>
              <a:t>Not limited to printable characters</a:t>
            </a:r>
          </a:p>
          <a:p>
            <a:r>
              <a:rPr lang="en-US" altLang="ko-KR" dirty="0"/>
              <a:t>Requires only a </a:t>
            </a:r>
            <a:r>
              <a:rPr lang="en-US" altLang="ko-KR" b="1" dirty="0"/>
              <a:t>single machine-code instruction</a:t>
            </a:r>
            <a:r>
              <a:rPr lang="en-US" altLang="ko-KR" dirty="0"/>
              <a:t> and supports </a:t>
            </a:r>
            <a:r>
              <a:rPr lang="en-US" altLang="ko-KR" b="1" dirty="0"/>
              <a:t>reversibility</a:t>
            </a:r>
          </a:p>
        </p:txBody>
      </p:sp>
      <p:pic>
        <p:nvPicPr>
          <p:cNvPr id="9" name="그림 8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C7E620-AF14-953B-1B8B-000D885D3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266" y="3628919"/>
            <a:ext cx="6100118" cy="21945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09CF47-2C5A-FB60-AD59-93070640E7EC}"/>
              </a:ext>
            </a:extLst>
          </p:cNvPr>
          <p:cNvSpPr txBox="1"/>
          <p:nvPr/>
        </p:nvSpPr>
        <p:spPr>
          <a:xfrm>
            <a:off x="3842342" y="4479642"/>
            <a:ext cx="757382" cy="38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0x3C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A34F8-9533-1823-B54C-2D87837C5952}"/>
              </a:ext>
            </a:extLst>
          </p:cNvPr>
          <p:cNvSpPr txBox="1"/>
          <p:nvPr/>
        </p:nvSpPr>
        <p:spPr>
          <a:xfrm>
            <a:off x="8164945" y="3816628"/>
            <a:ext cx="35837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0x41 =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0100 000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“A”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0x3C =	0011 1100      (Key)</a:t>
            </a:r>
          </a:p>
          <a:p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0x7D =	0111 1101      “}”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FDB10C6-AE94-3D41-0146-6BAD434174A5}"/>
              </a:ext>
            </a:extLst>
          </p:cNvPr>
          <p:cNvCxnSpPr/>
          <p:nvPr/>
        </p:nvCxnSpPr>
        <p:spPr>
          <a:xfrm>
            <a:off x="7887855" y="4544295"/>
            <a:ext cx="3546763" cy="0"/>
          </a:xfrm>
          <a:prstGeom prst="line">
            <a:avLst/>
          </a:prstGeom>
          <a:ln w="28575"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4508AC-ACE9-9FBB-6CFA-C3A71031F37F}"/>
              </a:ext>
            </a:extLst>
          </p:cNvPr>
          <p:cNvSpPr/>
          <p:nvPr/>
        </p:nvSpPr>
        <p:spPr>
          <a:xfrm>
            <a:off x="1124794" y="3628919"/>
            <a:ext cx="595214" cy="21945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7B7AA5-B642-0008-AD76-6CE70376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701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65BB6-84E3-7F8D-7A20-2801474E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072C31-69C6-D82C-8AD3-2C23A440D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Scenario: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Investigating a GIF file used by malware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file should start with "GIF87a" or "GIF89a", but …</a:t>
            </a:r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C73102-671E-5F73-D6AD-2B3D57C9E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8" y="3640225"/>
            <a:ext cx="6862619" cy="14869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9AB1DA4-9D25-9EB9-AF45-1E8B5E3378FD}"/>
              </a:ext>
            </a:extLst>
          </p:cNvPr>
          <p:cNvSpPr/>
          <p:nvPr/>
        </p:nvSpPr>
        <p:spPr>
          <a:xfrm>
            <a:off x="4690031" y="3640226"/>
            <a:ext cx="1590696" cy="14869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041DAE5-561A-925D-E22A-F501C5ED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19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6975-F608-F03C-C11D-6044103A8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277EFB-7BA2-8343-4250-45B30F50C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277617-02C8-0B2F-BC41-20B632A54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Scenario: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Investigating a GIF file used by malware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file should start with "GIF87a" or "GIF89a", but …</a:t>
            </a:r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7E215A-739E-A03E-6D3E-0A8DAB9E8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8" y="3640225"/>
            <a:ext cx="6862619" cy="1486900"/>
          </a:xfrm>
          <a:prstGeom prst="rect">
            <a:avLst/>
          </a:prstGeom>
        </p:spPr>
      </p:pic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7AF79337-435D-8FFC-AC6C-00910BA8FFB8}"/>
              </a:ext>
            </a:extLst>
          </p:cNvPr>
          <p:cNvSpPr/>
          <p:nvPr/>
        </p:nvSpPr>
        <p:spPr>
          <a:xfrm>
            <a:off x="7333673" y="3256838"/>
            <a:ext cx="4618182" cy="1126837"/>
          </a:xfrm>
          <a:prstGeom prst="wedgeRoundRectCallout">
            <a:avLst>
              <a:gd name="adj1" fmla="val -42732"/>
              <a:gd name="adj2" fmla="val 6987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file may be an </a:t>
            </a:r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XOR-encoded executable, </a:t>
            </a:r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</a:t>
            </a:r>
            <a:r>
              <a:rPr lang="en-US" altLang="ko-KR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we find out?</a:t>
            </a:r>
            <a:endParaRPr lang="ko-KR" altLang="en-US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45183D-9AAD-9556-D8C7-EF733A62E768}"/>
              </a:ext>
            </a:extLst>
          </p:cNvPr>
          <p:cNvSpPr/>
          <p:nvPr/>
        </p:nvSpPr>
        <p:spPr>
          <a:xfrm>
            <a:off x="4690031" y="3640226"/>
            <a:ext cx="1590696" cy="14869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395D55-D10C-6F58-4A3F-D96F3F36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333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D383-D19F-33AD-19B3-FA052743D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20642-0C59-1373-EA64-CD198421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A88EF0-2440-43DE-29F4-1406673EC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Brute-Forcing XOR Encoding</a:t>
            </a:r>
            <a:endParaRPr lang="en-US" altLang="ko-KR" sz="2000" dirty="0">
              <a:ea typeface="Calibri" panose="020F0502020204030204" pitchFamily="34" charset="0"/>
            </a:endParaRPr>
          </a:p>
          <a:p>
            <a:r>
              <a:rPr lang="en-US" altLang="ko-KR" b="1" dirty="0">
                <a:ea typeface="Calibri" panose="020F0502020204030204" pitchFamily="34" charset="0"/>
              </a:rPr>
              <a:t>Scenario:</a:t>
            </a:r>
            <a:r>
              <a:rPr lang="en-US" altLang="ko-KR" dirty="0">
                <a:ea typeface="Calibri" panose="020F0502020204030204" pitchFamily="34" charset="0"/>
              </a:rPr>
              <a:t> Investigating a GIF file used by malware</a:t>
            </a:r>
          </a:p>
          <a:p>
            <a:r>
              <a:rPr lang="en-US" altLang="ko-KR" dirty="0">
                <a:ea typeface="Calibri" panose="020F0502020204030204" pitchFamily="34" charset="0"/>
              </a:rPr>
              <a:t>The file should start with "GIF87a" or "GIF89a", but …</a:t>
            </a:r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3497C5-C1ED-763E-6811-707D49C4F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8" y="3640225"/>
            <a:ext cx="6862619" cy="1486900"/>
          </a:xfrm>
          <a:prstGeom prst="rect">
            <a:avLst/>
          </a:prstGeom>
        </p:spPr>
      </p:pic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0E04B7DA-11E5-7738-ACC0-0B6D185DC655}"/>
              </a:ext>
            </a:extLst>
          </p:cNvPr>
          <p:cNvSpPr/>
          <p:nvPr/>
        </p:nvSpPr>
        <p:spPr>
          <a:xfrm>
            <a:off x="7333673" y="3256838"/>
            <a:ext cx="4618182" cy="1126837"/>
          </a:xfrm>
          <a:prstGeom prst="wedgeRoundRectCallout">
            <a:avLst>
              <a:gd name="adj1" fmla="val -42732"/>
              <a:gd name="adj2" fmla="val 6987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file may be an </a:t>
            </a:r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XOR-encoded executable, </a:t>
            </a:r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</a:t>
            </a:r>
            <a:r>
              <a:rPr lang="en-US" altLang="ko-KR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we find out?</a:t>
            </a:r>
            <a:endParaRPr lang="ko-KR" altLang="en-US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E1955B8A-05ED-7C54-7821-01EFF15DBD30}"/>
              </a:ext>
            </a:extLst>
          </p:cNvPr>
          <p:cNvSpPr/>
          <p:nvPr/>
        </p:nvSpPr>
        <p:spPr>
          <a:xfrm>
            <a:off x="9005454" y="4608879"/>
            <a:ext cx="2382982" cy="605347"/>
          </a:xfrm>
          <a:prstGeom prst="wedgeRoundRectCallout">
            <a:avLst>
              <a:gd name="adj1" fmla="val 42268"/>
              <a:gd name="adj2" fmla="val 7406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Brute Force!</a:t>
            </a:r>
            <a:endParaRPr lang="ko-KR" altLang="en-US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E94BF1-A2F6-E050-9972-65580B74ABEB}"/>
              </a:ext>
            </a:extLst>
          </p:cNvPr>
          <p:cNvSpPr/>
          <p:nvPr/>
        </p:nvSpPr>
        <p:spPr>
          <a:xfrm>
            <a:off x="4690031" y="3640226"/>
            <a:ext cx="1590696" cy="14869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0069B80-51A3-CF0A-CE52-AE71CB53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43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38A49-F680-F20F-71CB-54379E3B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D8BC7D-FC07-C93A-9BC9-4A3EA8DB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0CA6E1-9FAE-A0EB-C449-FAC7EB444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Brute-Forcing XOR Encoding</a:t>
            </a:r>
          </a:p>
          <a:p>
            <a:r>
              <a:rPr lang="en-US" altLang="ko-KR" b="1" dirty="0">
                <a:ea typeface="Calibri" panose="020F0502020204030204" pitchFamily="34" charset="0"/>
              </a:rPr>
              <a:t>Try all 255 possible single-byte keys </a:t>
            </a:r>
            <a:r>
              <a:rPr lang="en-US" altLang="ko-KR" dirty="0">
                <a:ea typeface="Calibri" panose="020F0502020204030204" pitchFamily="34" charset="0"/>
              </a:rPr>
              <a:t>on the file header</a:t>
            </a:r>
          </a:p>
          <a:p>
            <a:r>
              <a:rPr lang="en-US" altLang="ko-KR" b="1" dirty="0">
                <a:ea typeface="Calibri" panose="020F0502020204030204" pitchFamily="34" charset="0"/>
              </a:rPr>
              <a:t>Compare the output</a:t>
            </a:r>
            <a:r>
              <a:rPr lang="en-US" altLang="ko-KR" dirty="0">
                <a:ea typeface="Calibri" panose="020F0502020204030204" pitchFamily="34" charset="0"/>
              </a:rPr>
              <a:t> with the expected executable file header</a:t>
            </a:r>
          </a:p>
          <a:p>
            <a:endParaRPr lang="ko-KR" altLang="en-US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29A0F8-CF8C-064F-727B-3A9E67D7F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070" y="3120736"/>
            <a:ext cx="7011860" cy="277552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CAE3C3A-E190-C86C-C7FD-6E60A525B130}"/>
              </a:ext>
            </a:extLst>
          </p:cNvPr>
          <p:cNvSpPr/>
          <p:nvPr/>
        </p:nvSpPr>
        <p:spPr>
          <a:xfrm>
            <a:off x="2590070" y="3805383"/>
            <a:ext cx="1270730" cy="19304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D20FF7-4D4D-5B22-ABBE-0A4B80578533}"/>
              </a:ext>
            </a:extLst>
          </p:cNvPr>
          <p:cNvSpPr/>
          <p:nvPr/>
        </p:nvSpPr>
        <p:spPr>
          <a:xfrm>
            <a:off x="3980143" y="3805382"/>
            <a:ext cx="3547494" cy="19304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D7319E-ADA5-D24B-4C7B-0E48CAC66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652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A9CE-4115-EA9C-3832-059B0D2A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8C4A0-0053-6363-F0F4-189961E9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D1F7B2-B33B-60A1-101C-08B9A66DB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Brute-Forcing XOR Encoding</a:t>
            </a:r>
          </a:p>
          <a:p>
            <a:r>
              <a:rPr lang="en-US" altLang="ko-KR" b="1" dirty="0">
                <a:ea typeface="Calibri" panose="020F0502020204030204" pitchFamily="34" charset="0"/>
              </a:rPr>
              <a:t>Try all 255 possible single-byte keys </a:t>
            </a:r>
            <a:r>
              <a:rPr lang="en-US" altLang="ko-KR" dirty="0">
                <a:ea typeface="Calibri" panose="020F0502020204030204" pitchFamily="34" charset="0"/>
              </a:rPr>
              <a:t>on the file header</a:t>
            </a:r>
          </a:p>
          <a:p>
            <a:r>
              <a:rPr lang="en-US" altLang="ko-KR" b="1" dirty="0">
                <a:ea typeface="Calibri" panose="020F0502020204030204" pitchFamily="34" charset="0"/>
              </a:rPr>
              <a:t>Compare the output</a:t>
            </a:r>
            <a:r>
              <a:rPr lang="en-US" altLang="ko-KR" dirty="0">
                <a:ea typeface="Calibri" panose="020F0502020204030204" pitchFamily="34" charset="0"/>
              </a:rPr>
              <a:t> with the expected executable file header</a:t>
            </a:r>
          </a:p>
          <a:p>
            <a:endParaRPr lang="ko-KR" altLang="en-US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F69C1D-4731-9F44-AFF9-FD20DE051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070" y="3120736"/>
            <a:ext cx="7011860" cy="277552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AB29489-5DF6-60B8-4799-24F0FE64C021}"/>
              </a:ext>
            </a:extLst>
          </p:cNvPr>
          <p:cNvSpPr/>
          <p:nvPr/>
        </p:nvSpPr>
        <p:spPr>
          <a:xfrm flipH="1">
            <a:off x="3971636" y="5495635"/>
            <a:ext cx="508000" cy="2493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AC7FF-C7B9-1BF6-DB67-21AB4D9E5542}"/>
              </a:ext>
            </a:extLst>
          </p:cNvPr>
          <p:cNvSpPr txBox="1"/>
          <p:nvPr/>
        </p:nvSpPr>
        <p:spPr>
          <a:xfrm>
            <a:off x="4202538" y="5131930"/>
            <a:ext cx="3611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 files begin with the letters “MZ”</a:t>
            </a:r>
            <a:endParaRPr lang="ko-KR" altLang="en-US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F9A7C-31F9-8677-D4B2-41EFC5F03633}"/>
              </a:ext>
            </a:extLst>
          </p:cNvPr>
          <p:cNvSpPr txBox="1"/>
          <p:nvPr/>
        </p:nvSpPr>
        <p:spPr>
          <a:xfrm>
            <a:off x="2854036" y="5883254"/>
            <a:ext cx="55602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PE file:</a:t>
            </a:r>
            <a:r>
              <a:rPr lang="ko-KR" altLang="en-US" sz="1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standard binary format used by Windows for executables</a:t>
            </a:r>
            <a:endParaRPr lang="ko-KR" altLang="en-US" sz="14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63078B0-1C66-B04C-581F-75939E8B7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633633F2-A193-969A-6E54-051D9FED576F}"/>
              </a:ext>
            </a:extLst>
          </p:cNvPr>
          <p:cNvSpPr/>
          <p:nvPr/>
        </p:nvSpPr>
        <p:spPr>
          <a:xfrm>
            <a:off x="8949915" y="4994093"/>
            <a:ext cx="2217994" cy="456632"/>
          </a:xfrm>
          <a:prstGeom prst="wedgeRoundRectCallout">
            <a:avLst>
              <a:gd name="adj1" fmla="val 42268"/>
              <a:gd name="adj2" fmla="val 7406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is 0x12!</a:t>
            </a:r>
            <a:endParaRPr lang="ko-KR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635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B367-385D-5E47-B447-F21CF05C5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D7FC7-DB36-48E9-EBB4-F1BD1485C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0EBFF4-6195-81CA-12C7-CA9004476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encoded content has many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bytes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single-byte key becomes obvious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18F7F50-7961-DAF0-974F-73916C627BA3}"/>
              </a:ext>
            </a:extLst>
          </p:cNvPr>
          <p:cNvGrpSpPr/>
          <p:nvPr/>
        </p:nvGrpSpPr>
        <p:grpSpPr>
          <a:xfrm>
            <a:off x="3344430" y="2640908"/>
            <a:ext cx="5694796" cy="1233872"/>
            <a:chOff x="2150918" y="2600119"/>
            <a:chExt cx="6862619" cy="1486900"/>
          </a:xfrm>
        </p:grpSpPr>
        <p:pic>
          <p:nvPicPr>
            <p:cNvPr id="6" name="그림 5" descr="텍스트, 폰트, 스크린샷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25DE9CF-9537-2D6F-4E3D-DBD301C32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18" y="2600119"/>
              <a:ext cx="6862619" cy="14869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8208E25-2FE4-1655-3C38-10A6B18C15E3}"/>
                </a:ext>
              </a:extLst>
            </p:cNvPr>
            <p:cNvSpPr/>
            <p:nvPr/>
          </p:nvSpPr>
          <p:spPr>
            <a:xfrm>
              <a:off x="2150918" y="2704894"/>
              <a:ext cx="4183207" cy="83840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80E4A6FC-A775-0867-CD20-E29FBC2A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375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08832-6775-1A76-4072-8E76B2FD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58BA0-92ED-CEFA-5E36-7F6B5FA4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B436F8-8E9B-3C58-4116-4FFAA9941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NULL-Preserving Single-Byte XOR Encoding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encoded content has many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bytes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single-byte key becomes obvious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831D8E6-56EE-08D4-5F8A-E3699EEFEED1}"/>
              </a:ext>
            </a:extLst>
          </p:cNvPr>
          <p:cNvGrpSpPr/>
          <p:nvPr/>
        </p:nvGrpSpPr>
        <p:grpSpPr>
          <a:xfrm>
            <a:off x="3344430" y="2640908"/>
            <a:ext cx="5694796" cy="1233872"/>
            <a:chOff x="2150918" y="2600119"/>
            <a:chExt cx="6862619" cy="1486900"/>
          </a:xfrm>
        </p:grpSpPr>
        <p:pic>
          <p:nvPicPr>
            <p:cNvPr id="6" name="그림 5" descr="텍스트, 폰트, 스크린샷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C089D87-92BE-DDA7-351E-3F4999FC4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18" y="2600119"/>
              <a:ext cx="6862619" cy="14869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0785B2-65DD-9598-19CF-CF21A9DD97DB}"/>
                </a:ext>
              </a:extLst>
            </p:cNvPr>
            <p:cNvSpPr/>
            <p:nvPr/>
          </p:nvSpPr>
          <p:spPr>
            <a:xfrm>
              <a:off x="2150918" y="2704894"/>
              <a:ext cx="4183207" cy="83840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1C2B6EB4-55F1-F21D-4146-8444C28F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1FFF3D27-E11D-1D34-514C-2DA6482F9D55}"/>
              </a:ext>
            </a:extLst>
          </p:cNvPr>
          <p:cNvSpPr/>
          <p:nvPr/>
        </p:nvSpPr>
        <p:spPr>
          <a:xfrm>
            <a:off x="9039226" y="2966954"/>
            <a:ext cx="1244020" cy="456632"/>
          </a:xfrm>
          <a:prstGeom prst="wedgeRoundRectCallout">
            <a:avLst>
              <a:gd name="adj1" fmla="val 42268"/>
              <a:gd name="adj2" fmla="val 7406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0x12?</a:t>
            </a:r>
            <a:endParaRPr lang="ko-KR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07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F4AF-0E43-98DD-0B44-BE6691F94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639E0-F588-5268-A6CD-1B204683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840BF2-6802-F6B7-9AD7-E603ADDFA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NULL-Preserving Single-Byte XOR Encoding</a:t>
            </a:r>
            <a:endParaRPr lang="en-US" altLang="ko-KR" sz="2000" dirty="0">
              <a:ea typeface="Calibri" panose="020F0502020204030204" pitchFamily="34" charset="0"/>
            </a:endParaRPr>
          </a:p>
          <a:p>
            <a:r>
              <a:rPr lang="en-US" altLang="ko-KR" dirty="0">
                <a:ea typeface="Calibri" panose="020F0502020204030204" pitchFamily="34" charset="0"/>
              </a:rPr>
              <a:t>If the encoded content has many</a:t>
            </a:r>
            <a:r>
              <a:rPr lang="en-US" altLang="ko-KR" b="1" dirty="0">
                <a:ea typeface="Calibri" panose="020F0502020204030204" pitchFamily="34" charset="0"/>
              </a:rPr>
              <a:t> NULL bytes</a:t>
            </a:r>
            <a:r>
              <a:rPr lang="en-US" altLang="ko-KR" dirty="0">
                <a:ea typeface="Calibri" panose="020F0502020204030204" pitchFamily="34" charset="0"/>
              </a:rPr>
              <a:t>, the </a:t>
            </a:r>
            <a:r>
              <a:rPr lang="en-US" altLang="ko-KR" b="1" dirty="0">
                <a:ea typeface="Calibri" panose="020F0502020204030204" pitchFamily="34" charset="0"/>
              </a:rPr>
              <a:t>single-byte key becomes obvious</a:t>
            </a:r>
            <a:endParaRPr lang="ko-KR" altLang="en-US" b="1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E78C0EE-D939-6856-0302-7F4D6F2A72D7}"/>
              </a:ext>
            </a:extLst>
          </p:cNvPr>
          <p:cNvGrpSpPr/>
          <p:nvPr/>
        </p:nvGrpSpPr>
        <p:grpSpPr>
          <a:xfrm>
            <a:off x="3344430" y="2640908"/>
            <a:ext cx="5694796" cy="1233872"/>
            <a:chOff x="2150918" y="2600119"/>
            <a:chExt cx="6862619" cy="1486900"/>
          </a:xfrm>
        </p:grpSpPr>
        <p:pic>
          <p:nvPicPr>
            <p:cNvPr id="6" name="그림 5" descr="텍스트, 폰트, 스크린샷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49413BA-F536-7CDF-5AE9-1640F7290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18" y="2600119"/>
              <a:ext cx="6862619" cy="14869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974BD1E-B7F8-A028-E91D-A4B6BD703041}"/>
                </a:ext>
              </a:extLst>
            </p:cNvPr>
            <p:cNvSpPr/>
            <p:nvPr/>
          </p:nvSpPr>
          <p:spPr>
            <a:xfrm>
              <a:off x="2150918" y="2704894"/>
              <a:ext cx="4183207" cy="83840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BDAD2E42-869F-02A0-7132-03F647E47194}"/>
              </a:ext>
            </a:extLst>
          </p:cNvPr>
          <p:cNvGrpSpPr/>
          <p:nvPr/>
        </p:nvGrpSpPr>
        <p:grpSpPr>
          <a:xfrm>
            <a:off x="3547702" y="4009717"/>
            <a:ext cx="5096596" cy="1040224"/>
            <a:chOff x="2691176" y="2322359"/>
            <a:chExt cx="6962048" cy="1420965"/>
          </a:xfrm>
        </p:grpSpPr>
        <p:pic>
          <p:nvPicPr>
            <p:cNvPr id="10" name="그림 9" descr="텍스트, 스크린샷, 폰트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F813E63-14FD-4471-9664-CC23C3370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91176" y="2322359"/>
              <a:ext cx="6962048" cy="1420965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5B38936-2796-D7E3-F64B-AA2AA98C78D7}"/>
                </a:ext>
              </a:extLst>
            </p:cNvPr>
            <p:cNvSpPr/>
            <p:nvPr/>
          </p:nvSpPr>
          <p:spPr>
            <a:xfrm>
              <a:off x="4941744" y="2971593"/>
              <a:ext cx="4135582" cy="305007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027EAD-9809-5645-4F77-851606C9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BC2AA9B4-FDB8-58EA-8E90-13632354C126}"/>
              </a:ext>
            </a:extLst>
          </p:cNvPr>
          <p:cNvSpPr/>
          <p:nvPr/>
        </p:nvSpPr>
        <p:spPr>
          <a:xfrm>
            <a:off x="9039226" y="2966954"/>
            <a:ext cx="1244020" cy="456632"/>
          </a:xfrm>
          <a:prstGeom prst="wedgeRoundRectCallout">
            <a:avLst>
              <a:gd name="adj1" fmla="val 42268"/>
              <a:gd name="adj2" fmla="val 7406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0x12?</a:t>
            </a:r>
            <a:endParaRPr lang="ko-KR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176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D8028-ADF8-88C1-E614-9D098271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608D6-BD12-01B5-F011-8769C06C7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(2) XOR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4B72A9-4AC3-9900-099F-D6D7C94B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NULL-Preserving Single-Byte XOR Encoding</a:t>
            </a:r>
            <a:endParaRPr lang="en-US" altLang="ko-KR" sz="2000" dirty="0">
              <a:ea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encoded content has many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NULL bytes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single-byte key becomes obvious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18A2A14-EAC8-8A60-F477-CE3984890538}"/>
              </a:ext>
            </a:extLst>
          </p:cNvPr>
          <p:cNvGrpSpPr/>
          <p:nvPr/>
        </p:nvGrpSpPr>
        <p:grpSpPr>
          <a:xfrm>
            <a:off x="3344430" y="2640908"/>
            <a:ext cx="5694796" cy="1233872"/>
            <a:chOff x="2150918" y="2600119"/>
            <a:chExt cx="6862619" cy="1486900"/>
          </a:xfrm>
        </p:grpSpPr>
        <p:pic>
          <p:nvPicPr>
            <p:cNvPr id="6" name="그림 5" descr="텍스트, 폰트, 스크린샷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576A69F-B036-4D9C-9107-750C41AD4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18" y="2600119"/>
              <a:ext cx="6862619" cy="14869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E690CDF-3FF3-03F6-0327-3B88BF9B5B5B}"/>
                </a:ext>
              </a:extLst>
            </p:cNvPr>
            <p:cNvSpPr/>
            <p:nvPr/>
          </p:nvSpPr>
          <p:spPr>
            <a:xfrm>
              <a:off x="2150918" y="2704894"/>
              <a:ext cx="4183207" cy="83840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4CE78E0-4269-172E-4850-25E7FD9D5D84}"/>
              </a:ext>
            </a:extLst>
          </p:cNvPr>
          <p:cNvGrpSpPr/>
          <p:nvPr/>
        </p:nvGrpSpPr>
        <p:grpSpPr>
          <a:xfrm>
            <a:off x="3547702" y="4009717"/>
            <a:ext cx="5096596" cy="1040224"/>
            <a:chOff x="2691176" y="2322359"/>
            <a:chExt cx="6962048" cy="1420965"/>
          </a:xfrm>
        </p:grpSpPr>
        <p:pic>
          <p:nvPicPr>
            <p:cNvPr id="10" name="그림 9" descr="텍스트, 스크린샷, 폰트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DB52EB7-8F83-21E0-A0E1-5675B1486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91176" y="2322359"/>
              <a:ext cx="6962048" cy="1420965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D90A9DC-DEB8-431D-262B-A77A8EA2A87D}"/>
                </a:ext>
              </a:extLst>
            </p:cNvPr>
            <p:cNvSpPr/>
            <p:nvPr/>
          </p:nvSpPr>
          <p:spPr>
            <a:xfrm>
              <a:off x="4941744" y="2971593"/>
              <a:ext cx="4135582" cy="305007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74D7CFD-4B6F-CAD9-EA2E-B03A5B9F04B6}"/>
              </a:ext>
            </a:extLst>
          </p:cNvPr>
          <p:cNvGrpSpPr/>
          <p:nvPr/>
        </p:nvGrpSpPr>
        <p:grpSpPr>
          <a:xfrm>
            <a:off x="3344430" y="5183549"/>
            <a:ext cx="5694796" cy="1248740"/>
            <a:chOff x="2360319" y="4591050"/>
            <a:chExt cx="7471362" cy="1638300"/>
          </a:xfrm>
        </p:grpSpPr>
        <p:pic>
          <p:nvPicPr>
            <p:cNvPr id="12" name="그림 11" descr="텍스트, 스크린샷, 폰트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9C1068E-0F3C-8DA5-F160-7D90BA752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0319" y="4591050"/>
              <a:ext cx="7471362" cy="1638300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AA4CAC0-09BE-2ECA-F11E-405E34AC2397}"/>
                </a:ext>
              </a:extLst>
            </p:cNvPr>
            <p:cNvSpPr/>
            <p:nvPr/>
          </p:nvSpPr>
          <p:spPr>
            <a:xfrm>
              <a:off x="2360319" y="4714668"/>
              <a:ext cx="4478631" cy="88603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DC9113-BF1A-001B-5CB5-EA5A2147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F8600EE9-07F9-6133-7E23-9F21E8D55BB1}"/>
              </a:ext>
            </a:extLst>
          </p:cNvPr>
          <p:cNvSpPr/>
          <p:nvPr/>
        </p:nvSpPr>
        <p:spPr>
          <a:xfrm>
            <a:off x="9039226" y="2966954"/>
            <a:ext cx="1244020" cy="456632"/>
          </a:xfrm>
          <a:prstGeom prst="wedgeRoundRectCallout">
            <a:avLst>
              <a:gd name="adj1" fmla="val 42268"/>
              <a:gd name="adj2" fmla="val 7406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0x12?</a:t>
            </a:r>
            <a:endParaRPr lang="ko-KR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3EE4D4BC-9FD1-C92D-A116-AB222DC01A92}"/>
              </a:ext>
            </a:extLst>
          </p:cNvPr>
          <p:cNvSpPr/>
          <p:nvPr/>
        </p:nvSpPr>
        <p:spPr>
          <a:xfrm>
            <a:off x="9039226" y="5559484"/>
            <a:ext cx="1244020" cy="456632"/>
          </a:xfrm>
          <a:prstGeom prst="wedgeRoundRectCallout">
            <a:avLst>
              <a:gd name="adj1" fmla="val 42268"/>
              <a:gd name="adj2" fmla="val 7406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???</a:t>
            </a:r>
            <a:endParaRPr lang="ko-KR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732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A128A-B18F-EF79-27B1-E4AEDCF06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(3) Base64</a:t>
            </a:r>
            <a:endParaRPr lang="ko-KR" altLang="en-US" dirty="0">
              <a:solidFill>
                <a:srgbClr val="003E74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E11AD-B5DA-C187-B541-03406476C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binary data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a limited set of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 ASCII characters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Multipurpose Internet Mail Extensions (MIME) Base64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A–Z, a–z, 0–9, +, / (64)</a:t>
            </a:r>
          </a:p>
          <a:p>
            <a:pPr lvl="1"/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Base64-encoded MIME email content</a:t>
            </a:r>
          </a:p>
        </p:txBody>
      </p:sp>
      <p:pic>
        <p:nvPicPr>
          <p:cNvPr id="9" name="그림 8" descr="텍스트, 스크린샷, 폰트, 정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F48F56-1B20-B732-F26B-D865BA66D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3505994"/>
            <a:ext cx="6592208" cy="239203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640912-B7F0-7CDE-F124-309B2D26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877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454EF-28BC-B401-BEF6-B21FF2E5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E3019-E941-6DA8-6C54-B1489310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(3) Base64</a:t>
            </a:r>
            <a:endParaRPr lang="ko-KR" altLang="en-US" dirty="0">
              <a:solidFill>
                <a:srgbClr val="003E74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56A6B7-E471-E5A1-23FD-F27006CBA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binary data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a limited set of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 ASCII characters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Multipurpose Internet Mail Extensions (MIME) Base64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A–Z, a–z, 0–9, +, / (64)</a:t>
            </a:r>
          </a:p>
          <a:p>
            <a:pPr lvl="1"/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Base64-encoded MIME email content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5882F5-2C5E-B952-D0DB-83DCEE19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262D27-427C-EF7E-F88E-1B41E8885F7B}"/>
              </a:ext>
            </a:extLst>
          </p:cNvPr>
          <p:cNvSpPr txBox="1"/>
          <p:nvPr/>
        </p:nvSpPr>
        <p:spPr>
          <a:xfrm>
            <a:off x="7991474" y="2551837"/>
            <a:ext cx="3848101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are reading this, you probably should just skip this chapter and go to the next one. </a:t>
            </a:r>
            <a:r>
              <a:rPr lang="en-US" altLang="ko-KR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you really have the time to type this whole string in? You are obviously talented. </a:t>
            </a:r>
            <a:r>
              <a:rPr lang="en-US" altLang="ko-KR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Maybe you should contact the authors and see if …</a:t>
            </a:r>
          </a:p>
          <a:p>
            <a:endParaRPr lang="en-US" altLang="ko-KR" dirty="0">
              <a:solidFill>
                <a:srgbClr val="003E7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sz="1600" dirty="0">
                <a:solidFill>
                  <a:srgbClr val="003E7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만약 네가 이걸 읽고 있다면</a:t>
            </a:r>
            <a:r>
              <a:rPr lang="en-US" altLang="ko-KR" sz="1600" dirty="0">
                <a:solidFill>
                  <a:srgbClr val="003E7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1600" dirty="0">
                <a:solidFill>
                  <a:srgbClr val="003E7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아마 이 챕터는 그냥 건너뛰고 다음 챕터로 가는 게 좋을 거야</a:t>
            </a:r>
            <a:r>
              <a:rPr lang="en-US" altLang="ko-KR" sz="1600" dirty="0">
                <a:solidFill>
                  <a:srgbClr val="003E7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r>
              <a:rPr lang="ko-KR" altLang="en-US" sz="1600" b="1" dirty="0">
                <a:solidFill>
                  <a:srgbClr val="003E7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진짜로 이 긴 문자열을 전부 입력할 시간이 있는 거야</a:t>
            </a:r>
            <a:r>
              <a:rPr lang="en-US" altLang="ko-KR" sz="1600" b="1" dirty="0">
                <a:solidFill>
                  <a:srgbClr val="003E7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? </a:t>
            </a:r>
            <a:r>
              <a:rPr lang="ko-KR" altLang="en-US" sz="1600" b="1" dirty="0">
                <a:solidFill>
                  <a:srgbClr val="003E7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너는 분명히 재능이 있어 보이네</a:t>
            </a:r>
            <a:r>
              <a:rPr lang="en-US" altLang="ko-KR" sz="1600" b="1" dirty="0">
                <a:solidFill>
                  <a:srgbClr val="003E7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r>
              <a:rPr lang="ko-KR" altLang="en-US" sz="1600" dirty="0">
                <a:solidFill>
                  <a:srgbClr val="003E7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어쩌면 저자들에게 연락해서 </a:t>
            </a:r>
            <a:r>
              <a:rPr lang="en-US" altLang="ko-KR" sz="1600" dirty="0">
                <a:solidFill>
                  <a:srgbClr val="003E7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…</a:t>
            </a:r>
          </a:p>
        </p:txBody>
      </p:sp>
      <p:pic>
        <p:nvPicPr>
          <p:cNvPr id="9" name="그림 8" descr="텍스트, 스크린샷, 폰트, 정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C80CED-FCBB-082E-917C-E0EEA8015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3505994"/>
            <a:ext cx="6592208" cy="239203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444F38E-11F8-7F3E-1660-E5ACE5A18339}"/>
              </a:ext>
            </a:extLst>
          </p:cNvPr>
          <p:cNvSpPr/>
          <p:nvPr/>
        </p:nvSpPr>
        <p:spPr>
          <a:xfrm>
            <a:off x="958850" y="4918009"/>
            <a:ext cx="6592208" cy="9800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800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F90CE-4CAD-ADCB-9384-05AFA8B8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(3) Base64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CD9FE-013D-6FC6-5C60-0400BA86E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Transforming Data to Base64</a:t>
            </a:r>
            <a:endParaRPr lang="ko-KR" altLang="en-US" sz="2000" dirty="0">
              <a:solidFill>
                <a:srgbClr val="003E74"/>
              </a:solidFill>
            </a:endParaRP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CF5110-60D8-3268-45AC-BB3597151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2717386"/>
            <a:ext cx="5842000" cy="176136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54FC7-9B33-4F6D-0657-3F4F3AFB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164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509881-FA60-605F-4EE9-7FAAD7A78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(3) Base64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27BD96-A65C-992E-46E4-107112837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03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Identifying and Decoding Base64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character set consists of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alphanumeric characters plus two additional characters</a:t>
            </a: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padding character (=)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appear at the end of an encoded string </a:t>
            </a:r>
            <a:r>
              <a:rPr lang="en-US" altLang="ko-K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(if padded, its length is </a:t>
            </a:r>
            <a:r>
              <a:rPr lang="en-US" altLang="ko-K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divisible by four</a:t>
            </a:r>
            <a:r>
              <a:rPr lang="en-US" altLang="ko-K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altLang="ko-KR" i="1" dirty="0"/>
          </a:p>
          <a:p>
            <a:endParaRPr lang="en-US" altLang="ko-KR" i="1" dirty="0"/>
          </a:p>
          <a:p>
            <a:endParaRPr lang="en-US" altLang="ko-KR" i="1" dirty="0"/>
          </a:p>
          <a:p>
            <a:endParaRPr lang="en-US" altLang="ko-KR" i="1" dirty="0"/>
          </a:p>
          <a:p>
            <a:endParaRPr lang="en-US" altLang="ko-KR" i="1" dirty="0"/>
          </a:p>
          <a:p>
            <a:endParaRPr lang="en-US" altLang="ko-KR" i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A5E5BA-1292-6CB6-D79A-73B3A2E92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21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9821251-4C70-8A87-38B1-EC620962999C}"/>
              </a:ext>
            </a:extLst>
          </p:cNvPr>
          <p:cNvGrpSpPr/>
          <p:nvPr/>
        </p:nvGrpSpPr>
        <p:grpSpPr>
          <a:xfrm>
            <a:off x="1384386" y="3014971"/>
            <a:ext cx="5653723" cy="2108167"/>
            <a:chOff x="2596427" y="2286000"/>
            <a:chExt cx="6999146" cy="2609850"/>
          </a:xfrm>
        </p:grpSpPr>
        <p:pic>
          <p:nvPicPr>
            <p:cNvPr id="6" name="그림 5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8777C80-EFDB-CF36-1DE8-ADB36B848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6427" y="2286000"/>
              <a:ext cx="6999146" cy="2609850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2EF21D9-1A99-DAA6-DEC9-BE8E13C127D8}"/>
                </a:ext>
              </a:extLst>
            </p:cNvPr>
            <p:cNvCxnSpPr>
              <a:cxnSpLocks/>
            </p:cNvCxnSpPr>
            <p:nvPr/>
          </p:nvCxnSpPr>
          <p:spPr>
            <a:xfrm>
              <a:off x="3086100" y="2571750"/>
              <a:ext cx="1057275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261BF27-79D0-966F-1597-76686706BD1D}"/>
                </a:ext>
              </a:extLst>
            </p:cNvPr>
            <p:cNvCxnSpPr>
              <a:cxnSpLocks/>
            </p:cNvCxnSpPr>
            <p:nvPr/>
          </p:nvCxnSpPr>
          <p:spPr>
            <a:xfrm>
              <a:off x="3086100" y="3886200"/>
              <a:ext cx="3190875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8B60831-AED1-15DD-42B9-F3231C15C712}"/>
                </a:ext>
              </a:extLst>
            </p:cNvPr>
            <p:cNvCxnSpPr>
              <a:cxnSpLocks/>
            </p:cNvCxnSpPr>
            <p:nvPr/>
          </p:nvCxnSpPr>
          <p:spPr>
            <a:xfrm>
              <a:off x="3314700" y="3457575"/>
              <a:ext cx="1057275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D5E71371-BE5A-D316-FE95-952543AB43F3}"/>
                </a:ext>
              </a:extLst>
            </p:cNvPr>
            <p:cNvCxnSpPr>
              <a:cxnSpLocks/>
            </p:cNvCxnSpPr>
            <p:nvPr/>
          </p:nvCxnSpPr>
          <p:spPr>
            <a:xfrm>
              <a:off x="3314700" y="4762500"/>
              <a:ext cx="1057275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0079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84060-DE68-1B07-6663-F5FB8BC35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F3D04-BFEA-8D65-5003-20A54EB3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(3) Base64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26026-4F14-4B7B-FE7F-5B8FD0028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03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Identifying and Decoding Base64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character set consists of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alphanumeric characters plus two additional characters</a:t>
            </a: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padding character (=)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appear at the end of an encoded string </a:t>
            </a:r>
            <a:r>
              <a:rPr lang="en-US" altLang="ko-K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(if padded, its length is </a:t>
            </a:r>
            <a:r>
              <a:rPr lang="en-US" altLang="ko-K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divisible by four</a:t>
            </a:r>
            <a:r>
              <a:rPr lang="en-US" altLang="ko-K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altLang="ko-KR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attacker appears to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bots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assigning identification numbers and Base64-encoding them into a cookie</a:t>
            </a:r>
            <a:endParaRPr lang="en-US" altLang="ko-KR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i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B66EB7-9D71-9197-7E0C-29408F9FB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22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C28DE48-06B1-7C44-8989-2714140A1384}"/>
              </a:ext>
            </a:extLst>
          </p:cNvPr>
          <p:cNvGrpSpPr/>
          <p:nvPr/>
        </p:nvGrpSpPr>
        <p:grpSpPr>
          <a:xfrm>
            <a:off x="1384386" y="3014971"/>
            <a:ext cx="5653723" cy="2108167"/>
            <a:chOff x="2596427" y="2286000"/>
            <a:chExt cx="6999146" cy="2609850"/>
          </a:xfrm>
        </p:grpSpPr>
        <p:pic>
          <p:nvPicPr>
            <p:cNvPr id="6" name="그림 5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E49EB5A-E27E-0A88-078C-76E342528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6427" y="2286000"/>
              <a:ext cx="6999146" cy="2609850"/>
            </a:xfrm>
            <a:prstGeom prst="rect">
              <a:avLst/>
            </a:prstGeom>
          </p:spPr>
        </p:pic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FDC1A7D-F447-7FCA-A4E2-7E5771141214}"/>
                </a:ext>
              </a:extLst>
            </p:cNvPr>
            <p:cNvCxnSpPr>
              <a:cxnSpLocks/>
            </p:cNvCxnSpPr>
            <p:nvPr/>
          </p:nvCxnSpPr>
          <p:spPr>
            <a:xfrm>
              <a:off x="3314700" y="3457575"/>
              <a:ext cx="1057275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22923D3-EFDD-D60B-9305-F0BF9DCAD9C1}"/>
                </a:ext>
              </a:extLst>
            </p:cNvPr>
            <p:cNvCxnSpPr>
              <a:cxnSpLocks/>
            </p:cNvCxnSpPr>
            <p:nvPr/>
          </p:nvCxnSpPr>
          <p:spPr>
            <a:xfrm>
              <a:off x="3314700" y="4762500"/>
              <a:ext cx="1057275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FC2374-2ACD-F74D-9E33-5E363F1C2721}"/>
              </a:ext>
            </a:extLst>
          </p:cNvPr>
          <p:cNvSpPr/>
          <p:nvPr/>
        </p:nvSpPr>
        <p:spPr>
          <a:xfrm>
            <a:off x="1384386" y="3094182"/>
            <a:ext cx="4822450" cy="687763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DF68CCA-DEB5-86AE-5E46-1ED33EEFBB0E}"/>
              </a:ext>
            </a:extLst>
          </p:cNvPr>
          <p:cNvSpPr/>
          <p:nvPr/>
        </p:nvSpPr>
        <p:spPr>
          <a:xfrm>
            <a:off x="1384385" y="4124592"/>
            <a:ext cx="4822450" cy="687763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D1B0F90-3FE5-8DEE-F3C0-EF41467C281F}"/>
              </a:ext>
            </a:extLst>
          </p:cNvPr>
          <p:cNvGrpSpPr/>
          <p:nvPr/>
        </p:nvGrpSpPr>
        <p:grpSpPr>
          <a:xfrm>
            <a:off x="5235678" y="3701500"/>
            <a:ext cx="6122463" cy="477540"/>
            <a:chOff x="5358333" y="3781601"/>
            <a:chExt cx="6122463" cy="47754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147A430-E972-9C56-173F-04563B0BFB15}"/>
                </a:ext>
              </a:extLst>
            </p:cNvPr>
            <p:cNvGrpSpPr/>
            <p:nvPr/>
          </p:nvGrpSpPr>
          <p:grpSpPr>
            <a:xfrm>
              <a:off x="5358334" y="3801681"/>
              <a:ext cx="6066557" cy="432983"/>
              <a:chOff x="1282624" y="2209679"/>
              <a:chExt cx="9877395" cy="704970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CC23FC69-79E9-2D9D-97C2-9127E64D7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59403"/>
              <a:stretch>
                <a:fillRect/>
              </a:stretch>
            </p:blipFill>
            <p:spPr>
              <a:xfrm>
                <a:off x="1282624" y="2209679"/>
                <a:ext cx="3908213" cy="704970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A9CE9948-89E5-E77C-1CF3-EA1F3F405F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84617" y="2238613"/>
                <a:ext cx="5775402" cy="647103"/>
              </a:xfrm>
              <a:prstGeom prst="rect">
                <a:avLst/>
              </a:prstGeom>
            </p:spPr>
          </p:pic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D94AC56-2CF5-34D9-A50E-EC3225DF278D}"/>
                </a:ext>
              </a:extLst>
            </p:cNvPr>
            <p:cNvSpPr/>
            <p:nvPr/>
          </p:nvSpPr>
          <p:spPr>
            <a:xfrm>
              <a:off x="5358333" y="3781601"/>
              <a:ext cx="6122463" cy="477540"/>
            </a:xfrm>
            <a:prstGeom prst="rect">
              <a:avLst/>
            </a:prstGeom>
            <a:noFill/>
            <a:ln>
              <a:solidFill>
                <a:srgbClr val="003E7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6589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B8789-964D-A3E8-5041-60904156A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(3) Base64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F7811-92E5-537F-728B-BF109803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Finding the Base64 Function in the Malware</a:t>
            </a:r>
          </a:p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Base64 encoding is often identifiable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the presence of a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64-character indexing string in the code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for the 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64-character string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typically used to implement the algorithm</a:t>
            </a:r>
            <a:endParaRPr lang="en-US" altLang="ko-KR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2D8CB2-DC36-4FA8-289B-2959141F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127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D5FCA-0EB4-E228-7CB3-FF5760C1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1D103-D648-7BD8-73F1-9AE718A6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(3) Base64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4DE3F8-6374-EB22-9B92-79BE330AE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Finding the Base64 Function in the Malware</a:t>
            </a:r>
          </a:p>
          <a:p>
            <a:r>
              <a:rPr lang="en-US" altLang="ko-KR" b="1" dirty="0"/>
              <a:t>Base64 encoding is often identifiable</a:t>
            </a:r>
            <a:r>
              <a:rPr lang="en-US" altLang="ko-KR" dirty="0"/>
              <a:t> by the presence of a </a:t>
            </a:r>
            <a:r>
              <a:rPr lang="en-US" altLang="ko-KR" b="1" dirty="0"/>
              <a:t>64-character indexing string in the code</a:t>
            </a:r>
          </a:p>
          <a:p>
            <a:r>
              <a:rPr lang="en-US" altLang="ko-KR" dirty="0"/>
              <a:t>Look for the </a:t>
            </a:r>
            <a:r>
              <a:rPr lang="en-US" altLang="ko-KR" b="1" dirty="0"/>
              <a:t>64-character string </a:t>
            </a:r>
            <a:r>
              <a:rPr lang="en-US" altLang="ko-KR" dirty="0"/>
              <a:t>typically used to implement the algorithm</a:t>
            </a:r>
          </a:p>
          <a:p>
            <a:r>
              <a:rPr lang="en-US" altLang="ko-KR" dirty="0"/>
              <a:t>MIME Base64 standard: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321D8D-2D2D-F287-B327-5F1ABADF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032842-D0C5-7DF8-C493-A2FFF26CA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0" y="3247398"/>
            <a:ext cx="7829550" cy="45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53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3EE45-D956-A934-BCA5-CD75573C3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E88EF-FD21-250A-940A-41560715E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(3) Base64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731710-9AE8-6351-C8AF-22C6982CB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Finding the Base64 Function in the Malware</a:t>
            </a:r>
          </a:p>
          <a:p>
            <a:r>
              <a:rPr lang="en-US" altLang="ko-KR" b="1" dirty="0"/>
              <a:t>Base64 encoding is often identifiable</a:t>
            </a:r>
            <a:r>
              <a:rPr lang="en-US" altLang="ko-KR" dirty="0"/>
              <a:t> by the presence of a </a:t>
            </a:r>
            <a:r>
              <a:rPr lang="en-US" altLang="ko-KR" b="1" dirty="0"/>
              <a:t>64-character indexing string in the code</a:t>
            </a:r>
          </a:p>
          <a:p>
            <a:r>
              <a:rPr lang="en-US" altLang="ko-KR" dirty="0"/>
              <a:t>Look for the </a:t>
            </a:r>
            <a:r>
              <a:rPr lang="en-US" altLang="ko-KR" b="1" dirty="0"/>
              <a:t>64-character string </a:t>
            </a:r>
            <a:r>
              <a:rPr lang="en-US" altLang="ko-KR" dirty="0"/>
              <a:t>typically used to implement the algorithm</a:t>
            </a:r>
          </a:p>
          <a:p>
            <a:r>
              <a:rPr lang="en-US" altLang="ko-KR" dirty="0"/>
              <a:t>MIME Base64 standard: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C00000"/>
                </a:solidFill>
              </a:rPr>
              <a:t>This is NOT standard Base64 encoding!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63C1E-3477-557D-D0FF-46D5E28C2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CEE347-D1C1-58BA-4541-EE779D47F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0" y="3247398"/>
            <a:ext cx="7829550" cy="456881"/>
          </a:xfrm>
          <a:prstGeom prst="rect">
            <a:avLst/>
          </a:prstGeom>
        </p:spPr>
      </p:pic>
      <p:pic>
        <p:nvPicPr>
          <p:cNvPr id="12" name="그림 1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71692E-8C33-62F9-57F9-339C25E4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" t="7693" r="-626" b="-7693"/>
          <a:stretch>
            <a:fillRect/>
          </a:stretch>
        </p:blipFill>
        <p:spPr>
          <a:xfrm>
            <a:off x="1608045" y="4096791"/>
            <a:ext cx="8174130" cy="132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449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8DD66-58CA-AF92-DFDD-3572F3F8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(3) Base64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B5CA60-0CA2-E4AA-FE04-B5CF988A3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A Simple Way to Create a </a:t>
            </a:r>
            <a:r>
              <a:rPr lang="en-US" altLang="ko-KR" sz="2000" b="1" u="sng" dirty="0">
                <a:solidFill>
                  <a:srgbClr val="003E74"/>
                </a:solidFill>
                <a:ea typeface="Calibri" panose="020F0502020204030204" pitchFamily="34" charset="0"/>
              </a:rPr>
              <a:t>New Indexing String</a:t>
            </a:r>
          </a:p>
          <a:p>
            <a:r>
              <a:rPr lang="en-US" altLang="ko-KR" b="1" dirty="0"/>
              <a:t>Relocate</a:t>
            </a:r>
            <a:r>
              <a:rPr lang="en-US" altLang="ko-KR" dirty="0"/>
              <a:t> some of the characters to the front of the string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D3F8B0-3E51-3191-B782-29018B80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B23A0B9-A3DB-42D7-4E9B-4C80BCEFB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23" y="3114741"/>
            <a:ext cx="7829550" cy="4775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53D1D19-C53A-364A-BD36-E94B63134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448" y="2609220"/>
            <a:ext cx="7829550" cy="45688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91BDE5-D506-AC37-F247-5E31D6807024}"/>
              </a:ext>
            </a:extLst>
          </p:cNvPr>
          <p:cNvSpPr/>
          <p:nvPr/>
        </p:nvSpPr>
        <p:spPr>
          <a:xfrm>
            <a:off x="1389073" y="3229614"/>
            <a:ext cx="163502" cy="22796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B6B24B-C178-ADBB-FA23-742BF8578828}"/>
              </a:ext>
            </a:extLst>
          </p:cNvPr>
          <p:cNvSpPr/>
          <p:nvPr/>
        </p:nvSpPr>
        <p:spPr>
          <a:xfrm>
            <a:off x="3932248" y="2714855"/>
            <a:ext cx="163502" cy="22796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FFFA4F9-3646-05D6-7496-4E99590339D8}"/>
              </a:ext>
            </a:extLst>
          </p:cNvPr>
          <p:cNvCxnSpPr/>
          <p:nvPr/>
        </p:nvCxnSpPr>
        <p:spPr>
          <a:xfrm flipH="1">
            <a:off x="1657350" y="2942817"/>
            <a:ext cx="2190750" cy="286797"/>
          </a:xfrm>
          <a:prstGeom prst="straightConnector1">
            <a:avLst/>
          </a:prstGeom>
          <a:ln w="28575">
            <a:solidFill>
              <a:srgbClr val="C00000"/>
            </a:solidFill>
            <a:headEnd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600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2B470-6377-2D9F-8E1C-301CFBC3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80995-8617-C35B-291D-7E3E4893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Ciphers – </a:t>
            </a:r>
            <a:r>
              <a:rPr lang="en-US" altLang="ko-KR" dirty="0">
                <a:solidFill>
                  <a:srgbClr val="003E74"/>
                </a:solidFill>
              </a:rPr>
              <a:t>(3) Base64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F7008E-8187-29E5-DB40-476620ACF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A Simple Way to Create a New Indexing String</a:t>
            </a:r>
          </a:p>
          <a:p>
            <a:r>
              <a:rPr lang="en-US" altLang="ko-KR" b="1" dirty="0"/>
              <a:t>Relocate</a:t>
            </a:r>
            <a:r>
              <a:rPr lang="en-US" altLang="ko-KR" dirty="0"/>
              <a:t> some of the characters to the front of the string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C00000"/>
                </a:solidFill>
              </a:rPr>
              <a:t>Success!</a:t>
            </a:r>
            <a:endParaRPr lang="en-US" altLang="ko-KR" dirty="0"/>
          </a:p>
          <a:p>
            <a:r>
              <a:rPr lang="en-US" altLang="ko-KR" dirty="0"/>
              <a:t>The malware used a </a:t>
            </a:r>
            <a:r>
              <a:rPr lang="en-US" altLang="ko-KR" b="1" dirty="0"/>
              <a:t>custom substitution cipher </a:t>
            </a:r>
            <a:r>
              <a:rPr lang="en-US" altLang="ko-KR" dirty="0"/>
              <a:t>in its GET requests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2D1DAF-106C-8A55-09A3-34E781D3F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83A12DA-8E06-2270-4E0A-2DA772E3C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48" y="2695641"/>
            <a:ext cx="7829550" cy="477575"/>
          </a:xfrm>
          <a:prstGeom prst="rect">
            <a:avLst/>
          </a:prstGeom>
        </p:spPr>
      </p:pic>
      <p:pic>
        <p:nvPicPr>
          <p:cNvPr id="16" name="그림 1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E7A6C6-6BC4-BF5B-848C-2B13EFF04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448" y="3311406"/>
            <a:ext cx="8478827" cy="137977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7881D38-D7CC-18F0-E870-9118B7E1D003}"/>
              </a:ext>
            </a:extLst>
          </p:cNvPr>
          <p:cNvSpPr/>
          <p:nvPr/>
        </p:nvSpPr>
        <p:spPr>
          <a:xfrm>
            <a:off x="1372978" y="2820447"/>
            <a:ext cx="163502" cy="22796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9889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2DBD54-1D3E-98FB-D143-AD250CF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Standard Cryptography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073237-43A1-3AF1-876C-58E7131AB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67474" cy="4351338"/>
          </a:xfrm>
        </p:spPr>
        <p:txBody>
          <a:bodyPr>
            <a:normAutofit/>
          </a:bodyPr>
          <a:lstStyle/>
          <a:p>
            <a:endParaRPr lang="en-US" altLang="ko-KR" dirty="0">
              <a:ea typeface="Calibri" panose="020F0502020204030204" pitchFamily="34" charset="0"/>
            </a:endParaRPr>
          </a:p>
          <a:p>
            <a:r>
              <a:rPr lang="en-US" altLang="ko-KR" dirty="0">
                <a:ea typeface="Calibri" panose="020F0502020204030204" pitchFamily="34" charset="0"/>
              </a:rPr>
              <a:t>Malware often </a:t>
            </a:r>
            <a:r>
              <a:rPr lang="en-US" altLang="ko-KR" b="1" dirty="0">
                <a:ea typeface="Calibri" panose="020F0502020204030204" pitchFamily="34" charset="0"/>
              </a:rPr>
              <a:t>prefers simple ciphers </a:t>
            </a:r>
            <a:r>
              <a:rPr lang="en-US" altLang="ko-KR" dirty="0">
                <a:ea typeface="Calibri" panose="020F0502020204030204" pitchFamily="34" charset="0"/>
              </a:rPr>
              <a:t>because they are </a:t>
            </a:r>
            <a:r>
              <a:rPr lang="en-US" altLang="ko-KR" b="1" dirty="0">
                <a:ea typeface="Calibri" panose="020F0502020204030204" pitchFamily="34" charset="0"/>
              </a:rPr>
              <a:t>easy to implement and usually sufficient</a:t>
            </a:r>
          </a:p>
          <a:p>
            <a:pPr marL="0" indent="0">
              <a:buNone/>
            </a:pPr>
            <a:endParaRPr lang="en-US" altLang="ko-KR" b="1" dirty="0"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Several Drawbacks using Standard Cryptographic Libraries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altLang="ko-KR" dirty="0">
                <a:ea typeface="Calibri" panose="020F0502020204030204" pitchFamily="34" charset="0"/>
              </a:rPr>
              <a:t>Cryptographic </a:t>
            </a:r>
            <a:r>
              <a:rPr lang="en-US" altLang="ko-KR" b="1" dirty="0">
                <a:ea typeface="Calibri" panose="020F0502020204030204" pitchFamily="34" charset="0"/>
              </a:rPr>
              <a:t>libraries can be large </a:t>
            </a:r>
            <a:r>
              <a:rPr lang="en-US" altLang="ko-KR" dirty="0">
                <a:ea typeface="Calibri" panose="020F0502020204030204" pitchFamily="34" charset="0"/>
              </a:rPr>
              <a:t>and increase the malware footprint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altLang="ko-KR" dirty="0">
                <a:ea typeface="Calibri" panose="020F0502020204030204" pitchFamily="34" charset="0"/>
              </a:rPr>
              <a:t>Static linking or reliance on host libraries may </a:t>
            </a:r>
            <a:r>
              <a:rPr lang="en-US" altLang="ko-KR" b="1" dirty="0">
                <a:ea typeface="Calibri" panose="020F0502020204030204" pitchFamily="34" charset="0"/>
              </a:rPr>
              <a:t>reduce portability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altLang="ko-KR" dirty="0">
                <a:ea typeface="Calibri" panose="020F0502020204030204" pitchFamily="34" charset="0"/>
              </a:rPr>
              <a:t>Standard cryptographic functions are </a:t>
            </a:r>
            <a:r>
              <a:rPr lang="en-US" altLang="ko-KR" b="1" dirty="0">
                <a:ea typeface="Calibri" panose="020F0502020204030204" pitchFamily="34" charset="0"/>
              </a:rPr>
              <a:t>easily detected </a:t>
            </a:r>
            <a:r>
              <a:rPr lang="en-US" altLang="ko-KR" b="1" i="1" dirty="0">
                <a:ea typeface="Calibri" panose="020F0502020204030204" pitchFamily="34" charset="0"/>
              </a:rPr>
              <a:t> </a:t>
            </a:r>
            <a:r>
              <a:rPr lang="en-US" altLang="ko-KR" i="1" dirty="0">
                <a:ea typeface="Calibri" panose="020F0502020204030204" pitchFamily="34" charset="0"/>
              </a:rPr>
              <a:t>(via imports, function signatures, or known constants)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altLang="ko-KR" dirty="0">
                <a:ea typeface="Calibri" panose="020F0502020204030204" pitchFamily="34" charset="0"/>
              </a:rPr>
              <a:t>Malware using symmetric encryption must also </a:t>
            </a:r>
            <a:r>
              <a:rPr lang="en-US" altLang="ko-KR" b="1" dirty="0">
                <a:ea typeface="Calibri" panose="020F0502020204030204" pitchFamily="34" charset="0"/>
              </a:rPr>
              <a:t>hide the encryption key</a:t>
            </a:r>
          </a:p>
          <a:p>
            <a:endParaRPr lang="en-US" altLang="ko-KR" dirty="0">
              <a:ea typeface="Calibri" panose="020F0502020204030204" pitchFamily="34" charset="0"/>
            </a:endParaRPr>
          </a:p>
          <a:p>
            <a:r>
              <a:rPr lang="en-US" altLang="ko-KR" dirty="0">
                <a:ea typeface="Calibri" panose="020F0502020204030204" pitchFamily="34" charset="0"/>
              </a:rPr>
              <a:t>Many standard cryptographic algorithms rely on a </a:t>
            </a:r>
            <a:r>
              <a:rPr lang="en-US" altLang="ko-KR" b="1" dirty="0">
                <a:ea typeface="Calibri" panose="020F0502020204030204" pitchFamily="34" charset="0"/>
              </a:rPr>
              <a:t>strong secret key</a:t>
            </a:r>
          </a:p>
          <a:p>
            <a:r>
              <a:rPr lang="en-US" altLang="ko-KR" dirty="0">
                <a:ea typeface="Calibri" panose="020F0502020204030204" pitchFamily="34" charset="0"/>
              </a:rPr>
              <a:t>Effective analysis requires identifying not only the algorithm, but also </a:t>
            </a:r>
            <a:r>
              <a:rPr lang="en-US" altLang="ko-KR" b="1" dirty="0">
                <a:ea typeface="Calibri" panose="020F0502020204030204" pitchFamily="34" charset="0"/>
              </a:rPr>
              <a:t>the encryption key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980F71-2C54-B4B9-2DA5-CC964BF9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8209512-8818-DA40-234C-87499AFDA5E4}"/>
              </a:ext>
            </a:extLst>
          </p:cNvPr>
          <p:cNvSpPr/>
          <p:nvPr/>
        </p:nvSpPr>
        <p:spPr>
          <a:xfrm>
            <a:off x="9152854" y="128756"/>
            <a:ext cx="1260000" cy="288000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0B6AE97-7E70-DC15-519D-6AC860AB6EB2}"/>
              </a:ext>
            </a:extLst>
          </p:cNvPr>
          <p:cNvSpPr/>
          <p:nvPr/>
        </p:nvSpPr>
        <p:spPr>
          <a:xfrm>
            <a:off x="8458201" y="688360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Ciphers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EA8DD1D-0080-E6AF-F4C1-913AB484579E}"/>
              </a:ext>
            </a:extLst>
          </p:cNvPr>
          <p:cNvSpPr/>
          <p:nvPr/>
        </p:nvSpPr>
        <p:spPr>
          <a:xfrm>
            <a:off x="9829801" y="688360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</a:t>
            </a:r>
            <a:r>
              <a:rPr lang="ko-KR" altLang="en-US" sz="1300" b="1" dirty="0">
                <a:solidFill>
                  <a:srgbClr val="003E7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3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Cryptography</a:t>
            </a: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E0D3B0DC-34FE-074B-EA7A-2836BCE0C169}"/>
              </a:ext>
            </a:extLst>
          </p:cNvPr>
          <p:cNvCxnSpPr>
            <a:cxnSpLocks/>
            <a:stCxn id="33" idx="0"/>
            <a:endCxn id="34" idx="0"/>
          </p:cNvCxnSpPr>
          <p:nvPr/>
        </p:nvCxnSpPr>
        <p:spPr>
          <a:xfrm rot="5400000" flipH="1" flipV="1">
            <a:off x="9774001" y="2560"/>
            <a:ext cx="12700" cy="1371600"/>
          </a:xfrm>
          <a:prstGeom prst="bentConnector3">
            <a:avLst>
              <a:gd name="adj1" fmla="val 1145457"/>
            </a:avLst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0046756-496D-107C-7419-47484E628847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9782854" y="416756"/>
            <a:ext cx="0" cy="129705"/>
          </a:xfrm>
          <a:prstGeom prst="line">
            <a:avLst/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AC2B8F3-E256-4093-E813-0BA259AEFE6A}"/>
              </a:ext>
            </a:extLst>
          </p:cNvPr>
          <p:cNvSpPr txBox="1"/>
          <p:nvPr/>
        </p:nvSpPr>
        <p:spPr>
          <a:xfrm>
            <a:off x="8627145" y="1304493"/>
            <a:ext cx="126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Caesar Cipher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Base64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3E9CD3F-9711-78E1-C1D8-4B4547513E08}"/>
              </a:ext>
            </a:extLst>
          </p:cNvPr>
          <p:cNvGrpSpPr/>
          <p:nvPr/>
        </p:nvGrpSpPr>
        <p:grpSpPr>
          <a:xfrm>
            <a:off x="8549915" y="1451337"/>
            <a:ext cx="142875" cy="398808"/>
            <a:chOff x="8067820" y="2743200"/>
            <a:chExt cx="526616" cy="685800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A0C0813D-E405-25E9-4155-8347874C03F6}"/>
                </a:ext>
              </a:extLst>
            </p:cNvPr>
            <p:cNvCxnSpPr/>
            <p:nvPr/>
          </p:nvCxnSpPr>
          <p:spPr>
            <a:xfrm>
              <a:off x="8083559" y="2743200"/>
              <a:ext cx="0" cy="68580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DF29098-24E8-FB93-11AC-C92855D8F1E7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275258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520CB93E-6208-CBAC-D57E-C0D61E5F8BDB}"/>
                </a:ext>
              </a:extLst>
            </p:cNvPr>
            <p:cNvCxnSpPr>
              <a:cxnSpLocks/>
            </p:cNvCxnSpPr>
            <p:nvPr/>
          </p:nvCxnSpPr>
          <p:spPr>
            <a:xfrm>
              <a:off x="8072582" y="341933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CEA29BBD-09F8-386B-7CF9-45FE0C971A4C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3085956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8822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AE54C-7FC0-F2BD-62AA-1766C75F8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2300" cy="1325563"/>
          </a:xfrm>
        </p:spPr>
        <p:txBody>
          <a:bodyPr/>
          <a:lstStyle/>
          <a:p>
            <a:r>
              <a:rPr lang="en-US" altLang="ko-KR" dirty="0"/>
              <a:t>Identifying Standard Cryptography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5EE6B9-8198-57C6-99D1-65DF43785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003E74"/>
                </a:solidFill>
                <a:ea typeface="Calibri" panose="020F0502020204030204" pitchFamily="34" charset="0"/>
              </a:rPr>
              <a:t>1. Recognizing Strings and Imports</a:t>
            </a:r>
            <a:endParaRPr lang="en-US" altLang="ko-KR" sz="1000" dirty="0">
              <a:ea typeface="Calibri" panose="020F0502020204030204" pitchFamily="34" charset="0"/>
            </a:endParaRPr>
          </a:p>
          <a:p>
            <a:r>
              <a:rPr lang="en-US" altLang="ko-KR" b="1" dirty="0">
                <a:ea typeface="Calibri" panose="020F0502020204030204" pitchFamily="34" charset="0"/>
              </a:rPr>
              <a:t>Identify strings </a:t>
            </a:r>
            <a:r>
              <a:rPr lang="en-US" altLang="ko-KR" dirty="0">
                <a:ea typeface="Calibri" panose="020F0502020204030204" pitchFamily="34" charset="0"/>
              </a:rPr>
              <a:t>that indicate the use of cryptography</a:t>
            </a:r>
          </a:p>
          <a:p>
            <a:endParaRPr lang="en-US" altLang="ko-KR" dirty="0">
              <a:ea typeface="Calibri" panose="020F0502020204030204" pitchFamily="34" charset="0"/>
            </a:endParaRPr>
          </a:p>
          <a:p>
            <a:endParaRPr lang="en-US" altLang="ko-KR" dirty="0"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dirty="0"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dirty="0">
              <a:ea typeface="Calibri" panose="020F0502020204030204" pitchFamily="34" charset="0"/>
            </a:endParaRPr>
          </a:p>
          <a:p>
            <a:r>
              <a:rPr lang="en-US" altLang="ko-KR" b="1" dirty="0">
                <a:ea typeface="Calibri" panose="020F0502020204030204" pitchFamily="34" charset="0"/>
              </a:rPr>
              <a:t>Identify imported </a:t>
            </a:r>
            <a:r>
              <a:rPr lang="en-US" altLang="ko-KR" dirty="0">
                <a:ea typeface="Calibri" panose="020F0502020204030204" pitchFamily="34" charset="0"/>
              </a:rPr>
              <a:t>cryptographic libraries or functions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642632-51F2-3B47-7FA8-60470661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12" name="그림 1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CFAC8D-5057-D719-DB1C-036343159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28" y="2543175"/>
            <a:ext cx="5342244" cy="1295400"/>
          </a:xfrm>
          <a:prstGeom prst="rect">
            <a:avLst/>
          </a:prstGeom>
        </p:spPr>
      </p:pic>
      <p:pic>
        <p:nvPicPr>
          <p:cNvPr id="14" name="그림 13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5357DF-5D18-6021-ED97-D581DF5A3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328" y="4389901"/>
            <a:ext cx="5048250" cy="189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0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2D66B-0DC8-8A79-4A9D-2AE94044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4FCE9-56DD-C700-BD4A-BC10A8A45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2300" cy="1325563"/>
          </a:xfrm>
        </p:spPr>
        <p:txBody>
          <a:bodyPr/>
          <a:lstStyle/>
          <a:p>
            <a:r>
              <a:rPr lang="en-US" altLang="ko-KR" dirty="0"/>
              <a:t>Identifying Standard Cryptography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19CA2-003D-D014-C505-891939B9F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003E74"/>
                </a:solidFill>
                <a:ea typeface="Calibri" panose="020F0502020204030204" pitchFamily="34" charset="0"/>
              </a:rPr>
              <a:t>2. Searching for Cryptographic Constants</a:t>
            </a:r>
          </a:p>
          <a:p>
            <a:r>
              <a:rPr lang="en-US" altLang="ko-KR" dirty="0">
                <a:ea typeface="Calibri" panose="020F0502020204030204" pitchFamily="34" charset="0"/>
              </a:rPr>
              <a:t>Search for commonly used </a:t>
            </a:r>
            <a:r>
              <a:rPr lang="en-US" altLang="ko-KR" b="1" dirty="0">
                <a:ea typeface="Calibri" panose="020F0502020204030204" pitchFamily="34" charset="0"/>
              </a:rPr>
              <a:t>cryptographic constants</a:t>
            </a:r>
          </a:p>
          <a:p>
            <a:r>
              <a:rPr lang="en-US" altLang="ko-KR" dirty="0">
                <a:ea typeface="Calibri" panose="020F0502020204030204" pitchFamily="34" charset="0"/>
              </a:rPr>
              <a:t>Tools such as IDA Pro FindCrypt2 and </a:t>
            </a:r>
            <a:r>
              <a:rPr lang="en-US" altLang="ko-KR" dirty="0" err="1">
                <a:ea typeface="Calibri" panose="020F0502020204030204" pitchFamily="34" charset="0"/>
              </a:rPr>
              <a:t>PEiD</a:t>
            </a:r>
            <a:r>
              <a:rPr lang="en-US" altLang="ko-KR" dirty="0">
                <a:ea typeface="Calibri" panose="020F0502020204030204" pitchFamily="34" charset="0"/>
              </a:rPr>
              <a:t> Krypto </a:t>
            </a:r>
            <a:r>
              <a:rPr lang="en-US" altLang="ko-KR" dirty="0" err="1">
                <a:ea typeface="Calibri" panose="020F0502020204030204" pitchFamily="34" charset="0"/>
              </a:rPr>
              <a:t>ANALyzer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F5C368-FFCD-D50F-FB66-937FB00B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8E2A23C-F5D5-D51E-C974-E15BDF364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838" y="2981659"/>
            <a:ext cx="7417047" cy="1315012"/>
          </a:xfrm>
          <a:prstGeom prst="rect">
            <a:avLst/>
          </a:prstGeom>
        </p:spPr>
      </p:pic>
      <p:pic>
        <p:nvPicPr>
          <p:cNvPr id="6" name="그림 5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9284CA-8857-180B-6C61-FAABF8E21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747" y="4350121"/>
            <a:ext cx="5789154" cy="204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80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472E-A99F-48F4-DDAA-2EC62808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8A229A-37EC-EAC7-A997-4392F3D84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003E74"/>
                </a:solidFill>
                <a:ea typeface="Calibri" panose="020F0502020204030204" pitchFamily="34" charset="0"/>
              </a:rPr>
              <a:t>3. Searching for High-Entropy Content</a:t>
            </a:r>
          </a:p>
          <a:p>
            <a:r>
              <a:rPr lang="en-US" altLang="ko-KR" dirty="0">
                <a:ea typeface="Calibri" panose="020F0502020204030204" pitchFamily="34" charset="0"/>
              </a:rPr>
              <a:t>Identify </a:t>
            </a:r>
            <a:r>
              <a:rPr lang="en-US" altLang="ko-KR" b="1" dirty="0">
                <a:ea typeface="Calibri" panose="020F0502020204030204" pitchFamily="34" charset="0"/>
              </a:rPr>
              <a:t>high-entropy regions </a:t>
            </a:r>
            <a:r>
              <a:rPr lang="en-US" altLang="ko-KR" dirty="0">
                <a:ea typeface="Calibri" panose="020F0502020204030204" pitchFamily="34" charset="0"/>
              </a:rPr>
              <a:t>indicating </a:t>
            </a:r>
            <a:r>
              <a:rPr lang="en-US" altLang="ko-KR" b="1" dirty="0">
                <a:ea typeface="Calibri" panose="020F0502020204030204" pitchFamily="34" charset="0"/>
              </a:rPr>
              <a:t>encrypted data or keys</a:t>
            </a:r>
          </a:p>
          <a:p>
            <a:r>
              <a:rPr lang="en-US" altLang="ko-KR" dirty="0">
                <a:ea typeface="Calibri" panose="020F0502020204030204" pitchFamily="34" charset="0"/>
              </a:rPr>
              <a:t>Useful when cryptographic constants are not present (e.g., RC4)</a:t>
            </a:r>
          </a:p>
          <a:p>
            <a:endParaRPr lang="ko-KR" altLang="en-US" dirty="0"/>
          </a:p>
        </p:txBody>
      </p:sp>
      <p:pic>
        <p:nvPicPr>
          <p:cNvPr id="7" name="그림 6" descr="라인, 도표, 평행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A3E4C6-6AC8-A9E6-FBD2-E7E767684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22" y="3203611"/>
            <a:ext cx="7503078" cy="28738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8B0EFC3-B5EF-7ED2-FB27-E3C72828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2300" cy="1325563"/>
          </a:xfrm>
        </p:spPr>
        <p:txBody>
          <a:bodyPr/>
          <a:lstStyle/>
          <a:p>
            <a:r>
              <a:rPr lang="en-US" altLang="ko-KR" dirty="0"/>
              <a:t>Identifying Standard Cryptography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29FA7B-498A-A714-9882-ECB15CFC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694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3FD5C-170A-77FD-1D16-9C442D7A2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Custom Encoding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FB46B1-5EDB-5D95-A326-3ED4AB102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8" cy="4351338"/>
          </a:xfrm>
        </p:spPr>
        <p:txBody>
          <a:bodyPr/>
          <a:lstStyle/>
          <a:p>
            <a:pPr marL="0" indent="0">
              <a:buNone/>
            </a:pPr>
            <a:endParaRPr lang="en-US" altLang="ko-KR" sz="2000" b="1" dirty="0">
              <a:solidFill>
                <a:srgbClr val="003E74"/>
              </a:solidFill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Approaches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b="1" dirty="0">
                <a:ea typeface="Calibri" panose="020F0502020204030204" pitchFamily="34" charset="0"/>
              </a:rPr>
              <a:t>Layer multiple simple encoding methods</a:t>
            </a:r>
          </a:p>
          <a:p>
            <a:pPr lvl="1"/>
            <a:r>
              <a:rPr lang="en-US" altLang="ko-KR" dirty="0">
                <a:ea typeface="Calibri" panose="020F0502020204030204" pitchFamily="34" charset="0"/>
              </a:rPr>
              <a:t>E.g., perform one round of XOR encryption, followed by Base64 encoding 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b="1" dirty="0">
                <a:ea typeface="Calibri" panose="020F0502020204030204" pitchFamily="34" charset="0"/>
              </a:rPr>
              <a:t>Develop a custom algorithm</a:t>
            </a:r>
            <a:r>
              <a:rPr lang="en-US" altLang="ko-KR" dirty="0">
                <a:ea typeface="Calibri" panose="020F0502020204030204" pitchFamily="34" charset="0"/>
              </a:rPr>
              <a:t>, possibly with similarities to a standard cryptographic algorithm</a:t>
            </a:r>
          </a:p>
          <a:p>
            <a:pPr marL="0" indent="0">
              <a:buNone/>
            </a:pPr>
            <a:endParaRPr lang="en-US" altLang="ko-KR" dirty="0">
              <a:ea typeface="Calibri" panose="020F050202020403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0681EB-7D55-7420-203B-595F6940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54F047-52D2-B07E-73F3-318EF0AF40B5}"/>
              </a:ext>
            </a:extLst>
          </p:cNvPr>
          <p:cNvSpPr/>
          <p:nvPr/>
        </p:nvSpPr>
        <p:spPr>
          <a:xfrm>
            <a:off x="8723971" y="365125"/>
            <a:ext cx="1260000" cy="288000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1523170-8C49-73EE-197C-DD5B23CF063D}"/>
              </a:ext>
            </a:extLst>
          </p:cNvPr>
          <p:cNvSpPr/>
          <p:nvPr/>
        </p:nvSpPr>
        <p:spPr>
          <a:xfrm>
            <a:off x="7352371" y="939775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Ciphers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C52EE5-C021-7994-997E-AAA8B2FB2A4E}"/>
              </a:ext>
            </a:extLst>
          </p:cNvPr>
          <p:cNvSpPr/>
          <p:nvPr/>
        </p:nvSpPr>
        <p:spPr>
          <a:xfrm>
            <a:off x="8723971" y="939775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</a:t>
            </a:r>
            <a:r>
              <a:rPr lang="ko-KR" altLang="en-US" sz="13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Cryptography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4B4B90C3-B086-6B40-E82E-6B07D5FFF4D1}"/>
              </a:ext>
            </a:extLst>
          </p:cNvPr>
          <p:cNvCxnSpPr>
            <a:cxnSpLocks/>
            <a:stCxn id="6" idx="0"/>
            <a:endCxn id="16" idx="0"/>
          </p:cNvCxnSpPr>
          <p:nvPr/>
        </p:nvCxnSpPr>
        <p:spPr>
          <a:xfrm rot="5400000" flipH="1" flipV="1">
            <a:off x="9349910" y="-434114"/>
            <a:ext cx="6350" cy="2741429"/>
          </a:xfrm>
          <a:prstGeom prst="bentConnector3">
            <a:avLst>
              <a:gd name="adj1" fmla="val 2375795"/>
            </a:avLst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07CA915-55AB-D231-4EC6-C954093E377A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9353971" y="653125"/>
            <a:ext cx="0" cy="286650"/>
          </a:xfrm>
          <a:prstGeom prst="line">
            <a:avLst/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513BFD-6254-1EAF-9EEB-5B21D8EA60BB}"/>
              </a:ext>
            </a:extLst>
          </p:cNvPr>
          <p:cNvSpPr txBox="1"/>
          <p:nvPr/>
        </p:nvSpPr>
        <p:spPr>
          <a:xfrm>
            <a:off x="7521315" y="1555908"/>
            <a:ext cx="126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Caesar Cipher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Base64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C8D2B1B-C308-3F12-1B65-5BEDCAA8F9C9}"/>
              </a:ext>
            </a:extLst>
          </p:cNvPr>
          <p:cNvGrpSpPr/>
          <p:nvPr/>
        </p:nvGrpSpPr>
        <p:grpSpPr>
          <a:xfrm>
            <a:off x="7444085" y="1702752"/>
            <a:ext cx="142875" cy="398808"/>
            <a:chOff x="8067820" y="2743200"/>
            <a:chExt cx="526616" cy="68580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635BD7A-E18B-68C9-7876-7B6A030CBBCA}"/>
                </a:ext>
              </a:extLst>
            </p:cNvPr>
            <p:cNvCxnSpPr/>
            <p:nvPr/>
          </p:nvCxnSpPr>
          <p:spPr>
            <a:xfrm>
              <a:off x="8083559" y="2743200"/>
              <a:ext cx="0" cy="68580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1259EE8B-C5BA-8F14-785B-B8D2B31DD013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275258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2FCD68E-C2CB-25AE-BD26-15E348A86DBE}"/>
                </a:ext>
              </a:extLst>
            </p:cNvPr>
            <p:cNvCxnSpPr>
              <a:cxnSpLocks/>
            </p:cNvCxnSpPr>
            <p:nvPr/>
          </p:nvCxnSpPr>
          <p:spPr>
            <a:xfrm>
              <a:off x="8072582" y="341933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F1EB1C92-A8FC-B5E1-9547-CCBAB02D9ACC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3085956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008DAAE-F27B-E990-C89A-0DA1C73A09C9}"/>
              </a:ext>
            </a:extLst>
          </p:cNvPr>
          <p:cNvSpPr/>
          <p:nvPr/>
        </p:nvSpPr>
        <p:spPr>
          <a:xfrm>
            <a:off x="10093800" y="933425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Encoding</a:t>
            </a:r>
          </a:p>
        </p:txBody>
      </p:sp>
    </p:spTree>
    <p:extLst>
      <p:ext uri="{BB962C8B-B14F-4D97-AF65-F5344CB8AC3E}">
        <p14:creationId xmlns:p14="http://schemas.microsoft.com/office/powerpoint/2010/main" val="3196151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BCEA1-C7BE-EC77-4394-E671DAC0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24DE4-039C-065B-13F4-1D4E77321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Custom Encoding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5A27EF-C3E9-24A4-75B1-14FC75828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8" cy="4351338"/>
          </a:xfrm>
        </p:spPr>
        <p:txBody>
          <a:bodyPr/>
          <a:lstStyle/>
          <a:p>
            <a:pPr marL="0" indent="0">
              <a:buNone/>
            </a:pPr>
            <a:endParaRPr lang="en-US" altLang="ko-KR" sz="2000" b="1" dirty="0">
              <a:solidFill>
                <a:srgbClr val="003E74"/>
              </a:solidFill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Approaches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b="1" dirty="0">
                <a:ea typeface="Calibri" panose="020F0502020204030204" pitchFamily="34" charset="0"/>
              </a:rPr>
              <a:t>Layer multiple simple encoding methods</a:t>
            </a:r>
          </a:p>
          <a:p>
            <a:pPr lvl="1"/>
            <a:r>
              <a:rPr lang="en-US" altLang="ko-KR" dirty="0">
                <a:ea typeface="Calibri" panose="020F0502020204030204" pitchFamily="34" charset="0"/>
              </a:rPr>
              <a:t>E.g., perform one round of XOR encryption, followed by Base64 encoding 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b="1" dirty="0">
                <a:ea typeface="Calibri" panose="020F0502020204030204" pitchFamily="34" charset="0"/>
              </a:rPr>
              <a:t>Develop a custom algorithm</a:t>
            </a:r>
            <a:r>
              <a:rPr lang="en-US" altLang="ko-KR" dirty="0">
                <a:ea typeface="Calibri" panose="020F0502020204030204" pitchFamily="34" charset="0"/>
              </a:rPr>
              <a:t>, possibly with similarities to a standard cryptographic algorithm</a:t>
            </a:r>
          </a:p>
          <a:p>
            <a:pPr marL="0" indent="0">
              <a:buNone/>
            </a:pPr>
            <a:endParaRPr lang="en-US" altLang="ko-KR" dirty="0"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endParaRPr lang="en-US" altLang="ko-KR" dirty="0">
              <a:ea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C00000"/>
                </a:solidFill>
                <a:ea typeface="Calibri" panose="020F0502020204030204" pitchFamily="34" charset="0"/>
              </a:rPr>
              <a:t>If there are no obvious signs, the job becomes more difficult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059068-24E6-A451-3D88-946377BA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8C68C5A-099A-58B2-BC3E-1850A9DBF93F}"/>
              </a:ext>
            </a:extLst>
          </p:cNvPr>
          <p:cNvSpPr/>
          <p:nvPr/>
        </p:nvSpPr>
        <p:spPr>
          <a:xfrm>
            <a:off x="8723971" y="365125"/>
            <a:ext cx="1260000" cy="288000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DE73D18-D8D3-C015-14C9-D351C619C239}"/>
              </a:ext>
            </a:extLst>
          </p:cNvPr>
          <p:cNvSpPr/>
          <p:nvPr/>
        </p:nvSpPr>
        <p:spPr>
          <a:xfrm>
            <a:off x="7352371" y="939775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Ciphers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11670AE-C065-AB72-5CD3-A3FE580BA1DC}"/>
              </a:ext>
            </a:extLst>
          </p:cNvPr>
          <p:cNvSpPr/>
          <p:nvPr/>
        </p:nvSpPr>
        <p:spPr>
          <a:xfrm>
            <a:off x="8723971" y="939775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</a:t>
            </a:r>
            <a:r>
              <a:rPr lang="ko-KR" altLang="en-US" sz="13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Cryptography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EAD0FDBF-2038-A900-2727-1CE548A115AD}"/>
              </a:ext>
            </a:extLst>
          </p:cNvPr>
          <p:cNvCxnSpPr>
            <a:cxnSpLocks/>
            <a:stCxn id="6" idx="0"/>
            <a:endCxn id="16" idx="0"/>
          </p:cNvCxnSpPr>
          <p:nvPr/>
        </p:nvCxnSpPr>
        <p:spPr>
          <a:xfrm rot="5400000" flipH="1" flipV="1">
            <a:off x="9349910" y="-434114"/>
            <a:ext cx="6350" cy="2741429"/>
          </a:xfrm>
          <a:prstGeom prst="bentConnector3">
            <a:avLst>
              <a:gd name="adj1" fmla="val 2375795"/>
            </a:avLst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8D04F8A-6956-8585-3F7B-0284698B64E9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9353971" y="653125"/>
            <a:ext cx="0" cy="286650"/>
          </a:xfrm>
          <a:prstGeom prst="line">
            <a:avLst/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D9A5E6-02B7-00C6-F482-8A6651C03F7A}"/>
              </a:ext>
            </a:extLst>
          </p:cNvPr>
          <p:cNvSpPr txBox="1"/>
          <p:nvPr/>
        </p:nvSpPr>
        <p:spPr>
          <a:xfrm>
            <a:off x="7521315" y="1555908"/>
            <a:ext cx="126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Caesar Cipher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Base64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F4FA8D4-95D4-5804-EFB8-26F00B76B0C4}"/>
              </a:ext>
            </a:extLst>
          </p:cNvPr>
          <p:cNvGrpSpPr/>
          <p:nvPr/>
        </p:nvGrpSpPr>
        <p:grpSpPr>
          <a:xfrm>
            <a:off x="7444085" y="1702752"/>
            <a:ext cx="142875" cy="398808"/>
            <a:chOff x="8067820" y="2743200"/>
            <a:chExt cx="526616" cy="68580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64F472A-581F-5C9B-C245-16FAB035B89A}"/>
                </a:ext>
              </a:extLst>
            </p:cNvPr>
            <p:cNvCxnSpPr/>
            <p:nvPr/>
          </p:nvCxnSpPr>
          <p:spPr>
            <a:xfrm>
              <a:off x="8083559" y="2743200"/>
              <a:ext cx="0" cy="68580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3059E07-2C9F-FEF3-F4FF-651582EDC27D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275258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61E9A07-7555-FA08-038E-AF5DA9784C4E}"/>
                </a:ext>
              </a:extLst>
            </p:cNvPr>
            <p:cNvCxnSpPr>
              <a:cxnSpLocks/>
            </p:cNvCxnSpPr>
            <p:nvPr/>
          </p:nvCxnSpPr>
          <p:spPr>
            <a:xfrm>
              <a:off x="8072582" y="341933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E2C5E93-E172-3472-FB2B-CA62894CCC3A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3085956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33FDB04-FE7C-FF3E-011A-368F0310F572}"/>
              </a:ext>
            </a:extLst>
          </p:cNvPr>
          <p:cNvSpPr/>
          <p:nvPr/>
        </p:nvSpPr>
        <p:spPr>
          <a:xfrm>
            <a:off x="10093800" y="933425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Encoding</a:t>
            </a:r>
          </a:p>
        </p:txBody>
      </p:sp>
    </p:spTree>
    <p:extLst>
      <p:ext uri="{BB962C8B-B14F-4D97-AF65-F5344CB8AC3E}">
        <p14:creationId xmlns:p14="http://schemas.microsoft.com/office/powerpoint/2010/main" val="2790045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20AAC-EC2D-3DB9-C515-639580D5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BDA56-05AE-D62C-09D8-124DC6B4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Identifying Custom Encoding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46E317-7493-EC2C-DFC6-93E664069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endParaRPr lang="en-US" altLang="ko-KR" dirty="0">
              <a:ea typeface="Calibri" panose="020F0502020204030204" pitchFamily="34" charset="0"/>
            </a:endParaRPr>
          </a:p>
          <a:p>
            <a:endParaRPr lang="en-US" altLang="ko-KR" dirty="0"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dirty="0">
              <a:ea typeface="Calibri" panose="020F0502020204030204" pitchFamily="34" charset="0"/>
            </a:endParaRPr>
          </a:p>
          <a:p>
            <a:r>
              <a:rPr lang="en-US" altLang="ko-KR" dirty="0">
                <a:ea typeface="Calibri" panose="020F0502020204030204" pitchFamily="34" charset="0"/>
              </a:rPr>
              <a:t>If outputs are suspected of containing encoded data, </a:t>
            </a:r>
            <a:r>
              <a:rPr lang="en-US" altLang="ko-KR" b="1" dirty="0">
                <a:ea typeface="Calibri" panose="020F0502020204030204" pitchFamily="34" charset="0"/>
              </a:rPr>
              <a:t>the encoding function will occur prior to the output</a:t>
            </a:r>
          </a:p>
          <a:p>
            <a:r>
              <a:rPr lang="en-US" altLang="ko-KR" dirty="0">
                <a:ea typeface="Calibri" panose="020F0502020204030204" pitchFamily="34" charset="0"/>
              </a:rPr>
              <a:t>Conversely, </a:t>
            </a:r>
            <a:r>
              <a:rPr lang="en-US" altLang="ko-KR" b="1" dirty="0">
                <a:ea typeface="Calibri" panose="020F0502020204030204" pitchFamily="34" charset="0"/>
              </a:rPr>
              <a:t>decoding will occur after an input</a:t>
            </a:r>
          </a:p>
          <a:p>
            <a:endParaRPr lang="en-US" altLang="ko-KR" dirty="0">
              <a:ea typeface="Calibri" panose="020F0502020204030204" pitchFamily="34" charset="0"/>
            </a:endParaRPr>
          </a:p>
          <a:p>
            <a:endParaRPr lang="en-US" altLang="ko-KR" dirty="0">
              <a:ea typeface="Calibri" panose="020F0502020204030204" pitchFamily="34" charset="0"/>
            </a:endParaRPr>
          </a:p>
          <a:p>
            <a:r>
              <a:rPr lang="en-US" altLang="ko-KR" dirty="0">
                <a:ea typeface="Calibri" panose="020F0502020204030204" pitchFamily="34" charset="0"/>
              </a:rPr>
              <a:t>In our example, the output is the </a:t>
            </a:r>
            <a:r>
              <a:rPr lang="en-US" altLang="ko-KR" b="1" dirty="0">
                <a:ea typeface="Calibri" panose="020F0502020204030204" pitchFamily="34" charset="0"/>
              </a:rPr>
              <a:t>encrypted files </a:t>
            </a:r>
            <a:r>
              <a:rPr lang="en-US" altLang="ko-KR" dirty="0">
                <a:ea typeface="Calibri" panose="020F0502020204030204" pitchFamily="34" charset="0"/>
              </a:rPr>
              <a:t>in the </a:t>
            </a:r>
            <a:r>
              <a:rPr lang="en-US" altLang="ko-KR" b="1" dirty="0">
                <a:ea typeface="Calibri" panose="020F0502020204030204" pitchFamily="34" charset="0"/>
              </a:rPr>
              <a:t>same directory as the malware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82E116-8385-7CA4-3323-7FD716A2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5F34410-89ED-D52C-634C-933A216938F7}"/>
              </a:ext>
            </a:extLst>
          </p:cNvPr>
          <p:cNvSpPr/>
          <p:nvPr/>
        </p:nvSpPr>
        <p:spPr>
          <a:xfrm>
            <a:off x="1768764" y="1862138"/>
            <a:ext cx="8654472" cy="703408"/>
          </a:xfrm>
          <a:prstGeom prst="roundRect">
            <a:avLst>
              <a:gd name="adj" fmla="val 11724"/>
            </a:avLst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Trace the thread of execution </a:t>
            </a:r>
            <a:r>
              <a:rPr lang="en-US" altLang="ko-K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suspicious input or output</a:t>
            </a:r>
          </a:p>
        </p:txBody>
      </p:sp>
    </p:spTree>
    <p:extLst>
      <p:ext uri="{BB962C8B-B14F-4D97-AF65-F5344CB8AC3E}">
        <p14:creationId xmlns:p14="http://schemas.microsoft.com/office/powerpoint/2010/main" val="2627458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34B1-EB44-4932-7A06-D4B94B4E0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A9D84-6008-F59F-A922-FAF65C07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Identifying Custom Encoding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25F7B1-22CD-7454-AD9E-8DBBA033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35</a:t>
            </a:fld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AECA206-9B9F-E8EF-41DF-4F8DB3664D92}"/>
              </a:ext>
            </a:extLst>
          </p:cNvPr>
          <p:cNvGrpSpPr/>
          <p:nvPr/>
        </p:nvGrpSpPr>
        <p:grpSpPr>
          <a:xfrm>
            <a:off x="3393543" y="1451882"/>
            <a:ext cx="5894718" cy="4771118"/>
            <a:chOff x="5097517" y="1396794"/>
            <a:chExt cx="6127531" cy="4959556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0BABA96-A5A2-B1F1-F679-50C7BF6E9412}"/>
                </a:ext>
              </a:extLst>
            </p:cNvPr>
            <p:cNvSpPr/>
            <p:nvPr/>
          </p:nvSpPr>
          <p:spPr>
            <a:xfrm>
              <a:off x="5097517" y="1608083"/>
              <a:ext cx="6127531" cy="4748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9F0FA9-810E-74EB-A552-1DCAE97C1F2B}"/>
                </a:ext>
              </a:extLst>
            </p:cNvPr>
            <p:cNvSpPr txBox="1"/>
            <p:nvPr/>
          </p:nvSpPr>
          <p:spPr>
            <a:xfrm>
              <a:off x="7028631" y="1396794"/>
              <a:ext cx="2107647" cy="4552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003E74"/>
                  </a:solidFill>
                  <a:latin typeface="Georgia" panose="02040502050405020303" pitchFamily="18" charset="0"/>
                </a:rPr>
                <a:t>sub_4011A9</a:t>
              </a:r>
              <a:endParaRPr lang="ko-KR" altLang="en-US" b="1" dirty="0">
                <a:solidFill>
                  <a:srgbClr val="003E74"/>
                </a:solidFill>
                <a:latin typeface="Georgia" panose="02040502050405020303" pitchFamily="18" charset="0"/>
              </a:endParaRPr>
            </a:p>
          </p:txBody>
        </p:sp>
        <p:pic>
          <p:nvPicPr>
            <p:cNvPr id="27" name="그림 26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67DF23B-9015-0F4E-334B-BEA2B72E8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83253" y="1890481"/>
              <a:ext cx="5956058" cy="4394760"/>
            </a:xfrm>
            <a:prstGeom prst="rect">
              <a:avLst/>
            </a:prstGeom>
          </p:spPr>
        </p:pic>
      </p:grp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6F74E7F-EA19-619D-F7E4-07660D2DBA65}"/>
              </a:ext>
            </a:extLst>
          </p:cNvPr>
          <p:cNvSpPr/>
          <p:nvPr/>
        </p:nvSpPr>
        <p:spPr>
          <a:xfrm>
            <a:off x="838200" y="1793461"/>
            <a:ext cx="2987201" cy="469900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CreateFileA</a:t>
            </a:r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ko-KR" sz="13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WriteFile</a:t>
            </a:r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imports</a:t>
            </a:r>
          </a:p>
        </p:txBody>
      </p:sp>
    </p:spTree>
    <p:extLst>
      <p:ext uri="{BB962C8B-B14F-4D97-AF65-F5344CB8AC3E}">
        <p14:creationId xmlns:p14="http://schemas.microsoft.com/office/powerpoint/2010/main" val="30544722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2A512-F7F3-2527-981E-0CBD0D7CE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Advantages of Custom Encoding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5E1876-3966-1C3E-D808-91CC4EFAA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342900" indent="-342900">
              <a:buFont typeface="+mj-lt"/>
              <a:buAutoNum type="arabicParenR"/>
            </a:pPr>
            <a:endParaRPr lang="en-US" altLang="ko-KR" dirty="0"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endParaRPr lang="en-US" altLang="ko-KR" dirty="0"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altLang="ko-KR" b="1" dirty="0">
                <a:ea typeface="Calibri" panose="020F0502020204030204" pitchFamily="34" charset="0"/>
              </a:rPr>
              <a:t>Retain the simplicity </a:t>
            </a:r>
            <a:r>
              <a:rPr lang="en-US" altLang="ko-KR" dirty="0">
                <a:ea typeface="Calibri" panose="020F0502020204030204" pitchFamily="34" charset="0"/>
              </a:rPr>
              <a:t>of simple encodings while </a:t>
            </a:r>
            <a:r>
              <a:rPr lang="en-US" altLang="ko-KR" b="1" dirty="0">
                <a:ea typeface="Calibri" panose="020F0502020204030204" pitchFamily="34" charset="0"/>
              </a:rPr>
              <a:t>increasing reverse-engineering difficulty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dirty="0">
                <a:ea typeface="Calibri" panose="020F0502020204030204" pitchFamily="34" charset="0"/>
              </a:rPr>
              <a:t>Custom encoding allows attackers to </a:t>
            </a:r>
            <a:r>
              <a:rPr lang="en-US" altLang="ko-KR" b="1" dirty="0">
                <a:ea typeface="Calibri" panose="020F0502020204030204" pitchFamily="34" charset="0"/>
              </a:rPr>
              <a:t>define arbitrary schemes</a:t>
            </a:r>
            <a:r>
              <a:rPr lang="en-US" altLang="ko-KR" dirty="0">
                <a:ea typeface="Calibri" panose="020F0502020204030204" pitchFamily="34" charset="0"/>
              </a:rPr>
              <a:t>, with or without explicit keys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dirty="0">
                <a:ea typeface="Calibri" panose="020F0502020204030204" pitchFamily="34" charset="0"/>
              </a:rPr>
              <a:t>Even if a key is found, </a:t>
            </a:r>
            <a:r>
              <a:rPr lang="en-US" altLang="ko-KR" b="1" dirty="0">
                <a:ea typeface="Calibri" panose="020F0502020204030204" pitchFamily="34" charset="0"/>
              </a:rPr>
              <a:t>freely available libraries are unlikely to assist with decryption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B8C2D3-2D4C-9E48-494D-F12AF03D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918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515ED-9A72-57CB-C17A-2488B1EF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Decoding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AC7A5-A9AC-05EC-BC32-35D42A2B1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>
              <a:solidFill>
                <a:srgbClr val="003E74"/>
              </a:solidFill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dirty="0">
              <a:solidFill>
                <a:srgbClr val="003E74"/>
              </a:solidFill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dirty="0">
              <a:solidFill>
                <a:srgbClr val="003E74"/>
              </a:solidFill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Malware Decoding Approaches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b="1" dirty="0">
                <a:ea typeface="Calibri" panose="020F0502020204030204" pitchFamily="34" charset="0"/>
              </a:rPr>
              <a:t>Self-Decoding</a:t>
            </a:r>
          </a:p>
          <a:p>
            <a:pPr marL="457200" lvl="1" indent="0">
              <a:buNone/>
            </a:pPr>
            <a:r>
              <a:rPr lang="en-US" altLang="ko-KR" dirty="0">
                <a:ea typeface="Calibri" panose="020F0502020204030204" pitchFamily="34" charset="0"/>
              </a:rPr>
              <a:t>Use the decoding functions already present in the malware</a:t>
            </a:r>
            <a:endParaRPr lang="ko-KR" altLang="en-US" dirty="0"/>
          </a:p>
          <a:p>
            <a:pPr marL="342900" indent="-342900">
              <a:buFont typeface="+mj-lt"/>
              <a:buAutoNum type="arabicParenR"/>
            </a:pPr>
            <a:r>
              <a:rPr lang="en-US" altLang="ko-KR" b="1" dirty="0">
                <a:ea typeface="Calibri" panose="020F0502020204030204" pitchFamily="34" charset="0"/>
              </a:rPr>
              <a:t>Manual Programming</a:t>
            </a:r>
          </a:p>
          <a:p>
            <a:pPr marL="457200" lvl="1" indent="0">
              <a:buNone/>
            </a:pPr>
            <a:r>
              <a:rPr lang="en-US" altLang="ko-KR" dirty="0">
                <a:ea typeface="Calibri" panose="020F0502020204030204" pitchFamily="34" charset="0"/>
              </a:rPr>
              <a:t>Reimplement the decoding functions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058A68-5D4B-13BF-BF2B-7C1B2CDA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BCF6B98-7928-17BD-241D-A685CC64D242}"/>
              </a:ext>
            </a:extLst>
          </p:cNvPr>
          <p:cNvSpPr/>
          <p:nvPr/>
        </p:nvSpPr>
        <p:spPr>
          <a:xfrm>
            <a:off x="9729350" y="361431"/>
            <a:ext cx="1260000" cy="288000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Decoding</a:t>
            </a:r>
            <a:endParaRPr lang="ko-KR" altLang="en-US" sz="1300" b="1" dirty="0">
              <a:solidFill>
                <a:srgbClr val="003E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294BB9B-5650-1B7F-4641-77498FA55187}"/>
              </a:ext>
            </a:extLst>
          </p:cNvPr>
          <p:cNvSpPr/>
          <p:nvPr/>
        </p:nvSpPr>
        <p:spPr>
          <a:xfrm>
            <a:off x="6094143" y="361431"/>
            <a:ext cx="1260000" cy="288000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EA92FE5-9678-5723-1580-B4C38F89C8F8}"/>
              </a:ext>
            </a:extLst>
          </p:cNvPr>
          <p:cNvSpPr/>
          <p:nvPr/>
        </p:nvSpPr>
        <p:spPr>
          <a:xfrm>
            <a:off x="4722543" y="936081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Ciphers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3DAEE72-D06A-FF53-25B2-0E1143C65981}"/>
              </a:ext>
            </a:extLst>
          </p:cNvPr>
          <p:cNvSpPr/>
          <p:nvPr/>
        </p:nvSpPr>
        <p:spPr>
          <a:xfrm>
            <a:off x="6094143" y="936081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</a:t>
            </a:r>
            <a:r>
              <a:rPr lang="ko-KR" altLang="en-US" sz="13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Cryptography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359C9CDC-FC73-E375-929E-5B0A5F5A3B8F}"/>
              </a:ext>
            </a:extLst>
          </p:cNvPr>
          <p:cNvCxnSpPr>
            <a:cxnSpLocks/>
            <a:stCxn id="8" idx="0"/>
            <a:endCxn id="18" idx="0"/>
          </p:cNvCxnSpPr>
          <p:nvPr/>
        </p:nvCxnSpPr>
        <p:spPr>
          <a:xfrm rot="5400000" flipH="1" flipV="1">
            <a:off x="6720082" y="-437808"/>
            <a:ext cx="6350" cy="2741429"/>
          </a:xfrm>
          <a:prstGeom prst="bentConnector3">
            <a:avLst>
              <a:gd name="adj1" fmla="val 2375795"/>
            </a:avLst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82CCE38-329E-DB95-366E-F300CD2A21F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6724143" y="649431"/>
            <a:ext cx="0" cy="286650"/>
          </a:xfrm>
          <a:prstGeom prst="line">
            <a:avLst/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FADB8BD-B774-CC5D-7AFD-F11D2221FA9C}"/>
              </a:ext>
            </a:extLst>
          </p:cNvPr>
          <p:cNvSpPr txBox="1"/>
          <p:nvPr/>
        </p:nvSpPr>
        <p:spPr>
          <a:xfrm>
            <a:off x="4891487" y="1552214"/>
            <a:ext cx="126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Caesar Cipher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Base64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2166C9-2873-8C77-1B27-95916A2BD48B}"/>
              </a:ext>
            </a:extLst>
          </p:cNvPr>
          <p:cNvGrpSpPr/>
          <p:nvPr/>
        </p:nvGrpSpPr>
        <p:grpSpPr>
          <a:xfrm>
            <a:off x="4814257" y="1699058"/>
            <a:ext cx="142875" cy="398808"/>
            <a:chOff x="8067820" y="2743200"/>
            <a:chExt cx="526616" cy="68580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DFF577C4-7ABE-8916-3B75-07577CB225CE}"/>
                </a:ext>
              </a:extLst>
            </p:cNvPr>
            <p:cNvCxnSpPr/>
            <p:nvPr/>
          </p:nvCxnSpPr>
          <p:spPr>
            <a:xfrm>
              <a:off x="8083559" y="2743200"/>
              <a:ext cx="0" cy="68580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527610B-50AE-763A-24A3-1860235E4852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275258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45D6334-16BC-CF7A-3CBC-C75D87BC518B}"/>
                </a:ext>
              </a:extLst>
            </p:cNvPr>
            <p:cNvCxnSpPr>
              <a:cxnSpLocks/>
            </p:cNvCxnSpPr>
            <p:nvPr/>
          </p:nvCxnSpPr>
          <p:spPr>
            <a:xfrm>
              <a:off x="8072582" y="341933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A904E82-0C4A-05FB-5DCA-1958A3C3890D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3085956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DCEA167-33EC-56F6-A79E-3E23D13C3EBB}"/>
              </a:ext>
            </a:extLst>
          </p:cNvPr>
          <p:cNvSpPr/>
          <p:nvPr/>
        </p:nvSpPr>
        <p:spPr>
          <a:xfrm>
            <a:off x="7463972" y="929731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Encoding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08F03C9-FDBA-1D50-D70B-6C1535D8A312}"/>
              </a:ext>
            </a:extLst>
          </p:cNvPr>
          <p:cNvSpPr/>
          <p:nvPr/>
        </p:nvSpPr>
        <p:spPr>
          <a:xfrm>
            <a:off x="9038086" y="936081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Self-decoding</a:t>
            </a:r>
            <a:endParaRPr lang="ko-KR" altLang="en-US" sz="1300" b="1" dirty="0">
              <a:solidFill>
                <a:srgbClr val="003E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2C03417-FF55-EDE8-2AA1-8C7D1B13795A}"/>
              </a:ext>
            </a:extLst>
          </p:cNvPr>
          <p:cNvSpPr/>
          <p:nvPr/>
        </p:nvSpPr>
        <p:spPr>
          <a:xfrm>
            <a:off x="10407914" y="936081"/>
            <a:ext cx="1260000" cy="55787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Programming</a:t>
            </a:r>
            <a:endParaRPr lang="ko-KR" altLang="en-US" sz="1300" b="1" dirty="0">
              <a:solidFill>
                <a:srgbClr val="003E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9A120FF4-7E65-ADBA-7E06-C68187B8CBA1}"/>
              </a:ext>
            </a:extLst>
          </p:cNvPr>
          <p:cNvCxnSpPr>
            <a:cxnSpLocks/>
            <a:stCxn id="19" idx="0"/>
            <a:endCxn id="20" idx="0"/>
          </p:cNvCxnSpPr>
          <p:nvPr/>
        </p:nvCxnSpPr>
        <p:spPr>
          <a:xfrm rot="5400000" flipH="1" flipV="1">
            <a:off x="10353000" y="251167"/>
            <a:ext cx="12700" cy="1369828"/>
          </a:xfrm>
          <a:prstGeom prst="bentConnector3">
            <a:avLst>
              <a:gd name="adj1" fmla="val 1200000"/>
            </a:avLst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FE44705-08A7-B07C-6E2F-443609D88FE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0359350" y="649431"/>
            <a:ext cx="0" cy="143325"/>
          </a:xfrm>
          <a:prstGeom prst="line">
            <a:avLst/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2009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C4041-72C5-7F87-FCB1-ED3BCF44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B69FD-8CA6-278F-4BC5-A08D0C5E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Decoding – </a:t>
            </a:r>
            <a:r>
              <a:rPr lang="en-US" altLang="ko-KR" dirty="0">
                <a:solidFill>
                  <a:srgbClr val="003E74"/>
                </a:solidFill>
              </a:rPr>
              <a:t>(1) Self-Decoding</a:t>
            </a:r>
            <a:endParaRPr lang="ko-KR" altLang="en-US" dirty="0">
              <a:solidFill>
                <a:srgbClr val="003E74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375A6C-EE5E-74A7-A9BA-7B42EB986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2D266B-2D1A-F4CA-77BA-3C4823E2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A0F0E26-6FCD-52F7-E08B-1DF238CC7895}"/>
              </a:ext>
            </a:extLst>
          </p:cNvPr>
          <p:cNvSpPr/>
          <p:nvPr/>
        </p:nvSpPr>
        <p:spPr>
          <a:xfrm>
            <a:off x="1768764" y="1862138"/>
            <a:ext cx="8654472" cy="703408"/>
          </a:xfrm>
          <a:prstGeom prst="roundRect">
            <a:avLst>
              <a:gd name="adj" fmla="val 11724"/>
            </a:avLst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the program itself perform the decryption </a:t>
            </a:r>
            <a:r>
              <a:rPr lang="en-US" altLang="ko-K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its normal activities</a:t>
            </a:r>
          </a:p>
        </p:txBody>
      </p:sp>
    </p:spTree>
    <p:extLst>
      <p:ext uri="{BB962C8B-B14F-4D97-AF65-F5344CB8AC3E}">
        <p14:creationId xmlns:p14="http://schemas.microsoft.com/office/powerpoint/2010/main" val="1712707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91EE5-E5EB-BE7A-C292-954D95F01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52B09-B5FC-6CF0-4044-B1229E99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Decoding – </a:t>
            </a:r>
            <a:r>
              <a:rPr lang="en-US" altLang="ko-KR" dirty="0">
                <a:solidFill>
                  <a:srgbClr val="003E74"/>
                </a:solidFill>
              </a:rPr>
              <a:t>(1) Self-Decoding</a:t>
            </a:r>
            <a:endParaRPr lang="ko-KR" altLang="en-US" dirty="0">
              <a:solidFill>
                <a:srgbClr val="003E74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9F830-6166-9410-82F7-000664A1D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ea typeface="Calibri" panose="020F0502020204030204" pitchFamily="34" charset="0"/>
            </a:endParaRPr>
          </a:p>
          <a:p>
            <a:endParaRPr lang="en-US" altLang="ko-KR" dirty="0"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b="1" dirty="0">
              <a:solidFill>
                <a:srgbClr val="003E74"/>
              </a:solidFill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Drawbacks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dirty="0">
                <a:ea typeface="Calibri" panose="020F0502020204030204" pitchFamily="34" charset="0"/>
              </a:rPr>
              <a:t>Requires </a:t>
            </a:r>
            <a:r>
              <a:rPr lang="en-US" altLang="ko-KR" b="1" dirty="0">
                <a:ea typeface="Calibri" panose="020F0502020204030204" pitchFamily="34" charset="0"/>
              </a:rPr>
              <a:t>isolating decryption routines </a:t>
            </a:r>
            <a:r>
              <a:rPr lang="en-US" altLang="ko-KR" dirty="0">
                <a:ea typeface="Calibri" panose="020F0502020204030204" pitchFamily="34" charset="0"/>
              </a:rPr>
              <a:t>and </a:t>
            </a:r>
            <a:r>
              <a:rPr lang="en-US" altLang="ko-KR" b="1" dirty="0">
                <a:ea typeface="Calibri" panose="020F0502020204030204" pitchFamily="34" charset="0"/>
              </a:rPr>
              <a:t>setting precise breakpoints</a:t>
            </a:r>
          </a:p>
          <a:p>
            <a:pPr marL="457200" lvl="1" indent="0">
              <a:buNone/>
            </a:pPr>
            <a:r>
              <a:rPr lang="en-US" altLang="ko-KR" b="1" dirty="0">
                <a:ea typeface="Calibri" panose="020F0502020204030204" pitchFamily="34" charset="0"/>
              </a:rPr>
              <a:t>→ Labor-intensive and easy to miss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dirty="0">
                <a:ea typeface="Calibri" panose="020F0502020204030204" pitchFamily="34" charset="0"/>
              </a:rPr>
              <a:t>If the malware </a:t>
            </a:r>
            <a:r>
              <a:rPr lang="en-US" altLang="ko-KR" b="1" dirty="0">
                <a:ea typeface="Calibri" panose="020F0502020204030204" pitchFamily="34" charset="0"/>
              </a:rPr>
              <a:t>does not decrypt </a:t>
            </a:r>
            <a:r>
              <a:rPr lang="en-US" altLang="ko-KR" dirty="0">
                <a:ea typeface="Calibri" panose="020F0502020204030204" pitchFamily="34" charset="0"/>
              </a:rPr>
              <a:t>the target data …</a:t>
            </a:r>
          </a:p>
          <a:p>
            <a:pPr marL="457200" lvl="1" indent="0">
              <a:buNone/>
            </a:pPr>
            <a:r>
              <a:rPr lang="en-US" altLang="ko-KR" b="1" dirty="0">
                <a:ea typeface="Calibri" panose="020F0502020204030204" pitchFamily="34" charset="0"/>
              </a:rPr>
              <a:t>→ No useful results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44901C-F1AE-B573-6785-E81DC3BE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BC13196-D8AD-3816-B3C6-B3979B8FB785}"/>
              </a:ext>
            </a:extLst>
          </p:cNvPr>
          <p:cNvSpPr/>
          <p:nvPr/>
        </p:nvSpPr>
        <p:spPr>
          <a:xfrm>
            <a:off x="1768764" y="1862138"/>
            <a:ext cx="8654472" cy="703408"/>
          </a:xfrm>
          <a:prstGeom prst="roundRect">
            <a:avLst>
              <a:gd name="adj" fmla="val 11724"/>
            </a:avLst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the program itself perform the decryption </a:t>
            </a:r>
            <a:r>
              <a:rPr lang="en-US" altLang="ko-K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its normal activities</a:t>
            </a:r>
          </a:p>
        </p:txBody>
      </p:sp>
    </p:spTree>
    <p:extLst>
      <p:ext uri="{BB962C8B-B14F-4D97-AF65-F5344CB8AC3E}">
        <p14:creationId xmlns:p14="http://schemas.microsoft.com/office/powerpoint/2010/main" val="113617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0A8A1-E015-8A99-046E-E6F5DA23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30E5E-7D58-2096-180C-5915AD16D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Decoding – </a:t>
            </a:r>
            <a:r>
              <a:rPr lang="en-US" altLang="ko-KR" dirty="0">
                <a:solidFill>
                  <a:srgbClr val="003E74"/>
                </a:solidFill>
              </a:rPr>
              <a:t>(1) Self-Decoding</a:t>
            </a:r>
            <a:endParaRPr lang="ko-KR" altLang="en-US" dirty="0">
              <a:solidFill>
                <a:srgbClr val="003E74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F767F6-EA97-4064-CA3F-6E1145DB2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ea typeface="Calibri" panose="020F0502020204030204" pitchFamily="34" charset="0"/>
            </a:endParaRPr>
          </a:p>
          <a:p>
            <a:endParaRPr lang="en-US" altLang="ko-KR" dirty="0"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b="1" dirty="0">
              <a:solidFill>
                <a:srgbClr val="003E74"/>
              </a:solidFill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  <a:ea typeface="Calibri" panose="020F0502020204030204" pitchFamily="34" charset="0"/>
              </a:rPr>
              <a:t>Drawbacks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dirty="0">
                <a:ea typeface="Calibri" panose="020F0502020204030204" pitchFamily="34" charset="0"/>
              </a:rPr>
              <a:t>Requires </a:t>
            </a:r>
            <a:r>
              <a:rPr lang="en-US" altLang="ko-KR" b="1" dirty="0">
                <a:ea typeface="Calibri" panose="020F0502020204030204" pitchFamily="34" charset="0"/>
              </a:rPr>
              <a:t>isolating decryption routines </a:t>
            </a:r>
            <a:r>
              <a:rPr lang="en-US" altLang="ko-KR" dirty="0">
                <a:ea typeface="Calibri" panose="020F0502020204030204" pitchFamily="34" charset="0"/>
              </a:rPr>
              <a:t>and </a:t>
            </a:r>
            <a:r>
              <a:rPr lang="en-US" altLang="ko-KR" b="1" dirty="0">
                <a:ea typeface="Calibri" panose="020F0502020204030204" pitchFamily="34" charset="0"/>
              </a:rPr>
              <a:t>setting precise breakpoints</a:t>
            </a:r>
          </a:p>
          <a:p>
            <a:pPr marL="457200" lvl="1" indent="0">
              <a:buNone/>
            </a:pPr>
            <a:r>
              <a:rPr lang="en-US" altLang="ko-KR" b="1" dirty="0">
                <a:ea typeface="Calibri" panose="020F0502020204030204" pitchFamily="34" charset="0"/>
              </a:rPr>
              <a:t>→ Labor-intensive and easy to miss</a:t>
            </a:r>
          </a:p>
          <a:p>
            <a:pPr marL="342900" indent="-342900">
              <a:buFont typeface="+mj-lt"/>
              <a:buAutoNum type="arabicParenR"/>
            </a:pPr>
            <a:r>
              <a:rPr lang="en-US" altLang="ko-KR" dirty="0">
                <a:ea typeface="Calibri" panose="020F0502020204030204" pitchFamily="34" charset="0"/>
              </a:rPr>
              <a:t>If the malware </a:t>
            </a:r>
            <a:r>
              <a:rPr lang="en-US" altLang="ko-KR" b="1" dirty="0">
                <a:ea typeface="Calibri" panose="020F0502020204030204" pitchFamily="34" charset="0"/>
              </a:rPr>
              <a:t>does not decrypt </a:t>
            </a:r>
            <a:r>
              <a:rPr lang="en-US" altLang="ko-KR" dirty="0">
                <a:ea typeface="Calibri" panose="020F0502020204030204" pitchFamily="34" charset="0"/>
              </a:rPr>
              <a:t>the target data …</a:t>
            </a:r>
          </a:p>
          <a:p>
            <a:pPr marL="457200" lvl="1" indent="0">
              <a:buNone/>
            </a:pPr>
            <a:r>
              <a:rPr lang="en-US" altLang="ko-KR" b="1" dirty="0">
                <a:ea typeface="Calibri" panose="020F0502020204030204" pitchFamily="34" charset="0"/>
              </a:rPr>
              <a:t>→ No useful results</a:t>
            </a:r>
          </a:p>
          <a:p>
            <a:pPr marL="457200" lvl="1" indent="0">
              <a:buNone/>
            </a:pPr>
            <a:endParaRPr lang="en-US" altLang="ko-KR" b="1" dirty="0">
              <a:solidFill>
                <a:srgbClr val="C00000"/>
              </a:solidFill>
              <a:ea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C00000"/>
                </a:solidFill>
                <a:ea typeface="Calibri" panose="020F0502020204030204" pitchFamily="34" charset="0"/>
              </a:rPr>
              <a:t>Important to use techniques that provide more control !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F69648-8B84-2894-68E4-C9BCDA6E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90BF4D5-7507-12A0-6E35-41D9FB4EF6C7}"/>
              </a:ext>
            </a:extLst>
          </p:cNvPr>
          <p:cNvSpPr/>
          <p:nvPr/>
        </p:nvSpPr>
        <p:spPr>
          <a:xfrm>
            <a:off x="1768764" y="1862138"/>
            <a:ext cx="8654472" cy="703408"/>
          </a:xfrm>
          <a:prstGeom prst="roundRect">
            <a:avLst>
              <a:gd name="adj" fmla="val 11724"/>
            </a:avLst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the program itself perform the decryption </a:t>
            </a:r>
            <a:r>
              <a:rPr lang="en-US" altLang="ko-K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its normal activities</a:t>
            </a:r>
          </a:p>
        </p:txBody>
      </p:sp>
    </p:spTree>
    <p:extLst>
      <p:ext uri="{BB962C8B-B14F-4D97-AF65-F5344CB8AC3E}">
        <p14:creationId xmlns:p14="http://schemas.microsoft.com/office/powerpoint/2010/main" val="1752816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3F2A4-9485-B346-03A1-29CDFDDF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Decoding – </a:t>
            </a:r>
            <a:r>
              <a:rPr lang="en-US" altLang="ko-KR" dirty="0">
                <a:solidFill>
                  <a:srgbClr val="003E74"/>
                </a:solidFill>
              </a:rPr>
              <a:t>(2) Manual Programming</a:t>
            </a:r>
            <a:endParaRPr lang="ko-KR" altLang="en-US" dirty="0">
              <a:solidFill>
                <a:srgbClr val="003E74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6C6066-2348-81A6-D3D9-8A3D7C0CB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003E74"/>
                </a:solidFill>
                <a:ea typeface="Calibri" panose="020F0502020204030204" pitchFamily="34" charset="0"/>
              </a:rPr>
              <a:t>1. Simple Encoding Methods</a:t>
            </a:r>
            <a:endParaRPr lang="en-US" altLang="ko-KR" sz="2400" dirty="0">
              <a:solidFill>
                <a:srgbClr val="003E74"/>
              </a:solidFill>
              <a:ea typeface="Calibri" panose="020F0502020204030204" pitchFamily="34" charset="0"/>
            </a:endParaRPr>
          </a:p>
          <a:p>
            <a:r>
              <a:rPr lang="en-US" altLang="ko-KR" dirty="0">
                <a:ea typeface="Calibri" panose="020F0502020204030204" pitchFamily="34" charset="0"/>
              </a:rPr>
              <a:t>Use the </a:t>
            </a:r>
            <a:r>
              <a:rPr lang="en-US" altLang="ko-KR" b="1" dirty="0">
                <a:ea typeface="Calibri" panose="020F0502020204030204" pitchFamily="34" charset="0"/>
              </a:rPr>
              <a:t>standard functions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3E9E92-961F-517E-1C2C-ECDBF030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A9B42D-72B0-61FD-0FDB-451CD8B0B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34" y="2775541"/>
            <a:ext cx="7143750" cy="1306918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B8E41B3-B69A-EC8E-2443-E2F08121B171}"/>
              </a:ext>
            </a:extLst>
          </p:cNvPr>
          <p:cNvCxnSpPr>
            <a:cxnSpLocks/>
          </p:cNvCxnSpPr>
          <p:nvPr/>
        </p:nvCxnSpPr>
        <p:spPr>
          <a:xfrm>
            <a:off x="1555531" y="3964387"/>
            <a:ext cx="309004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525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FEE2C-1D93-573C-4BC3-AECD79C2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Decoding – </a:t>
            </a:r>
            <a:r>
              <a:rPr lang="en-US" altLang="ko-KR" dirty="0">
                <a:solidFill>
                  <a:srgbClr val="003E74"/>
                </a:solidFill>
              </a:rPr>
              <a:t>(2) Manual Programming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1B224A-B4ED-E1FF-365F-DF74AB1CB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003E74"/>
                </a:solidFill>
                <a:ea typeface="Calibri" panose="020F0502020204030204" pitchFamily="34" charset="0"/>
              </a:rPr>
              <a:t>2. Simple Encoding Methods </a:t>
            </a:r>
            <a:r>
              <a:rPr lang="en-US" altLang="ko-KR" sz="2400" b="1" u="sng" dirty="0">
                <a:solidFill>
                  <a:srgbClr val="003E74"/>
                </a:solidFill>
                <a:ea typeface="Calibri" panose="020F0502020204030204" pitchFamily="34" charset="0"/>
              </a:rPr>
              <a:t>that Lack Standard Functions</a:t>
            </a:r>
          </a:p>
          <a:p>
            <a:r>
              <a:rPr lang="en-US" altLang="ko-KR" b="1" dirty="0">
                <a:ea typeface="Calibri" panose="020F0502020204030204" pitchFamily="34" charset="0"/>
              </a:rPr>
              <a:t>Program </a:t>
            </a:r>
            <a:r>
              <a:rPr lang="en-US" altLang="ko-KR" dirty="0">
                <a:ea typeface="Calibri" panose="020F0502020204030204" pitchFamily="34" charset="0"/>
              </a:rPr>
              <a:t>the encoding function</a:t>
            </a:r>
          </a:p>
          <a:p>
            <a:endParaRPr lang="en-US" altLang="ko-KR" dirty="0"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ko-KR" b="1" dirty="0">
                <a:ea typeface="Calibri" panose="020F0502020204030204" pitchFamily="34" charset="0"/>
              </a:rPr>
              <a:t>Example_1:</a:t>
            </a:r>
          </a:p>
          <a:p>
            <a:endParaRPr lang="en-US" altLang="ko-KR" dirty="0">
              <a:ea typeface="Calibri" panose="020F0502020204030204" pitchFamily="34" charset="0"/>
            </a:endParaRPr>
          </a:p>
          <a:p>
            <a:endParaRPr lang="en-US" altLang="ko-KR" dirty="0">
              <a:ea typeface="Calibri" panose="020F0502020204030204" pitchFamily="34" charset="0"/>
            </a:endParaRPr>
          </a:p>
          <a:p>
            <a:endParaRPr lang="en-US" altLang="ko-KR" dirty="0">
              <a:ea typeface="Calibri" panose="020F050202020403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83C68C-CE5F-1AC6-8FB8-CC357CC6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42</a:t>
            </a:fld>
            <a:endParaRPr lang="ko-KR" altLang="en-US"/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9937D3-CB56-D1B2-D5C0-3BD827FB30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148"/>
          <a:stretch>
            <a:fillRect/>
          </a:stretch>
        </p:blipFill>
        <p:spPr>
          <a:xfrm>
            <a:off x="1011140" y="3376223"/>
            <a:ext cx="4581525" cy="1073782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1EE1AF-05F0-8934-3CEE-5B87FA6CA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881" y="3386733"/>
            <a:ext cx="4937223" cy="27653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CC1215-9A76-07C7-062A-69B50B29E24F}"/>
              </a:ext>
            </a:extLst>
          </p:cNvPr>
          <p:cNvSpPr txBox="1"/>
          <p:nvPr/>
        </p:nvSpPr>
        <p:spPr>
          <a:xfrm>
            <a:off x="5833244" y="30068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Example_2:</a:t>
            </a:r>
          </a:p>
        </p:txBody>
      </p:sp>
    </p:spTree>
    <p:extLst>
      <p:ext uri="{BB962C8B-B14F-4D97-AF65-F5344CB8AC3E}">
        <p14:creationId xmlns:p14="http://schemas.microsoft.com/office/powerpoint/2010/main" val="3936063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62289-8CF7-370F-C45D-EF938326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Decoding – </a:t>
            </a:r>
            <a:r>
              <a:rPr lang="en-US" altLang="ko-KR" dirty="0">
                <a:solidFill>
                  <a:srgbClr val="003E74"/>
                </a:solidFill>
              </a:rPr>
              <a:t>(2) Manual Programming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99D832-0DF9-4E15-2F57-99117E8DA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003E74"/>
                </a:solidFill>
                <a:ea typeface="Calibri" panose="020F0502020204030204" pitchFamily="34" charset="0"/>
              </a:rPr>
              <a:t>3. Standard Cryptographic Algorithms</a:t>
            </a:r>
          </a:p>
          <a:p>
            <a:r>
              <a:rPr lang="en-US" altLang="ko-KR" b="1" dirty="0">
                <a:ea typeface="Calibri" panose="020F0502020204030204" pitchFamily="34" charset="0"/>
              </a:rPr>
              <a:t>Use existing implementations </a:t>
            </a:r>
            <a:r>
              <a:rPr lang="en-US" altLang="ko-KR" dirty="0">
                <a:ea typeface="Calibri" panose="020F0502020204030204" pitchFamily="34" charset="0"/>
              </a:rPr>
              <a:t>that are available in </a:t>
            </a:r>
            <a:r>
              <a:rPr lang="en-US" altLang="ko-KR" b="1" dirty="0">
                <a:ea typeface="Calibri" panose="020F0502020204030204" pitchFamily="34" charset="0"/>
              </a:rPr>
              <a:t>code libraries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F19C-11BC-4F74-6B86-90CFEDD8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6" name="그림 5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520309-2AF2-F33F-64C1-BC95F7F7A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19" y="2692806"/>
            <a:ext cx="7981950" cy="196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33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7FF1F-49FA-1CD9-05D4-779D1904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7B83F-36DD-FDE9-12BC-661A14D7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Decoding – </a:t>
            </a:r>
            <a:r>
              <a:rPr lang="en-US" altLang="ko-KR" dirty="0">
                <a:solidFill>
                  <a:srgbClr val="003E74"/>
                </a:solidFill>
              </a:rPr>
              <a:t>(2) Manual Programming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0EEF49-B8C7-5AFB-9DDB-0FE09415A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003E74"/>
                </a:solidFill>
                <a:ea typeface="Calibri" panose="020F0502020204030204" pitchFamily="34" charset="0"/>
              </a:rPr>
              <a:t>3. Standard Cryptographic Algorithms</a:t>
            </a:r>
          </a:p>
          <a:p>
            <a:r>
              <a:rPr lang="en-US" altLang="ko-KR" b="1" dirty="0">
                <a:ea typeface="Calibri" panose="020F0502020204030204" pitchFamily="34" charset="0"/>
              </a:rPr>
              <a:t>Use existing implementations </a:t>
            </a:r>
            <a:r>
              <a:rPr lang="en-US" altLang="ko-KR" dirty="0">
                <a:ea typeface="Calibri" panose="020F0502020204030204" pitchFamily="34" charset="0"/>
              </a:rPr>
              <a:t>that are available in </a:t>
            </a:r>
            <a:r>
              <a:rPr lang="en-US" altLang="ko-KR" b="1" dirty="0">
                <a:ea typeface="Calibri" panose="020F0502020204030204" pitchFamily="34" charset="0"/>
              </a:rPr>
              <a:t>code libraries</a:t>
            </a:r>
          </a:p>
          <a:p>
            <a:endParaRPr lang="en-US" altLang="ko-KR" b="1" dirty="0">
              <a:ea typeface="Calibri" panose="020F0502020204030204" pitchFamily="34" charset="0"/>
            </a:endParaRPr>
          </a:p>
          <a:p>
            <a:endParaRPr lang="en-US" altLang="ko-KR" b="1" dirty="0">
              <a:ea typeface="Calibri" panose="020F0502020204030204" pitchFamily="34" charset="0"/>
            </a:endParaRPr>
          </a:p>
          <a:p>
            <a:endParaRPr lang="en-US" altLang="ko-KR" b="1" dirty="0">
              <a:ea typeface="Calibri" panose="020F0502020204030204" pitchFamily="34" charset="0"/>
            </a:endParaRPr>
          </a:p>
          <a:p>
            <a:endParaRPr lang="en-US" altLang="ko-KR" b="1" dirty="0">
              <a:ea typeface="Calibri" panose="020F0502020204030204" pitchFamily="34" charset="0"/>
            </a:endParaRPr>
          </a:p>
          <a:p>
            <a:endParaRPr lang="en-US" altLang="ko-KR" b="1" dirty="0">
              <a:ea typeface="Calibri" panose="020F0502020204030204" pitchFamily="34" charset="0"/>
            </a:endParaRPr>
          </a:p>
          <a:p>
            <a:endParaRPr lang="en-US" altLang="ko-KR" b="1" dirty="0">
              <a:ea typeface="Calibri" panose="020F0502020204030204" pitchFamily="34" charset="0"/>
            </a:endParaRPr>
          </a:p>
          <a:p>
            <a:endParaRPr lang="en-US" altLang="ko-KR" b="1" dirty="0">
              <a:ea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C00000"/>
                </a:solidFill>
                <a:ea typeface="Calibri" panose="020F0502020204030204" pitchFamily="34" charset="0"/>
              </a:rPr>
              <a:t>What if Cryptography is too COMPLEX …?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3FCB2-220D-3DB3-5BE1-C53FD7F7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6" name="그림 5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D0C79B-DC53-D576-C24F-C0B75E9F6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19" y="2692806"/>
            <a:ext cx="7981950" cy="196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555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52520-3FE8-9683-AA3F-8590BDAAA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Decoding – </a:t>
            </a:r>
            <a:r>
              <a:rPr lang="en-US" altLang="ko-KR" dirty="0">
                <a:solidFill>
                  <a:srgbClr val="003E74"/>
                </a:solidFill>
              </a:rPr>
              <a:t>(3) Using Instrumentation</a:t>
            </a:r>
            <a:endParaRPr lang="ko-KR" altLang="en-US" dirty="0">
              <a:solidFill>
                <a:srgbClr val="003E74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DF73BB-2976-F810-1BF4-6906C1381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A debugger allows the analyst to </a:t>
            </a:r>
            <a:r>
              <a:rPr lang="en-US" altLang="ko-KR" b="1" dirty="0"/>
              <a:t>directly control the program’s execution flow</a:t>
            </a:r>
          </a:p>
          <a:p>
            <a:r>
              <a:rPr lang="en-US" altLang="ko-KR" dirty="0"/>
              <a:t>Instead of reimplementing the encryption algorithm, the malware itself is </a:t>
            </a:r>
            <a:r>
              <a:rPr lang="en-US" altLang="ko-KR" b="1" dirty="0"/>
              <a:t>repurposed as a decryption tool</a:t>
            </a:r>
          </a:p>
          <a:p>
            <a:r>
              <a:rPr lang="en-US" altLang="ko-KR" dirty="0"/>
              <a:t>Encrypted data is provided as input, and the same routine used for encryption is </a:t>
            </a:r>
            <a:r>
              <a:rPr lang="en-US" altLang="ko-KR" b="1" dirty="0"/>
              <a:t>re-executed to perform decryption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E74"/>
                </a:solidFill>
              </a:rPr>
              <a:t>Considerations</a:t>
            </a:r>
          </a:p>
          <a:p>
            <a:r>
              <a:rPr lang="en-US" altLang="ko-KR" dirty="0"/>
              <a:t>Not all encoding or encryption routines are self-contained</a:t>
            </a:r>
          </a:p>
          <a:p>
            <a:r>
              <a:rPr lang="en-US" altLang="ko-KR" dirty="0"/>
              <a:t>Some cryptographic routines </a:t>
            </a:r>
            <a:r>
              <a:rPr lang="en-US" altLang="ko-KR" b="1" dirty="0"/>
              <a:t>require a key</a:t>
            </a:r>
          </a:p>
          <a:p>
            <a:r>
              <a:rPr lang="en-US" altLang="ko-KR" dirty="0"/>
              <a:t>The key may be </a:t>
            </a:r>
            <a:r>
              <a:rPr lang="en-US" altLang="ko-KR" b="1" dirty="0"/>
              <a:t>embedded within the malware </a:t>
            </a:r>
            <a:r>
              <a:rPr lang="en-US" altLang="ko-KR" dirty="0"/>
              <a:t>or </a:t>
            </a:r>
            <a:r>
              <a:rPr lang="en-US" altLang="ko-KR" b="1" dirty="0"/>
              <a:t>obtained from an external source </a:t>
            </a:r>
            <a:r>
              <a:rPr lang="en-US" altLang="ko-KR" dirty="0"/>
              <a:t>(e.g., a network server)</a:t>
            </a:r>
          </a:p>
          <a:p>
            <a:r>
              <a:rPr lang="en-US" altLang="ko-KR" dirty="0"/>
              <a:t>In such cases, the analyst may need to:</a:t>
            </a:r>
          </a:p>
          <a:p>
            <a:pPr lvl="1"/>
            <a:r>
              <a:rPr lang="en-US" altLang="ko-KR" b="1" dirty="0"/>
              <a:t>Recreate the normal execution environment</a:t>
            </a:r>
          </a:p>
          <a:p>
            <a:pPr lvl="1"/>
            <a:r>
              <a:rPr lang="en-US" altLang="ko-KR" b="1" dirty="0"/>
              <a:t>Reimplement</a:t>
            </a:r>
            <a:r>
              <a:rPr lang="en-US" altLang="ko-KR" dirty="0"/>
              <a:t> the key derivation or initialization </a:t>
            </a:r>
            <a:r>
              <a:rPr lang="en-US" altLang="ko-KR" b="1" dirty="0"/>
              <a:t>logic</a:t>
            </a:r>
          </a:p>
          <a:p>
            <a:pPr lvl="1"/>
            <a:r>
              <a:rPr lang="en-US" altLang="ko-KR" b="1" dirty="0"/>
              <a:t>Simulate a server </a:t>
            </a:r>
            <a:r>
              <a:rPr lang="en-US" altLang="ko-KR" dirty="0"/>
              <a:t>that provides the encryption key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2752C6-2945-6B28-4E22-69FACB89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45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698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DA08A-6E68-9DC2-99A2-529DC33E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Keywords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89010F-3BDA-7786-7846-8C99B700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646CA9A-918C-DE49-1335-A49C20C9399E}"/>
              </a:ext>
            </a:extLst>
          </p:cNvPr>
          <p:cNvSpPr/>
          <p:nvPr/>
        </p:nvSpPr>
        <p:spPr>
          <a:xfrm>
            <a:off x="2801916" y="2478853"/>
            <a:ext cx="1496405" cy="342035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35407AA-225E-E300-6415-70E4FF6FDA9F}"/>
              </a:ext>
            </a:extLst>
          </p:cNvPr>
          <p:cNvSpPr/>
          <p:nvPr/>
        </p:nvSpPr>
        <p:spPr>
          <a:xfrm>
            <a:off x="1172973" y="3161320"/>
            <a:ext cx="1496405" cy="66254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Ciphers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466829A-7937-7CF8-7A57-2AAF3EF1BDF6}"/>
              </a:ext>
            </a:extLst>
          </p:cNvPr>
          <p:cNvSpPr/>
          <p:nvPr/>
        </p:nvSpPr>
        <p:spPr>
          <a:xfrm>
            <a:off x="2801916" y="3161320"/>
            <a:ext cx="1496405" cy="66254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</a:t>
            </a:r>
            <a:r>
              <a:rPr lang="ko-KR" altLang="en-US" sz="13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Cryptography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A4C86243-AE2E-621D-C6FF-131B0B9C447D}"/>
              </a:ext>
            </a:extLst>
          </p:cNvPr>
          <p:cNvCxnSpPr>
            <a:cxnSpLocks/>
            <a:stCxn id="7" idx="0"/>
            <a:endCxn id="17" idx="0"/>
          </p:cNvCxnSpPr>
          <p:nvPr/>
        </p:nvCxnSpPr>
        <p:spPr>
          <a:xfrm rot="5400000" flipH="1" flipV="1">
            <a:off x="3545296" y="1529659"/>
            <a:ext cx="7541" cy="3255783"/>
          </a:xfrm>
          <a:prstGeom prst="bentConnector3">
            <a:avLst>
              <a:gd name="adj1" fmla="val 2375795"/>
            </a:avLst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533BFB1-946F-CF60-B337-82D9ED7A3145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3550119" y="2820888"/>
            <a:ext cx="0" cy="340432"/>
          </a:xfrm>
          <a:prstGeom prst="line">
            <a:avLst/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C231C0-6551-3C27-416A-F69D21A66188}"/>
              </a:ext>
            </a:extLst>
          </p:cNvPr>
          <p:cNvSpPr txBox="1"/>
          <p:nvPr/>
        </p:nvSpPr>
        <p:spPr>
          <a:xfrm>
            <a:off x="1373615" y="3893054"/>
            <a:ext cx="149640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Caesar Cipher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</a:t>
            </a:r>
          </a:p>
          <a:p>
            <a:r>
              <a:rPr lang="en-US" altLang="ko-KR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Base64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F57EEC2-190C-FA7A-9E1B-16EBE886CD67}"/>
              </a:ext>
            </a:extLst>
          </p:cNvPr>
          <p:cNvGrpSpPr/>
          <p:nvPr/>
        </p:nvGrpSpPr>
        <p:grpSpPr>
          <a:xfrm>
            <a:off x="1278731" y="4014899"/>
            <a:ext cx="153796" cy="473633"/>
            <a:chOff x="8067820" y="2743200"/>
            <a:chExt cx="526616" cy="685800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ECBDA01A-513C-DBC7-6C25-A797AF40890B}"/>
                </a:ext>
              </a:extLst>
            </p:cNvPr>
            <p:cNvCxnSpPr/>
            <p:nvPr/>
          </p:nvCxnSpPr>
          <p:spPr>
            <a:xfrm>
              <a:off x="8083559" y="2743200"/>
              <a:ext cx="0" cy="68580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D07B2ED-BBAA-8CE4-8885-BB59B83AD317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275258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F87C8FBE-79ED-42C3-9645-E3DC9A0DD62A}"/>
                </a:ext>
              </a:extLst>
            </p:cNvPr>
            <p:cNvCxnSpPr>
              <a:cxnSpLocks/>
            </p:cNvCxnSpPr>
            <p:nvPr/>
          </p:nvCxnSpPr>
          <p:spPr>
            <a:xfrm>
              <a:off x="8072582" y="3419330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66CDBAAF-4261-63C6-C687-DFF20E1E3355}"/>
                </a:ext>
              </a:extLst>
            </p:cNvPr>
            <p:cNvCxnSpPr>
              <a:cxnSpLocks/>
            </p:cNvCxnSpPr>
            <p:nvPr/>
          </p:nvCxnSpPr>
          <p:spPr>
            <a:xfrm>
              <a:off x="8067820" y="3085956"/>
              <a:ext cx="521854" cy="0"/>
            </a:xfrm>
            <a:prstGeom prst="line">
              <a:avLst/>
            </a:prstGeom>
            <a:ln>
              <a:solidFill>
                <a:srgbClr val="003E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D9BD624-5243-26F7-C09F-AC980F2C4CB3}"/>
              </a:ext>
            </a:extLst>
          </p:cNvPr>
          <p:cNvSpPr/>
          <p:nvPr/>
        </p:nvSpPr>
        <p:spPr>
          <a:xfrm>
            <a:off x="4428756" y="3153779"/>
            <a:ext cx="1496405" cy="66254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Encoding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56AF89F-BC54-A352-9BDF-1EFF170E3CAC}"/>
              </a:ext>
            </a:extLst>
          </p:cNvPr>
          <p:cNvSpPr/>
          <p:nvPr/>
        </p:nvSpPr>
        <p:spPr>
          <a:xfrm>
            <a:off x="7893679" y="2478853"/>
            <a:ext cx="1496405" cy="342035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Decoding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E095E14-95FE-BBBB-D35A-98080C8D2D7C}"/>
              </a:ext>
            </a:extLst>
          </p:cNvPr>
          <p:cNvSpPr/>
          <p:nvPr/>
        </p:nvSpPr>
        <p:spPr>
          <a:xfrm>
            <a:off x="6264736" y="3161320"/>
            <a:ext cx="1496405" cy="66254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Self-decoding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7C3F887-0052-6E29-C56F-2A94A6886429}"/>
              </a:ext>
            </a:extLst>
          </p:cNvPr>
          <p:cNvSpPr/>
          <p:nvPr/>
        </p:nvSpPr>
        <p:spPr>
          <a:xfrm>
            <a:off x="7893679" y="3161320"/>
            <a:ext cx="1496405" cy="66254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Programming</a:t>
            </a:r>
            <a:endParaRPr lang="ko-KR" altLang="en-US" sz="13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59A89245-6656-7ED5-BD75-F55EDBE2F0A6}"/>
              </a:ext>
            </a:extLst>
          </p:cNvPr>
          <p:cNvCxnSpPr>
            <a:cxnSpLocks/>
            <a:stCxn id="31" idx="0"/>
            <a:endCxn id="35" idx="0"/>
          </p:cNvCxnSpPr>
          <p:nvPr/>
        </p:nvCxnSpPr>
        <p:spPr>
          <a:xfrm rot="5400000" flipH="1" flipV="1">
            <a:off x="8637059" y="1529659"/>
            <a:ext cx="7541" cy="3255783"/>
          </a:xfrm>
          <a:prstGeom prst="bentConnector3">
            <a:avLst>
              <a:gd name="adj1" fmla="val 2375795"/>
            </a:avLst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B56C829-6C7E-8E6B-3204-854688CED44B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>
            <a:off x="8641882" y="2820888"/>
            <a:ext cx="0" cy="340432"/>
          </a:xfrm>
          <a:prstGeom prst="line">
            <a:avLst/>
          </a:prstGeom>
          <a:ln>
            <a:solidFill>
              <a:srgbClr val="003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CAE6020-3612-97ED-51DC-1036DC50AC83}"/>
              </a:ext>
            </a:extLst>
          </p:cNvPr>
          <p:cNvSpPr/>
          <p:nvPr/>
        </p:nvSpPr>
        <p:spPr>
          <a:xfrm>
            <a:off x="9520519" y="3153779"/>
            <a:ext cx="1496405" cy="662544"/>
          </a:xfrm>
          <a:prstGeom prst="roundRect">
            <a:avLst/>
          </a:prstGeom>
          <a:solidFill>
            <a:schemeClr val="bg1"/>
          </a:solidFill>
          <a:ln>
            <a:solidFill>
              <a:srgbClr val="003E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Instrumentation</a:t>
            </a:r>
          </a:p>
        </p:txBody>
      </p:sp>
    </p:spTree>
    <p:extLst>
      <p:ext uri="{BB962C8B-B14F-4D97-AF65-F5344CB8AC3E}">
        <p14:creationId xmlns:p14="http://schemas.microsoft.com/office/powerpoint/2010/main" val="4291670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15C05-D0E0-9DF9-B751-4A30EEEF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FC8437-AE53-772E-346A-E1DD19190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ko-KR" dirty="0">
                <a:ea typeface="Calibri" panose="020F0502020204030204" pitchFamily="34" charset="0"/>
              </a:rPr>
              <a:t>Compare the strings in the malware (from the output of the strings command) with the information available via dynamic analysis. Based on this comparison, which elements might be encoded?</a:t>
            </a:r>
          </a:p>
          <a:p>
            <a:pPr marL="342900" indent="-342900">
              <a:buAutoNum type="arabicPeriod"/>
            </a:pPr>
            <a:r>
              <a:rPr lang="en-US" altLang="ko-KR" dirty="0">
                <a:ea typeface="Calibri" panose="020F0502020204030204" pitchFamily="34" charset="0"/>
              </a:rPr>
              <a:t>Use IDA Pro to look for potential encoding by searching for the string </a:t>
            </a:r>
            <a:r>
              <a:rPr lang="en-US" altLang="ko-KR" i="1" dirty="0" err="1">
                <a:ea typeface="Calibri" panose="020F0502020204030204" pitchFamily="34" charset="0"/>
              </a:rPr>
              <a:t>xor</a:t>
            </a:r>
            <a:r>
              <a:rPr lang="en-US" altLang="ko-KR" dirty="0">
                <a:ea typeface="Calibri" panose="020F0502020204030204" pitchFamily="34" charset="0"/>
              </a:rPr>
              <a:t>. What type of encoding do you find?</a:t>
            </a:r>
          </a:p>
          <a:p>
            <a:pPr marL="342900" indent="-342900">
              <a:buAutoNum type="arabicPeriod"/>
            </a:pPr>
            <a:r>
              <a:rPr lang="en-US" altLang="ko-KR" dirty="0">
                <a:ea typeface="Calibri" panose="020F0502020204030204" pitchFamily="34" charset="0"/>
              </a:rPr>
              <a:t>What is the key used for encoding and what content does it encode? </a:t>
            </a:r>
          </a:p>
          <a:p>
            <a:pPr marL="342900" indent="-342900">
              <a:buAutoNum type="arabicPeriod"/>
            </a:pPr>
            <a:r>
              <a:rPr lang="en-US" altLang="ko-KR" dirty="0">
                <a:ea typeface="Calibri" panose="020F0502020204030204" pitchFamily="34" charset="0"/>
              </a:rPr>
              <a:t>Use the static tools </a:t>
            </a:r>
            <a:r>
              <a:rPr lang="en-US" altLang="ko-KR" i="1" dirty="0">
                <a:ea typeface="Calibri" panose="020F0502020204030204" pitchFamily="34" charset="0"/>
              </a:rPr>
              <a:t>FindCrypt2</a:t>
            </a:r>
            <a:r>
              <a:rPr lang="en-US" altLang="ko-KR" dirty="0">
                <a:ea typeface="Calibri" panose="020F0502020204030204" pitchFamily="34" charset="0"/>
              </a:rPr>
              <a:t>, </a:t>
            </a:r>
            <a:r>
              <a:rPr lang="en-US" altLang="ko-KR" i="1" dirty="0">
                <a:ea typeface="Calibri" panose="020F0502020204030204" pitchFamily="34" charset="0"/>
              </a:rPr>
              <a:t>Krypto </a:t>
            </a:r>
            <a:r>
              <a:rPr lang="en-US" altLang="ko-KR" i="1" dirty="0" err="1">
                <a:ea typeface="Calibri" panose="020F0502020204030204" pitchFamily="34" charset="0"/>
              </a:rPr>
              <a:t>ANALyzer</a:t>
            </a:r>
            <a:r>
              <a:rPr lang="en-US" altLang="ko-KR" i="1" dirty="0">
                <a:ea typeface="Calibri" panose="020F0502020204030204" pitchFamily="34" charset="0"/>
              </a:rPr>
              <a:t> (KANAL)</a:t>
            </a:r>
            <a:r>
              <a:rPr lang="en-US" altLang="ko-KR" dirty="0">
                <a:ea typeface="Calibri" panose="020F0502020204030204" pitchFamily="34" charset="0"/>
              </a:rPr>
              <a:t>, and the </a:t>
            </a:r>
            <a:r>
              <a:rPr lang="en-US" altLang="ko-KR" i="1" dirty="0">
                <a:ea typeface="Calibri" panose="020F0502020204030204" pitchFamily="34" charset="0"/>
              </a:rPr>
              <a:t>IDA Entropy Plugin </a:t>
            </a:r>
            <a:r>
              <a:rPr lang="en-US" altLang="ko-KR" dirty="0">
                <a:ea typeface="Calibri" panose="020F0502020204030204" pitchFamily="34" charset="0"/>
              </a:rPr>
              <a:t>to identify any other encoding mechanisms. What do you find?</a:t>
            </a:r>
          </a:p>
          <a:p>
            <a:pPr marL="342900" indent="-342900">
              <a:buAutoNum type="arabicPeriod"/>
            </a:pPr>
            <a:r>
              <a:rPr lang="en-US" altLang="ko-KR" dirty="0">
                <a:ea typeface="Calibri" panose="020F0502020204030204" pitchFamily="34" charset="0"/>
              </a:rPr>
              <a:t>What type of encoding is used for a portion of the network traffic sent by the malware?</a:t>
            </a:r>
          </a:p>
          <a:p>
            <a:pPr marL="342900" indent="-342900">
              <a:buAutoNum type="arabicPeriod"/>
            </a:pPr>
            <a:r>
              <a:rPr lang="en-US" altLang="ko-KR" dirty="0">
                <a:ea typeface="Calibri" panose="020F0502020204030204" pitchFamily="34" charset="0"/>
              </a:rPr>
              <a:t>Where is the Base64 function in the disassembly?</a:t>
            </a:r>
          </a:p>
          <a:p>
            <a:pPr marL="342900" indent="-342900">
              <a:buAutoNum type="arabicPeriod"/>
            </a:pPr>
            <a:r>
              <a:rPr lang="en-US" altLang="ko-KR" dirty="0">
                <a:ea typeface="Calibri" panose="020F0502020204030204" pitchFamily="34" charset="0"/>
              </a:rPr>
              <a:t>What is the maximum length of the Base64-encoded data that is sent? What is encoded?</a:t>
            </a:r>
          </a:p>
          <a:p>
            <a:pPr marL="342900" indent="-342900">
              <a:buAutoNum type="arabicPeriod"/>
            </a:pPr>
            <a:r>
              <a:rPr lang="en-US" altLang="ko-KR" dirty="0">
                <a:ea typeface="Calibri" panose="020F0502020204030204" pitchFamily="34" charset="0"/>
              </a:rPr>
              <a:t>In this malware, would you ever see the padding characters (= or ==) in the Base64-encoded data?</a:t>
            </a:r>
          </a:p>
          <a:p>
            <a:pPr marL="342900" indent="-342900">
              <a:buAutoNum type="arabicPeriod"/>
            </a:pPr>
            <a:r>
              <a:rPr lang="en-US" altLang="ko-KR" dirty="0">
                <a:ea typeface="Calibri" panose="020F0502020204030204" pitchFamily="34" charset="0"/>
              </a:rPr>
              <a:t>What does this malware do?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DC1536-5165-A35E-4A14-02BBDB524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7791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81723-A476-A91A-1CE3-E589C01B2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8A86B6-6698-8B01-8B17-882C66431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1. Compare the strings in the malware (from the output of the strings command) with the information available via dynamic analysis. Based on this comparison, which elements might be encoded?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Static Analysis:</a:t>
            </a:r>
          </a:p>
          <a:p>
            <a:r>
              <a:rPr lang="en-US" altLang="ko-KR" b="1" dirty="0"/>
              <a:t>Use the strings command </a:t>
            </a:r>
            <a:r>
              <a:rPr lang="en-US" altLang="ko-KR" dirty="0"/>
              <a:t>(Extracts human-readable strings from the executable without executing it)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Observed Strings:</a:t>
            </a:r>
          </a:p>
          <a:p>
            <a:r>
              <a:rPr lang="en-US" altLang="ko-KR" dirty="0"/>
              <a:t>User-Agent–like string: Mozilla/4.0</a:t>
            </a:r>
          </a:p>
          <a:p>
            <a:r>
              <a:rPr lang="en-US" altLang="ko-KR" dirty="0"/>
              <a:t>URL format string: http://%s/%s/</a:t>
            </a:r>
          </a:p>
          <a:p>
            <a:r>
              <a:rPr lang="en-US" altLang="ko-KR" dirty="0" err="1"/>
              <a:t>WinINet</a:t>
            </a:r>
            <a:r>
              <a:rPr lang="en-US" altLang="ko-KR" dirty="0"/>
              <a:t> APIs:</a:t>
            </a:r>
          </a:p>
          <a:p>
            <a:pPr lvl="1"/>
            <a:r>
              <a:rPr lang="en-US" altLang="ko-KR" i="1" dirty="0" err="1"/>
              <a:t>InternetOpenUrlA</a:t>
            </a:r>
            <a:endParaRPr lang="en-US" altLang="ko-KR" i="1" dirty="0"/>
          </a:p>
          <a:p>
            <a:pPr lvl="1"/>
            <a:r>
              <a:rPr lang="en-US" altLang="ko-KR" i="1" dirty="0" err="1"/>
              <a:t>InternetReadFile</a:t>
            </a:r>
            <a:endParaRPr lang="en-US" altLang="ko-KR" i="1" dirty="0"/>
          </a:p>
          <a:p>
            <a:r>
              <a:rPr lang="en-US" altLang="ko-KR" dirty="0"/>
              <a:t>Presence of a Base64 alphabet: ABCDEFGHIJKLMNOPQRSTUVWXYZabcdefghijklmnopqrstuvwxyz0123456789+/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94821C-2D85-FE95-4C6B-97E36003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48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508D5EB-2114-C437-A3AC-00F2C8686DCD}"/>
              </a:ext>
            </a:extLst>
          </p:cNvPr>
          <p:cNvCxnSpPr>
            <a:cxnSpLocks/>
          </p:cNvCxnSpPr>
          <p:nvPr/>
        </p:nvCxnSpPr>
        <p:spPr>
          <a:xfrm>
            <a:off x="838200" y="2419350"/>
            <a:ext cx="10515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0091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F905F-67C9-B35B-5A72-772A6859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696107-9E22-39F2-40E0-7F2DF139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E87AC-E872-C6C2-77DA-45BEBA2CE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1. Compare the strings in the malware (from the output of the strings command) with the information available via dynamic analysis. Based on this comparison, which elements might be encoded?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Dynamic Analysis:</a:t>
            </a:r>
          </a:p>
          <a:p>
            <a:r>
              <a:rPr lang="en-US" altLang="ko-KR" dirty="0"/>
              <a:t>Use Immunity Debugger</a:t>
            </a:r>
          </a:p>
          <a:p>
            <a:r>
              <a:rPr lang="en-US" altLang="ko-KR" dirty="0"/>
              <a:t>The actual domain or path is not visible in plaintext</a:t>
            </a:r>
          </a:p>
          <a:p>
            <a:r>
              <a:rPr lang="en-US" altLang="ko-KR" b="1" dirty="0"/>
              <a:t>Set breakpoints on network-related APIs:</a:t>
            </a:r>
          </a:p>
          <a:p>
            <a:pPr lvl="1"/>
            <a:r>
              <a:rPr lang="en-US" altLang="ko-KR" i="1" dirty="0"/>
              <a:t>bp </a:t>
            </a:r>
            <a:r>
              <a:rPr lang="en-US" altLang="ko-KR" i="1" dirty="0" err="1"/>
              <a:t>InternetOpenUrlA</a:t>
            </a:r>
            <a:r>
              <a:rPr lang="en-US" altLang="ko-KR" i="1" dirty="0"/>
              <a:t> </a:t>
            </a:r>
          </a:p>
          <a:p>
            <a:pPr lvl="1"/>
            <a:r>
              <a:rPr lang="en-US" altLang="ko-KR" i="1" dirty="0"/>
              <a:t>bp </a:t>
            </a:r>
            <a:r>
              <a:rPr lang="en-US" altLang="ko-KR" i="1" dirty="0" err="1"/>
              <a:t>HttpSendRequestA</a:t>
            </a:r>
            <a:endParaRPr lang="en-US" altLang="ko-KR" i="1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Observed Behavior:</a:t>
            </a:r>
          </a:p>
          <a:p>
            <a:pPr marL="0" indent="0">
              <a:buNone/>
            </a:pPr>
            <a:r>
              <a:rPr lang="en-US" altLang="ko-KR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http://www.practicalmalwareanalysis.com/a3l1bmdiaW4=</a:t>
            </a:r>
          </a:p>
          <a:p>
            <a:r>
              <a:rPr lang="en-US" altLang="ko-KR" dirty="0"/>
              <a:t>The malware is </a:t>
            </a:r>
            <a:r>
              <a:rPr lang="en-US" altLang="ko-KR" b="1" dirty="0"/>
              <a:t>attempting to connect </a:t>
            </a:r>
            <a:r>
              <a:rPr lang="en-US" altLang="ko-KR" dirty="0"/>
              <a:t>and the </a:t>
            </a:r>
            <a:r>
              <a:rPr lang="en-US" altLang="ko-KR" b="1" dirty="0"/>
              <a:t>exact meaning of the GET path is not yet known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A88527-8426-8A4C-903A-3D4A6DDB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49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BBB77B5-3772-A4B4-8303-9AC0290A575B}"/>
              </a:ext>
            </a:extLst>
          </p:cNvPr>
          <p:cNvCxnSpPr>
            <a:cxnSpLocks/>
          </p:cNvCxnSpPr>
          <p:nvPr/>
        </p:nvCxnSpPr>
        <p:spPr>
          <a:xfrm>
            <a:off x="838200" y="2419350"/>
            <a:ext cx="10515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3368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ED12D-858E-4346-E70D-3A85A2F2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7B46B-61BC-DEB9-121C-2358F940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E9DB6-D2C7-FCEC-4EF3-1758ECCBD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2. Use IDA Pro to look for potential encoding by searching for the string </a:t>
            </a:r>
            <a:r>
              <a:rPr lang="en-US" altLang="ko-KR" b="1" i="1" dirty="0" err="1">
                <a:solidFill>
                  <a:srgbClr val="003E74"/>
                </a:solidFill>
                <a:ea typeface="Calibri" panose="020F0502020204030204" pitchFamily="34" charset="0"/>
              </a:rPr>
              <a:t>xor</a:t>
            </a: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. What type of encoding do you find?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A </a:t>
            </a:r>
            <a:r>
              <a:rPr lang="en-US" altLang="ko-KR" b="1" dirty="0"/>
              <a:t>single-byte XOR encoding/decoding </a:t>
            </a:r>
            <a:br>
              <a:rPr lang="en-US" altLang="ko-KR" b="1" dirty="0"/>
            </a:br>
            <a:r>
              <a:rPr lang="en-US" altLang="ko-KR" b="1" dirty="0"/>
              <a:t>loop </a:t>
            </a:r>
            <a:r>
              <a:rPr lang="en-US" altLang="ko-KR" dirty="0"/>
              <a:t>was identified in </a:t>
            </a:r>
            <a:r>
              <a:rPr lang="en-US" altLang="ko-KR" b="1" i="1" dirty="0"/>
              <a:t>sub_401190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72461-A996-91EA-B960-42A475FE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50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6913D93-BF23-3400-9881-6C7AFF0275C8}"/>
              </a:ext>
            </a:extLst>
          </p:cNvPr>
          <p:cNvGrpSpPr/>
          <p:nvPr/>
        </p:nvGrpSpPr>
        <p:grpSpPr>
          <a:xfrm>
            <a:off x="4791581" y="2598738"/>
            <a:ext cx="6724144" cy="3713162"/>
            <a:chOff x="2733928" y="2598738"/>
            <a:chExt cx="6724144" cy="3713162"/>
          </a:xfrm>
        </p:grpSpPr>
        <p:pic>
          <p:nvPicPr>
            <p:cNvPr id="6" name="그림 5" descr="텍스트, 스크린샷, 소프트웨어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50E9211-8F01-794E-DE1E-4AD87CE15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904"/>
            <a:stretch>
              <a:fillRect/>
            </a:stretch>
          </p:blipFill>
          <p:spPr>
            <a:xfrm>
              <a:off x="2733928" y="2598738"/>
              <a:ext cx="6724144" cy="3713162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0FDFA22B-FC05-A53E-B7EA-517215CA3F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619500"/>
              <a:ext cx="115252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DEFBB4B-9321-5DB0-8136-E5CA3FC77F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219575"/>
              <a:ext cx="115252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28BD8B7-2BC2-419D-62C4-9055D47A5D2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305425"/>
              <a:ext cx="115252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F187BAB0-F2F7-137C-0B73-19CDF70EC0DA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5191125"/>
              <a:ext cx="115252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662BA7A-FC3C-4650-CB64-B8A2D05DE0CF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8" y="5581650"/>
              <a:ext cx="115252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05868CB4-7DF2-9AC1-DCF5-01D933DD6333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8" y="5724525"/>
              <a:ext cx="115252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70B1B07-377E-AB49-DB83-048258F482B2}"/>
                </a:ext>
              </a:extLst>
            </p:cNvPr>
            <p:cNvSpPr txBox="1"/>
            <p:nvPr/>
          </p:nvSpPr>
          <p:spPr>
            <a:xfrm>
              <a:off x="7270744" y="4965754"/>
              <a:ext cx="69240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 byte</a:t>
              </a:r>
              <a:endParaRPr lang="ko-KR" altLang="en-US" sz="13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D7BA32-6935-6EF6-A113-877DADF5C58E}"/>
                </a:ext>
              </a:extLst>
            </p:cNvPr>
            <p:cNvSpPr txBox="1"/>
            <p:nvPr/>
          </p:nvSpPr>
          <p:spPr>
            <a:xfrm>
              <a:off x="7248523" y="5566377"/>
              <a:ext cx="77794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Repeat</a:t>
              </a:r>
              <a:endParaRPr lang="ko-KR" altLang="en-US" sz="13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5605BC1-2651-F549-696F-2AAAADF93426}"/>
              </a:ext>
            </a:extLst>
          </p:cNvPr>
          <p:cNvCxnSpPr>
            <a:cxnSpLocks/>
          </p:cNvCxnSpPr>
          <p:nvPr/>
        </p:nvCxnSpPr>
        <p:spPr>
          <a:xfrm>
            <a:off x="838200" y="2419350"/>
            <a:ext cx="10515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3419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48A77-8799-495A-4341-8C26E12A0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04FA9-CADE-4EE6-2D48-E6BF8BB0D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F7FF9-28E2-F60A-95C9-C894398E3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3. What is the key used for encoding and what content does it encode? </a:t>
            </a:r>
          </a:p>
          <a:p>
            <a:endParaRPr lang="en-US" altLang="ko-KR" dirty="0"/>
          </a:p>
          <a:p>
            <a:r>
              <a:rPr lang="en-US" altLang="ko-K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</a:t>
            </a:r>
            <a:r>
              <a:rPr lang="en-US" altLang="ko-KR" b="1" dirty="0"/>
              <a:t>: 0x3B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DDB64A-5D16-074A-FCE6-3D8F8EBA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51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1999E5-BBA3-B2F9-7C72-C6C455F339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217" b="30356"/>
          <a:stretch>
            <a:fillRect/>
          </a:stretch>
        </p:blipFill>
        <p:spPr>
          <a:xfrm>
            <a:off x="2181224" y="2602528"/>
            <a:ext cx="2243516" cy="24765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243739F-29C3-AA9D-F5D1-D898C3546384}"/>
              </a:ext>
            </a:extLst>
          </p:cNvPr>
          <p:cNvCxnSpPr>
            <a:cxnSpLocks/>
          </p:cNvCxnSpPr>
          <p:nvPr/>
        </p:nvCxnSpPr>
        <p:spPr>
          <a:xfrm>
            <a:off x="838200" y="2419350"/>
            <a:ext cx="10515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4833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A7879-3861-E302-C5E8-246DF8C0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9947D-D121-A110-0A82-C990A6453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9A14A6-E36A-E922-DCE5-1C6346314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3. What is the key used for encoding and what content does it encode? </a:t>
            </a:r>
          </a:p>
          <a:p>
            <a:endParaRPr lang="en-US" altLang="ko-KR" dirty="0"/>
          </a:p>
          <a:p>
            <a:r>
              <a:rPr lang="en-US" altLang="ko-K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</a:t>
            </a:r>
            <a:r>
              <a:rPr lang="en-US" altLang="ko-KR" b="1" dirty="0"/>
              <a:t>: 0x3B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b="1" dirty="0"/>
          </a:p>
          <a:p>
            <a:r>
              <a:rPr lang="en-US" altLang="ko-KR" b="1" dirty="0"/>
              <a:t>The call to </a:t>
            </a:r>
            <a:r>
              <a:rPr lang="en-US" altLang="ko-KR" b="1" i="1" dirty="0"/>
              <a:t>sub_401190</a:t>
            </a:r>
            <a:r>
              <a:rPr lang="en-US" altLang="ko-KR" b="1" dirty="0"/>
              <a:t> is preceded by a call to </a:t>
            </a:r>
            <a:r>
              <a:rPr lang="en-US" altLang="ko-KR" b="1" i="1" dirty="0" err="1"/>
              <a:t>LockResource</a:t>
            </a:r>
            <a:endParaRPr lang="en-US" altLang="ko-KR" b="1" i="1" dirty="0"/>
          </a:p>
          <a:p>
            <a:pPr marL="457200" lvl="1" indent="0">
              <a:buNone/>
            </a:pPr>
            <a:r>
              <a:rPr lang="en-US" altLang="ko-KR" i="1" dirty="0"/>
              <a:t>* </a:t>
            </a:r>
            <a:r>
              <a:rPr lang="en-US" altLang="ko-KR" i="1" dirty="0" err="1"/>
              <a:t>LockResource</a:t>
            </a:r>
            <a:r>
              <a:rPr lang="en-US" altLang="ko-KR" i="1" dirty="0"/>
              <a:t> is a Windows API used to access data stored in the .</a:t>
            </a:r>
            <a:r>
              <a:rPr lang="en-US" altLang="ko-KR" i="1" dirty="0" err="1"/>
              <a:t>rsrc</a:t>
            </a:r>
            <a:r>
              <a:rPr lang="en-US" altLang="ko-KR" i="1" dirty="0"/>
              <a:t> section</a:t>
            </a:r>
          </a:p>
          <a:p>
            <a:r>
              <a:rPr lang="en-US" altLang="ko-KR" dirty="0"/>
              <a:t>This indicates that the </a:t>
            </a:r>
            <a:r>
              <a:rPr lang="en-US" altLang="ko-KR" b="1" dirty="0"/>
              <a:t>encoded data is stored as an internal resource</a:t>
            </a:r>
          </a:p>
          <a:p>
            <a:r>
              <a:rPr lang="en-US" altLang="ko-KR" dirty="0"/>
              <a:t>The </a:t>
            </a:r>
            <a:r>
              <a:rPr lang="en-US" altLang="ko-KR" b="1" dirty="0"/>
              <a:t>return value of </a:t>
            </a:r>
            <a:r>
              <a:rPr lang="en-US" altLang="ko-KR" b="1" i="1" dirty="0" err="1"/>
              <a:t>LockResource</a:t>
            </a:r>
            <a:r>
              <a:rPr lang="en-US" altLang="ko-KR" b="1" dirty="0"/>
              <a:t> </a:t>
            </a:r>
            <a:r>
              <a:rPr lang="en-US" altLang="ko-KR" dirty="0"/>
              <a:t>is </a:t>
            </a:r>
            <a:r>
              <a:rPr lang="en-US" altLang="ko-KR" b="1" dirty="0"/>
              <a:t>passed to</a:t>
            </a:r>
            <a:r>
              <a:rPr lang="en-US" altLang="ko-KR" b="1" i="1" dirty="0"/>
              <a:t> sub_401190</a:t>
            </a:r>
            <a:r>
              <a:rPr lang="en-US" altLang="ko-KR" b="1" dirty="0"/>
              <a:t> as input</a:t>
            </a:r>
          </a:p>
          <a:p>
            <a:r>
              <a:rPr lang="en-US" altLang="ko-KR" i="1" dirty="0"/>
              <a:t>sub_401190 </a:t>
            </a:r>
            <a:r>
              <a:rPr lang="en-US" altLang="ko-KR" b="1" dirty="0"/>
              <a:t>applies XOR decoding </a:t>
            </a:r>
            <a:r>
              <a:rPr lang="en-US" altLang="ko-KR" dirty="0"/>
              <a:t>to this resource data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A5ED79-B9DD-0F00-E796-0D62BCEA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52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1622C1-2340-8D5B-602D-ECF73A630E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217" b="30356"/>
          <a:stretch>
            <a:fillRect/>
          </a:stretch>
        </p:blipFill>
        <p:spPr>
          <a:xfrm>
            <a:off x="2181224" y="2602528"/>
            <a:ext cx="2243516" cy="247651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0ED785-3283-3286-9081-5ACBE3556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986" y="3022600"/>
            <a:ext cx="4715533" cy="100979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BFDD83D-E146-3E1A-59A3-ED3610F4E3C7}"/>
              </a:ext>
            </a:extLst>
          </p:cNvPr>
          <p:cNvCxnSpPr>
            <a:cxnSpLocks/>
          </p:cNvCxnSpPr>
          <p:nvPr/>
        </p:nvCxnSpPr>
        <p:spPr>
          <a:xfrm>
            <a:off x="838200" y="2419350"/>
            <a:ext cx="10515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2FCDE6-4F0B-92BF-D4B7-1365E4079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1" y="2924104"/>
            <a:ext cx="4279624" cy="119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724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AE88EF-FBCA-4C99-7596-A8AC35160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EE6950-C36A-8833-B52C-43E778E45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4. </a:t>
            </a: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Use the static tools </a:t>
            </a:r>
            <a:r>
              <a:rPr lang="en-US" altLang="ko-KR" b="1" i="1" dirty="0">
                <a:solidFill>
                  <a:srgbClr val="003E74"/>
                </a:solidFill>
                <a:ea typeface="Calibri" panose="020F0502020204030204" pitchFamily="34" charset="0"/>
              </a:rPr>
              <a:t>FindCrypt2</a:t>
            </a: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, </a:t>
            </a:r>
            <a:r>
              <a:rPr lang="en-US" altLang="ko-KR" b="1" i="1" dirty="0">
                <a:solidFill>
                  <a:srgbClr val="003E74"/>
                </a:solidFill>
                <a:ea typeface="Calibri" panose="020F0502020204030204" pitchFamily="34" charset="0"/>
              </a:rPr>
              <a:t>Krypto </a:t>
            </a:r>
            <a:r>
              <a:rPr lang="en-US" altLang="ko-KR" b="1" i="1" dirty="0" err="1">
                <a:solidFill>
                  <a:srgbClr val="003E74"/>
                </a:solidFill>
                <a:ea typeface="Calibri" panose="020F0502020204030204" pitchFamily="34" charset="0"/>
              </a:rPr>
              <a:t>ANALyzer</a:t>
            </a:r>
            <a:r>
              <a:rPr lang="en-US" altLang="ko-KR" b="1" i="1" dirty="0">
                <a:solidFill>
                  <a:srgbClr val="003E74"/>
                </a:solidFill>
                <a:ea typeface="Calibri" panose="020F0502020204030204" pitchFamily="34" charset="0"/>
              </a:rPr>
              <a:t> (KANAL)</a:t>
            </a: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, and the </a:t>
            </a:r>
            <a:r>
              <a:rPr lang="en-US" altLang="ko-KR" b="1" i="1" dirty="0">
                <a:solidFill>
                  <a:srgbClr val="003E74"/>
                </a:solidFill>
                <a:ea typeface="Calibri" panose="020F0502020204030204" pitchFamily="34" charset="0"/>
              </a:rPr>
              <a:t>IDA Entropy Plugin </a:t>
            </a: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to identify any other encoding mechanisms. What do you find?</a:t>
            </a:r>
          </a:p>
          <a:p>
            <a:r>
              <a:rPr lang="en-US" altLang="ko-KR" b="1" dirty="0"/>
              <a:t>Used </a:t>
            </a:r>
            <a:r>
              <a:rPr lang="en-US" altLang="ko-KR" b="1" dirty="0" err="1"/>
              <a:t>PEiD’s</a:t>
            </a:r>
            <a:r>
              <a:rPr lang="en-US" altLang="ko-KR" b="1" dirty="0"/>
              <a:t> Krypto </a:t>
            </a:r>
            <a:r>
              <a:rPr lang="en-US" altLang="ko-KR" b="1" dirty="0" err="1"/>
              <a:t>ANALyzer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827D27-308A-2E15-9432-E1D7E8DD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53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CE23AC-498B-7312-B00E-AD49DE602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61" y="3089604"/>
            <a:ext cx="3953427" cy="2219635"/>
          </a:xfrm>
          <a:prstGeom prst="rect">
            <a:avLst/>
          </a:prstGeom>
        </p:spPr>
      </p:pic>
      <p:pic>
        <p:nvPicPr>
          <p:cNvPr id="8" name="그림 7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68DB7A-64B3-23D7-986F-570A76911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684" y="2984814"/>
            <a:ext cx="2934109" cy="242921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040128C-9907-6ED3-3E45-9116F4B875D2}"/>
              </a:ext>
            </a:extLst>
          </p:cNvPr>
          <p:cNvCxnSpPr>
            <a:cxnSpLocks/>
          </p:cNvCxnSpPr>
          <p:nvPr/>
        </p:nvCxnSpPr>
        <p:spPr>
          <a:xfrm>
            <a:off x="838200" y="2419350"/>
            <a:ext cx="10515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5375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6032B-D10C-B42A-8890-DEB3D939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0C515B-6416-33D4-E4CD-ED3309327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5. What type of encoding is used for a portion of the network traffic sent by the malware?</a:t>
            </a:r>
          </a:p>
          <a:p>
            <a:endParaRPr lang="en-US" altLang="ko-KR" u="sng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Observed URL:</a:t>
            </a:r>
          </a:p>
          <a:p>
            <a:pPr marL="0" indent="0">
              <a:buNone/>
            </a:pPr>
            <a:r>
              <a:rPr lang="en-US" altLang="ko-KR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http://www.practicalmalwareanalysis.com/a3l1bmdiaW4=</a:t>
            </a:r>
          </a:p>
          <a:p>
            <a:r>
              <a:rPr lang="en-US" altLang="ko-KR" dirty="0"/>
              <a:t>Base64 encoding is used here</a:t>
            </a:r>
          </a:p>
          <a:p>
            <a:r>
              <a:rPr lang="en-US" altLang="ko-KR" dirty="0"/>
              <a:t>The encoded data is used to</a:t>
            </a:r>
            <a:r>
              <a:rPr lang="en-US" altLang="ko-KR" b="1" dirty="0"/>
              <a:t> construct the GET request path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A7ECAB-2D0B-FA21-4A65-992DD3AE6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54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003FD7E-A634-BEAF-19DF-F44C4B66BE8D}"/>
              </a:ext>
            </a:extLst>
          </p:cNvPr>
          <p:cNvCxnSpPr>
            <a:cxnSpLocks/>
          </p:cNvCxnSpPr>
          <p:nvPr/>
        </p:nvCxnSpPr>
        <p:spPr>
          <a:xfrm>
            <a:off x="838200" y="2419350"/>
            <a:ext cx="10515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5147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E0B9B-318F-17EB-3C6E-E10E9771E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ED8ED3-EF83-7283-596C-4DCFBC892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6. Where is the Base64 function in the disassembly?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ED03AD-2B67-FE30-70A3-2DEC9EBE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55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19721C-A9AB-FFD1-DE1F-7D6B92F08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95452"/>
            <a:ext cx="7030431" cy="1047896"/>
          </a:xfrm>
          <a:prstGeom prst="rect">
            <a:avLst/>
          </a:prstGeom>
        </p:spPr>
      </p:pic>
      <p:pic>
        <p:nvPicPr>
          <p:cNvPr id="8" name="그림 7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B89753-D849-4BAC-B8A6-AE1522F7C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514653"/>
            <a:ext cx="5314952" cy="3068576"/>
          </a:xfrm>
          <a:prstGeom prst="rect">
            <a:avLst/>
          </a:prstGeom>
        </p:spPr>
      </p:pic>
      <p:pic>
        <p:nvPicPr>
          <p:cNvPr id="10" name="그림 9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7A871A-0B39-0523-228F-DCAB5DCDB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276" y="3585218"/>
            <a:ext cx="4958249" cy="29980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ACA37D-A236-8616-BA43-A7ECD5063155}"/>
              </a:ext>
            </a:extLst>
          </p:cNvPr>
          <p:cNvSpPr txBox="1"/>
          <p:nvPr/>
        </p:nvSpPr>
        <p:spPr>
          <a:xfrm>
            <a:off x="3500927" y="3514653"/>
            <a:ext cx="1704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0x00401000</a:t>
            </a:r>
            <a:endParaRPr lang="ko-KR" altLang="en-US" b="1" dirty="0">
              <a:solidFill>
                <a:srgbClr val="003E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5016CA-C427-5D51-3956-847759327E8F}"/>
              </a:ext>
            </a:extLst>
          </p:cNvPr>
          <p:cNvSpPr txBox="1"/>
          <p:nvPr/>
        </p:nvSpPr>
        <p:spPr>
          <a:xfrm>
            <a:off x="9244502" y="3607887"/>
            <a:ext cx="1704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0x004010B1</a:t>
            </a:r>
            <a:endParaRPr lang="ko-KR" altLang="en-US" b="1" dirty="0">
              <a:solidFill>
                <a:srgbClr val="003E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5622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D7495-2E20-A532-0CFE-B8793F41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E22BA7-4636-A91C-3B59-F2E85B60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7. </a:t>
            </a: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What is the maximum length of the Base64-encoded data that is sent? What is encoded?</a:t>
            </a:r>
          </a:p>
          <a:p>
            <a:r>
              <a:rPr lang="en-US" altLang="ko-KR" dirty="0"/>
              <a:t>The code location calling </a:t>
            </a:r>
            <a:r>
              <a:rPr lang="en-US" altLang="ko-KR" i="1" dirty="0" err="1"/>
              <a:t>gethostname</a:t>
            </a:r>
            <a:r>
              <a:rPr lang="en-US" altLang="ko-KR" dirty="0"/>
              <a:t> was identified</a:t>
            </a:r>
          </a:p>
          <a:p>
            <a:r>
              <a:rPr lang="en-US" altLang="ko-KR" dirty="0"/>
              <a:t>The buffer used to receive the hostname has a size of 0x100 (256 bytes)</a:t>
            </a:r>
          </a:p>
          <a:p>
            <a:r>
              <a:rPr lang="en-US" altLang="ko-KR" b="1" dirty="0"/>
              <a:t>Only the first 12 bytes </a:t>
            </a:r>
            <a:r>
              <a:rPr lang="en-US" altLang="ko-KR" dirty="0"/>
              <a:t>of the hostname are copied into the destination buffer</a:t>
            </a:r>
          </a:p>
          <a:p>
            <a:r>
              <a:rPr lang="en-US" altLang="ko-KR" dirty="0"/>
              <a:t>This destination buffer is passed as input to the Base64 encoding routine (sub_401000)</a:t>
            </a:r>
          </a:p>
          <a:p>
            <a:r>
              <a:rPr lang="en-US" altLang="ko-KR" dirty="0">
                <a:solidFill>
                  <a:srgbClr val="003E74"/>
                </a:solidFill>
              </a:rPr>
              <a:t>The malware encodes the </a:t>
            </a:r>
            <a:r>
              <a:rPr lang="en-US" altLang="ko-KR" b="1" dirty="0">
                <a:solidFill>
                  <a:srgbClr val="003E74"/>
                </a:solidFill>
              </a:rPr>
              <a:t>first 12 bytes of the system hostname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E03D9F-7E21-7EA5-E562-CF00CCE1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56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그림 9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1CA6C4-C5B4-62A7-8D00-360F2334C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206" y="4143075"/>
            <a:ext cx="5139220" cy="27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339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C9407-9A5D-E256-0264-E60D27DC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FD89AD-BA78-8C67-F7CE-2A9C8C9AA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8. </a:t>
            </a: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In this malware, would you ever see the padding characters (= or ==) in the Base64-encoded data?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44E3EF-94AF-5A02-EF6A-B08B835B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57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E199D5-FA08-2D4B-A4E6-59FC9CA17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179" y="2752605"/>
            <a:ext cx="6925642" cy="1714739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4786444-92E0-2970-6CFD-4A182AF8DAA4}"/>
              </a:ext>
            </a:extLst>
          </p:cNvPr>
          <p:cNvCxnSpPr>
            <a:cxnSpLocks/>
          </p:cNvCxnSpPr>
          <p:nvPr/>
        </p:nvCxnSpPr>
        <p:spPr>
          <a:xfrm>
            <a:off x="5472112" y="3438525"/>
            <a:ext cx="149066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DC8871A-6AA8-3D31-F5F3-46063C45375D}"/>
              </a:ext>
            </a:extLst>
          </p:cNvPr>
          <p:cNvCxnSpPr>
            <a:cxnSpLocks/>
          </p:cNvCxnSpPr>
          <p:nvPr/>
        </p:nvCxnSpPr>
        <p:spPr>
          <a:xfrm>
            <a:off x="838200" y="2419350"/>
            <a:ext cx="10515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7263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E7244-DC3D-1DF5-522D-486EE981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Lab13_01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D496BA-4CDF-DCF9-3E78-34C51C7D6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9. </a:t>
            </a:r>
            <a:r>
              <a:rPr lang="en-US" altLang="ko-KR" b="1" dirty="0">
                <a:solidFill>
                  <a:srgbClr val="003E74"/>
                </a:solidFill>
                <a:ea typeface="Calibri" panose="020F0502020204030204" pitchFamily="34" charset="0"/>
              </a:rPr>
              <a:t>What does this malware do?</a:t>
            </a:r>
            <a:endParaRPr lang="ko-KR" altLang="en-US" b="1" dirty="0">
              <a:solidFill>
                <a:srgbClr val="003E74"/>
              </a:solidFill>
            </a:endParaRP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Behavior</a:t>
            </a:r>
          </a:p>
          <a:p>
            <a:r>
              <a:rPr lang="en-US" altLang="ko-KR" dirty="0"/>
              <a:t>This malware collects the hostname of the infected system</a:t>
            </a:r>
          </a:p>
          <a:p>
            <a:r>
              <a:rPr lang="en-US" altLang="ko-KR" dirty="0"/>
              <a:t>It encodes the hostname using Base64</a:t>
            </a:r>
          </a:p>
          <a:p>
            <a:r>
              <a:rPr lang="en-US" altLang="ko-KR" dirty="0"/>
              <a:t>The encoded data is transmitted to a remote server via an HTTP GET request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003E74"/>
                </a:solidFill>
              </a:rPr>
              <a:t>Purpose</a:t>
            </a:r>
          </a:p>
          <a:p>
            <a:r>
              <a:rPr lang="en-US" altLang="ko-KR" dirty="0"/>
              <a:t>Allows the attacker to identify infected systems</a:t>
            </a:r>
          </a:p>
          <a:p>
            <a:r>
              <a:rPr lang="en-US" altLang="ko-KR" dirty="0"/>
              <a:t>Enables monitoring and tracking of compromised hosts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512AB1-8AF4-F9FB-D64E-E63461D87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58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AAD3883-9776-7C92-7AF0-5A351DD8751F}"/>
              </a:ext>
            </a:extLst>
          </p:cNvPr>
          <p:cNvCxnSpPr>
            <a:cxnSpLocks/>
          </p:cNvCxnSpPr>
          <p:nvPr/>
        </p:nvCxnSpPr>
        <p:spPr>
          <a:xfrm>
            <a:off x="838200" y="2419350"/>
            <a:ext cx="10515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946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8C2DB4AC-32AF-A279-37EC-19459790C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3E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ko-KR" altLang="en-US" sz="4000" b="1" dirty="0">
              <a:solidFill>
                <a:srgbClr val="003E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B50597-0370-174F-30AA-F54A4982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7884-96A2-417C-BAD5-907463B9A000}" type="slidenum">
              <a:rPr lang="ko-KR" altLang="en-US" smtClean="0"/>
              <a:pPr/>
              <a:t>59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85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B5BC1A6F4C5CA4DAC799845CE7B08CA" ma:contentTypeVersion="5" ma:contentTypeDescription="새 문서를 만듭니다." ma:contentTypeScope="" ma:versionID="0bf353a64a8584f75bf26f463a9a881d">
  <xsd:schema xmlns:xsd="http://www.w3.org/2001/XMLSchema" xmlns:xs="http://www.w3.org/2001/XMLSchema" xmlns:p="http://schemas.microsoft.com/office/2006/metadata/properties" xmlns:ns3="1671a95e-d7be-4dcc-874d-71938bfb8589" targetNamespace="http://schemas.microsoft.com/office/2006/metadata/properties" ma:root="true" ma:fieldsID="2389a1298baaae4bad56583455f77af7" ns3:_="">
    <xsd:import namespace="1671a95e-d7be-4dcc-874d-71938bfb858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71a95e-d7be-4dcc-874d-71938bfb85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CCA476-0FA5-4DA3-8BD8-F6B09E1ACE93}">
  <ds:schemaRefs>
    <ds:schemaRef ds:uri="1671a95e-d7be-4dcc-874d-71938bfb8589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0ADE532-5051-4D5C-A057-3CEE69F9AD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D4D96F-D9C1-4C9F-BF20-1AD518E11E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71a95e-d7be-4dcc-874d-71938bfb85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3003</Words>
  <Application>Microsoft Office PowerPoint</Application>
  <PresentationFormat>와이드스크린</PresentationFormat>
  <Paragraphs>541</Paragraphs>
  <Slides>59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6" baseType="lpstr">
      <vt:lpstr>Pretendard Variable</vt:lpstr>
      <vt:lpstr>맑은 고딕</vt:lpstr>
      <vt:lpstr>Arial</vt:lpstr>
      <vt:lpstr>Calibri</vt:lpstr>
      <vt:lpstr>Georgia</vt:lpstr>
      <vt:lpstr>Times New Roman</vt:lpstr>
      <vt:lpstr>Office 테마</vt:lpstr>
      <vt:lpstr>Chapter 13. Data Encoding</vt:lpstr>
      <vt:lpstr>Goal of Analyzing Encoding Algorithms</vt:lpstr>
      <vt:lpstr>Goal of Analyzing Encoding Algorithms</vt:lpstr>
      <vt:lpstr>Simple Ciphers</vt:lpstr>
      <vt:lpstr>Simple Ciphers – (1) Caesar Cipher</vt:lpstr>
      <vt:lpstr>Simple Ciphers – (2) XOR</vt:lpstr>
      <vt:lpstr>Simple Ciphers – (2) XOR</vt:lpstr>
      <vt:lpstr>Simple Ciphers – (2) XOR</vt:lpstr>
      <vt:lpstr>Simple Ciphers – (2) XOR</vt:lpstr>
      <vt:lpstr>Simple Ciphers – (2) XOR</vt:lpstr>
      <vt:lpstr>Simple Ciphers – (2) XOR</vt:lpstr>
      <vt:lpstr>Simple Ciphers – (2) XOR</vt:lpstr>
      <vt:lpstr>Simple Ciphers – (2) XOR</vt:lpstr>
      <vt:lpstr>Simple Ciphers – (2) XOR</vt:lpstr>
      <vt:lpstr>Simple Ciphers – (2) XOR</vt:lpstr>
      <vt:lpstr>Simple Ciphers – (2) XOR</vt:lpstr>
      <vt:lpstr>Simple Ciphers – (2) XOR</vt:lpstr>
      <vt:lpstr>Simple Ciphers – (3) Base64</vt:lpstr>
      <vt:lpstr>Simple Ciphers – (3) Base64</vt:lpstr>
      <vt:lpstr>Simple Ciphers – (3) Base64</vt:lpstr>
      <vt:lpstr>Simple Ciphers – (3) Base64</vt:lpstr>
      <vt:lpstr>Simple Ciphers – (3) Base64</vt:lpstr>
      <vt:lpstr>Simple Ciphers – (3) Base64</vt:lpstr>
      <vt:lpstr>Simple Ciphers – (3) Base64</vt:lpstr>
      <vt:lpstr>Simple Ciphers – (3) Base64</vt:lpstr>
      <vt:lpstr>Simple Ciphers – (3) Base64</vt:lpstr>
      <vt:lpstr>Simple Ciphers – (3) Base64</vt:lpstr>
      <vt:lpstr>Standard Cryptography</vt:lpstr>
      <vt:lpstr>Identifying Standard Cryptography</vt:lpstr>
      <vt:lpstr>Identifying Standard Cryptography</vt:lpstr>
      <vt:lpstr>Identifying Standard Cryptography</vt:lpstr>
      <vt:lpstr>Custom Encoding</vt:lpstr>
      <vt:lpstr>Custom Encoding</vt:lpstr>
      <vt:lpstr>Identifying Custom Encoding</vt:lpstr>
      <vt:lpstr>Identifying Custom Encoding</vt:lpstr>
      <vt:lpstr>Advantages of Custom Encoding</vt:lpstr>
      <vt:lpstr>Decoding</vt:lpstr>
      <vt:lpstr>Decoding – (1) Self-Decoding</vt:lpstr>
      <vt:lpstr>Decoding – (1) Self-Decoding</vt:lpstr>
      <vt:lpstr>Decoding – (1) Self-Decoding</vt:lpstr>
      <vt:lpstr>Decoding – (2) Manual Programming</vt:lpstr>
      <vt:lpstr>Decoding – (2) Manual Programming</vt:lpstr>
      <vt:lpstr>Decoding – (2) Manual Programming</vt:lpstr>
      <vt:lpstr>Decoding – (2) Manual Programming</vt:lpstr>
      <vt:lpstr>Decoding – (3) Using Instrumentation</vt:lpstr>
      <vt:lpstr>Keywords</vt:lpstr>
      <vt:lpstr>Lab13_01</vt:lpstr>
      <vt:lpstr>Lab13_01</vt:lpstr>
      <vt:lpstr>Lab13_01</vt:lpstr>
      <vt:lpstr>Lab13_01</vt:lpstr>
      <vt:lpstr>Lab13_01</vt:lpstr>
      <vt:lpstr>Lab13_01</vt:lpstr>
      <vt:lpstr>Lab13_01</vt:lpstr>
      <vt:lpstr>Lab13_01</vt:lpstr>
      <vt:lpstr>Lab13_01</vt:lpstr>
      <vt:lpstr>Lab13_01</vt:lpstr>
      <vt:lpstr>Lab13_01</vt:lpstr>
      <vt:lpstr>Lab13_01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유경빈</dc:creator>
  <cp:lastModifiedBy>유경빈</cp:lastModifiedBy>
  <cp:revision>320</cp:revision>
  <dcterms:created xsi:type="dcterms:W3CDTF">2026-01-12T10:36:27Z</dcterms:created>
  <dcterms:modified xsi:type="dcterms:W3CDTF">2026-02-11T05:31:59Z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0x0101008B5BC1A6F4C5CA4DAC799845CE7B08CA</vt:lpwstr>
  </property>
</Properties>
</file>