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5143500" cx="9144000"/>
  <p:notesSz cx="6858000" cy="9144000"/>
  <p:embeddedFontLs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obotoMono-bold.fntdata"/><Relationship Id="rId14" Type="http://schemas.openxmlformats.org/officeDocument/2006/relationships/slide" Target="slides/slide10.xml"/><Relationship Id="rId36" Type="http://schemas.openxmlformats.org/officeDocument/2006/relationships/font" Target="fonts/RobotoMono-regular.fntdata"/><Relationship Id="rId17" Type="http://schemas.openxmlformats.org/officeDocument/2006/relationships/slide" Target="slides/slide13.xml"/><Relationship Id="rId39" Type="http://schemas.openxmlformats.org/officeDocument/2006/relationships/font" Target="fonts/RobotoMono-boldItalic.fntdata"/><Relationship Id="rId16" Type="http://schemas.openxmlformats.org/officeDocument/2006/relationships/slide" Target="slides/slide12.xml"/><Relationship Id="rId38" Type="http://schemas.openxmlformats.org/officeDocument/2006/relationships/font" Target="fonts/RobotoMono-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c2c5ecb1e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c2c5ecb1e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c2c5ecb1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c2c5ecb1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2c5ecb1e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2c5ecb1e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2c5ecb1e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c2c5ecb1e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2c5ecb1e2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2c5ecb1e2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2c5ecb1e2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2c5ecb1e2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cc68104e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cc68104e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2c5ecb1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2c5ecb1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2c5ecb1e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2c5ecb1e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2c5ecb1e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2c5ecb1e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2c5ecb1e2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2c5ecb1e2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2c5ecb1e2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2c5ecb1e2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2c5ecb1e2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2c5ecb1e2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2c5ecb1e2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2c5ecb1e2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2c5ecb1e2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2c5ecb1e2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2c5ecb1e2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2c5ecb1e2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2c5ecb1e2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2c5ecb1e2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2c5ecb1e2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2c5ecb1e2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c2c5ecb1e2_0_3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c2c5ecb1e2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2c5ecb1e2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2c5ecb1e2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2c5ecb1e2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c2c5ecb1e2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2c5ecb1e2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2c5ecb1e2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cc68104e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cc68104e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bcc68104e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bcc68104e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2c5ecb1e2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2c5ecb1e2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2c5ecb1e2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c2c5ecb1e2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c2c5ecb1e2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c2c5ecb1e2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2c5ecb1e2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c2c5ecb1e2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c2c5ecb1e2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c2c5ecb1e2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2c5ecb1e2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c2c5ecb1e2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231342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b="1" lang="en-GB"/>
              <a:t>PART-4</a:t>
            </a:r>
            <a:endParaRPr b="1"/>
          </a:p>
          <a:p>
            <a:pPr indent="0" lvl="0" marL="0" rtl="0" algn="ctr">
              <a:spcBef>
                <a:spcPts val="0"/>
              </a:spcBef>
              <a:spcAft>
                <a:spcPts val="0"/>
              </a:spcAft>
              <a:buNone/>
            </a:pPr>
            <a:r>
              <a:rPr lang="en-GB"/>
              <a:t>Malware Functionality</a:t>
            </a:r>
            <a:endParaRPr/>
          </a:p>
          <a:p>
            <a:pPr indent="0" lvl="0" marL="0" rtl="0" algn="ctr">
              <a:spcBef>
                <a:spcPts val="0"/>
              </a:spcBef>
              <a:spcAft>
                <a:spcPts val="0"/>
              </a:spcAft>
              <a:buNone/>
            </a:pPr>
            <a:r>
              <a:t/>
            </a:r>
            <a:endParaRPr/>
          </a:p>
          <a:p>
            <a:pPr indent="0" lvl="0" marL="0" rtl="0" algn="l">
              <a:spcBef>
                <a:spcPts val="0"/>
              </a:spcBef>
              <a:spcAft>
                <a:spcPts val="0"/>
              </a:spcAft>
              <a:buNone/>
            </a:pPr>
            <a:r>
              <a:rPr lang="en-GB" sz="1550"/>
              <a:t>By: Ahmad Khan</a:t>
            </a:r>
            <a:endParaRPr sz="15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t>CHAPTER-11</a:t>
            </a:r>
            <a:endParaRPr b="1"/>
          </a:p>
          <a:p>
            <a:pPr indent="0" lvl="0" marL="0" rtl="0" algn="ctr">
              <a:spcBef>
                <a:spcPts val="0"/>
              </a:spcBef>
              <a:spcAft>
                <a:spcPts val="0"/>
              </a:spcAft>
              <a:buNone/>
            </a:pPr>
            <a:r>
              <a:rPr b="1" lang="en-GB"/>
              <a:t> </a:t>
            </a:r>
            <a:r>
              <a:rPr lang="en-GB"/>
              <a:t>Malware Behavior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000"/>
              <a:t>What is Malware Behavior?</a:t>
            </a:r>
            <a:endParaRPr b="1" sz="3000"/>
          </a:p>
        </p:txBody>
      </p:sp>
      <p:sp>
        <p:nvSpPr>
          <p:cNvPr id="65" name="Google Shape;65;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GB">
                <a:solidFill>
                  <a:schemeClr val="dk1"/>
                </a:solidFill>
              </a:rPr>
              <a:t>Observable actions malware performs on a system</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Goal: </a:t>
            </a:r>
            <a:r>
              <a:rPr lang="en-GB">
                <a:solidFill>
                  <a:schemeClr val="dk1"/>
                </a:solidFill>
              </a:rPr>
              <a:t>u</a:t>
            </a:r>
            <a:r>
              <a:rPr lang="en-GB">
                <a:solidFill>
                  <a:schemeClr val="dk1"/>
                </a:solidFill>
              </a:rPr>
              <a:t>nderstand </a:t>
            </a:r>
            <a:r>
              <a:rPr b="1" lang="en-GB">
                <a:solidFill>
                  <a:schemeClr val="dk1"/>
                </a:solidFill>
              </a:rPr>
              <a:t>what it does</a:t>
            </a:r>
            <a:r>
              <a:rPr lang="en-GB">
                <a:solidFill>
                  <a:schemeClr val="dk1"/>
                </a:solidFill>
              </a:rPr>
              <a:t>, not just </a:t>
            </a:r>
            <a:r>
              <a:rPr b="1" lang="en-GB">
                <a:solidFill>
                  <a:schemeClr val="dk1"/>
                </a:solidFill>
              </a:rPr>
              <a:t>how it looks</a:t>
            </a:r>
            <a:endParaRPr b="1">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Helps with detection, remediation, and attribution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b="1" lang="en-GB"/>
              <a:t>Downloaders &amp; Launchers</a:t>
            </a:r>
            <a:endParaRPr b="1"/>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GB">
                <a:solidFill>
                  <a:schemeClr val="dk1"/>
                </a:solidFill>
              </a:rPr>
              <a:t>→ Downloaders</a:t>
            </a:r>
            <a:r>
              <a:rPr lang="en-GB">
                <a:solidFill>
                  <a:schemeClr val="dk1"/>
                </a:solidFill>
              </a:rPr>
              <a:t> simply download another piece of malware from the Internet and execute it on the local system. Downloaders are often packaged with an exploit.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b="1" lang="en-GB">
                <a:solidFill>
                  <a:schemeClr val="dk1"/>
                </a:solidFill>
              </a:rPr>
              <a:t>→ Launcher</a:t>
            </a:r>
            <a:r>
              <a:rPr lang="en-GB">
                <a:solidFill>
                  <a:schemeClr val="dk1"/>
                </a:solidFill>
              </a:rPr>
              <a:t> (also known as a loader) is any executable that installs malware for immediate or future covert execution. Launchers often contain the malware that they are designed to load.</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2. </a:t>
            </a:r>
            <a:r>
              <a:rPr b="1" lang="en-GB"/>
              <a:t>Backdoors</a:t>
            </a:r>
            <a:endParaRPr b="1"/>
          </a:p>
        </p:txBody>
      </p:sp>
      <p:sp>
        <p:nvSpPr>
          <p:cNvPr id="77" name="Google Shape;7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Allow attacker remote access to victim machine</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Common types: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Reverse shell</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RAT </a:t>
            </a:r>
            <a:r>
              <a:rPr lang="en-GB">
                <a:solidFill>
                  <a:schemeClr val="dk1"/>
                </a:solidFill>
              </a:rPr>
              <a:t>(Remote Access Trojan)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Botnets</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2.1. Reverse SHELL</a:t>
            </a:r>
            <a:endParaRPr b="1"/>
          </a:p>
        </p:txBody>
      </p:sp>
      <p:sp>
        <p:nvSpPr>
          <p:cNvPr id="83" name="Google Shape;83;p18"/>
          <p:cNvSpPr txBox="1"/>
          <p:nvPr>
            <p:ph idx="1" type="body"/>
          </p:nvPr>
        </p:nvSpPr>
        <p:spPr>
          <a:xfrm>
            <a:off x="311700" y="1152475"/>
            <a:ext cx="8520600" cy="39186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AutoNum type="arabicPeriod"/>
            </a:pPr>
            <a:r>
              <a:rPr lang="en-GB">
                <a:solidFill>
                  <a:schemeClr val="dk1"/>
                </a:solidFill>
              </a:rPr>
              <a:t>Connection initiated by victim</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Bypasses inbound firewall rules</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Common tool: Netcat.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rPr lang="en-GB" sz="1000">
                <a:solidFill>
                  <a:schemeClr val="dk1"/>
                </a:solidFill>
              </a:rPr>
              <a:t>Attacker Machine</a:t>
            </a:r>
            <a:endParaRPr sz="10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457200" lvl="0" marL="0" rtl="0" algn="l">
              <a:spcBef>
                <a:spcPts val="1200"/>
              </a:spcBef>
              <a:spcAft>
                <a:spcPts val="0"/>
              </a:spcAft>
              <a:buNone/>
            </a:pPr>
            <a:r>
              <a:rPr lang="en-GB" sz="1000">
                <a:solidFill>
                  <a:schemeClr val="dk1"/>
                </a:solidFill>
              </a:rPr>
              <a:t>Victim Machine:</a:t>
            </a:r>
            <a:endParaRPr sz="1000">
              <a:solidFill>
                <a:schemeClr val="dk1"/>
              </a:solidFill>
            </a:endParaRPr>
          </a:p>
          <a:p>
            <a:pPr indent="0" lvl="0" marL="0" rtl="0" algn="l">
              <a:spcBef>
                <a:spcPts val="1200"/>
              </a:spcBef>
              <a:spcAft>
                <a:spcPts val="1200"/>
              </a:spcAft>
              <a:buNone/>
            </a:pPr>
            <a:r>
              <a:t/>
            </a:r>
            <a:endParaRPr sz="1200">
              <a:solidFill>
                <a:schemeClr val="dk1"/>
              </a:solidFill>
            </a:endParaRPr>
          </a:p>
        </p:txBody>
      </p:sp>
      <p:pic>
        <p:nvPicPr>
          <p:cNvPr id="84" name="Google Shape;84;p18"/>
          <p:cNvPicPr preferRelativeResize="0"/>
          <p:nvPr/>
        </p:nvPicPr>
        <p:blipFill>
          <a:blip r:embed="rId3">
            <a:alphaModFix/>
          </a:blip>
          <a:stretch>
            <a:fillRect/>
          </a:stretch>
        </p:blipFill>
        <p:spPr>
          <a:xfrm>
            <a:off x="584288" y="2440500"/>
            <a:ext cx="1857375" cy="781050"/>
          </a:xfrm>
          <a:prstGeom prst="rect">
            <a:avLst/>
          </a:prstGeom>
          <a:noFill/>
          <a:ln>
            <a:noFill/>
          </a:ln>
        </p:spPr>
      </p:pic>
      <p:pic>
        <p:nvPicPr>
          <p:cNvPr id="85" name="Google Shape;85;p18"/>
          <p:cNvPicPr preferRelativeResize="0"/>
          <p:nvPr/>
        </p:nvPicPr>
        <p:blipFill>
          <a:blip r:embed="rId4">
            <a:alphaModFix/>
          </a:blip>
          <a:stretch>
            <a:fillRect/>
          </a:stretch>
        </p:blipFill>
        <p:spPr>
          <a:xfrm>
            <a:off x="263450" y="3474250"/>
            <a:ext cx="3257550" cy="876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2.2. RATS</a:t>
            </a:r>
            <a:endParaRPr b="1"/>
          </a:p>
        </p:txBody>
      </p:sp>
      <p:sp>
        <p:nvSpPr>
          <p:cNvPr id="91" name="Google Shape;91;p19"/>
          <p:cNvSpPr txBox="1"/>
          <p:nvPr>
            <p:ph idx="1" type="body"/>
          </p:nvPr>
        </p:nvSpPr>
        <p:spPr>
          <a:xfrm>
            <a:off x="311700" y="1017725"/>
            <a:ext cx="8520600" cy="3835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GB" sz="1600">
                <a:solidFill>
                  <a:schemeClr val="dk1"/>
                </a:solidFill>
              </a:rPr>
              <a:t>A RAT(</a:t>
            </a:r>
            <a:r>
              <a:rPr lang="en-GB" sz="1600">
                <a:solidFill>
                  <a:schemeClr val="dk1"/>
                </a:solidFill>
              </a:rPr>
              <a:t>remote access trojan</a:t>
            </a:r>
            <a:r>
              <a:rPr lang="en-GB" sz="1600">
                <a:solidFill>
                  <a:schemeClr val="dk1"/>
                </a:solidFill>
              </a:rPr>
              <a:t>) is used to remotely manage a computer or computers. RATs are often used in targeted attacks with specific goals, such as stealing information or moving laterally across a network.</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rPr lang="en-GB" sz="1600">
                <a:solidFill>
                  <a:schemeClr val="dk1"/>
                </a:solidFill>
              </a:rPr>
              <a:t>                               </a:t>
            </a:r>
            <a:r>
              <a:rPr lang="en-GB" sz="1100">
                <a:solidFill>
                  <a:schemeClr val="dk1"/>
                </a:solidFill>
              </a:rPr>
              <a:t>RAT network structure</a:t>
            </a:r>
            <a:endParaRPr sz="1100">
              <a:solidFill>
                <a:schemeClr val="dk1"/>
              </a:solidFill>
            </a:endParaRPr>
          </a:p>
        </p:txBody>
      </p:sp>
      <p:pic>
        <p:nvPicPr>
          <p:cNvPr id="92" name="Google Shape;92;p19"/>
          <p:cNvPicPr preferRelativeResize="0"/>
          <p:nvPr/>
        </p:nvPicPr>
        <p:blipFill>
          <a:blip r:embed="rId3">
            <a:alphaModFix/>
          </a:blip>
          <a:stretch>
            <a:fillRect/>
          </a:stretch>
        </p:blipFill>
        <p:spPr>
          <a:xfrm>
            <a:off x="311700" y="1939572"/>
            <a:ext cx="5090525" cy="26292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2.3. </a:t>
            </a:r>
            <a:r>
              <a:rPr b="1" lang="en-GB"/>
              <a:t>Botnets</a:t>
            </a:r>
            <a:endParaRPr b="1"/>
          </a:p>
        </p:txBody>
      </p:sp>
      <p:sp>
        <p:nvSpPr>
          <p:cNvPr id="98" name="Google Shape;98;p20"/>
          <p:cNvSpPr txBox="1"/>
          <p:nvPr>
            <p:ph idx="1" type="body"/>
          </p:nvPr>
        </p:nvSpPr>
        <p:spPr>
          <a:xfrm>
            <a:off x="311700" y="1152475"/>
            <a:ext cx="8520600" cy="382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A botnet is a collection of compromised hosts, known as zombies, that are controlled by a single entity, usually through the use of a server known as a botnet controller. </a:t>
            </a:r>
            <a:endParaRPr>
              <a:solidFill>
                <a:schemeClr val="dk1"/>
              </a:solidFill>
            </a:endParaRPr>
          </a:p>
          <a:p>
            <a:pPr indent="0" lvl="0" marL="0" rtl="0" algn="l">
              <a:spcBef>
                <a:spcPts val="1200"/>
              </a:spcBef>
              <a:spcAft>
                <a:spcPts val="0"/>
              </a:spcAft>
              <a:buNone/>
            </a:pPr>
            <a:r>
              <a:rPr lang="en-GB">
                <a:solidFill>
                  <a:schemeClr val="dk1"/>
                </a:solidFill>
              </a:rPr>
              <a:t>Difference </a:t>
            </a:r>
            <a:r>
              <a:rPr lang="en-GB">
                <a:solidFill>
                  <a:schemeClr val="dk1"/>
                </a:solidFill>
              </a:rPr>
              <a:t>between</a:t>
            </a:r>
            <a:r>
              <a:rPr lang="en-GB">
                <a:solidFill>
                  <a:schemeClr val="dk1"/>
                </a:solidFill>
              </a:rPr>
              <a:t> Botnets and RATs:</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Botnets have been known to infect and control millions of hosts. RATs typically control far fewer hosts.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All botnets are controlled at once. RATs are controlled on a per-victim basis because the attacker is interacting with the host at a much more intimate level.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RATs are used in targeted attacks. Botnets are used in mass attacks.</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3. Credential Stealers</a:t>
            </a:r>
            <a:endParaRPr b="1"/>
          </a:p>
        </p:txBody>
      </p:sp>
      <p:sp>
        <p:nvSpPr>
          <p:cNvPr id="104" name="Google Shape;104;p21"/>
          <p:cNvSpPr txBox="1"/>
          <p:nvPr>
            <p:ph idx="1" type="body"/>
          </p:nvPr>
        </p:nvSpPr>
        <p:spPr>
          <a:xfrm>
            <a:off x="311700" y="1152475"/>
            <a:ext cx="8520600" cy="390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Steal authentication material</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Techniques: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Keylogging (GetAsyncKeyState, hooks)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Hash dumping (LSASS access)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GINA interception (older Windows)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						</a:t>
            </a:r>
            <a:r>
              <a:rPr lang="en-GB" sz="1000">
                <a:solidFill>
                  <a:schemeClr val="dk1"/>
                </a:solidFill>
              </a:rPr>
              <a:t>GINA Interception</a:t>
            </a:r>
            <a:endParaRPr sz="1000">
              <a:solidFill>
                <a:schemeClr val="dk1"/>
              </a:solidFill>
            </a:endParaRPr>
          </a:p>
        </p:txBody>
      </p:sp>
      <p:pic>
        <p:nvPicPr>
          <p:cNvPr id="105" name="Google Shape;105;p21"/>
          <p:cNvPicPr preferRelativeResize="0"/>
          <p:nvPr/>
        </p:nvPicPr>
        <p:blipFill>
          <a:blip r:embed="rId3">
            <a:alphaModFix/>
          </a:blip>
          <a:stretch>
            <a:fillRect/>
          </a:stretch>
        </p:blipFill>
        <p:spPr>
          <a:xfrm>
            <a:off x="311688" y="3303338"/>
            <a:ext cx="6276975" cy="790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Persistence Mechanisms</a:t>
            </a:r>
            <a:endParaRPr b="1"/>
          </a:p>
        </p:txBody>
      </p:sp>
      <p:sp>
        <p:nvSpPr>
          <p:cNvPr id="111" name="Google Shape;111;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Malware survives reboot</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Common methods: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Registry-based persistence</a:t>
            </a:r>
            <a:r>
              <a:rPr lang="en-GB" sz="1000">
                <a:solidFill>
                  <a:schemeClr val="dk1"/>
                </a:solidFill>
              </a:rPr>
              <a:t>(startup apps)</a:t>
            </a:r>
            <a:endParaRPr sz="1000">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Trojanized system binaries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DLL load-order hijacking</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Privilege Escalation</a:t>
            </a:r>
            <a:endParaRPr b="1"/>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Malware tries to gain higher privileges.</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It done using </a:t>
            </a:r>
            <a:r>
              <a:rPr lang="en-GB">
                <a:solidFill>
                  <a:schemeClr val="dk1"/>
                </a:solidFill>
              </a:rPr>
              <a:t>Enabling </a:t>
            </a:r>
            <a:r>
              <a:rPr lang="en-GB">
                <a:solidFill>
                  <a:srgbClr val="188038"/>
                </a:solidFill>
              </a:rPr>
              <a:t>SeDebugPrivilege</a:t>
            </a:r>
            <a:r>
              <a:rPr lang="en-GB">
                <a:solidFill>
                  <a:schemeClr val="dk1"/>
                </a:solidFill>
              </a:rPr>
              <a: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18" name="Google Shape;118;p23"/>
          <p:cNvPicPr preferRelativeResize="0"/>
          <p:nvPr/>
        </p:nvPicPr>
        <p:blipFill>
          <a:blip r:embed="rId3">
            <a:alphaModFix/>
          </a:blip>
          <a:stretch>
            <a:fillRect/>
          </a:stretch>
        </p:blipFill>
        <p:spPr>
          <a:xfrm>
            <a:off x="4827227" y="1122925"/>
            <a:ext cx="4316775" cy="3944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Covering Tracks (User-Mode Rootkits)</a:t>
            </a:r>
            <a:endParaRPr b="1"/>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Hides malware artifacts</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Techniques: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IAT hooking</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Inline hooking</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Goal: evade detection tools</a:t>
            </a:r>
            <a:endParaRPr>
              <a:solidFill>
                <a:schemeClr val="dk1"/>
              </a:solidFill>
            </a:endParaRPr>
          </a:p>
          <a:p>
            <a:pPr indent="0" lvl="0" marL="0" rtl="0" algn="l">
              <a:spcBef>
                <a:spcPts val="0"/>
              </a:spcBef>
              <a:spcAft>
                <a:spcPts val="1200"/>
              </a:spcAft>
              <a:buNone/>
            </a:pPr>
            <a:r>
              <a:t/>
            </a:r>
            <a:endParaRPr>
              <a:solidFill>
                <a:schemeClr val="dk1"/>
              </a:solidFill>
            </a:endParaRPr>
          </a:p>
        </p:txBody>
      </p:sp>
      <p:pic>
        <p:nvPicPr>
          <p:cNvPr id="125" name="Google Shape;125;p24"/>
          <p:cNvPicPr preferRelativeResize="0"/>
          <p:nvPr/>
        </p:nvPicPr>
        <p:blipFill>
          <a:blip r:embed="rId3">
            <a:alphaModFix/>
          </a:blip>
          <a:stretch>
            <a:fillRect/>
          </a:stretch>
        </p:blipFill>
        <p:spPr>
          <a:xfrm>
            <a:off x="3114625" y="1152475"/>
            <a:ext cx="5893275" cy="1756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t>CHAPTER-12</a:t>
            </a:r>
            <a:endParaRPr b="1"/>
          </a:p>
          <a:p>
            <a:pPr indent="0" lvl="0" marL="0" rtl="0" algn="ctr">
              <a:spcBef>
                <a:spcPts val="0"/>
              </a:spcBef>
              <a:spcAft>
                <a:spcPts val="0"/>
              </a:spcAft>
              <a:buNone/>
            </a:pPr>
            <a:r>
              <a:rPr b="1" lang="en-GB"/>
              <a:t> </a:t>
            </a:r>
            <a:r>
              <a:rPr lang="en-GB"/>
              <a:t>Covert Malware Launching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Why Covert Launching?</a:t>
            </a:r>
            <a:endParaRPr b="1"/>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Avoid detection by security tools</a:t>
            </a:r>
            <a:endParaRPr>
              <a:solidFill>
                <a:schemeClr val="dk1"/>
              </a:solidFill>
            </a:endParaRPr>
          </a:p>
          <a:p>
            <a:pPr indent="0" lvl="0" marL="0" rtl="0" algn="l">
              <a:spcBef>
                <a:spcPts val="1200"/>
              </a:spcBef>
              <a:spcAft>
                <a:spcPts val="1200"/>
              </a:spcAft>
              <a:buNone/>
            </a:pPr>
            <a:r>
              <a:rPr lang="en-GB">
                <a:solidFill>
                  <a:schemeClr val="dk1"/>
                </a:solidFill>
              </a:rPr>
              <a:t>Hide execution inside legitimate processes</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Process Injection</a:t>
            </a:r>
            <a:endParaRPr b="1"/>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Malware code runs inside another process</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Benefits: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Blends with trusted processes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Bypasses firewalls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DLL Injection</a:t>
            </a:r>
            <a:endParaRPr b="1"/>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Force process to load malicious DLL</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Common steps:</a:t>
            </a:r>
            <a:endParaRPr>
              <a:solidFill>
                <a:schemeClr val="dk1"/>
              </a:solidFill>
            </a:endParaRPr>
          </a:p>
          <a:p>
            <a:pPr indent="-298450" lvl="0" marL="457200" rtl="0" algn="l">
              <a:spcBef>
                <a:spcPts val="1200"/>
              </a:spcBef>
              <a:spcAft>
                <a:spcPts val="0"/>
              </a:spcAft>
              <a:buClr>
                <a:schemeClr val="dk1"/>
              </a:buClr>
              <a:buSzPts val="1100"/>
              <a:buChar char="●"/>
            </a:pPr>
            <a:r>
              <a:rPr lang="en-GB">
                <a:solidFill>
                  <a:schemeClr val="dk1"/>
                </a:solidFill>
              </a:rPr>
              <a:t>OpenProcess</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WriteProcessMemory</a:t>
            </a:r>
            <a:endParaRPr>
              <a:solidFill>
                <a:schemeClr val="dk1"/>
              </a:solidFill>
            </a:endParaRPr>
          </a:p>
          <a:p>
            <a:pPr indent="-298450" lvl="0" marL="457200" rtl="0" algn="l">
              <a:spcBef>
                <a:spcPts val="0"/>
              </a:spcBef>
              <a:spcAft>
                <a:spcPts val="0"/>
              </a:spcAft>
              <a:buClr>
                <a:schemeClr val="dk1"/>
              </a:buClr>
              <a:buSzPts val="1100"/>
              <a:buChar char="●"/>
            </a:pPr>
            <a:r>
              <a:rPr lang="en-GB">
                <a:solidFill>
                  <a:srgbClr val="188038"/>
                </a:solidFill>
              </a:rPr>
              <a:t>CreateRemoteThread</a:t>
            </a:r>
            <a:r>
              <a:rPr lang="en-GB">
                <a:solidFill>
                  <a:schemeClr val="dk1"/>
                </a:solidFill>
              </a:rPr>
              <a:t> + </a:t>
            </a:r>
            <a:r>
              <a:rPr lang="en-GB">
                <a:solidFill>
                  <a:srgbClr val="188038"/>
                </a:solidFill>
              </a:rPr>
              <a:t>LoadLibrary</a:t>
            </a:r>
            <a:endParaRPr>
              <a:solidFill>
                <a:srgbClr val="188038"/>
              </a:solidFill>
            </a:endParaRPr>
          </a:p>
          <a:p>
            <a:pPr indent="0" lvl="0" marL="0" rtl="0" algn="l">
              <a:spcBef>
                <a:spcPts val="1200"/>
              </a:spcBef>
              <a:spcAft>
                <a:spcPts val="1200"/>
              </a:spcAft>
              <a:buNone/>
            </a:pPr>
            <a:r>
              <a:t/>
            </a:r>
            <a:endParaRPr>
              <a:solidFill>
                <a:schemeClr val="dk1"/>
              </a:solidFill>
            </a:endParaRPr>
          </a:p>
        </p:txBody>
      </p:sp>
      <p:pic>
        <p:nvPicPr>
          <p:cNvPr id="149" name="Google Shape;149;p28"/>
          <p:cNvPicPr preferRelativeResize="0"/>
          <p:nvPr/>
        </p:nvPicPr>
        <p:blipFill>
          <a:blip r:embed="rId3">
            <a:alphaModFix/>
          </a:blip>
          <a:stretch>
            <a:fillRect/>
          </a:stretch>
        </p:blipFill>
        <p:spPr>
          <a:xfrm>
            <a:off x="4832775" y="1017725"/>
            <a:ext cx="4311225" cy="22929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Hook Injection</a:t>
            </a:r>
            <a:endParaRPr b="1"/>
          </a:p>
        </p:txBody>
      </p:sp>
      <p:sp>
        <p:nvSpPr>
          <p:cNvPr id="155" name="Google Shape;15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Use Windows hooks (SetWindowsHookEx)</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Often used for keylogging</a:t>
            </a:r>
            <a:endParaRPr>
              <a:solidFill>
                <a:schemeClr val="dk1"/>
              </a:solidFill>
            </a:endParaRPr>
          </a:p>
          <a:p>
            <a:pPr indent="0" lvl="0" marL="0" rtl="0" algn="l">
              <a:spcBef>
                <a:spcPts val="1200"/>
              </a:spcBef>
              <a:spcAft>
                <a:spcPts val="1200"/>
              </a:spcAft>
              <a:buNone/>
            </a:pPr>
            <a:r>
              <a:rPr lang="en-GB">
                <a:solidFill>
                  <a:schemeClr val="dk1"/>
                </a:solidFill>
              </a:rPr>
              <a:t>Can target local or remote threads</a:t>
            </a:r>
            <a:endParaRPr>
              <a:solidFill>
                <a:schemeClr val="dk1"/>
              </a:solidFill>
            </a:endParaRPr>
          </a:p>
        </p:txBody>
      </p:sp>
      <p:pic>
        <p:nvPicPr>
          <p:cNvPr id="156" name="Google Shape;156;p29"/>
          <p:cNvPicPr preferRelativeResize="0"/>
          <p:nvPr/>
        </p:nvPicPr>
        <p:blipFill>
          <a:blip r:embed="rId3">
            <a:alphaModFix/>
          </a:blip>
          <a:stretch>
            <a:fillRect/>
          </a:stretch>
        </p:blipFill>
        <p:spPr>
          <a:xfrm>
            <a:off x="4791853" y="823175"/>
            <a:ext cx="4352146" cy="3745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Direct Injection</a:t>
            </a:r>
            <a:endParaRPr b="1"/>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Inject raw shellcode</a:t>
            </a:r>
            <a:endParaRPr>
              <a:solidFill>
                <a:schemeClr val="dk1"/>
              </a:solidFill>
            </a:endParaRPr>
          </a:p>
          <a:p>
            <a:pPr indent="0" lvl="0" marL="0" rtl="0" algn="l">
              <a:spcBef>
                <a:spcPts val="1200"/>
              </a:spcBef>
              <a:spcAft>
                <a:spcPts val="0"/>
              </a:spcAft>
              <a:buClr>
                <a:schemeClr val="dk1"/>
              </a:buClr>
              <a:buSzPts val="1100"/>
              <a:buFont typeface="Arial"/>
              <a:buNone/>
            </a:pPr>
            <a:r>
              <a:rPr lang="en-GB">
                <a:solidFill>
                  <a:schemeClr val="dk1"/>
                </a:solidFill>
              </a:rPr>
              <a:t>No DLL on disk</a:t>
            </a:r>
            <a:endParaRPr>
              <a:solidFill>
                <a:schemeClr val="dk1"/>
              </a:solidFill>
            </a:endParaRPr>
          </a:p>
          <a:p>
            <a:pPr indent="0" lvl="0" marL="0" rtl="0" algn="l">
              <a:spcBef>
                <a:spcPts val="1200"/>
              </a:spcBef>
              <a:spcAft>
                <a:spcPts val="1200"/>
              </a:spcAft>
              <a:buNone/>
            </a:pPr>
            <a:r>
              <a:rPr lang="en-GB">
                <a:solidFill>
                  <a:schemeClr val="dk1"/>
                </a:solidFill>
              </a:rPr>
              <a:t>Harder to detect and </a:t>
            </a:r>
            <a:r>
              <a:rPr lang="en-GB">
                <a:solidFill>
                  <a:schemeClr val="dk1"/>
                </a:solidFill>
              </a:rPr>
              <a:t>implement</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Process Replacement or Process Hollowing</a:t>
            </a:r>
            <a:endParaRPr b="1"/>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a:solidFill>
                  <a:schemeClr val="dk1"/>
                </a:solidFill>
              </a:rPr>
              <a:t>A covert malware execution technique in which a legitimate process is created in a suspended state, its memory is unmapped, and replaced with malicious executable code. The process is then resumed, causing the malware to run under the identity of the legitimate process.</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69" name="Google Shape;169;p31"/>
          <p:cNvPicPr preferRelativeResize="0"/>
          <p:nvPr/>
        </p:nvPicPr>
        <p:blipFill>
          <a:blip r:embed="rId3">
            <a:alphaModFix/>
          </a:blip>
          <a:stretch>
            <a:fillRect/>
          </a:stretch>
        </p:blipFill>
        <p:spPr>
          <a:xfrm>
            <a:off x="3406500" y="2445900"/>
            <a:ext cx="5737500" cy="2697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12-1	</a:t>
            </a:r>
            <a:endParaRPr b="1"/>
          </a:p>
        </p:txBody>
      </p:sp>
      <p:sp>
        <p:nvSpPr>
          <p:cNvPr id="175" name="Google Shape;17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700">
                <a:solidFill>
                  <a:schemeClr val="dk1"/>
                </a:solidFill>
              </a:rPr>
              <a:t>Q1-What happens when you run the malware executable?</a:t>
            </a:r>
            <a:endParaRPr b="1" sz="1700">
              <a:solidFill>
                <a:schemeClr val="dk1"/>
              </a:solidFill>
            </a:endParaRPr>
          </a:p>
          <a:p>
            <a:pPr indent="0" lvl="0" marL="0" rtl="0" algn="l">
              <a:spcBef>
                <a:spcPts val="400"/>
              </a:spcBef>
              <a:spcAft>
                <a:spcPts val="0"/>
              </a:spcAft>
              <a:buNone/>
            </a:pPr>
            <a:r>
              <a:rPr lang="en-GB">
                <a:solidFill>
                  <a:schemeClr val="dk1"/>
                </a:solidFill>
              </a:rPr>
              <a:t>After you run the malware, pop-up messages are displayed on the screen every minute.</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76" name="Google Shape;176;p32"/>
          <p:cNvPicPr preferRelativeResize="0"/>
          <p:nvPr/>
        </p:nvPicPr>
        <p:blipFill>
          <a:blip r:embed="rId3">
            <a:alphaModFix/>
          </a:blip>
          <a:stretch>
            <a:fillRect/>
          </a:stretch>
        </p:blipFill>
        <p:spPr>
          <a:xfrm>
            <a:off x="2343150" y="2532063"/>
            <a:ext cx="4457700" cy="657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12-1	</a:t>
            </a:r>
            <a:endParaRPr b="1"/>
          </a:p>
        </p:txBody>
      </p:sp>
      <p:sp>
        <p:nvSpPr>
          <p:cNvPr id="182" name="Google Shape;18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700">
                <a:solidFill>
                  <a:schemeClr val="dk1"/>
                </a:solidFill>
              </a:rPr>
              <a:t>Q2-</a:t>
            </a:r>
            <a:r>
              <a:rPr b="1" lang="en-GB" sz="1700">
                <a:solidFill>
                  <a:schemeClr val="dk1"/>
                </a:solidFill>
              </a:rPr>
              <a:t>What process is being injected?</a:t>
            </a:r>
            <a:endParaRPr b="1" sz="1700">
              <a:solidFill>
                <a:schemeClr val="dk1"/>
              </a:solidFill>
            </a:endParaRPr>
          </a:p>
          <a:p>
            <a:pPr indent="0" lvl="0" marL="0" rtl="0" algn="l">
              <a:spcBef>
                <a:spcPts val="400"/>
              </a:spcBef>
              <a:spcAft>
                <a:spcPts val="0"/>
              </a:spcAft>
              <a:buNone/>
            </a:pPr>
            <a:r>
              <a:rPr lang="en-GB">
                <a:solidFill>
                  <a:schemeClr val="dk1"/>
                </a:solidFill>
              </a:rPr>
              <a:t>The process being injected is </a:t>
            </a:r>
            <a:r>
              <a:rPr lang="en-GB"/>
              <a:t>cinnamon</a:t>
            </a:r>
            <a:r>
              <a:rPr lang="en-GB">
                <a:solidFill>
                  <a:schemeClr val="dk1"/>
                </a:solidFill>
              </a:rPr>
              <a: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GB">
                <a:solidFill>
                  <a:schemeClr val="dk1"/>
                </a:solidFill>
              </a:rPr>
              <a:t>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83" name="Google Shape;183;p33"/>
          <p:cNvPicPr preferRelativeResize="0"/>
          <p:nvPr/>
        </p:nvPicPr>
        <p:blipFill>
          <a:blip r:embed="rId3">
            <a:alphaModFix/>
          </a:blip>
          <a:stretch>
            <a:fillRect/>
          </a:stretch>
        </p:blipFill>
        <p:spPr>
          <a:xfrm>
            <a:off x="3081325" y="2374900"/>
            <a:ext cx="2981325" cy="9715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12-1	</a:t>
            </a:r>
            <a:endParaRPr b="1"/>
          </a:p>
        </p:txBody>
      </p:sp>
      <p:sp>
        <p:nvSpPr>
          <p:cNvPr id="189" name="Google Shape;18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700">
                <a:solidFill>
                  <a:schemeClr val="dk1"/>
                </a:solidFill>
              </a:rPr>
              <a:t>Q3-</a:t>
            </a:r>
            <a:r>
              <a:rPr b="1" lang="en-GB" sz="1700">
                <a:solidFill>
                  <a:schemeClr val="dk1"/>
                </a:solidFill>
              </a:rPr>
              <a:t>How can you make the malware stop the pop-ups</a:t>
            </a:r>
            <a:r>
              <a:rPr b="1" lang="en-GB" sz="1700">
                <a:solidFill>
                  <a:schemeClr val="dk1"/>
                </a:solidFill>
              </a:rPr>
              <a:t>?</a:t>
            </a:r>
            <a:endParaRPr b="1" sz="1700">
              <a:solidFill>
                <a:schemeClr val="dk1"/>
              </a:solidFill>
            </a:endParaRPr>
          </a:p>
          <a:p>
            <a:pPr indent="0" lvl="0" marL="0" rtl="0" algn="l">
              <a:spcBef>
                <a:spcPts val="400"/>
              </a:spcBef>
              <a:spcAft>
                <a:spcPts val="0"/>
              </a:spcAft>
              <a:buNone/>
            </a:pPr>
            <a:r>
              <a:rPr lang="en-GB">
                <a:solidFill>
                  <a:schemeClr val="dk1"/>
                </a:solidFill>
              </a:rPr>
              <a:t>Restarting the computer stops the malware. It doesn't have a persistence mechanism</a:t>
            </a:r>
            <a:r>
              <a:rPr lang="en-GB">
                <a:solidFill>
                  <a:schemeClr val="dk1"/>
                </a:solidFill>
              </a:rPr>
              <a:t>. Or killing the process also stops the pop-ups.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190" name="Google Shape;190;p34"/>
          <p:cNvPicPr preferRelativeResize="0"/>
          <p:nvPr/>
        </p:nvPicPr>
        <p:blipFill>
          <a:blip r:embed="rId3">
            <a:alphaModFix/>
          </a:blip>
          <a:stretch>
            <a:fillRect/>
          </a:stretch>
        </p:blipFill>
        <p:spPr>
          <a:xfrm>
            <a:off x="311699" y="2161675"/>
            <a:ext cx="7521125" cy="3103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12-1	</a:t>
            </a:r>
            <a:endParaRPr b="1"/>
          </a:p>
        </p:txBody>
      </p:sp>
      <p:sp>
        <p:nvSpPr>
          <p:cNvPr id="196" name="Google Shape;196;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GB" sz="1700">
                <a:solidFill>
                  <a:schemeClr val="dk1"/>
                </a:solidFill>
              </a:rPr>
              <a:t>Q4-</a:t>
            </a:r>
            <a:r>
              <a:rPr b="1" lang="en-GB" sz="1700">
                <a:solidFill>
                  <a:schemeClr val="dk1"/>
                </a:solidFill>
              </a:rPr>
              <a:t>How does this malware operate</a:t>
            </a:r>
            <a:r>
              <a:rPr b="1" lang="en-GB" sz="1700">
                <a:solidFill>
                  <a:schemeClr val="dk1"/>
                </a:solidFill>
              </a:rPr>
              <a:t>?</a:t>
            </a:r>
            <a:endParaRPr b="1" sz="1700">
              <a:solidFill>
                <a:schemeClr val="dk1"/>
              </a:solidFill>
            </a:endParaRPr>
          </a:p>
          <a:p>
            <a:pPr indent="0" lvl="0" marL="0" rtl="0" algn="l">
              <a:spcBef>
                <a:spcPts val="1200"/>
              </a:spcBef>
              <a:spcAft>
                <a:spcPts val="0"/>
              </a:spcAft>
              <a:buClr>
                <a:schemeClr val="dk1"/>
              </a:buClr>
              <a:buSzPts val="1100"/>
              <a:buFont typeface="Arial"/>
              <a:buNone/>
            </a:pPr>
            <a:r>
              <a:rPr lang="en-GB" sz="1700">
                <a:solidFill>
                  <a:schemeClr val="dk1"/>
                </a:solidFill>
              </a:rPr>
              <a:t>The malware operates using a </a:t>
            </a:r>
            <a:r>
              <a:rPr b="1" lang="en-GB" sz="1700">
                <a:solidFill>
                  <a:schemeClr val="dk1"/>
                </a:solidFill>
              </a:rPr>
              <a:t>covert launching technique</a:t>
            </a:r>
            <a:r>
              <a:rPr lang="en-GB" sz="1700">
                <a:solidFill>
                  <a:schemeClr val="dk1"/>
                </a:solidFill>
              </a:rPr>
              <a:t>:</a:t>
            </a:r>
            <a:endParaRPr sz="1700">
              <a:solidFill>
                <a:schemeClr val="dk1"/>
              </a:solidFill>
            </a:endParaRPr>
          </a:p>
          <a:p>
            <a:pPr indent="-368300" lvl="0" marL="457200" rtl="0" algn="l">
              <a:spcBef>
                <a:spcPts val="1200"/>
              </a:spcBef>
              <a:spcAft>
                <a:spcPts val="0"/>
              </a:spcAft>
              <a:buClr>
                <a:schemeClr val="dk1"/>
              </a:buClr>
              <a:buSzPts val="2200"/>
              <a:buAutoNum type="arabicPeriod"/>
            </a:pPr>
            <a:r>
              <a:rPr lang="en-GB" sz="1600">
                <a:solidFill>
                  <a:schemeClr val="dk1"/>
                </a:solidFill>
              </a:rPr>
              <a:t>Loops through running processes</a:t>
            </a:r>
            <a:endParaRPr sz="1600">
              <a:solidFill>
                <a:schemeClr val="dk1"/>
              </a:solidFill>
            </a:endParaRPr>
          </a:p>
          <a:p>
            <a:pPr indent="-368300" lvl="0" marL="457200" rtl="0" algn="l">
              <a:spcBef>
                <a:spcPts val="0"/>
              </a:spcBef>
              <a:spcAft>
                <a:spcPts val="0"/>
              </a:spcAft>
              <a:buClr>
                <a:schemeClr val="dk1"/>
              </a:buClr>
              <a:buSzPts val="2200"/>
              <a:buAutoNum type="arabicPeriod"/>
            </a:pPr>
            <a:r>
              <a:rPr lang="en-GB" sz="1600">
                <a:solidFill>
                  <a:schemeClr val="dk1"/>
                </a:solidFill>
              </a:rPr>
              <a:t>Searches for a trusted desktop process</a:t>
            </a:r>
            <a:endParaRPr sz="1600">
              <a:solidFill>
                <a:schemeClr val="dk1"/>
              </a:solidFill>
            </a:endParaRPr>
          </a:p>
          <a:p>
            <a:pPr indent="-368300" lvl="0" marL="457200" rtl="0" algn="l">
              <a:spcBef>
                <a:spcPts val="0"/>
              </a:spcBef>
              <a:spcAft>
                <a:spcPts val="0"/>
              </a:spcAft>
              <a:buClr>
                <a:schemeClr val="dk1"/>
              </a:buClr>
              <a:buSzPts val="2200"/>
              <a:buAutoNum type="arabicPeriod"/>
            </a:pPr>
            <a:r>
              <a:rPr lang="en-GB" sz="1600">
                <a:solidFill>
                  <a:schemeClr val="dk1"/>
                </a:solidFill>
              </a:rPr>
              <a:t>Conditionally launches the payload after verifying the trusted process</a:t>
            </a:r>
            <a:endParaRPr sz="1600">
              <a:solidFill>
                <a:schemeClr val="dk1"/>
              </a:solidFill>
            </a:endParaRPr>
          </a:p>
          <a:p>
            <a:pPr indent="-368300" lvl="0" marL="457200" rtl="0" algn="l">
              <a:spcBef>
                <a:spcPts val="0"/>
              </a:spcBef>
              <a:spcAft>
                <a:spcPts val="0"/>
              </a:spcAft>
              <a:buClr>
                <a:schemeClr val="dk1"/>
              </a:buClr>
              <a:buSzPts val="2200"/>
              <a:buAutoNum type="arabicPeriod"/>
            </a:pPr>
            <a:r>
              <a:rPr lang="en-GB" sz="1600">
                <a:solidFill>
                  <a:schemeClr val="dk1"/>
                </a:solidFill>
              </a:rPr>
              <a:t>Payload executes malicious behavior (pop-ups)</a:t>
            </a:r>
            <a:endParaRPr sz="1600">
              <a:solidFill>
                <a:schemeClr val="dk1"/>
              </a:solidFill>
            </a:endParaRPr>
          </a:p>
          <a:p>
            <a:pPr indent="-368300" lvl="0" marL="457200" rtl="0" algn="l">
              <a:spcBef>
                <a:spcPts val="0"/>
              </a:spcBef>
              <a:spcAft>
                <a:spcPts val="0"/>
              </a:spcAft>
              <a:buClr>
                <a:schemeClr val="dk1"/>
              </a:buClr>
              <a:buSzPts val="2200"/>
              <a:buAutoNum type="arabicPeriod"/>
            </a:pPr>
            <a:r>
              <a:rPr lang="en-GB" sz="1600">
                <a:solidFill>
                  <a:schemeClr val="dk1"/>
                </a:solidFill>
              </a:rPr>
              <a:t>No persistence is established</a:t>
            </a:r>
            <a:endParaRPr sz="22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idx="1" type="body"/>
          </p:nvPr>
        </p:nvSpPr>
        <p:spPr>
          <a:xfrm>
            <a:off x="311700" y="2268450"/>
            <a:ext cx="8520600" cy="606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GB" sz="2400">
                <a:solidFill>
                  <a:schemeClr val="dk1"/>
                </a:solidFill>
              </a:rPr>
              <a:t>ANY Question?</a:t>
            </a:r>
            <a:endParaRPr b="1" sz="24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idx="1" type="body"/>
          </p:nvPr>
        </p:nvSpPr>
        <p:spPr>
          <a:xfrm>
            <a:off x="311700" y="2268450"/>
            <a:ext cx="8520600" cy="6066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GB" sz="2400">
                <a:solidFill>
                  <a:schemeClr val="dk1"/>
                </a:solidFill>
              </a:rPr>
              <a:t>THANK YOU!!</a:t>
            </a:r>
            <a:endParaRPr b="1" sz="24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12" name="Google Shape;212;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Q1.</a:t>
            </a:r>
            <a:r>
              <a:rPr lang="en-GB">
                <a:solidFill>
                  <a:schemeClr val="dk1"/>
                </a:solidFill>
              </a:rPr>
              <a:t> What does the malware drop to disk?</a:t>
            </a:r>
            <a:endParaRPr>
              <a:solidFill>
                <a:schemeClr val="dk1"/>
              </a:solidFill>
            </a:endParaRPr>
          </a:p>
          <a:p>
            <a:pPr indent="0" lvl="0" marL="0" rtl="0" algn="l">
              <a:spcBef>
                <a:spcPts val="1200"/>
              </a:spcBef>
              <a:spcAft>
                <a:spcPts val="0"/>
              </a:spcAft>
              <a:buNone/>
            </a:pPr>
            <a:r>
              <a:rPr b="1" lang="en-GB">
                <a:solidFill>
                  <a:schemeClr val="dk1"/>
                </a:solidFill>
              </a:rPr>
              <a:t>Answer:</a:t>
            </a:r>
            <a:r>
              <a:rPr lang="en-GB">
                <a:solidFill>
                  <a:schemeClr val="dk1"/>
                </a:solidFill>
              </a:rPr>
              <a:t> The malware extracts and drops the file </a:t>
            </a:r>
            <a:r>
              <a:rPr lang="en-GB"/>
              <a:t>msgina32.dll</a:t>
            </a:r>
            <a:r>
              <a:rPr lang="en-GB">
                <a:solidFill>
                  <a:schemeClr val="dk1"/>
                </a:solidFill>
              </a:rPr>
              <a:t> onto disk from a resource section named TGAD.</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13" name="Google Shape;213;p38"/>
          <p:cNvPicPr preferRelativeResize="0"/>
          <p:nvPr/>
        </p:nvPicPr>
        <p:blipFill>
          <a:blip r:embed="rId3">
            <a:alphaModFix/>
          </a:blip>
          <a:stretch>
            <a:fillRect/>
          </a:stretch>
        </p:blipFill>
        <p:spPr>
          <a:xfrm>
            <a:off x="3931650" y="2006075"/>
            <a:ext cx="4900650" cy="2610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19" name="Google Shape;21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By using Procmon, we can see that </a:t>
            </a:r>
            <a:r>
              <a:rPr lang="en-GB"/>
              <a:t>msgina32.dll</a:t>
            </a:r>
            <a:r>
              <a:rPr lang="en-GB">
                <a:solidFill>
                  <a:schemeClr val="dk1"/>
                </a:solidFill>
              </a:rPr>
              <a:t> sets up a registry key to specify the custom GINA DLL be used during logon</a:t>
            </a:r>
            <a:endParaRPr>
              <a:solidFill>
                <a:schemeClr val="dk1"/>
              </a:solidFill>
            </a:endParaRPr>
          </a:p>
        </p:txBody>
      </p:sp>
      <p:pic>
        <p:nvPicPr>
          <p:cNvPr id="220" name="Google Shape;220;p39"/>
          <p:cNvPicPr preferRelativeResize="0"/>
          <p:nvPr/>
        </p:nvPicPr>
        <p:blipFill>
          <a:blip r:embed="rId3">
            <a:alphaModFix/>
          </a:blip>
          <a:stretch>
            <a:fillRect/>
          </a:stretch>
        </p:blipFill>
        <p:spPr>
          <a:xfrm>
            <a:off x="311700" y="1152475"/>
            <a:ext cx="4924950" cy="457875"/>
          </a:xfrm>
          <a:prstGeom prst="rect">
            <a:avLst/>
          </a:prstGeom>
          <a:noFill/>
          <a:ln>
            <a:noFill/>
          </a:ln>
        </p:spPr>
      </p:pic>
      <p:pic>
        <p:nvPicPr>
          <p:cNvPr id="221" name="Google Shape;221;p39"/>
          <p:cNvPicPr preferRelativeResize="0"/>
          <p:nvPr/>
        </p:nvPicPr>
        <p:blipFill>
          <a:blip r:embed="rId4">
            <a:alphaModFix/>
          </a:blip>
          <a:stretch>
            <a:fillRect/>
          </a:stretch>
        </p:blipFill>
        <p:spPr>
          <a:xfrm>
            <a:off x="311700" y="2571749"/>
            <a:ext cx="7726975" cy="1167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27" name="Google Shape;22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Q2. How does the malware achieve persistence?</a:t>
            </a:r>
            <a:endParaRPr>
              <a:solidFill>
                <a:schemeClr val="dk1"/>
              </a:solidFill>
            </a:endParaRPr>
          </a:p>
          <a:p>
            <a:pPr indent="0" lvl="0" marL="0" rtl="0" algn="l">
              <a:spcBef>
                <a:spcPts val="1200"/>
              </a:spcBef>
              <a:spcAft>
                <a:spcPts val="0"/>
              </a:spcAft>
              <a:buNone/>
            </a:pPr>
            <a:r>
              <a:rPr b="1" lang="en-GB">
                <a:solidFill>
                  <a:schemeClr val="dk1"/>
                </a:solidFill>
              </a:rPr>
              <a:t>Answer:</a:t>
            </a:r>
            <a:r>
              <a:rPr lang="en-GB">
                <a:solidFill>
                  <a:schemeClr val="dk1"/>
                </a:solidFill>
              </a:rPr>
              <a:t> The malware installs </a:t>
            </a:r>
            <a:r>
              <a:rPr lang="en-GB"/>
              <a:t>msgina32.dll</a:t>
            </a:r>
            <a:r>
              <a:rPr lang="en-GB">
                <a:solidFill>
                  <a:schemeClr val="dk1"/>
                </a:solidFill>
              </a:rPr>
              <a:t> as a GINA DLL by adding it to the registry location </a:t>
            </a:r>
            <a:r>
              <a:rPr lang="en-GB" sz="1500">
                <a:solidFill>
                  <a:srgbClr val="188038"/>
                </a:solidFill>
              </a:rPr>
              <a:t>HKLM\SOFTWARE\Microsoft\WindowsNT\CurrentVersion\Winlogon\GinaDLL</a:t>
            </a:r>
            <a:r>
              <a:rPr lang="en-GB">
                <a:solidFill>
                  <a:schemeClr val="dk1"/>
                </a:solidFill>
              </a:rPr>
              <a:t>, which causes the DLL to be loaded after system reboot.</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33" name="Google Shape;233;p41"/>
          <p:cNvSpPr txBox="1"/>
          <p:nvPr>
            <p:ph idx="1" type="body"/>
          </p:nvPr>
        </p:nvSpPr>
        <p:spPr>
          <a:xfrm>
            <a:off x="311700" y="11405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Q-3</a:t>
            </a:r>
            <a:r>
              <a:rPr lang="en-GB">
                <a:solidFill>
                  <a:schemeClr val="dk1"/>
                </a:solidFill>
              </a:rPr>
              <a:t> </a:t>
            </a:r>
            <a:r>
              <a:rPr lang="en-GB">
                <a:solidFill>
                  <a:schemeClr val="dk1"/>
                </a:solidFill>
              </a:rPr>
              <a:t>How does the malware steal user credentials?</a:t>
            </a:r>
            <a:endParaRPr>
              <a:solidFill>
                <a:schemeClr val="dk1"/>
              </a:solidFill>
            </a:endParaRPr>
          </a:p>
          <a:p>
            <a:pPr indent="0" lvl="0" marL="0" rtl="0" algn="l">
              <a:spcBef>
                <a:spcPts val="1200"/>
              </a:spcBef>
              <a:spcAft>
                <a:spcPts val="0"/>
              </a:spcAft>
              <a:buNone/>
            </a:pPr>
            <a:r>
              <a:rPr lang="en-GB">
                <a:solidFill>
                  <a:schemeClr val="dk1"/>
                </a:solidFill>
              </a:rPr>
              <a:t>The malware steals user credentials by performing GINA interception</a:t>
            </a:r>
            <a:r>
              <a:rPr lang="en-GB"/>
              <a:t>.</a:t>
            </a:r>
            <a:endParaRPr/>
          </a:p>
          <a:p>
            <a:pPr indent="0" lvl="0" marL="0" rtl="0" algn="l">
              <a:spcBef>
                <a:spcPts val="1200"/>
              </a:spcBef>
              <a:spcAft>
                <a:spcPts val="1200"/>
              </a:spcAft>
              <a:buNone/>
            </a:pPr>
            <a:r>
              <a:rPr lang="en-GB">
                <a:solidFill>
                  <a:schemeClr val="dk1"/>
                </a:solidFill>
              </a:rPr>
              <a:t>It implements </a:t>
            </a:r>
            <a:r>
              <a:rPr lang="en-GB">
                <a:solidFill>
                  <a:srgbClr val="188038"/>
                </a:solidFill>
                <a:latin typeface="Roboto Mono"/>
                <a:ea typeface="Roboto Mono"/>
                <a:cs typeface="Roboto Mono"/>
                <a:sym typeface="Roboto Mono"/>
              </a:rPr>
              <a:t>WlxLoggedOutSAS </a:t>
            </a:r>
            <a:r>
              <a:rPr lang="en-GB">
                <a:solidFill>
                  <a:schemeClr val="dk1"/>
                </a:solidFill>
                <a:latin typeface="Roboto Mono"/>
                <a:ea typeface="Roboto Mono"/>
                <a:cs typeface="Roboto Mono"/>
                <a:sym typeface="Roboto Mono"/>
              </a:rPr>
              <a:t>which copies the </a:t>
            </a:r>
            <a:r>
              <a:rPr lang="en-GB">
                <a:latin typeface="Roboto Mono"/>
                <a:ea typeface="Roboto Mono"/>
                <a:cs typeface="Roboto Mono"/>
                <a:sym typeface="Roboto Mono"/>
              </a:rPr>
              <a:t>username</a:t>
            </a:r>
            <a:r>
              <a:rPr lang="en-GB">
                <a:solidFill>
                  <a:schemeClr val="dk1"/>
                </a:solidFill>
                <a:latin typeface="Roboto Mono"/>
                <a:ea typeface="Roboto Mono"/>
                <a:cs typeface="Roboto Mono"/>
                <a:sym typeface="Roboto Mono"/>
              </a:rPr>
              <a:t>, </a:t>
            </a:r>
            <a:r>
              <a:rPr lang="en-GB">
                <a:latin typeface="Roboto Mono"/>
                <a:ea typeface="Roboto Mono"/>
                <a:cs typeface="Roboto Mono"/>
                <a:sym typeface="Roboto Mono"/>
              </a:rPr>
              <a:t>domain</a:t>
            </a:r>
            <a:r>
              <a:rPr lang="en-GB">
                <a:solidFill>
                  <a:schemeClr val="dk1"/>
                </a:solidFill>
                <a:latin typeface="Roboto Mono"/>
                <a:ea typeface="Roboto Mono"/>
                <a:cs typeface="Roboto Mono"/>
                <a:sym typeface="Roboto Mono"/>
              </a:rPr>
              <a:t> </a:t>
            </a:r>
            <a:r>
              <a:rPr lang="en-GB">
                <a:latin typeface="Roboto Mono"/>
                <a:ea typeface="Roboto Mono"/>
                <a:cs typeface="Roboto Mono"/>
                <a:sym typeface="Roboto Mono"/>
              </a:rPr>
              <a:t>old</a:t>
            </a:r>
            <a:r>
              <a:rPr lang="en-GB">
                <a:solidFill>
                  <a:schemeClr val="dk1"/>
                </a:solidFill>
                <a:latin typeface="Roboto Mono"/>
                <a:ea typeface="Roboto Mono"/>
                <a:cs typeface="Roboto Mono"/>
                <a:sym typeface="Roboto Mono"/>
              </a:rPr>
              <a:t> and </a:t>
            </a:r>
            <a:r>
              <a:rPr lang="en-GB">
                <a:latin typeface="Roboto Mono"/>
                <a:ea typeface="Roboto Mono"/>
                <a:cs typeface="Roboto Mono"/>
                <a:sym typeface="Roboto Mono"/>
              </a:rPr>
              <a:t>new passwords</a:t>
            </a:r>
            <a:r>
              <a:rPr lang="en-GB">
                <a:solidFill>
                  <a:schemeClr val="dk1"/>
                </a:solidFill>
                <a:latin typeface="Roboto Mono"/>
                <a:ea typeface="Roboto Mono"/>
                <a:cs typeface="Roboto Mono"/>
                <a:sym typeface="Roboto Mono"/>
              </a:rPr>
              <a:t>.</a:t>
            </a:r>
            <a:endParaRPr>
              <a:solidFill>
                <a:schemeClr val="dk1"/>
              </a:solidFill>
            </a:endParaRPr>
          </a:p>
        </p:txBody>
      </p:sp>
      <p:pic>
        <p:nvPicPr>
          <p:cNvPr id="234" name="Google Shape;234;p41"/>
          <p:cNvPicPr preferRelativeResize="0"/>
          <p:nvPr/>
        </p:nvPicPr>
        <p:blipFill>
          <a:blip r:embed="rId3">
            <a:alphaModFix/>
          </a:blip>
          <a:stretch>
            <a:fillRect/>
          </a:stretch>
        </p:blipFill>
        <p:spPr>
          <a:xfrm>
            <a:off x="4721325" y="2461725"/>
            <a:ext cx="4110975" cy="25782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40" name="Google Shape;240;p42"/>
          <p:cNvSpPr txBox="1"/>
          <p:nvPr>
            <p:ph idx="1" type="body"/>
          </p:nvPr>
        </p:nvSpPr>
        <p:spPr>
          <a:xfrm>
            <a:off x="311700" y="11405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Q-4</a:t>
            </a:r>
            <a:r>
              <a:rPr lang="en-GB">
                <a:solidFill>
                  <a:schemeClr val="dk1"/>
                </a:solidFill>
              </a:rPr>
              <a:t> </a:t>
            </a:r>
            <a:r>
              <a:rPr lang="en-GB">
                <a:solidFill>
                  <a:schemeClr val="dk1"/>
                </a:solidFill>
              </a:rPr>
              <a:t>What does the malware do with stolen credentials?</a:t>
            </a:r>
            <a:endParaRPr>
              <a:solidFill>
                <a:schemeClr val="dk1"/>
              </a:solidFill>
            </a:endParaRPr>
          </a:p>
          <a:p>
            <a:pPr indent="0" lvl="0" marL="0" rtl="0" algn="l">
              <a:spcBef>
                <a:spcPts val="1200"/>
              </a:spcBef>
              <a:spcAft>
                <a:spcPts val="1200"/>
              </a:spcAft>
              <a:buNone/>
            </a:pPr>
            <a:r>
              <a:rPr lang="en-GB">
                <a:solidFill>
                  <a:schemeClr val="dk1"/>
                </a:solidFill>
              </a:rPr>
              <a:t>Writes the user, domain, password, old password to the text file </a:t>
            </a:r>
            <a:r>
              <a:rPr lang="en-GB">
                <a:solidFill>
                  <a:srgbClr val="188038"/>
                </a:solidFill>
              </a:rPr>
              <a:t>C:\Windows\System32\msutil32.sys</a:t>
            </a:r>
            <a:r>
              <a:rPr lang="en-GB">
                <a:solidFill>
                  <a:schemeClr val="dk1"/>
                </a:solidFill>
              </a:rPr>
              <a:t>.</a:t>
            </a:r>
            <a:endParaRPr>
              <a:solidFill>
                <a:schemeClr val="dk1"/>
              </a:solidFill>
            </a:endParaRPr>
          </a:p>
        </p:txBody>
      </p:sp>
      <p:pic>
        <p:nvPicPr>
          <p:cNvPr id="241" name="Google Shape;241;p42"/>
          <p:cNvPicPr preferRelativeResize="0"/>
          <p:nvPr/>
        </p:nvPicPr>
        <p:blipFill>
          <a:blip r:embed="rId3">
            <a:alphaModFix/>
          </a:blip>
          <a:stretch>
            <a:fillRect/>
          </a:stretch>
        </p:blipFill>
        <p:spPr>
          <a:xfrm>
            <a:off x="350571" y="2646071"/>
            <a:ext cx="3740149" cy="1712450"/>
          </a:xfrm>
          <a:prstGeom prst="rect">
            <a:avLst/>
          </a:prstGeom>
          <a:noFill/>
          <a:ln>
            <a:noFill/>
          </a:ln>
        </p:spPr>
      </p:pic>
      <p:sp>
        <p:nvSpPr>
          <p:cNvPr id="242" name="Google Shape;242;p42"/>
          <p:cNvSpPr/>
          <p:nvPr/>
        </p:nvSpPr>
        <p:spPr>
          <a:xfrm>
            <a:off x="4186150" y="3258550"/>
            <a:ext cx="547200" cy="333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pic>
        <p:nvPicPr>
          <p:cNvPr id="243" name="Google Shape;243;p42"/>
          <p:cNvPicPr preferRelativeResize="0"/>
          <p:nvPr/>
        </p:nvPicPr>
        <p:blipFill>
          <a:blip r:embed="rId4">
            <a:alphaModFix/>
          </a:blip>
          <a:stretch>
            <a:fillRect/>
          </a:stretch>
        </p:blipFill>
        <p:spPr>
          <a:xfrm>
            <a:off x="5018825" y="2165310"/>
            <a:ext cx="2516675" cy="2673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LAB 11-1</a:t>
            </a:r>
            <a:endParaRPr b="1"/>
          </a:p>
        </p:txBody>
      </p:sp>
      <p:sp>
        <p:nvSpPr>
          <p:cNvPr id="249" name="Google Shape;249;p43"/>
          <p:cNvSpPr txBox="1"/>
          <p:nvPr>
            <p:ph idx="1" type="body"/>
          </p:nvPr>
        </p:nvSpPr>
        <p:spPr>
          <a:xfrm>
            <a:off x="311700" y="11405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solidFill>
                  <a:schemeClr val="dk1"/>
                </a:solidFill>
              </a:rPr>
              <a:t>Q-5</a:t>
            </a:r>
            <a:r>
              <a:rPr lang="en-GB">
                <a:solidFill>
                  <a:schemeClr val="dk1"/>
                </a:solidFill>
              </a:rPr>
              <a:t> </a:t>
            </a:r>
            <a:r>
              <a:rPr lang="en-GB">
                <a:solidFill>
                  <a:schemeClr val="dk1"/>
                </a:solidFill>
              </a:rPr>
              <a:t>How can you use this malware to get user credentials from your test environment?</a:t>
            </a:r>
            <a:endParaRPr>
              <a:solidFill>
                <a:schemeClr val="dk1"/>
              </a:solidFill>
            </a:endParaRPr>
          </a:p>
          <a:p>
            <a:pPr indent="0" lvl="0" marL="0" rtl="0" algn="l">
              <a:spcBef>
                <a:spcPts val="1200"/>
              </a:spcBef>
              <a:spcAft>
                <a:spcPts val="1200"/>
              </a:spcAft>
              <a:buNone/>
            </a:pPr>
            <a:r>
              <a:rPr lang="en-GB">
                <a:solidFill>
                  <a:schemeClr val="dk1"/>
                </a:solidFill>
              </a:rPr>
              <a:t>Once the malware is dropped and installed, there must be a system reboot for the GINA interception to begin. The malware logs credentials only when the user logs out, so log out and back in to see your credentials in the log file.</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