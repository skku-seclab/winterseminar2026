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1.xml" ContentType="application/vnd.openxmlformats-officedocument.presentationml.notesSlide+xml"/>
  <Override PartName="/ppt/ink/ink10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3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38.xml" ContentType="application/vnd.openxmlformats-officedocument.presentationml.notesSlide+xml"/>
  <Override PartName="/ppt/ink/ink15.xml" ContentType="application/inkml+xml"/>
  <Override PartName="/ppt/notesSlides/notesSlide39.xml" ContentType="application/vnd.openxmlformats-officedocument.presentationml.notesSlide+xml"/>
  <Override PartName="/ppt/ink/ink16.xml" ContentType="application/inkml+xml"/>
  <Override PartName="/ppt/notesSlides/notesSlide40.xml" ContentType="application/vnd.openxmlformats-officedocument.presentationml.notesSlide+xml"/>
  <Override PartName="/ppt/ink/ink17.xml" ContentType="application/inkml+xml"/>
  <Override PartName="/ppt/notesSlides/notesSlide41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5"/>
  </p:notesMasterIdLst>
  <p:sldIdLst>
    <p:sldId id="258" r:id="rId2"/>
    <p:sldId id="341" r:id="rId3"/>
    <p:sldId id="392" r:id="rId4"/>
    <p:sldId id="339" r:id="rId5"/>
    <p:sldId id="342" r:id="rId6"/>
    <p:sldId id="354" r:id="rId7"/>
    <p:sldId id="348" r:id="rId8"/>
    <p:sldId id="343" r:id="rId9"/>
    <p:sldId id="344" r:id="rId10"/>
    <p:sldId id="345" r:id="rId11"/>
    <p:sldId id="346" r:id="rId12"/>
    <p:sldId id="349" r:id="rId13"/>
    <p:sldId id="350" r:id="rId14"/>
    <p:sldId id="352" r:id="rId15"/>
    <p:sldId id="362" r:id="rId16"/>
    <p:sldId id="357" r:id="rId17"/>
    <p:sldId id="363" r:id="rId18"/>
    <p:sldId id="360" r:id="rId19"/>
    <p:sldId id="361" r:id="rId20"/>
    <p:sldId id="368" r:id="rId21"/>
    <p:sldId id="365" r:id="rId22"/>
    <p:sldId id="369" r:id="rId23"/>
    <p:sldId id="366" r:id="rId24"/>
    <p:sldId id="367" r:id="rId25"/>
    <p:sldId id="364" r:id="rId26"/>
    <p:sldId id="370" r:id="rId27"/>
    <p:sldId id="338" r:id="rId28"/>
    <p:sldId id="383" r:id="rId29"/>
    <p:sldId id="372" r:id="rId30"/>
    <p:sldId id="385" r:id="rId31"/>
    <p:sldId id="371" r:id="rId32"/>
    <p:sldId id="378" r:id="rId33"/>
    <p:sldId id="373" r:id="rId34"/>
    <p:sldId id="379" r:id="rId35"/>
    <p:sldId id="386" r:id="rId36"/>
    <p:sldId id="387" r:id="rId37"/>
    <p:sldId id="380" r:id="rId38"/>
    <p:sldId id="381" r:id="rId39"/>
    <p:sldId id="388" r:id="rId40"/>
    <p:sldId id="382" r:id="rId41"/>
    <p:sldId id="389" r:id="rId42"/>
    <p:sldId id="390" r:id="rId43"/>
    <p:sldId id="391" r:id="rId4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B1730-777B-4D28-A5EE-2819314B86E9}" v="517" dt="2025-12-09T06:06:06.141"/>
    <p1510:client id="{396FBADD-EAD8-49C7-8DCF-19DF03AA7208}" v="2118" dt="2025-12-09T08:01:27.714"/>
    <p1510:client id="{471E595C-9B5E-4391-8AA6-EB6DB83DDB2A}" v="60" dt="2025-12-09T14:04:30.243"/>
    <p1510:client id="{488FC38D-01D2-FE3B-25BC-FACB69E28D72}" v="16" dt="2025-12-09T07:23:18.245"/>
    <p1510:client id="{4E1559BF-3942-4D1C-AD05-7AD81FE53905}" v="511" dt="2025-12-10T14:18:08.657"/>
    <p1510:client id="{59BE038B-B12A-7B78-AF2C-473626337020}" v="765" dt="2025-12-10T10:28:19.460"/>
    <p1510:client id="{62E71A8E-483E-41F3-8D6D-2BD31533DC5E}" v="543" dt="2025-12-10T07:54:32.363"/>
    <p1510:client id="{6706B12A-EB99-4593-BA06-CBE7CB1A4606}" v="16" dt="2025-12-10T12:54:14.422"/>
    <p1510:client id="{7D796F6F-5880-44DD-9A6C-65F3834B3842}" v="341" dt="2025-12-10T10:14:07.940"/>
    <p1510:client id="{9ACD0F6D-82E4-E0D2-6757-B00AEA23FC95}" v="159" dt="2025-12-10T13:44:16.659"/>
    <p1510:client id="{C14AD928-62ED-4030-AF2E-7C8B56839675}" v="198" dt="2025-12-10T10:27:20.628"/>
    <p1510:client id="{CAF7C92E-1B3E-DC16-92A6-2327616A7AD8}" v="177" dt="2025-12-10T14:19:54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0" autoAdjust="0"/>
    <p:restoredTop sz="79636" autoAdjust="0"/>
  </p:normalViewPr>
  <p:slideViewPr>
    <p:cSldViewPr snapToGrid="0">
      <p:cViewPr varScale="1">
        <p:scale>
          <a:sx n="57" d="100"/>
          <a:sy n="57" d="100"/>
        </p:scale>
        <p:origin x="148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1:51:34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29.9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10186 0 24392,'-10186'952'0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36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0 0 24119,'10186'964'0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43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43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44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46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46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0:43:51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1:36:49.9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0,'7369'0'0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8:03:07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0,'7885'0'0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8:03:25.4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0,'7885'0'0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8:11:00.9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0,'2753'0'0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8:15:04.54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0,'2947'0'0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8:24:55.33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0,'11523'0'0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20:00:40.4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0,'4771'0'0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20:07:07.9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0,'2908'0'0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20:07:07.9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0,'2908'0'0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20:29:02.57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0,'9108'0'0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36495-DC0D-4CAB-99CF-2BC91B7B4E6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743950" y="6513910"/>
            <a:ext cx="397934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937ED-931D-40D0-A52B-9D3119F262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41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Part3</a:t>
            </a:r>
            <a:r>
              <a:rPr lang="ko-KR" altLang="en-US" dirty="0"/>
              <a:t>로 넘어와서</a:t>
            </a:r>
            <a:r>
              <a:rPr lang="ko-KR" altLang="en-US" baseline="0" dirty="0"/>
              <a:t> </a:t>
            </a:r>
            <a:r>
              <a:rPr lang="ko-KR" altLang="en-US" dirty="0"/>
              <a:t>동적 분석 과정에 대한 설명이 이어집니다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369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D8058-3E9C-8173-82BA-F7164135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EC68BE-B908-9F8B-0032-53A2C39F7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31E6A7-A97E-468E-CEC6-8EC491CB3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그리하여 </a:t>
            </a:r>
            <a:r>
              <a:rPr lang="en-US" altLang="ko-KR" dirty="0" err="1"/>
              <a:t>Chaper</a:t>
            </a:r>
            <a:r>
              <a:rPr lang="en-US" altLang="ko-KR" dirty="0"/>
              <a:t> 8</a:t>
            </a:r>
            <a:r>
              <a:rPr lang="ko-KR" altLang="en-US" dirty="0"/>
              <a:t>은 </a:t>
            </a:r>
            <a:r>
              <a:rPr lang="en-US" altLang="ko-KR" dirty="0"/>
              <a:t>Debugging</a:t>
            </a:r>
            <a:r>
              <a:rPr lang="ko-KR" altLang="en-US" dirty="0"/>
              <a:t>에 대한 단원입니다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851D8-961A-8BE2-961D-FA2E3C33F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254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02D7-F9F6-688B-A9D7-7E9C9CAF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3DAAEE-40DB-889F-6A67-EC248D8FA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8132FB-8981-CE9F-A7FB-CA3A27E9C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디버거는</a:t>
            </a:r>
            <a:r>
              <a:rPr lang="ko-KR" altLang="en-US" dirty="0"/>
              <a:t> 프로그램이 실행되는 동안 그 내부를 들여다보고 제어할 수 있게 해주는 도구입니다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정적 분석 도구인 </a:t>
            </a:r>
            <a:r>
              <a:rPr lang="ko-KR" altLang="en-US" dirty="0" err="1"/>
              <a:t>디셈블러가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사진</a:t>
            </a:r>
            <a:r>
              <a:rPr lang="en-US" altLang="ko-KR" dirty="0"/>
              <a:t>'</a:t>
            </a:r>
            <a:r>
              <a:rPr lang="ko-KR" altLang="en-US" dirty="0"/>
              <a:t>이라면</a:t>
            </a:r>
            <a:r>
              <a:rPr lang="en-US" altLang="ko-KR" dirty="0"/>
              <a:t>, </a:t>
            </a:r>
            <a:r>
              <a:rPr lang="ko-KR" altLang="en-US" dirty="0" err="1"/>
              <a:t>디버거는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동영상</a:t>
            </a:r>
            <a:r>
              <a:rPr lang="en-US" altLang="ko-KR" dirty="0"/>
              <a:t>'</a:t>
            </a:r>
            <a:r>
              <a:rPr lang="ko-KR" altLang="en-US" dirty="0"/>
              <a:t>과 같습니다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실행 중인 메모리 값이나 레지스터를 실시간으로 확인하고</a:t>
            </a:r>
            <a:r>
              <a:rPr lang="en-US" altLang="ko-KR" dirty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심지어 값을 중간에 바꿔서 코드의 흐름을 조작할 수도 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악성코드 분석가에게는 실제 동작을 확인할 수 있는 가장 강력한 도구입니다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FADAE-D16B-E1E8-F6F2-B0BA18E3B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86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02D7-F9F6-688B-A9D7-7E9C9CAF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3DAAEE-40DB-889F-6A67-EC248D8FA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8132FB-8981-CE9F-A7FB-CA3A27E9C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 err="1"/>
              <a:t>디버거는</a:t>
            </a:r>
            <a:r>
              <a:rPr lang="ko-KR" altLang="en-US" dirty="0"/>
              <a:t> 크게 두 가지 기준으로 나뉩니다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첫째는 코드 레벨입니다</a:t>
            </a:r>
            <a:r>
              <a:rPr lang="en-US" altLang="ko-KR" dirty="0"/>
              <a:t>. </a:t>
            </a:r>
            <a:r>
              <a:rPr lang="ko-KR" altLang="en-US" dirty="0"/>
              <a:t>개발자는 소스 코드를 보며 디버깅하지만</a:t>
            </a:r>
            <a:r>
              <a:rPr lang="en-US" altLang="ko-KR" dirty="0"/>
              <a:t>, </a:t>
            </a:r>
            <a:r>
              <a:rPr lang="ko-KR" altLang="en-US" dirty="0"/>
              <a:t>우리는 소스가 없기 때문에 어셈블리 레벨 </a:t>
            </a:r>
            <a:r>
              <a:rPr lang="ko-KR" altLang="en-US" dirty="0" err="1"/>
              <a:t>디버거를</a:t>
            </a:r>
            <a:r>
              <a:rPr lang="ko-KR" altLang="en-US" dirty="0"/>
              <a:t> 사용합니다</a:t>
            </a:r>
            <a:r>
              <a:rPr lang="en-US" altLang="ko-KR" dirty="0"/>
              <a:t>. </a:t>
            </a:r>
            <a:r>
              <a:rPr lang="ko-KR" altLang="en-US" dirty="0"/>
              <a:t>둘째는 권한 레벨입니다</a:t>
            </a:r>
            <a:r>
              <a:rPr lang="en-US" altLang="ko-KR" dirty="0"/>
              <a:t>. </a:t>
            </a:r>
            <a:r>
              <a:rPr lang="ko-KR" altLang="en-US" dirty="0"/>
              <a:t>일반적인 </a:t>
            </a:r>
            <a:r>
              <a:rPr lang="ko-KR" altLang="en-US" dirty="0" err="1"/>
              <a:t>앱은</a:t>
            </a:r>
            <a:r>
              <a:rPr lang="ko-KR" altLang="en-US" dirty="0"/>
              <a:t> 유저 모드에서 분석하지만</a:t>
            </a:r>
            <a:r>
              <a:rPr lang="en-US" altLang="ko-KR" dirty="0"/>
              <a:t>, OS</a:t>
            </a:r>
            <a:r>
              <a:rPr lang="ko-KR" altLang="en-US" dirty="0"/>
              <a:t>나 드라이버를 건드리는 악성코드는 </a:t>
            </a:r>
            <a:r>
              <a:rPr lang="ko-KR" altLang="en-US" dirty="0" err="1"/>
              <a:t>커널</a:t>
            </a:r>
            <a:r>
              <a:rPr lang="ko-KR" altLang="en-US" dirty="0"/>
              <a:t> 디버깅이 필요합니다</a:t>
            </a:r>
            <a:r>
              <a:rPr lang="en-US" altLang="ko-KR" dirty="0"/>
              <a:t>. </a:t>
            </a:r>
            <a:r>
              <a:rPr lang="ko-KR" altLang="en-US" dirty="0" err="1"/>
              <a:t>커널</a:t>
            </a:r>
            <a:r>
              <a:rPr lang="ko-KR" altLang="en-US" dirty="0"/>
              <a:t> 디버깅은 시스템 전체가 멈추기 때문에 보통 두 대의 </a:t>
            </a:r>
            <a:r>
              <a:rPr lang="en-US" altLang="ko-KR" dirty="0"/>
              <a:t>PC</a:t>
            </a:r>
            <a:r>
              <a:rPr lang="ko-KR" altLang="en-US" dirty="0"/>
              <a:t>를 연결해서 분석하며</a:t>
            </a:r>
            <a:r>
              <a:rPr lang="en-US" altLang="ko-KR" dirty="0"/>
              <a:t>, </a:t>
            </a:r>
            <a:r>
              <a:rPr lang="ko-KR" altLang="en-US" dirty="0"/>
              <a:t>이때 </a:t>
            </a:r>
            <a:r>
              <a:rPr lang="en-US" altLang="ko-KR" dirty="0" err="1"/>
              <a:t>WinDbg</a:t>
            </a:r>
            <a:r>
              <a:rPr lang="ko-KR" altLang="en-US" dirty="0"/>
              <a:t>를 주로 사용합니다</a:t>
            </a:r>
            <a:r>
              <a:rPr lang="en-US" altLang="ko-KR" dirty="0"/>
              <a:t>."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FADAE-D16B-E1E8-F6F2-B0BA18E3B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368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27DB-8765-F939-BFB3-E6356F75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712AC1-084B-7AA5-0755-20358CF6D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CF67A-EE49-F815-98AE-A8BE4E452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디버깅을 시작하는 건 간단합니다</a:t>
            </a:r>
            <a:r>
              <a:rPr lang="en-US" altLang="ko-KR" dirty="0"/>
              <a:t>. </a:t>
            </a:r>
            <a:r>
              <a:rPr lang="ko-KR" altLang="en-US" dirty="0"/>
              <a:t>처음부터 실행하거나</a:t>
            </a:r>
            <a:r>
              <a:rPr lang="en-US" altLang="ko-KR" dirty="0"/>
              <a:t>(Start), </a:t>
            </a:r>
            <a:r>
              <a:rPr lang="ko-KR" altLang="en-US" dirty="0"/>
              <a:t>이미 실행 중인 프로세스에 붙거나</a:t>
            </a:r>
            <a:r>
              <a:rPr lang="en-US" altLang="ko-KR" dirty="0"/>
              <a:t>(Attach) </a:t>
            </a:r>
            <a:r>
              <a:rPr lang="ko-KR" altLang="en-US" dirty="0"/>
              <a:t>둘 중 하나죠</a:t>
            </a:r>
            <a:r>
              <a:rPr lang="en-US" altLang="ko-KR" dirty="0"/>
              <a:t>. </a:t>
            </a:r>
            <a:r>
              <a:rPr lang="ko-KR" altLang="en-US" dirty="0"/>
              <a:t>일단 시작하면 </a:t>
            </a:r>
            <a:r>
              <a:rPr lang="en-US" altLang="ko-KR" dirty="0"/>
              <a:t>'</a:t>
            </a:r>
            <a:r>
              <a:rPr lang="ko-KR" altLang="en-US" dirty="0" err="1"/>
              <a:t>싱글</a:t>
            </a:r>
            <a:r>
              <a:rPr lang="ko-KR" altLang="en-US" dirty="0"/>
              <a:t> </a:t>
            </a:r>
            <a:r>
              <a:rPr lang="ko-KR" altLang="en-US" dirty="0" err="1"/>
              <a:t>스테핑</a:t>
            </a:r>
            <a:r>
              <a:rPr lang="en-US" altLang="ko-KR" dirty="0"/>
              <a:t>'</a:t>
            </a:r>
            <a:r>
              <a:rPr lang="ko-KR" altLang="en-US" dirty="0"/>
              <a:t>을 통해 명령어를 한 줄씩 실행하며 프로그램 내부를 관찰합니다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방법은</a:t>
            </a:r>
            <a:r>
              <a:rPr lang="en-US" altLang="ko-KR" dirty="0"/>
              <a:t> </a:t>
            </a:r>
            <a:r>
              <a:rPr lang="ko-KR" altLang="en-US" dirty="0"/>
              <a:t>모든 코드를 한 줄씩 다 보면 분석이 끝도 없을</a:t>
            </a:r>
            <a:r>
              <a:rPr lang="en-US" altLang="ko-KR" baseline="0" dirty="0"/>
              <a:t> </a:t>
            </a:r>
            <a:r>
              <a:rPr lang="ko-KR" altLang="en-US" baseline="0" dirty="0"/>
              <a:t>수</a:t>
            </a:r>
            <a:r>
              <a:rPr lang="en-US" altLang="ko-KR" baseline="0" dirty="0"/>
              <a:t> </a:t>
            </a:r>
            <a:r>
              <a:rPr lang="ko-KR" altLang="en-US" baseline="0" dirty="0"/>
              <a:t>있으므로 </a:t>
            </a:r>
            <a:r>
              <a:rPr lang="ko-KR" altLang="en-US" dirty="0"/>
              <a:t>수상한 선택한 구간만 골라 분석하는 </a:t>
            </a:r>
            <a:r>
              <a:rPr lang="en-US" altLang="ko-KR" dirty="0"/>
              <a:t>'</a:t>
            </a:r>
            <a:r>
              <a:rPr lang="ko-KR" altLang="en-US" dirty="0"/>
              <a:t>선택과 집중</a:t>
            </a:r>
            <a:r>
              <a:rPr lang="en-US" altLang="ko-KR" dirty="0"/>
              <a:t>'</a:t>
            </a:r>
            <a:r>
              <a:rPr lang="ko-KR" altLang="en-US" dirty="0"/>
              <a:t>이 핵심입니다</a:t>
            </a:r>
            <a:r>
              <a:rPr lang="en-US" altLang="ko-KR" dirty="0"/>
              <a:t>. </a:t>
            </a:r>
            <a:r>
              <a:rPr lang="ko-KR" altLang="en-US" dirty="0"/>
              <a:t>예시를 보시면 왼쪽의 예시와 같은 경우</a:t>
            </a:r>
            <a:r>
              <a:rPr lang="en-US" altLang="ko-KR" dirty="0"/>
              <a:t>,</a:t>
            </a:r>
            <a:r>
              <a:rPr lang="ko-KR" altLang="en-US" dirty="0"/>
              <a:t> 루프를 돌며 </a:t>
            </a:r>
            <a:r>
              <a:rPr lang="en-US" altLang="ko-KR" dirty="0"/>
              <a:t>XOR </a:t>
            </a:r>
            <a:r>
              <a:rPr lang="ko-KR" altLang="en-US" dirty="0"/>
              <a:t>연산을 진행한다는 것을 알 수 있고</a:t>
            </a:r>
            <a:r>
              <a:rPr lang="en-US" altLang="ko-KR" dirty="0"/>
              <a:t>, 13</a:t>
            </a:r>
            <a:r>
              <a:rPr lang="ko-KR" altLang="en-US" dirty="0"/>
              <a:t>글자라는 것 정도는 알 수 있지만</a:t>
            </a:r>
            <a:r>
              <a:rPr lang="en-US" altLang="ko-KR" dirty="0"/>
              <a:t>, </a:t>
            </a:r>
            <a:r>
              <a:rPr lang="ko-KR" altLang="en-US" dirty="0"/>
              <a:t>이처럼 정적으로 보면 결과값처럼 의미 없는 데이터 덩어리만 보입니다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66513F-95D5-51B6-5421-432167709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387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7A2D-2EF6-F276-FF18-5C324D6EB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06C071-B784-54F6-8B8C-817879F11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25D307-D312-F87F-1E67-8AA353781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</a:t>
            </a:r>
            <a:r>
              <a:rPr lang="ko-KR" altLang="en-US" dirty="0" err="1"/>
              <a:t>디버거로</a:t>
            </a:r>
            <a:r>
              <a:rPr lang="ko-KR" altLang="en-US" dirty="0"/>
              <a:t> 이 루프를 한 줄씩 실행</a:t>
            </a:r>
            <a:r>
              <a:rPr lang="en-US" altLang="ko-KR" dirty="0"/>
              <a:t>(Single-step)</a:t>
            </a:r>
            <a:r>
              <a:rPr lang="ko-KR" altLang="en-US" dirty="0"/>
              <a:t>해보면 결과가 완전히 달라집니다</a:t>
            </a:r>
            <a:r>
              <a:rPr lang="en-US" altLang="ko-KR" dirty="0"/>
              <a:t>. Listing 8-2</a:t>
            </a:r>
            <a:r>
              <a:rPr lang="ko-KR" altLang="en-US" dirty="0"/>
              <a:t>에서 보시는 것처럼</a:t>
            </a:r>
            <a:r>
              <a:rPr lang="en-US" altLang="ko-KR" dirty="0"/>
              <a:t>, XOR </a:t>
            </a:r>
            <a:r>
              <a:rPr lang="ko-KR" altLang="en-US" dirty="0"/>
              <a:t>연산이 반복될 때마다 메모리 값이 실시간으로 변하면서 정적 분석에서는 꽁꽁 숨겨져 있던 </a:t>
            </a:r>
            <a:r>
              <a:rPr lang="en-US" altLang="ko-KR" dirty="0" err="1"/>
              <a:t>LoadLibraryA</a:t>
            </a:r>
            <a:r>
              <a:rPr lang="ko-KR" altLang="en-US" dirty="0"/>
              <a:t>라는 문자열이 선명하게 나타납니다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이처럼 디버깅은 난독화된 악성코드의 </a:t>
            </a:r>
            <a:r>
              <a:rPr lang="ko-KR" altLang="en-US" dirty="0" err="1"/>
              <a:t>본모습을</a:t>
            </a:r>
            <a:r>
              <a:rPr lang="ko-KR" altLang="en-US" dirty="0"/>
              <a:t> 확인하는 유용한 방입니다</a:t>
            </a:r>
            <a:r>
              <a:rPr lang="en-US" altLang="ko-KR" dirty="0"/>
              <a:t>."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32839-8B29-E1AE-2F23-EF711DDB9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690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624B8-5EA8-8ABA-041F-59162ABC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A9D26C-0F7B-39B4-9FE5-4FBBC7CFB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620E4D-A88D-1C18-2AC1-A6DC42847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Attaching</a:t>
            </a:r>
            <a:r>
              <a:rPr lang="ko-KR" altLang="en-US" dirty="0"/>
              <a:t>으로 넘어가서 </a:t>
            </a:r>
            <a:r>
              <a:rPr lang="en-US" altLang="ko-KR" dirty="0"/>
              <a:t>Running Process</a:t>
            </a:r>
            <a:r>
              <a:rPr lang="ko-KR" altLang="en-US" dirty="0"/>
              <a:t>에 </a:t>
            </a:r>
            <a:r>
              <a:rPr lang="en-US" altLang="ko-KR" dirty="0"/>
              <a:t>Attach</a:t>
            </a:r>
            <a:r>
              <a:rPr lang="ko-KR" altLang="en-US" dirty="0"/>
              <a:t>하여 살펴 </a:t>
            </a:r>
            <a:r>
              <a:rPr lang="ko-KR" altLang="en-US" dirty="0" err="1"/>
              <a:t>볼때는</a:t>
            </a:r>
            <a:r>
              <a:rPr lang="ko-KR" altLang="en-US" dirty="0"/>
              <a:t> 모든 함수 내부를 다 들어갈 필요는 없습니다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LoadLibrary</a:t>
            </a:r>
            <a:r>
              <a:rPr lang="en-US" altLang="ko-KR" dirty="0"/>
              <a:t> </a:t>
            </a:r>
            <a:r>
              <a:rPr lang="ko-KR" altLang="en-US" dirty="0"/>
              <a:t>같은 윈도우 표준 </a:t>
            </a:r>
            <a:r>
              <a:rPr lang="en-US" altLang="ko-KR" dirty="0"/>
              <a:t>API</a:t>
            </a:r>
            <a:r>
              <a:rPr lang="ko-KR" altLang="en-US" dirty="0"/>
              <a:t>는 굳이 안 봐도 되니 </a:t>
            </a:r>
            <a:r>
              <a:rPr lang="en-US" altLang="ko-KR" dirty="0"/>
              <a:t>'Step-Over'</a:t>
            </a:r>
            <a:r>
              <a:rPr lang="ko-KR" altLang="en-US" dirty="0"/>
              <a:t>로 건너뛰고</a:t>
            </a:r>
            <a:r>
              <a:rPr lang="en-US" altLang="ko-KR" dirty="0"/>
              <a:t>, </a:t>
            </a:r>
            <a:r>
              <a:rPr lang="ko-KR" altLang="en-US" dirty="0"/>
              <a:t>우리가 분석해야 할 수상한 함수는 </a:t>
            </a:r>
            <a:r>
              <a:rPr lang="en-US" altLang="ko-KR" dirty="0"/>
              <a:t>'Step-Into'</a:t>
            </a:r>
            <a:r>
              <a:rPr lang="ko-KR" altLang="en-US" dirty="0"/>
              <a:t>로 들어가서 확인합니다</a:t>
            </a:r>
            <a:r>
              <a:rPr lang="en-US" altLang="ko-KR" dirty="0"/>
              <a:t>. </a:t>
            </a:r>
            <a:r>
              <a:rPr lang="ko-KR" altLang="en-US" dirty="0"/>
              <a:t>만약 너무 깊게 들어갔다면 </a:t>
            </a:r>
            <a:r>
              <a:rPr lang="en-US" altLang="ko-KR" dirty="0"/>
              <a:t>'Step-Out'</a:t>
            </a:r>
            <a:r>
              <a:rPr lang="ko-KR" altLang="en-US" dirty="0"/>
              <a:t>으로 빠져나오면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이러한 </a:t>
            </a:r>
            <a:r>
              <a:rPr lang="ko-KR" altLang="en-US" dirty="0" err="1"/>
              <a:t>두가지</a:t>
            </a:r>
            <a:r>
              <a:rPr lang="ko-KR" altLang="en-US" dirty="0"/>
              <a:t> 방법 중 용도에 따라 </a:t>
            </a:r>
            <a:r>
              <a:rPr lang="en-US" altLang="ko-KR" dirty="0"/>
              <a:t>file </a:t>
            </a:r>
            <a:r>
              <a:rPr lang="ko-KR" altLang="en-US" dirty="0"/>
              <a:t>자체를 </a:t>
            </a:r>
            <a:r>
              <a:rPr lang="en-US" altLang="ko-KR" dirty="0"/>
              <a:t>open </a:t>
            </a:r>
            <a:r>
              <a:rPr lang="ko-KR" altLang="en-US" dirty="0"/>
              <a:t>하여 살펴 보거나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실행되고 있는 파일에 </a:t>
            </a:r>
            <a:r>
              <a:rPr lang="en-US" altLang="ko-KR" baseline="0" dirty="0"/>
              <a:t>attach</a:t>
            </a:r>
            <a:r>
              <a:rPr lang="ko-KR" altLang="en-US" baseline="0" dirty="0"/>
              <a:t>되어 분석을 진행할 수 있습니다</a:t>
            </a:r>
            <a:r>
              <a:rPr lang="en-US" altLang="ko-KR" baseline="0" dirty="0"/>
              <a:t>.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A539D9-D397-97E2-7601-1BE008DC1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90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2D6D-31DE-5091-4B5F-F8B58EC8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1CD5B2-9880-DBE5-68FE-F9C391E30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AEBD6D-00E3-F171-0F01-9777D40E8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Debugging </a:t>
            </a:r>
            <a:r>
              <a:rPr lang="ko-KR" altLang="en-US" dirty="0"/>
              <a:t>과정에서는 필요에 따라 </a:t>
            </a:r>
            <a:r>
              <a:rPr lang="en-US" altLang="ko-KR" dirty="0"/>
              <a:t>Breakpoints</a:t>
            </a:r>
            <a:r>
              <a:rPr lang="ko-KR" altLang="en-US" dirty="0"/>
              <a:t>를 사용할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Breakingpoints</a:t>
            </a:r>
            <a:r>
              <a:rPr lang="ko-KR" altLang="en-US" dirty="0"/>
              <a:t>는 실행 중인 프로그램을 특정 시점에 멈춰 세우는 장치입니다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프로그램이 돌아가고 있을 때는 레지스터나 메모리 값이 매우 빠른 속도로 변하기 때문에 우리가 실시간으로 확인할 수 없습니다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Breaking</a:t>
            </a:r>
            <a:r>
              <a:rPr lang="en-US" altLang="ko-KR" baseline="0" dirty="0"/>
              <a:t> Points</a:t>
            </a:r>
            <a:r>
              <a:rPr lang="ko-KR" altLang="en-US" baseline="0" dirty="0"/>
              <a:t>를</a:t>
            </a:r>
            <a:r>
              <a:rPr lang="ko-KR" altLang="en-US" dirty="0"/>
              <a:t> 걸어 프로그램을 </a:t>
            </a:r>
            <a:r>
              <a:rPr lang="ko-KR" altLang="en-US" baseline="0" dirty="0"/>
              <a:t>정지된 </a:t>
            </a:r>
            <a:r>
              <a:rPr lang="en-US" altLang="ko-KR" baseline="0" dirty="0"/>
              <a:t>Broken</a:t>
            </a:r>
            <a:r>
              <a:rPr lang="en-US" altLang="ko-KR" dirty="0"/>
              <a:t> </a:t>
            </a:r>
            <a:r>
              <a:rPr lang="ko-KR" altLang="en-US" dirty="0"/>
              <a:t>상태로 만듭니다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이때 비로소 우리는 함수에 어떤 인자가 들어가는지</a:t>
            </a:r>
            <a:r>
              <a:rPr lang="en-US" altLang="ko-KR" dirty="0"/>
              <a:t>, </a:t>
            </a:r>
            <a:r>
              <a:rPr lang="ko-KR" altLang="en-US" dirty="0"/>
              <a:t>암호화되기 전 데이터가 무엇인지 자세하게 들여다볼 수 있게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DFFB9-D1B0-5218-D1B7-1E840B2B6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3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9549-55F9-B81F-529E-558C0591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1F606B-7822-3C77-98C6-DAEA80AE9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A0CA1-A8CB-C2B1-C09A-E4447B2C9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들어 정적 분석으로는 만들어진 파일 이름을 알아내기 복잡한 경우에도</a:t>
            </a:r>
            <a:r>
              <a:rPr lang="en-US" altLang="ko-KR" dirty="0"/>
              <a:t>, </a:t>
            </a:r>
            <a:r>
              <a:rPr lang="en-US" altLang="ko-KR" dirty="0" err="1"/>
              <a:t>CreateFileW</a:t>
            </a:r>
            <a:r>
              <a:rPr lang="ko-KR" altLang="en-US" dirty="0"/>
              <a:t>에 </a:t>
            </a:r>
            <a:r>
              <a:rPr lang="en-US" altLang="ko-KR" dirty="0" err="1"/>
              <a:t>Breaking</a:t>
            </a:r>
            <a:r>
              <a:rPr lang="en-US" altLang="ko-KR" baseline="0" dirty="0" err="1"/>
              <a:t>points</a:t>
            </a:r>
            <a:r>
              <a:rPr lang="ko-KR" altLang="en-US" baseline="0" dirty="0"/>
              <a:t>를 걸고 살펴보면</a:t>
            </a:r>
            <a:r>
              <a:rPr lang="en-US" altLang="ko-KR" baseline="0" dirty="0"/>
              <a:t>,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C4C197-CBC6-8FDA-2F62-B56580148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514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6DC6-0F1E-D3B3-AC7F-17F353F6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3C1CAE-0B2A-CDDA-7708-CADF750C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ABBD54-3627-C6CF-F511-B3827981C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오른쪽의 </a:t>
            </a:r>
            <a:r>
              <a:rPr lang="en-US" altLang="ko-KR" dirty="0"/>
              <a:t>Stack</a:t>
            </a:r>
            <a:r>
              <a:rPr lang="en-US" altLang="ko-KR" baseline="0" dirty="0"/>
              <a:t> </a:t>
            </a:r>
            <a:r>
              <a:rPr lang="ko-KR" altLang="en-US" baseline="0" dirty="0"/>
              <a:t>상으로 </a:t>
            </a:r>
            <a:r>
              <a:rPr lang="en-US" altLang="ko-KR" baseline="0" dirty="0"/>
              <a:t>LogFile.txt</a:t>
            </a:r>
            <a:r>
              <a:rPr lang="ko-KR" altLang="en-US" baseline="0" dirty="0"/>
              <a:t>라는 명확한 파일이름이 바로 나타나집니다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E7F7B-D1A9-C3FA-7729-257E2C2DA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239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9D7C0-F1A4-8DA3-FCFF-75BE2B1D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BFEDAA-1BF4-52DB-6AD8-2D865074B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A86247-6DC7-AD0F-2E92-5B246D1AC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암호화의 경우에서도 마찬가지입니다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암호화 알고리즘을 굳이 </a:t>
            </a:r>
            <a:r>
              <a:rPr lang="ko-KR" altLang="en-US" dirty="0" err="1"/>
              <a:t>리버싱할</a:t>
            </a:r>
            <a:r>
              <a:rPr lang="ko-KR" altLang="en-US" dirty="0"/>
              <a:t> 필요 없이</a:t>
            </a:r>
            <a:r>
              <a:rPr lang="en-US" altLang="ko-KR" dirty="0"/>
              <a:t>, </a:t>
            </a:r>
            <a:r>
              <a:rPr lang="ko-KR" altLang="en-US" dirty="0"/>
              <a:t>오른쪽의 그림처럼 암호화 함수 실행 직전에 중단점을 걸면 메모리에서 </a:t>
            </a:r>
            <a:r>
              <a:rPr lang="en-US" altLang="ko-KR" dirty="0"/>
              <a:t>'Secret Message' </a:t>
            </a:r>
            <a:r>
              <a:rPr lang="ko-KR" altLang="en-US" dirty="0"/>
              <a:t>같은 원본 데이터를 아주 쉽게 확인할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8414E-8EB4-0AB6-C21E-E3B3BD412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188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5AEEA-0850-6E8A-B095-33345D6A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CAA604-7D6D-CD6A-C8EA-AA1AE5DC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7883CF-7B14-53E6-36A4-CDB7B2113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</a:t>
            </a:r>
            <a:r>
              <a:rPr lang="en-US" altLang="ko-KR" dirty="0"/>
              <a:t>Breakpoint</a:t>
            </a:r>
            <a:r>
              <a:rPr lang="ko-KR" altLang="en-US" dirty="0"/>
              <a:t>들에는 </a:t>
            </a:r>
            <a:r>
              <a:rPr lang="en-US" altLang="ko-KR" dirty="0"/>
              <a:t>Software</a:t>
            </a:r>
            <a:r>
              <a:rPr lang="en-US" altLang="ko-KR" baseline="0" dirty="0"/>
              <a:t>, Hardware, Conditional breakpoints</a:t>
            </a:r>
            <a:r>
              <a:rPr lang="ko-KR" altLang="en-US" baseline="0" dirty="0"/>
              <a:t>와 같이 다양한 종류가 있습니다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따라서 각 브레이크포인트가 어떤 원리로 동작하는지 이해하고 상황에 맞게 골라 쓰는 것이 중요합니다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5FFC8C-2B04-05D2-C76B-E2E46EBC3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012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3CD4-36AA-9C2B-D738-4DA187F4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C04428-4A2A-FFED-8714-591FE4944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A9E9F9-74F1-F8DA-1659-906227790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Breakpoints</a:t>
            </a:r>
            <a:r>
              <a:rPr lang="ko-KR" altLang="en-US" dirty="0"/>
              <a:t>는 크게 소프트웨어와 하드웨어 방식으로 나뉩니다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가장 많이 쓰는 소프트웨어 방식은 </a:t>
            </a:r>
            <a:r>
              <a:rPr lang="ko-KR" altLang="en-US" dirty="0" err="1"/>
              <a:t>디버거가</a:t>
            </a:r>
            <a:r>
              <a:rPr lang="ko-KR" altLang="en-US" dirty="0"/>
              <a:t> 몰래 코드 첫 글자를 </a:t>
            </a:r>
            <a:r>
              <a:rPr lang="en-US" altLang="ko-KR" dirty="0"/>
              <a:t>0xCC</a:t>
            </a:r>
            <a:r>
              <a:rPr lang="ko-KR" altLang="en-US" dirty="0"/>
              <a:t>라는 명령어로 </a:t>
            </a:r>
            <a:r>
              <a:rPr lang="ko-KR" altLang="en-US" dirty="0" err="1"/>
              <a:t>바꿔치기하는</a:t>
            </a:r>
            <a:r>
              <a:rPr lang="ko-KR" altLang="en-US" dirty="0"/>
              <a:t> 방식입니다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개수 제한이 없어 편하지만</a:t>
            </a:r>
            <a:r>
              <a:rPr lang="en-US" altLang="ko-KR" dirty="0"/>
              <a:t>, </a:t>
            </a:r>
            <a:r>
              <a:rPr lang="ko-KR" altLang="en-US" dirty="0"/>
              <a:t>코드가 변하기 때문에 악성코드가 이를 눈치채고 멈춰버릴 수도 있고</a:t>
            </a:r>
            <a:r>
              <a:rPr lang="en-US" altLang="ko-KR" dirty="0"/>
              <a:t>, </a:t>
            </a:r>
            <a:r>
              <a:rPr lang="ko-KR" altLang="en-US" dirty="0"/>
              <a:t>코드가 스스로 값을 변화시키면서 진행 경우는 </a:t>
            </a:r>
            <a:r>
              <a:rPr lang="en-US" altLang="ko-KR" dirty="0"/>
              <a:t>break</a:t>
            </a:r>
            <a:r>
              <a:rPr lang="ko-KR" altLang="en-US" dirty="0"/>
              <a:t>가 실패할 경우도 생길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반면 하드웨어 방식은 </a:t>
            </a:r>
            <a:r>
              <a:rPr lang="en-US" altLang="ko-KR" dirty="0"/>
              <a:t>CPU</a:t>
            </a:r>
            <a:r>
              <a:rPr lang="ko-KR" altLang="en-US" dirty="0"/>
              <a:t>의 전용 레지스터를 사용합니다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따라서 코드를 건드리지 않고 </a:t>
            </a:r>
            <a:r>
              <a:rPr lang="en-US" altLang="ko-KR" dirty="0"/>
              <a:t>＇</a:t>
            </a:r>
            <a:r>
              <a:rPr lang="ko-KR" altLang="en-US" dirty="0"/>
              <a:t>읽기나 쓰기</a:t>
            </a:r>
            <a:r>
              <a:rPr lang="en-US" altLang="ko-KR" dirty="0"/>
              <a:t>＇ </a:t>
            </a:r>
            <a:r>
              <a:rPr lang="ko-KR" altLang="en-US" dirty="0"/>
              <a:t>시점에도 멈출 수 있다는 장점이 있지만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딱 </a:t>
            </a:r>
            <a:r>
              <a:rPr lang="en-US" altLang="ko-KR" dirty="0"/>
              <a:t>4</a:t>
            </a:r>
            <a:r>
              <a:rPr lang="ko-KR" altLang="en-US" dirty="0"/>
              <a:t>개까지만 걸 수 있다는 </a:t>
            </a:r>
            <a:r>
              <a:rPr lang="ko-KR" altLang="en-US" dirty="0" err="1"/>
              <a:t>한계이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CC175-4781-5CF5-6D3D-211BC82BC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991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</a:t>
            </a:r>
            <a:r>
              <a:rPr lang="en-US" altLang="ko-KR" dirty="0"/>
              <a:t>'</a:t>
            </a:r>
            <a:r>
              <a:rPr lang="ko-KR" altLang="en-US" dirty="0"/>
              <a:t>조건부 </a:t>
            </a:r>
            <a:r>
              <a:rPr lang="en-US" altLang="ko-KR" baseline="0" dirty="0"/>
              <a:t>breakpoints</a:t>
            </a:r>
            <a:r>
              <a:rPr lang="ko-KR" altLang="en-US" baseline="0" dirty="0"/>
              <a:t>는</a:t>
            </a:r>
            <a:r>
              <a:rPr lang="ko-KR" altLang="en-US" dirty="0"/>
              <a:t> 특정 상황에서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예를 들어 </a:t>
            </a:r>
            <a:r>
              <a:rPr lang="en-US" altLang="ko-KR" dirty="0"/>
              <a:t>'</a:t>
            </a:r>
            <a:r>
              <a:rPr lang="ko-KR" altLang="en-US" dirty="0"/>
              <a:t>파일 이름이 </a:t>
            </a:r>
            <a:r>
              <a:rPr lang="en-US" altLang="ko-KR" dirty="0"/>
              <a:t>password.txt</a:t>
            </a:r>
            <a:r>
              <a:rPr lang="ko-KR" altLang="en-US" dirty="0"/>
              <a:t>일 때만 멈춰라</a:t>
            </a:r>
            <a:r>
              <a:rPr lang="en-US" altLang="ko-KR" dirty="0"/>
              <a:t>' </a:t>
            </a:r>
            <a:r>
              <a:rPr lang="ko-KR" altLang="en-US" dirty="0"/>
              <a:t>같은 설정이 가능합니다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매우 유연하고 효과적이지만 </a:t>
            </a:r>
            <a:endParaRPr lang="en-US" altLang="ko-KR" dirty="0"/>
          </a:p>
          <a:p>
            <a:r>
              <a:rPr lang="ko-KR" altLang="en-US" dirty="0" err="1"/>
              <a:t>디버거가</a:t>
            </a:r>
            <a:r>
              <a:rPr lang="ko-KR" altLang="en-US" dirty="0"/>
              <a:t> 매번 조건을 계산해야 해서 프로그램이 느려질 수 있다는 한계점이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825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Exception</a:t>
            </a:r>
            <a:r>
              <a:rPr lang="ko-KR" altLang="en-US" dirty="0"/>
              <a:t>은 </a:t>
            </a:r>
            <a:r>
              <a:rPr lang="ko-KR" altLang="en-US" dirty="0" err="1"/>
              <a:t>디버거가</a:t>
            </a:r>
            <a:r>
              <a:rPr lang="ko-KR" altLang="en-US" dirty="0"/>
              <a:t> 실행 중인 프로그램의 </a:t>
            </a:r>
            <a:r>
              <a:rPr lang="ko-KR" altLang="en-US" dirty="0" err="1"/>
              <a:t>제어권을</a:t>
            </a:r>
            <a:r>
              <a:rPr lang="ko-KR" altLang="en-US" dirty="0"/>
              <a:t> 가져오는 가장 핵심적인 수단입니다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예외가 발생하면 </a:t>
            </a:r>
            <a:r>
              <a:rPr lang="ko-KR" altLang="en-US" dirty="0" err="1"/>
              <a:t>디버거는</a:t>
            </a:r>
            <a:r>
              <a:rPr lang="ko-KR" altLang="en-US" dirty="0"/>
              <a:t> </a:t>
            </a:r>
            <a:r>
              <a:rPr lang="en-US" altLang="ko-KR" dirty="0"/>
              <a:t>＇First-chance＇</a:t>
            </a:r>
            <a:r>
              <a:rPr lang="ko-KR" altLang="en-US" dirty="0"/>
              <a:t>라는 첫 번째 기회를 얻는데</a:t>
            </a:r>
            <a:r>
              <a:rPr lang="en-US" altLang="ko-KR" dirty="0"/>
              <a:t>, </a:t>
            </a:r>
            <a:r>
              <a:rPr lang="ko-KR" altLang="en-US" dirty="0"/>
              <a:t>여기서 분석가는 예외를 무시할지 아니면 직접 처리할지 결정합니다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Malware</a:t>
            </a:r>
            <a:r>
              <a:rPr lang="ko-KR" altLang="en-US" dirty="0"/>
              <a:t>가 이를 악용하는 경우도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만약 프로그램도</a:t>
            </a:r>
            <a:r>
              <a:rPr lang="en-US" altLang="ko-KR" dirty="0"/>
              <a:t>, </a:t>
            </a:r>
            <a:r>
              <a:rPr lang="ko-KR" altLang="en-US" dirty="0" err="1"/>
              <a:t>디버거도</a:t>
            </a:r>
            <a:r>
              <a:rPr lang="ko-KR" altLang="en-US" dirty="0"/>
              <a:t> 처리하지 못해 </a:t>
            </a:r>
            <a:r>
              <a:rPr lang="en-US" altLang="ko-KR" dirty="0"/>
              <a:t>'Second-chance'</a:t>
            </a:r>
            <a:r>
              <a:rPr lang="ko-KR" altLang="en-US" dirty="0"/>
              <a:t>까지 넘어오면 프로그램은 그대로 종료됩니다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앞서 </a:t>
            </a:r>
            <a:r>
              <a:rPr lang="ko-KR" altLang="en-US" dirty="0" err="1"/>
              <a:t>말씀드린</a:t>
            </a:r>
            <a:r>
              <a:rPr lang="ko-KR" altLang="en-US" dirty="0"/>
              <a:t> </a:t>
            </a:r>
            <a:r>
              <a:rPr lang="en-US" altLang="ko-KR" dirty="0"/>
              <a:t>Software</a:t>
            </a:r>
            <a:r>
              <a:rPr lang="en-US" altLang="ko-KR" baseline="0" dirty="0"/>
              <a:t> breakpoints</a:t>
            </a:r>
            <a:r>
              <a:rPr lang="ko-KR" altLang="en-US" baseline="0" dirty="0"/>
              <a:t>의</a:t>
            </a:r>
            <a:r>
              <a:rPr lang="ko-KR" altLang="en-US" dirty="0"/>
              <a:t> </a:t>
            </a:r>
            <a:r>
              <a:rPr lang="en-US" altLang="ko-KR" dirty="0"/>
              <a:t>INT 3</a:t>
            </a:r>
            <a:r>
              <a:rPr lang="ko-KR" altLang="en-US" dirty="0"/>
              <a:t>나</a:t>
            </a:r>
            <a:endParaRPr lang="en-US" altLang="ko-KR" dirty="0"/>
          </a:p>
          <a:p>
            <a:r>
              <a:rPr lang="en-US" altLang="ko-KR" dirty="0"/>
              <a:t>Trap flag</a:t>
            </a:r>
            <a:r>
              <a:rPr lang="ko-KR" altLang="en-US" dirty="0"/>
              <a:t>를 활용하여 한 줄씩 실행하는 </a:t>
            </a:r>
            <a:r>
              <a:rPr lang="ko-KR" altLang="en-US" dirty="0" err="1"/>
              <a:t>싱글</a:t>
            </a:r>
            <a:r>
              <a:rPr lang="ko-KR" altLang="en-US" dirty="0"/>
              <a:t> </a:t>
            </a:r>
            <a:r>
              <a:rPr lang="ko-KR" altLang="en-US" dirty="0" err="1"/>
              <a:t>스테핑</a:t>
            </a:r>
            <a:r>
              <a:rPr lang="en-US" altLang="ko-KR" dirty="0"/>
              <a:t> </a:t>
            </a:r>
            <a:r>
              <a:rPr lang="ko-KR" altLang="en-US" dirty="0"/>
              <a:t>또한 운영체제 입장에서는 모두 이 예외 처리 메커니즘을 이용한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21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디버거는</a:t>
            </a:r>
            <a:r>
              <a:rPr lang="ko-KR" altLang="en-US" dirty="0"/>
              <a:t> 단순히 보고 분석하는 도구를 넘어</a:t>
            </a:r>
            <a:r>
              <a:rPr lang="en-US" altLang="ko-KR" dirty="0"/>
              <a:t>, </a:t>
            </a:r>
            <a:r>
              <a:rPr lang="ko-KR" altLang="en-US" dirty="0"/>
              <a:t>실행 흐름을</a:t>
            </a:r>
            <a:r>
              <a:rPr lang="ko-KR" altLang="en-US" baseline="0" dirty="0"/>
              <a:t> 사용자 마음대로 주무를</a:t>
            </a:r>
            <a:r>
              <a:rPr lang="ko-KR" altLang="en-US" dirty="0"/>
              <a:t> 수 있는 도구입니다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실행 중인 명령어 주소</a:t>
            </a:r>
            <a:r>
              <a:rPr lang="en-US" altLang="ko-KR" dirty="0"/>
              <a:t>(EIP)</a:t>
            </a:r>
            <a:r>
              <a:rPr lang="ko-KR" altLang="en-US" dirty="0"/>
              <a:t>를 강제로 바꿔서 특정 함수를 건너뛰거나</a:t>
            </a:r>
            <a:r>
              <a:rPr lang="en-US" altLang="ko-KR" dirty="0"/>
              <a:t>, </a:t>
            </a:r>
            <a:r>
              <a:rPr lang="en-US" altLang="ko-KR" dirty="0" err="1"/>
              <a:t>progra</a:t>
            </a:r>
            <a:r>
              <a:rPr lang="ko-KR" altLang="en-US" dirty="0"/>
              <a:t>이 특정 </a:t>
            </a:r>
            <a:r>
              <a:rPr lang="en-US" altLang="ko-KR" dirty="0" err="1"/>
              <a:t>branc</a:t>
            </a:r>
            <a:r>
              <a:rPr lang="ko-KR" altLang="en-US" dirty="0"/>
              <a:t>에 들어가도록 </a:t>
            </a:r>
            <a:r>
              <a:rPr lang="en-US" altLang="ko-KR" dirty="0"/>
              <a:t>Path</a:t>
            </a:r>
            <a:r>
              <a:rPr lang="ko-KR" altLang="en-US" dirty="0"/>
              <a:t>도 변경할 수 있고</a:t>
            </a:r>
            <a:r>
              <a:rPr lang="en-US" altLang="ko-KR" dirty="0"/>
              <a:t>, value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injectio</a:t>
            </a:r>
            <a:r>
              <a:rPr lang="ko-KR" altLang="en-US" baseline="0" dirty="0"/>
              <a:t>을 통해 </a:t>
            </a:r>
            <a:r>
              <a:rPr lang="en-US" altLang="ko-KR" baseline="0" dirty="0"/>
              <a:t>function return value</a:t>
            </a:r>
            <a:r>
              <a:rPr lang="ko-KR" altLang="en-US" baseline="0" dirty="0"/>
              <a:t>도 변경할 수 있습니다</a:t>
            </a:r>
            <a:r>
              <a:rPr lang="en-US" altLang="ko-KR" baseline="0" dirty="0"/>
              <a:t>.</a:t>
            </a:r>
            <a:endParaRPr lang="en-US" altLang="ko-KR" dirty="0"/>
          </a:p>
          <a:p>
            <a:r>
              <a:rPr lang="ko-KR" altLang="en-US" dirty="0"/>
              <a:t>물론 </a:t>
            </a:r>
            <a:r>
              <a:rPr lang="ko-KR" altLang="en-US" dirty="0" err="1"/>
              <a:t>스택</a:t>
            </a:r>
            <a:r>
              <a:rPr lang="ko-KR" altLang="en-US" dirty="0"/>
              <a:t> 구조를 무시하고 억지로 주소를 바꾸면 프로그램이 죽을 수도 있지만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특정 </a:t>
            </a:r>
            <a:r>
              <a:rPr lang="ko-KR" altLang="en-US" dirty="0" err="1"/>
              <a:t>로직만</a:t>
            </a:r>
            <a:r>
              <a:rPr lang="ko-KR" altLang="en-US" dirty="0"/>
              <a:t> 빠르게 테스트하고 싶을 때 효과적으로 사용됩니다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655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D8058-3E9C-8173-82BA-F7164135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EC68BE-B908-9F8B-0032-53A2C39F7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31E6A7-A97E-468E-CEC6-8EC491CB3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Chapter 9</a:t>
            </a:r>
            <a:r>
              <a:rPr lang="ko-KR" altLang="en-US" dirty="0"/>
              <a:t>에서는 이 중 대표적인 </a:t>
            </a:r>
            <a:r>
              <a:rPr lang="en-US" altLang="ko-KR" dirty="0"/>
              <a:t>User-Mode Debugger</a:t>
            </a:r>
            <a:r>
              <a:rPr lang="ko-KR" altLang="en-US" dirty="0"/>
              <a:t>인 </a:t>
            </a:r>
            <a:r>
              <a:rPr lang="en-US" altLang="ko-KR" dirty="0" err="1"/>
              <a:t>OllyDebugger</a:t>
            </a:r>
            <a:r>
              <a:rPr lang="ko-KR" altLang="en-US" dirty="0"/>
              <a:t>에 대해 소개하고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</a:t>
            </a:r>
            <a:r>
              <a:rPr lang="ko-KR" altLang="en-US" dirty="0" err="1"/>
              <a:t>디버거의</a:t>
            </a:r>
            <a:r>
              <a:rPr lang="ko-KR" altLang="en-US" dirty="0"/>
              <a:t> 기능에 대해 간략하게 소개해드리고</a:t>
            </a:r>
            <a:r>
              <a:rPr lang="en-US" altLang="ko-KR" dirty="0"/>
              <a:t>, </a:t>
            </a:r>
            <a:r>
              <a:rPr lang="ko-KR" altLang="en-US" dirty="0"/>
              <a:t>이를</a:t>
            </a:r>
            <a:r>
              <a:rPr lang="ko-KR" altLang="en-US" baseline="0" dirty="0"/>
              <a:t> 사용하여 </a:t>
            </a:r>
            <a:r>
              <a:rPr lang="en-US" altLang="ko-KR" baseline="0" dirty="0"/>
              <a:t>Lab </a:t>
            </a:r>
            <a:r>
              <a:rPr lang="ko-KR" altLang="en-US" baseline="0" dirty="0"/>
              <a:t>문제를 해결하는 과정을 보여드리겠습니다</a:t>
            </a:r>
            <a:r>
              <a:rPr lang="en-US" altLang="ko-KR" baseline="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851D8-961A-8BE2-961D-FA2E3C33F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2272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OllyDbgsms</a:t>
            </a:r>
            <a:r>
              <a:rPr lang="en-US" altLang="ko-KR" baseline="0" dirty="0"/>
              <a:t> program</a:t>
            </a:r>
            <a:r>
              <a:rPr lang="ko-KR" altLang="en-US" baseline="0" dirty="0"/>
              <a:t>이 동작을 </a:t>
            </a:r>
            <a:r>
              <a:rPr lang="ko-KR" altLang="en-US" baseline="0" dirty="0" err="1"/>
              <a:t>할때</a:t>
            </a:r>
            <a:r>
              <a:rPr lang="ko-KR" altLang="en-US" baseline="0" dirty="0"/>
              <a:t> </a:t>
            </a:r>
            <a:r>
              <a:rPr lang="en-US" altLang="ko-KR" baseline="0" dirty="0"/>
              <a:t>malware</a:t>
            </a:r>
            <a:r>
              <a:rPr lang="ko-KR" altLang="en-US" baseline="0" dirty="0"/>
              <a:t>를 분석할 수 </a:t>
            </a:r>
            <a:r>
              <a:rPr lang="ko-KR" altLang="en-US" baseline="0" dirty="0" err="1"/>
              <a:t>잏게</a:t>
            </a:r>
            <a:r>
              <a:rPr lang="ko-KR" altLang="en-US" baseline="0" dirty="0"/>
              <a:t> 도와 주고 많은 </a:t>
            </a:r>
            <a:r>
              <a:rPr lang="en-US" altLang="ko-KR" baseline="0" dirty="0"/>
              <a:t>plug-ins</a:t>
            </a:r>
            <a:r>
              <a:rPr lang="ko-KR" altLang="en-US" baseline="0" dirty="0"/>
              <a:t>가 있어 활용 범위가 넓으며 공짜이면서</a:t>
            </a:r>
            <a:r>
              <a:rPr lang="en-US" altLang="ko-KR" baseline="0" dirty="0"/>
              <a:t>, </a:t>
            </a:r>
            <a:r>
              <a:rPr lang="ko-KR" altLang="en-US" baseline="0" dirty="0"/>
              <a:t>사용하기도 쉽다는 장점이 있어 많은 </a:t>
            </a:r>
            <a:r>
              <a:rPr lang="en-US" altLang="ko-KR" baseline="0" dirty="0"/>
              <a:t>malware </a:t>
            </a:r>
            <a:r>
              <a:rPr lang="ko-KR" altLang="en-US" baseline="0" dirty="0"/>
              <a:t>분석가들이나 </a:t>
            </a:r>
            <a:r>
              <a:rPr lang="en-US" altLang="ko-KR" baseline="0" dirty="0"/>
              <a:t>reverse engineer</a:t>
            </a:r>
            <a:r>
              <a:rPr lang="ko-KR" altLang="en-US" baseline="0" dirty="0"/>
              <a:t>를 하는 사람들로 부터 주로 사용되어 집니다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305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악성코드를 다루고 있는 만큼</a:t>
            </a:r>
            <a:r>
              <a:rPr lang="en-US" altLang="ko-KR" dirty="0"/>
              <a:t>, </a:t>
            </a:r>
            <a:r>
              <a:rPr lang="ko-KR" altLang="en-US" dirty="0"/>
              <a:t>파일은</a:t>
            </a:r>
            <a:r>
              <a:rPr lang="en-US" altLang="ko-KR" baseline="0" dirty="0"/>
              <a:t> VMWare</a:t>
            </a:r>
            <a:r>
              <a:rPr lang="ko-KR" altLang="en-US" baseline="0" dirty="0"/>
              <a:t>와 같이 분리된 안전한 환경에서 실행시켜주어야 합니다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684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ko-KR" altLang="en-US" dirty="0"/>
              <a:t>분석할 파일을 처음 열 때의 화면입니다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여기서 가장 중요한 부분은 하단의 </a:t>
            </a:r>
            <a:r>
              <a:rPr lang="en-US" altLang="ko-KR" b="1" dirty="0"/>
              <a:t>Arguments</a:t>
            </a:r>
            <a:r>
              <a:rPr lang="ko-KR" altLang="en-US" dirty="0"/>
              <a:t> 창입니다</a:t>
            </a:r>
            <a:r>
              <a:rPr lang="en-US" altLang="ko-KR" dirty="0"/>
              <a:t>. </a:t>
            </a:r>
            <a:r>
              <a:rPr lang="en-US" altLang="ko-KR" dirty="0" err="1"/>
              <a:t>OllyDbg</a:t>
            </a:r>
            <a:r>
              <a:rPr lang="ko-KR" altLang="en-US" dirty="0"/>
              <a:t>에서 실행 파일에 커맨드 라인 인자를 전달할 수 있는 유일한 기회이므로</a:t>
            </a:r>
            <a:r>
              <a:rPr lang="en-US" altLang="ko-KR" dirty="0"/>
              <a:t>, </a:t>
            </a:r>
            <a:r>
              <a:rPr lang="ko-KR" altLang="en-US" dirty="0"/>
              <a:t>특정 매개변수가 필요한 악성코드를 분석할 때 반드시 체크하고 입력해주어야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892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OllyDbg</a:t>
            </a:r>
            <a:r>
              <a:rPr lang="en-US" altLang="ko-KR" baseline="0" dirty="0"/>
              <a:t> </a:t>
            </a:r>
            <a:r>
              <a:rPr lang="ko-KR" altLang="en-US" baseline="0" dirty="0"/>
              <a:t>또한 이미 실행 중인 프로세스에 </a:t>
            </a:r>
            <a:r>
              <a:rPr lang="ko-KR" altLang="en-US" baseline="0" dirty="0" err="1"/>
              <a:t>디버거를</a:t>
            </a:r>
            <a:r>
              <a:rPr lang="ko-KR" altLang="en-US" baseline="0" dirty="0"/>
              <a:t> 연결하는 </a:t>
            </a:r>
            <a:r>
              <a:rPr lang="en-US" altLang="ko-KR" baseline="0" dirty="0"/>
              <a:t>Attach </a:t>
            </a:r>
            <a:r>
              <a:rPr lang="ko-KR" altLang="en-US" baseline="0" dirty="0"/>
              <a:t>기능을 제공하고 있으므로</a:t>
            </a:r>
            <a:r>
              <a:rPr lang="en-US" altLang="ko-KR" baseline="0" dirty="0"/>
              <a:t>,</a:t>
            </a:r>
          </a:p>
          <a:p>
            <a:r>
              <a:rPr lang="ko-KR" altLang="en-US" baseline="0" dirty="0"/>
              <a:t>악성코드가 이미 시스템에서 </a:t>
            </a:r>
            <a:r>
              <a:rPr lang="ko-KR" altLang="en-US" baseline="0" dirty="0" err="1"/>
              <a:t>동작중이거나</a:t>
            </a:r>
            <a:r>
              <a:rPr lang="en-US" altLang="ko-KR" baseline="0" dirty="0"/>
              <a:t>, </a:t>
            </a:r>
            <a:r>
              <a:rPr lang="ko-KR" altLang="en-US" baseline="0" dirty="0"/>
              <a:t>다른 프로세스에 의해 실행된 경우에 이 기능을 사용하여 실시간으로 흐름을 가로챌 수 있습니다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108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보이시는 화면이 </a:t>
            </a:r>
            <a:r>
              <a:rPr lang="en-US" altLang="ko-KR" dirty="0" err="1"/>
              <a:t>OllyDbg</a:t>
            </a:r>
            <a:r>
              <a:rPr lang="ko-KR" altLang="en-US" dirty="0"/>
              <a:t>의 기본 창의 </a:t>
            </a:r>
            <a:r>
              <a:rPr lang="en-US" altLang="ko-KR" dirty="0"/>
              <a:t>4</a:t>
            </a:r>
            <a:r>
              <a:rPr lang="ko-KR" altLang="en-US" dirty="0"/>
              <a:t>가지 구성요소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코드를 보는 </a:t>
            </a:r>
            <a:r>
              <a:rPr lang="en-US" altLang="ko-KR" b="1" dirty="0"/>
              <a:t>Disassembler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CPU </a:t>
            </a:r>
            <a:r>
              <a:rPr lang="ko-KR" altLang="en-US" dirty="0"/>
              <a:t>상태를 보여주는 </a:t>
            </a:r>
            <a:r>
              <a:rPr lang="en-US" altLang="ko-KR" b="1" dirty="0"/>
              <a:t>Registers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함수 호출 정보를 담은 </a:t>
            </a:r>
            <a:r>
              <a:rPr lang="en-US" altLang="ko-KR" b="1" dirty="0"/>
              <a:t>Stack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그리고 메모리의 원시 데이터를 확인하는 </a:t>
            </a:r>
            <a:r>
              <a:rPr lang="en-US" altLang="ko-KR" b="1" dirty="0"/>
              <a:t>Memory Dump</a:t>
            </a:r>
            <a:r>
              <a:rPr lang="ko-KR" altLang="en-US" dirty="0"/>
              <a:t> </a:t>
            </a:r>
            <a:r>
              <a:rPr lang="en-US" altLang="ko-KR" dirty="0"/>
              <a:t>Window</a:t>
            </a:r>
            <a:r>
              <a:rPr lang="ko-KR" altLang="en-US" dirty="0"/>
              <a:t>로 구성됩니다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1894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Map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창에서는 프로세스가 사용하는 전체 메모리 레이아웃을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악성코드의 코드 섹션이나 어느 주소에 배치되어 있는지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권한은 어떻게 설정되어 있는지 한눈에 파악할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306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</a:t>
            </a:r>
            <a:r>
              <a:rPr lang="en-US" altLang="ko-KR" dirty="0"/>
              <a:t>, </a:t>
            </a:r>
            <a:r>
              <a:rPr lang="ko-KR" altLang="en-US" dirty="0"/>
              <a:t>멀티 </a:t>
            </a:r>
            <a:r>
              <a:rPr lang="ko-KR" altLang="en-US" dirty="0" err="1"/>
              <a:t>스레드</a:t>
            </a:r>
            <a:r>
              <a:rPr lang="ko-KR" altLang="en-US" dirty="0"/>
              <a:t> 기반의 악성코드를 분석할 때 사용하는 </a:t>
            </a:r>
            <a:r>
              <a:rPr lang="en-US" altLang="ko-KR" b="1" dirty="0"/>
              <a:t>Threads</a:t>
            </a:r>
            <a:r>
              <a:rPr lang="ko-KR" altLang="en-US" dirty="0"/>
              <a:t> 창입니다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이를 통해 특정 </a:t>
            </a:r>
            <a:r>
              <a:rPr lang="ko-KR" altLang="en-US" dirty="0" err="1"/>
              <a:t>스레드를</a:t>
            </a:r>
            <a:r>
              <a:rPr lang="ko-KR" altLang="en-US" dirty="0"/>
              <a:t> 일시 정지시키거나 </a:t>
            </a:r>
            <a:r>
              <a:rPr lang="en-US" altLang="ko-KR" dirty="0"/>
              <a:t>Kill</a:t>
            </a:r>
            <a:r>
              <a:rPr lang="ko-KR" altLang="en-US" dirty="0"/>
              <a:t>하여 분석을 방해하는 요소를 제거하거나 특정 </a:t>
            </a:r>
            <a:r>
              <a:rPr lang="ko-KR" altLang="en-US" dirty="0" err="1"/>
              <a:t>로직만</a:t>
            </a:r>
            <a:r>
              <a:rPr lang="ko-KR" altLang="en-US" dirty="0"/>
              <a:t> 집중적으로 분석할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382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AE30-4C23-0037-C494-AA34A821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7D5B-A302-3A5B-16D2-ADBC10359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287A4-C1BD-F9AD-E4D2-120F7173C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다음의 </a:t>
            </a:r>
            <a:r>
              <a:rPr lang="en-US" altLang="ko-KR" dirty="0"/>
              <a:t>Table</a:t>
            </a:r>
            <a:r>
              <a:rPr lang="ko-KR" altLang="en-US" dirty="0"/>
              <a:t>로 정리된 내용은 디버깅 시 가장 많이 쓰는 핵심 단축키들입니다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기본적으로 많이 사용되는 단축키들이고</a:t>
            </a:r>
            <a:r>
              <a:rPr lang="en-US" altLang="ko-KR" dirty="0"/>
              <a:t>, Olly</a:t>
            </a:r>
            <a:r>
              <a:rPr lang="ko-KR" altLang="en-US" dirty="0" err="1"/>
              <a:t>디버거에서는</a:t>
            </a:r>
            <a:r>
              <a:rPr lang="ko-KR" altLang="en-US" dirty="0"/>
              <a:t> </a:t>
            </a:r>
            <a:r>
              <a:rPr lang="en-US" altLang="ko-KR" dirty="0"/>
              <a:t>Button</a:t>
            </a:r>
            <a:r>
              <a:rPr lang="ko-KR" altLang="en-US" dirty="0"/>
              <a:t>으로도 시각적으로 잘 구현되어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38AD3-AB8A-F114-B7FA-543C272C1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978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8212-9706-4DE2-EA15-253BF237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788C44-CC10-C58A-D696-4186A6E4F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A22B66-2D4F-9C8B-3C0C-1C0F447BC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Breakpoints </a:t>
            </a:r>
            <a:r>
              <a:rPr lang="ko-KR" altLang="en-US" dirty="0"/>
              <a:t>또한 쉽게 지정해줄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Disassembler</a:t>
            </a:r>
            <a:r>
              <a:rPr lang="ko-KR" altLang="en-US" dirty="0"/>
              <a:t>에 나와 있는 코드 창에서 코드 별로 필요한 상황에 맞는 </a:t>
            </a:r>
            <a:r>
              <a:rPr lang="en-US" altLang="ko-KR" dirty="0"/>
              <a:t>Breakpoint</a:t>
            </a:r>
            <a:r>
              <a:rPr lang="ko-KR" altLang="en-US" dirty="0"/>
              <a:t>를 설정하여 실행을 멈출 수 있게 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기본적으로 </a:t>
            </a:r>
            <a:r>
              <a:rPr lang="en-US" altLang="ko-KR" b="1" dirty="0"/>
              <a:t>F2</a:t>
            </a:r>
            <a:r>
              <a:rPr lang="ko-KR" altLang="en-US" dirty="0"/>
              <a:t>를 사용하는 소프트웨어 </a:t>
            </a:r>
            <a:r>
              <a:rPr lang="en-US" altLang="ko-KR" dirty="0" err="1"/>
              <a:t>Breakpont</a:t>
            </a:r>
            <a:r>
              <a:rPr lang="ko-KR" altLang="en-US" dirty="0"/>
              <a:t>를 가장 흔하게 사용합니다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B3D084-EFFC-C299-6E1F-32AC2E93E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4135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3529-EC6A-4ED3-B662-BE3B1A66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868B52-5560-6D86-3A6D-DB66A07F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3DFCF1-BB47-3733-8422-22FE32933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흐름을 추적하는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Tracing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 또한 제공하고 입습니다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한 줄씩 실행하는 것을 넘어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프로그램이 어떤 길을 걸어왔는지 기록하는 과정입니다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Stander Back Trace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단순히 앞뒤로 움직이며 최근에 실행된 코드에 대해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 Stack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경우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현재 위치에 오기까지 어떤 함수들이 순차적으로 호출되었는지 보여줍니다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지금 내가 있는 이 코드가 어떤 맥락에서 실행 중인지 파악할 수 있는 중요한 정보를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Trace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실행되는 모든 명령어를 일일이 기록하는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블랙박스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실행 기록을 다시 돌려보며 악성코드가 정확히 어떤 연산을 수행했는지 분석할 때 매우 유용합니다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모든 기록을 남기면 데이터가 너무 방대해지므로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상황에서만 기록을 시작하는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Conditional Tracing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적절히 활용하는 것이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중요하다고 책의 저자는 덧붙였습니다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1347D-25EE-849E-B8D3-03D953933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098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3529-EC6A-4ED3-B662-BE3B1A66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868B52-5560-6D86-3A6D-DB66A07F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3DFCF1-BB47-3733-8422-22FE32933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Exception</a:t>
            </a:r>
            <a:r>
              <a:rPr lang="ko-KR" altLang="en-US" b="0" dirty="0"/>
              <a:t>이 발생하면 </a:t>
            </a:r>
            <a:r>
              <a:rPr lang="en-US" altLang="ko-KR" dirty="0" err="1"/>
              <a:t>OllyDbg</a:t>
            </a:r>
            <a:r>
              <a:rPr lang="ko-KR" altLang="en-US" dirty="0"/>
              <a:t>가 실행을 멈추는데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이때 분석가는 </a:t>
            </a:r>
            <a:r>
              <a:rPr lang="en-US" altLang="ko-KR" b="1" dirty="0"/>
              <a:t>SHIFT</a:t>
            </a:r>
            <a:r>
              <a:rPr lang="ko-KR" altLang="en-US" dirty="0"/>
              <a:t> 키 조합을 사용해 이 예외를 프로그램 내부의 처리 </a:t>
            </a:r>
            <a:r>
              <a:rPr lang="ko-KR" altLang="en-US" dirty="0" err="1"/>
              <a:t>로직으로</a:t>
            </a:r>
            <a:r>
              <a:rPr lang="ko-KR" altLang="en-US" dirty="0"/>
              <a:t> 넘겨줄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보통 예외 </a:t>
            </a:r>
            <a:r>
              <a:rPr lang="ko-KR" altLang="en-US" dirty="0" err="1"/>
              <a:t>핸들러를</a:t>
            </a:r>
            <a:r>
              <a:rPr lang="ko-KR" altLang="en-US" dirty="0"/>
              <a:t> 끝까지 실행시키는 </a:t>
            </a:r>
            <a:r>
              <a:rPr lang="en-US" altLang="ko-KR" b="1" dirty="0"/>
              <a:t>SHIFT-F9</a:t>
            </a:r>
            <a:r>
              <a:rPr lang="ko-KR" altLang="en-US" dirty="0"/>
              <a:t>를 가장 많이 사용합니다</a:t>
            </a:r>
            <a:r>
              <a:rPr lang="en-US" altLang="ko-KR" dirty="0"/>
              <a:t>.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1347D-25EE-849E-B8D3-03D953933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18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4D71A-3092-0824-5274-58CE9E7D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1A11C7-9B65-AAD6-633D-542514DC8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B7C227-F9E2-65FA-AE70-E15C874F3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코드 </a:t>
            </a:r>
            <a:r>
              <a:rPr lang="ko-KR" altLang="en-US" dirty="0" err="1"/>
              <a:t>패칭은</a:t>
            </a:r>
            <a:r>
              <a:rPr lang="ko-KR" altLang="en-US" dirty="0"/>
              <a:t> 실행 중인 코드를 즉석에서 내용을 바꿔주는 기능을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방법은 간단합니다</a:t>
            </a:r>
            <a:r>
              <a:rPr lang="en-US" altLang="ko-KR" dirty="0"/>
              <a:t>. </a:t>
            </a:r>
            <a:r>
              <a:rPr lang="en-US" altLang="ko-KR" dirty="0" err="1"/>
              <a:t>OllyDbg</a:t>
            </a:r>
            <a:r>
              <a:rPr lang="ko-KR" altLang="en-US" dirty="0"/>
              <a:t>의 </a:t>
            </a:r>
            <a:r>
              <a:rPr lang="en-US" altLang="ko-KR" b="1" dirty="0"/>
              <a:t>Binary Edit</a:t>
            </a:r>
            <a:r>
              <a:rPr lang="ko-KR" altLang="en-US" dirty="0"/>
              <a:t>으로 레지스터나 명령어를 직접 바꿔주면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특히 보안 체크나 암호 확인 루틴을 </a:t>
            </a:r>
            <a:r>
              <a:rPr lang="en-US" altLang="ko-KR" b="1" dirty="0"/>
              <a:t>NOP</a:t>
            </a:r>
            <a:r>
              <a:rPr lang="ko-KR" altLang="en-US" dirty="0"/>
              <a:t>으로 채워버리면</a:t>
            </a:r>
            <a:r>
              <a:rPr lang="en-US" altLang="ko-KR" dirty="0"/>
              <a:t>, </a:t>
            </a:r>
            <a:r>
              <a:rPr lang="ko-KR" altLang="en-US" dirty="0"/>
              <a:t>어떤 조건에서도 </a:t>
            </a:r>
            <a:r>
              <a:rPr lang="ko-KR" altLang="en-US" dirty="0" err="1"/>
              <a:t>무사통과하는</a:t>
            </a:r>
            <a:r>
              <a:rPr lang="ko-KR" altLang="en-US" dirty="0"/>
              <a:t> 프로그램을 만들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이렇게 메모리에서 수정한 내용은 </a:t>
            </a:r>
            <a:r>
              <a:rPr lang="en-US" altLang="ko-KR" b="1" dirty="0"/>
              <a:t>'Copy to Executable'</a:t>
            </a:r>
            <a:r>
              <a:rPr lang="ko-KR" altLang="en-US" dirty="0"/>
              <a:t> 기능을 통해 실제 파일로 저장할 수 있고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이를 통해 영구적으로 조작된 악성코드를 만들어 분석에 활용하게 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2FE04-BC42-84E4-D682-33EFFF0D8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5899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4D71A-3092-0824-5274-58CE9E7D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1A11C7-9B65-AAD6-633D-542514DC8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B7C227-F9E2-65FA-AE70-E15C874F3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 효율을 비약적으로 높여주는 편의 기능과 </a:t>
            </a:r>
            <a:r>
              <a:rPr lang="ko-KR" altLang="en-US" dirty="0" err="1"/>
              <a:t>플러그인을</a:t>
            </a:r>
            <a:r>
              <a:rPr lang="ko-KR" altLang="en-US" dirty="0"/>
              <a:t> 짧게 짚고 넘어가겠습니다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b="1" dirty="0"/>
              <a:t>Assistance </a:t>
            </a:r>
            <a:r>
              <a:rPr lang="ko-KR" altLang="en-US" b="1" dirty="0"/>
              <a:t>기능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로그</a:t>
            </a:r>
            <a:r>
              <a:rPr lang="ko-KR" altLang="en-US" dirty="0"/>
              <a:t>는 분석 중 발생하는 주요 이벤트를 기록해 흐름 파악을 돕고</a:t>
            </a:r>
            <a:r>
              <a:rPr lang="en-US" altLang="ko-KR" dirty="0"/>
              <a:t>, </a:t>
            </a:r>
            <a:r>
              <a:rPr lang="ko-KR" altLang="en-US" b="1" dirty="0" err="1"/>
              <a:t>와치</a:t>
            </a:r>
            <a:r>
              <a:rPr lang="ko-KR" altLang="en-US" b="1" dirty="0"/>
              <a:t> 창</a:t>
            </a:r>
            <a:r>
              <a:rPr lang="ko-KR" altLang="en-US" dirty="0"/>
              <a:t>은</a:t>
            </a:r>
            <a:r>
              <a:rPr lang="ko-KR" altLang="en-US" baseline="0" dirty="0"/>
              <a:t> </a:t>
            </a:r>
            <a:r>
              <a:rPr lang="ko-KR" altLang="en-US" dirty="0"/>
              <a:t>실시간으로 관측할 때 사용합니다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특히 </a:t>
            </a:r>
            <a:r>
              <a:rPr lang="ko-KR" altLang="en-US" b="1" dirty="0" err="1"/>
              <a:t>라벨링</a:t>
            </a:r>
            <a:r>
              <a:rPr lang="ko-KR" altLang="en-US" dirty="0" err="1"/>
              <a:t>은</a:t>
            </a:r>
            <a:r>
              <a:rPr lang="ko-KR" altLang="en-US" dirty="0"/>
              <a:t> 복잡한 주소에 이름을 붙여서 마치 소스코드를 보듯 </a:t>
            </a:r>
            <a:r>
              <a:rPr lang="ko-KR" altLang="en-US" dirty="0" err="1"/>
              <a:t>가독성을</a:t>
            </a:r>
            <a:r>
              <a:rPr lang="ko-KR" altLang="en-US" dirty="0"/>
              <a:t> 높여주는 기능을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다음은 </a:t>
            </a:r>
            <a:r>
              <a:rPr lang="ko-KR" altLang="en-US" b="1" dirty="0"/>
              <a:t>핵심 </a:t>
            </a:r>
            <a:r>
              <a:rPr lang="ko-KR" altLang="en-US" b="1" dirty="0" err="1"/>
              <a:t>플러그인</a:t>
            </a:r>
            <a:r>
              <a:rPr lang="ko-KR" altLang="en-US" dirty="0" err="1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가장</a:t>
            </a:r>
            <a:r>
              <a:rPr lang="ko-KR" altLang="en-US" baseline="0" dirty="0"/>
              <a:t> 기본인</a:t>
            </a:r>
            <a:r>
              <a:rPr lang="ko-KR" altLang="en-US" dirty="0"/>
              <a:t> </a:t>
            </a:r>
            <a:r>
              <a:rPr lang="en-US" altLang="ko-KR" b="1" dirty="0" err="1"/>
              <a:t>OllyDump</a:t>
            </a:r>
            <a:r>
              <a:rPr lang="ko-KR" altLang="en-US" dirty="0"/>
              <a:t>는 메모리에 올라온 데이터를 다시 파일로 저장할 때 쓰는데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ko-KR" altLang="en-US" dirty="0" err="1"/>
              <a:t>언패킹</a:t>
            </a:r>
            <a:r>
              <a:rPr lang="ko-KR" altLang="en-US" dirty="0"/>
              <a:t> 분석 시 필수적이라고 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Hide Debugger</a:t>
            </a:r>
            <a:r>
              <a:rPr lang="ko-KR" altLang="en-US" dirty="0"/>
              <a:t>는 악성코드의 </a:t>
            </a:r>
            <a:r>
              <a:rPr lang="ko-KR" altLang="en-US" dirty="0" err="1"/>
              <a:t>디버거</a:t>
            </a:r>
            <a:r>
              <a:rPr lang="ko-KR" altLang="en-US" dirty="0"/>
              <a:t> 탐지를 우회하고</a:t>
            </a:r>
            <a:r>
              <a:rPr lang="en-US" altLang="ko-KR" dirty="0"/>
              <a:t>, </a:t>
            </a:r>
          </a:p>
          <a:p>
            <a:r>
              <a:rPr lang="ko-KR" altLang="en-US" b="1" dirty="0"/>
              <a:t>커맨드 라인</a:t>
            </a:r>
            <a:r>
              <a:rPr lang="ko-KR" altLang="en-US" dirty="0"/>
              <a:t>은 </a:t>
            </a:r>
            <a:r>
              <a:rPr lang="en-US" altLang="ko-KR" dirty="0"/>
              <a:t>breakpoints </a:t>
            </a:r>
            <a:r>
              <a:rPr lang="ko-KR" altLang="en-US" dirty="0"/>
              <a:t>명령어로 특정 </a:t>
            </a:r>
            <a:r>
              <a:rPr lang="en-US" altLang="ko-KR" dirty="0"/>
              <a:t>API</a:t>
            </a:r>
            <a:r>
              <a:rPr lang="ko-KR" altLang="en-US" dirty="0"/>
              <a:t>에 중단점을 빠르게 걸 때 매우 편리합니다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마지막으로 </a:t>
            </a:r>
            <a:r>
              <a:rPr lang="ko-KR" altLang="en-US" b="1" dirty="0" err="1"/>
              <a:t>북마크</a:t>
            </a:r>
            <a:r>
              <a:rPr lang="ko-KR" altLang="en-US" dirty="0" err="1"/>
              <a:t>를</a:t>
            </a:r>
            <a:r>
              <a:rPr lang="ko-KR" altLang="en-US" dirty="0"/>
              <a:t> 통해 중요한 지점을 저장해두어 분석 시간을 크게 단축할 수 있습니다</a:t>
            </a:r>
            <a:r>
              <a:rPr lang="en-US" altLang="ko-KR" dirty="0"/>
              <a:t>."</a:t>
            </a:r>
          </a:p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2FE04-BC42-84E4-D682-33EFFF0D8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284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41004-868E-1450-8E3C-2F1C9ED3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96F689-86EC-4906-AA25-1A9E32403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25DE64-85D2-D28B-2AF4-6E49FADA7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Olly</a:t>
            </a:r>
            <a:r>
              <a:rPr lang="ko-KR" altLang="en-US" dirty="0" err="1"/>
              <a:t>디버거는</a:t>
            </a:r>
            <a:r>
              <a:rPr lang="ko-KR" altLang="en-US" dirty="0"/>
              <a:t> </a:t>
            </a:r>
            <a:r>
              <a:rPr lang="en-US" altLang="ko-KR" dirty="0"/>
              <a:t>DLL </a:t>
            </a:r>
            <a:r>
              <a:rPr lang="ko-KR" altLang="en-US" dirty="0"/>
              <a:t>파일</a:t>
            </a:r>
            <a:r>
              <a:rPr lang="ko-KR" altLang="en-US" baseline="0" dirty="0"/>
              <a:t> 또한</a:t>
            </a:r>
            <a:r>
              <a:rPr lang="ko-KR" altLang="en-US" dirty="0"/>
              <a:t> 로딩하여 동적 분석을 진행할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근본적으로 </a:t>
            </a:r>
            <a:r>
              <a:rPr lang="en-US" altLang="ko-KR" dirty="0"/>
              <a:t>DLL</a:t>
            </a:r>
            <a:r>
              <a:rPr lang="ko-KR" altLang="en-US" dirty="0"/>
              <a:t>은 독자적으로 실행될 수 없는 구조입니다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그래서 </a:t>
            </a:r>
            <a:r>
              <a:rPr lang="en-US" altLang="ko-KR" dirty="0" err="1"/>
              <a:t>OllyDbg</a:t>
            </a:r>
            <a:r>
              <a:rPr lang="ko-KR" altLang="en-US" dirty="0"/>
              <a:t>는 **</a:t>
            </a:r>
            <a:r>
              <a:rPr lang="en-US" altLang="ko-KR" dirty="0"/>
              <a:t>loaddll.exe**</a:t>
            </a:r>
            <a:r>
              <a:rPr lang="ko-KR" altLang="en-US" dirty="0"/>
              <a:t>라는 일종의 </a:t>
            </a:r>
            <a:r>
              <a:rPr lang="en-US" altLang="ko-KR" dirty="0"/>
              <a:t>＇</a:t>
            </a:r>
            <a:r>
              <a:rPr lang="ko-KR" altLang="en-US" dirty="0"/>
              <a:t>더미 프로그램</a:t>
            </a:r>
            <a:r>
              <a:rPr lang="en-US" altLang="ko-KR" dirty="0"/>
              <a:t>＇</a:t>
            </a:r>
            <a:r>
              <a:rPr lang="ko-KR" altLang="en-US" dirty="0"/>
              <a:t>을 사용하여 우리가 분석하려는 </a:t>
            </a:r>
            <a:r>
              <a:rPr lang="en-US" altLang="ko-KR" dirty="0"/>
              <a:t>DLL</a:t>
            </a:r>
            <a:r>
              <a:rPr lang="ko-KR" altLang="en-US" dirty="0"/>
              <a:t>을 메모리에 올리고 실행할 수 있게 해줍니다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이 기술이 왜 중요할까요</a:t>
            </a:r>
            <a:r>
              <a:rPr lang="en-US" altLang="ko-KR" dirty="0"/>
              <a:t>? </a:t>
            </a:r>
            <a:r>
              <a:rPr lang="ko-KR" altLang="en-US" dirty="0"/>
              <a:t>실제 악성코드는 분석을 까다롭게 하려고 </a:t>
            </a:r>
            <a:r>
              <a:rPr lang="en-US" altLang="ko-KR" dirty="0"/>
              <a:t>DLL </a:t>
            </a:r>
            <a:r>
              <a:rPr lang="ko-KR" altLang="en-US" dirty="0"/>
              <a:t>형태로 제작되는 경우가 많기 때문에</a:t>
            </a:r>
            <a:endParaRPr lang="en-US" altLang="ko-KR" dirty="0"/>
          </a:p>
          <a:p>
            <a:r>
              <a:rPr lang="ko-KR" altLang="en-US" dirty="0"/>
              <a:t>이런 방식을 통해 단독 실행 파일이 아닌 악성코드도 유저 모드에서 안전하게 가두고 그 동작을 하나하나 추적할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740799-C56E-B565-D06A-A67724431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109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41004-868E-1450-8E3C-2F1C9ED3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96F689-86EC-4906-AA25-1A9E32403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25DE64-85D2-D28B-2AF4-6E49FADA7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DLL </a:t>
            </a:r>
            <a:r>
              <a:rPr lang="ko-KR" altLang="en-US" dirty="0"/>
              <a:t>내부에는 외부에 공개된 여러 </a:t>
            </a:r>
            <a:r>
              <a:rPr lang="en-US" altLang="ko-KR" dirty="0"/>
              <a:t>Export</a:t>
            </a:r>
            <a:r>
              <a:rPr lang="ko-KR" altLang="en-US" dirty="0"/>
              <a:t>들이 있습니다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OllyDbg</a:t>
            </a:r>
            <a:r>
              <a:rPr lang="ko-KR" altLang="en-US" dirty="0"/>
              <a:t>의 </a:t>
            </a:r>
            <a:r>
              <a:rPr lang="en-US" altLang="ko-KR" b="1" dirty="0"/>
              <a:t>'Call export'</a:t>
            </a:r>
            <a:r>
              <a:rPr lang="ko-KR" altLang="en-US" dirty="0"/>
              <a:t> 기능을 사용하면 특정 함수만 콕 집어서 실행해 볼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보이시는 사진처럼 함수에 들어갈 </a:t>
            </a:r>
            <a:r>
              <a:rPr lang="ko-KR" altLang="en-US" dirty="0" err="1"/>
              <a:t>인자값들을</a:t>
            </a:r>
            <a:r>
              <a:rPr lang="ko-KR" altLang="en-US" dirty="0"/>
              <a:t> 직접 입력하고 실행하면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그 결과가 레지스터에 어떻게 남는지 바로 확인할 수 있어 특정 </a:t>
            </a:r>
            <a:r>
              <a:rPr lang="ko-KR" altLang="en-US" dirty="0" err="1"/>
              <a:t>로직만</a:t>
            </a:r>
            <a:r>
              <a:rPr lang="ko-KR" altLang="en-US" dirty="0"/>
              <a:t> 따로 떼어 분석할 때 매우 유용합니다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740799-C56E-B565-D06A-A67724431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2895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이제 앞서 </a:t>
            </a:r>
            <a:r>
              <a:rPr lang="ko-KR" altLang="en-US" b="0" dirty="0" err="1"/>
              <a:t>소개드린</a:t>
            </a:r>
            <a:r>
              <a:rPr lang="ko-KR" altLang="en-US" b="0" dirty="0"/>
              <a:t> 기능들을 토대로 </a:t>
            </a:r>
            <a:r>
              <a:rPr lang="en-US" altLang="ko-KR" b="0" dirty="0"/>
              <a:t>Lab</a:t>
            </a:r>
            <a:r>
              <a:rPr lang="en-US" altLang="ko-KR" b="0" baseline="0" dirty="0"/>
              <a:t> </a:t>
            </a:r>
            <a:r>
              <a:rPr lang="ko-KR" altLang="en-US" b="0" baseline="0" dirty="0"/>
              <a:t>문제 풀이를 진행해보겠습니다</a:t>
            </a:r>
            <a:r>
              <a:rPr lang="en-US" altLang="ko-KR" b="0" baseline="0" dirty="0"/>
              <a:t>.</a:t>
            </a:r>
            <a:endParaRPr lang="en-US" altLang="ko-KR" b="0" dirty="0"/>
          </a:p>
          <a:p>
            <a:r>
              <a:rPr lang="ko-KR" altLang="en-US" b="0" dirty="0"/>
              <a:t>우선 </a:t>
            </a:r>
            <a:r>
              <a:rPr lang="en-US" altLang="ko-KR" b="0" dirty="0"/>
              <a:t>Lab </a:t>
            </a:r>
            <a:r>
              <a:rPr lang="ko-KR" altLang="en-US" b="0" dirty="0"/>
              <a:t>문제의 지시대로 </a:t>
            </a:r>
            <a:r>
              <a:rPr lang="en-US" altLang="ko-KR" b="0" dirty="0"/>
              <a:t>Lab9-2.exe</a:t>
            </a:r>
            <a:r>
              <a:rPr lang="ko-KR" altLang="en-US" b="0" dirty="0"/>
              <a:t>에 해당하는 파일을 </a:t>
            </a:r>
            <a:r>
              <a:rPr lang="en-US" altLang="ko-KR" b="0" dirty="0" err="1"/>
              <a:t>OllyDbg</a:t>
            </a:r>
            <a:r>
              <a:rPr lang="ko-KR" altLang="en-US" b="0" dirty="0"/>
              <a:t>를 통해 </a:t>
            </a:r>
            <a:r>
              <a:rPr lang="en-US" altLang="ko-KR" b="0" dirty="0"/>
              <a:t>Open </a:t>
            </a:r>
            <a:r>
              <a:rPr lang="ko-KR" altLang="en-US" b="0" dirty="0"/>
              <a:t>하였습니다</a:t>
            </a:r>
            <a:r>
              <a:rPr lang="en-US" altLang="ko-KR" b="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151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첫번째</a:t>
            </a:r>
            <a:r>
              <a:rPr lang="ko-KR" altLang="en-US" dirty="0"/>
              <a:t> </a:t>
            </a:r>
            <a:r>
              <a:rPr lang="en-US" altLang="ko-KR" dirty="0"/>
              <a:t>What Strings</a:t>
            </a:r>
            <a:r>
              <a:rPr lang="en-US" altLang="ko-KR" baseline="0" dirty="0"/>
              <a:t> do you see statically in the binary? </a:t>
            </a:r>
            <a:r>
              <a:rPr lang="ko-KR" altLang="en-US" baseline="0" dirty="0"/>
              <a:t>의 질문에 답하기 위해 우선 </a:t>
            </a:r>
            <a:r>
              <a:rPr lang="en-US" altLang="ko-KR" baseline="0" dirty="0"/>
              <a:t>Run</a:t>
            </a:r>
            <a:r>
              <a:rPr lang="ko-KR" altLang="en-US" baseline="0" dirty="0"/>
              <a:t>을 해보았습니다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하지만</a:t>
            </a:r>
            <a:r>
              <a:rPr lang="en-US" altLang="ko-KR" baseline="0" dirty="0"/>
              <a:t>, </a:t>
            </a:r>
            <a:r>
              <a:rPr lang="ko-KR" altLang="en-US" baseline="0" dirty="0"/>
              <a:t>즉각적으로 종료되어 버리는 것을 확인 할 수 있었습니다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그래서 다음으로 </a:t>
            </a:r>
            <a:r>
              <a:rPr lang="en-US" altLang="ko-KR" dirty="0" err="1"/>
              <a:t>OllyDbg</a:t>
            </a:r>
            <a:r>
              <a:rPr lang="ko-KR" altLang="en-US" dirty="0"/>
              <a:t>의 </a:t>
            </a:r>
            <a:r>
              <a:rPr lang="en-US" altLang="ko-KR" b="1" dirty="0"/>
              <a:t>＇All referenced text strings＇</a:t>
            </a:r>
            <a:r>
              <a:rPr lang="ko-KR" altLang="en-US" dirty="0"/>
              <a:t> 기능을 통해 바이너리 내부를 들여다</a:t>
            </a:r>
            <a:r>
              <a:rPr lang="ko-KR" altLang="en-US" baseline="0" dirty="0"/>
              <a:t> 보았습</a:t>
            </a:r>
            <a:r>
              <a:rPr lang="ko-KR" altLang="en-US" dirty="0"/>
              <a:t>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가장 눈에 띄는 것은 **</a:t>
            </a:r>
            <a:r>
              <a:rPr lang="en-US" altLang="ko-KR" dirty="0"/>
              <a:t>"</a:t>
            </a:r>
            <a:r>
              <a:rPr lang="en-US" altLang="ko-KR" dirty="0" err="1"/>
              <a:t>cmd</a:t>
            </a:r>
            <a:r>
              <a:rPr lang="en-US" altLang="ko-KR" dirty="0"/>
              <a:t>"**</a:t>
            </a:r>
            <a:r>
              <a:rPr lang="ko-KR" altLang="en-US" dirty="0"/>
              <a:t>라는 문자열이었습니다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이를 통해 이 악성코드가 명령 프롬프트를 실행해 원격 제어를 시도할 것임을 짐작할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**user32.dll**</a:t>
            </a:r>
            <a:r>
              <a:rPr lang="ko-KR" altLang="en-US" dirty="0"/>
              <a:t>이나 </a:t>
            </a:r>
            <a:r>
              <a:rPr lang="en-US" altLang="ko-KR" b="1" dirty="0" err="1"/>
              <a:t>MessageBoxA</a:t>
            </a:r>
            <a:r>
              <a:rPr lang="ko-KR" altLang="en-US" dirty="0"/>
              <a:t> 같은 </a:t>
            </a:r>
            <a:r>
              <a:rPr lang="en-US" altLang="ko-KR" dirty="0"/>
              <a:t>API</a:t>
            </a:r>
            <a:r>
              <a:rPr lang="ko-KR" altLang="en-US" dirty="0"/>
              <a:t>들이 포착되어 화면 제어 기능이 있음을 알 수 있고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컴파일러가 기본적으로 넣는 </a:t>
            </a:r>
            <a:r>
              <a:rPr lang="en-US" altLang="ko-KR" b="1" dirty="0"/>
              <a:t>Runtime Error</a:t>
            </a:r>
            <a:r>
              <a:rPr lang="ko-KR" altLang="en-US" dirty="0"/>
              <a:t> 관련 문자열들도 확인됩니다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여기서 가장 중요한 포인트는 </a:t>
            </a:r>
            <a:r>
              <a:rPr lang="ko-KR" altLang="en-US" b="1" dirty="0"/>
              <a:t>도메인이나 </a:t>
            </a:r>
            <a:r>
              <a:rPr lang="en-US" altLang="ko-KR" b="1" dirty="0"/>
              <a:t>IP </a:t>
            </a:r>
            <a:r>
              <a:rPr lang="ko-KR" altLang="en-US" b="1" dirty="0"/>
              <a:t>주소 같은 결정적인 공격 정보가 전혀 보이지 않는다</a:t>
            </a:r>
            <a:r>
              <a:rPr lang="ko-KR" altLang="en-US" dirty="0"/>
              <a:t>는 점입니다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이는 핵심 정보가 암호화되어 숨겨져 있다는 뜻이고</a:t>
            </a:r>
            <a:r>
              <a:rPr lang="en-US" altLang="ko-KR" dirty="0"/>
              <a:t>, </a:t>
            </a:r>
            <a:r>
              <a:rPr lang="ko-KR" altLang="en-US" dirty="0"/>
              <a:t>이어지는 질문들에서 찾아낼 수 있을 것이라고 생각했습니다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018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What happens when you run this binary?</a:t>
            </a:r>
          </a:p>
          <a:p>
            <a:r>
              <a:rPr lang="en-US" altLang="ko-KR" b="0" dirty="0"/>
              <a:t>Lab09-02.exe</a:t>
            </a:r>
            <a:r>
              <a:rPr lang="en-US" altLang="ko-KR" b="0" baseline="0" dirty="0"/>
              <a:t> </a:t>
            </a:r>
            <a:r>
              <a:rPr lang="ko-KR" altLang="en-US" b="0" baseline="0" dirty="0"/>
              <a:t>파일을 열어 실행해보았을 때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앞에서 </a:t>
            </a:r>
            <a:r>
              <a:rPr lang="ko-KR" altLang="en-US" b="0" baseline="0" dirty="0" err="1"/>
              <a:t>말씀드렸듯이</a:t>
            </a:r>
            <a:r>
              <a:rPr lang="ko-KR" altLang="en-US" b="0" baseline="0" dirty="0"/>
              <a:t> 바로 종료되었습니다</a:t>
            </a:r>
            <a:r>
              <a:rPr lang="en-US" altLang="ko-KR" b="0" baseline="0" dirty="0"/>
              <a:t>.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1753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그래서 다음 문제를 </a:t>
            </a:r>
            <a:r>
              <a:rPr lang="ko-KR" altLang="en-US" b="0" dirty="0" err="1"/>
              <a:t>따라가다보면</a:t>
            </a:r>
            <a:r>
              <a:rPr lang="ko-KR" altLang="en-US" b="0" dirty="0"/>
              <a:t> 답이 있을 것이라고 생각하여 다음</a:t>
            </a:r>
            <a:r>
              <a:rPr lang="ko-KR" altLang="en-US" b="0" baseline="0" dirty="0"/>
              <a:t> 문제로 넘어갔습니다</a:t>
            </a:r>
            <a:r>
              <a:rPr lang="en-US" altLang="ko-KR" b="0" baseline="0" dirty="0"/>
              <a:t>.</a:t>
            </a:r>
            <a:br>
              <a:rPr lang="en-US" altLang="ko-KR" b="0" dirty="0"/>
            </a:br>
            <a:r>
              <a:rPr lang="en-US" altLang="ko-KR" b="0" dirty="0"/>
              <a:t>How</a:t>
            </a:r>
            <a:r>
              <a:rPr lang="en-US" altLang="ko-KR" b="0" baseline="0" dirty="0"/>
              <a:t> can you get this sample to run its malicious payload?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바로 종료되는 파일을 어떻게든 실행시키는 문제입니다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dirty="0"/>
              <a:t>그래서 </a:t>
            </a:r>
            <a:r>
              <a:rPr lang="en-US" altLang="ko-KR" b="0" dirty="0"/>
              <a:t>binary</a:t>
            </a:r>
            <a:r>
              <a:rPr lang="ko-KR" altLang="en-US" b="0" dirty="0"/>
              <a:t>를 보던 중</a:t>
            </a:r>
            <a:r>
              <a:rPr lang="en-US" altLang="ko-KR" b="0" dirty="0"/>
              <a:t>,</a:t>
            </a:r>
            <a:r>
              <a:rPr lang="en-US" altLang="ko-KR" b="0" baseline="0" dirty="0"/>
              <a:t> </a:t>
            </a:r>
            <a:r>
              <a:rPr lang="ko-KR" altLang="en-US" b="0" baseline="0" dirty="0"/>
              <a:t>이름을 가져온 뒤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일치하면 여기로 점프하라는 </a:t>
            </a:r>
            <a:r>
              <a:rPr lang="en-US" altLang="ko-KR" b="0" baseline="0" dirty="0"/>
              <a:t>JE (Jump if Equal)</a:t>
            </a:r>
            <a:r>
              <a:rPr lang="ko-KR" altLang="en-US" b="0" baseline="0" dirty="0"/>
              <a:t>이 있었습니다</a:t>
            </a:r>
            <a:r>
              <a:rPr lang="en-US" altLang="ko-KR" b="0" baseline="0" dirty="0"/>
              <a:t>. </a:t>
            </a:r>
            <a:r>
              <a:rPr lang="ko-KR" altLang="en-US" b="0" baseline="0" dirty="0"/>
              <a:t>아 그래서 이름을 비교한 뒤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같으면 </a:t>
            </a:r>
            <a:r>
              <a:rPr lang="en-US" altLang="ko-KR" b="0" baseline="0" dirty="0"/>
              <a:t>payload</a:t>
            </a:r>
            <a:r>
              <a:rPr lang="ko-KR" altLang="en-US" b="0" baseline="0" dirty="0"/>
              <a:t>가 실행되게 되고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아니면 숨어있으면서 바로 종료시켜버리는구나 </a:t>
            </a:r>
            <a:r>
              <a:rPr lang="ko-KR" altLang="en-US" b="0" baseline="0" dirty="0" err="1"/>
              <a:t>생각하게됩니다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그래서 앞선 내용에서 말씀 드린 </a:t>
            </a:r>
            <a:r>
              <a:rPr lang="en-US" altLang="ko-KR" b="0" baseline="0" dirty="0"/>
              <a:t>Code Patching </a:t>
            </a:r>
            <a:r>
              <a:rPr lang="ko-KR" altLang="en-US" b="0" baseline="0" dirty="0"/>
              <a:t>기능을 통해 무조건 </a:t>
            </a:r>
            <a:r>
              <a:rPr lang="en-US" altLang="ko-KR" b="0" baseline="0" dirty="0"/>
              <a:t>Jump </a:t>
            </a:r>
            <a:r>
              <a:rPr lang="ko-KR" altLang="en-US" b="0" baseline="0" dirty="0"/>
              <a:t>하게 하는 </a:t>
            </a:r>
            <a:r>
              <a:rPr lang="en-US" altLang="ko-KR" b="0" baseline="0" dirty="0"/>
              <a:t>JMP</a:t>
            </a:r>
            <a:r>
              <a:rPr lang="ko-KR" altLang="en-US" b="0" baseline="0" dirty="0"/>
              <a:t>로 바꾸어줍니다</a:t>
            </a:r>
            <a:r>
              <a:rPr lang="en-US" altLang="ko-KR" b="0" baseline="0" dirty="0"/>
              <a:t>. </a:t>
            </a:r>
            <a:br>
              <a:rPr lang="en-US" altLang="ko-KR" b="0" baseline="0" dirty="0"/>
            </a:br>
            <a:br>
              <a:rPr lang="en-US" altLang="ko-KR" b="0" baseline="0" dirty="0"/>
            </a:br>
            <a:r>
              <a:rPr lang="ko-KR" altLang="en-US" b="0" baseline="0" dirty="0"/>
              <a:t>이제 어떠한 이름이 와도 </a:t>
            </a:r>
            <a:r>
              <a:rPr lang="en-US" altLang="ko-KR" b="0" baseline="0" dirty="0"/>
              <a:t>Jump</a:t>
            </a:r>
            <a:r>
              <a:rPr lang="ko-KR" altLang="en-US" b="0" baseline="0" dirty="0"/>
              <a:t>되어 </a:t>
            </a:r>
            <a:r>
              <a:rPr lang="en-US" altLang="ko-KR" b="0" baseline="0" dirty="0"/>
              <a:t>Payload</a:t>
            </a:r>
            <a:r>
              <a:rPr lang="ko-KR" altLang="en-US" b="0" baseline="0" dirty="0"/>
              <a:t>가 실행되게 됩니다</a:t>
            </a:r>
            <a:r>
              <a:rPr lang="en-US" altLang="ko-KR" b="0" baseline="0" dirty="0"/>
              <a:t>.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804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What</a:t>
            </a:r>
            <a:r>
              <a:rPr lang="en-US" altLang="ko-KR" b="0" baseline="0" dirty="0"/>
              <a:t> is happening at 0x00401133? 4</a:t>
            </a:r>
            <a:r>
              <a:rPr lang="ko-KR" altLang="en-US" b="0" baseline="0" dirty="0"/>
              <a:t>번 문제는 </a:t>
            </a:r>
            <a:r>
              <a:rPr lang="en-US" altLang="ko-KR" b="0" baseline="0" dirty="0"/>
              <a:t>3</a:t>
            </a:r>
            <a:r>
              <a:rPr lang="ko-KR" altLang="en-US" b="0" baseline="0" dirty="0"/>
              <a:t>번의 해결 방법과 관련이 있습니다</a:t>
            </a:r>
            <a:endParaRPr lang="en-US" altLang="ko-KR" b="0" baseline="0" dirty="0"/>
          </a:p>
          <a:p>
            <a:r>
              <a:rPr lang="ko-KR" altLang="en-US" b="0" baseline="0" dirty="0"/>
              <a:t>이 </a:t>
            </a:r>
            <a:r>
              <a:rPr lang="ko-KR" altLang="en-US" b="0" baseline="0" dirty="0" err="1"/>
              <a:t>주소값으로</a:t>
            </a:r>
            <a:r>
              <a:rPr lang="ko-KR" altLang="en-US" b="0" baseline="0" dirty="0"/>
              <a:t> </a:t>
            </a:r>
            <a:r>
              <a:rPr lang="ko-KR" altLang="en-US" b="0" baseline="0" dirty="0" err="1"/>
              <a:t>부터의</a:t>
            </a:r>
            <a:r>
              <a:rPr lang="ko-KR" altLang="en-US" b="0" baseline="0" dirty="0"/>
              <a:t> 바이너리를 보시면</a:t>
            </a:r>
            <a:r>
              <a:rPr lang="en-US" altLang="ko-KR" b="0" baseline="0" dirty="0"/>
              <a:t>, </a:t>
            </a:r>
          </a:p>
          <a:p>
            <a:r>
              <a:rPr lang="en-US" altLang="ko-KR" b="0" baseline="0" dirty="0"/>
              <a:t>MOV BYTE PTR</a:t>
            </a:r>
            <a:r>
              <a:rPr lang="ko-KR" altLang="en-US" b="0" baseline="0" dirty="0"/>
              <a:t> </a:t>
            </a:r>
            <a:r>
              <a:rPr lang="en-US" altLang="ko-KR" b="0" baseline="0" dirty="0"/>
              <a:t>[EBP-xx]</a:t>
            </a:r>
            <a:r>
              <a:rPr lang="ko-KR" altLang="en-US" b="0" baseline="0" dirty="0"/>
              <a:t>의 경우 </a:t>
            </a:r>
            <a:r>
              <a:rPr lang="en-US" altLang="ko-KR" b="0" baseline="0" dirty="0"/>
              <a:t>BYTE PTR</a:t>
            </a:r>
            <a:r>
              <a:rPr lang="ko-KR" altLang="en-US" b="0" baseline="0" dirty="0"/>
              <a:t> </a:t>
            </a:r>
            <a:r>
              <a:rPr lang="en-US" altLang="ko-KR" b="0" baseline="0" dirty="0"/>
              <a:t>[EBP-..]</a:t>
            </a:r>
            <a:r>
              <a:rPr lang="ko-KR" altLang="en-US" b="0" baseline="0" dirty="0"/>
              <a:t>에 특정 값을 저장하라는 뜻으로 파일 이름 비교를 위해 재료를 준비하는 과정으로 볼 수 있을 것 같습니다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dirty="0"/>
              <a:t>그리고 이를 통해 유추해 볼 수 있는 부분이 </a:t>
            </a:r>
            <a:r>
              <a:rPr lang="en-US" altLang="ko-KR" b="0" dirty="0"/>
              <a:t>ocl.exe</a:t>
            </a:r>
            <a:r>
              <a:rPr lang="ko-KR" altLang="en-US" b="0" dirty="0"/>
              <a:t>가 원래 찾던 파일 이름이고</a:t>
            </a:r>
            <a:r>
              <a:rPr lang="en-US" altLang="ko-KR" b="0" dirty="0"/>
              <a:t>, </a:t>
            </a:r>
            <a:r>
              <a:rPr lang="ko-KR" altLang="en-US" b="0" dirty="0"/>
              <a:t>만약 지금 실행 중인 이 파일을 </a:t>
            </a:r>
            <a:r>
              <a:rPr lang="en-US" altLang="ko-KR" b="0" dirty="0"/>
              <a:t>ocl.exe</a:t>
            </a:r>
            <a:r>
              <a:rPr lang="ko-KR" altLang="en-US" b="0" dirty="0"/>
              <a:t>로 바꾸면</a:t>
            </a:r>
            <a:r>
              <a:rPr lang="en-US" altLang="ko-KR" b="0" dirty="0"/>
              <a:t>,</a:t>
            </a:r>
          </a:p>
          <a:p>
            <a:r>
              <a:rPr lang="en-US" altLang="ko-KR" b="0" dirty="0"/>
              <a:t>3</a:t>
            </a:r>
            <a:r>
              <a:rPr lang="ko-KR" altLang="en-US" b="0" dirty="0"/>
              <a:t>번에서 진행한 과정 없이도 </a:t>
            </a:r>
            <a:r>
              <a:rPr lang="en-US" altLang="ko-KR" b="0" dirty="0"/>
              <a:t>payload</a:t>
            </a:r>
            <a:r>
              <a:rPr lang="ko-KR" altLang="en-US" b="0" dirty="0"/>
              <a:t>를 실행 할 수 있을 것으로 생각됩니다</a:t>
            </a:r>
            <a:r>
              <a:rPr lang="en-US" altLang="ko-KR" b="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1745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다음 문제는 </a:t>
            </a:r>
            <a:r>
              <a:rPr lang="ko-KR" altLang="en-US" b="0" dirty="0" err="1"/>
              <a:t>형광펜으로</a:t>
            </a:r>
            <a:r>
              <a:rPr lang="ko-KR" altLang="en-US" b="0" dirty="0"/>
              <a:t> 표시된 저 </a:t>
            </a:r>
            <a:r>
              <a:rPr lang="en-US" altLang="ko-KR" b="0" dirty="0"/>
              <a:t>subroutine</a:t>
            </a:r>
            <a:r>
              <a:rPr lang="ko-KR" altLang="en-US" b="0" dirty="0"/>
              <a:t>에서 어떠한 </a:t>
            </a:r>
            <a:r>
              <a:rPr lang="en-US" altLang="ko-KR" b="0" dirty="0" err="1"/>
              <a:t>arugments</a:t>
            </a:r>
            <a:r>
              <a:rPr lang="ko-KR" altLang="en-US" b="0" dirty="0"/>
              <a:t>들이 </a:t>
            </a:r>
            <a:r>
              <a:rPr lang="ko-KR" altLang="en-US" b="0" dirty="0" err="1"/>
              <a:t>지나갔나에</a:t>
            </a:r>
            <a:r>
              <a:rPr lang="ko-KR" altLang="en-US" b="0" dirty="0"/>
              <a:t> 대한 질문입니다</a:t>
            </a:r>
            <a:r>
              <a:rPr lang="en-US" altLang="ko-KR" b="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0717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우선 여기 주소로 가서 </a:t>
            </a:r>
            <a:r>
              <a:rPr lang="en-US" altLang="ko-KR" b="0" dirty="0"/>
              <a:t>F2</a:t>
            </a:r>
            <a:r>
              <a:rPr lang="ko-KR" altLang="en-US" b="0" dirty="0"/>
              <a:t>를 눌러 </a:t>
            </a:r>
            <a:r>
              <a:rPr lang="en-US" altLang="ko-KR" b="0" dirty="0"/>
              <a:t>Breakpoint</a:t>
            </a:r>
            <a:r>
              <a:rPr lang="ko-KR" altLang="en-US" b="0" dirty="0"/>
              <a:t>를 걸어줍니다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그리고 다시 </a:t>
            </a:r>
            <a:r>
              <a:rPr lang="en-US" altLang="ko-KR" b="0" dirty="0"/>
              <a:t>F9</a:t>
            </a:r>
            <a:r>
              <a:rPr lang="ko-KR" altLang="en-US" b="0" dirty="0"/>
              <a:t>를 눌러 </a:t>
            </a:r>
            <a:r>
              <a:rPr lang="en-US" altLang="ko-KR" b="0" dirty="0"/>
              <a:t>Run</a:t>
            </a:r>
            <a:r>
              <a:rPr lang="ko-KR" altLang="en-US" b="0" dirty="0"/>
              <a:t>을 하면 </a:t>
            </a:r>
            <a:r>
              <a:rPr lang="en-US" altLang="ko-KR" b="0" dirty="0"/>
              <a:t>Breakpoint</a:t>
            </a:r>
            <a:r>
              <a:rPr lang="ko-KR" altLang="en-US" b="0" dirty="0"/>
              <a:t>에서 멈추고 그때까지의 </a:t>
            </a:r>
            <a:r>
              <a:rPr lang="en-US" altLang="ko-KR" b="0" dirty="0"/>
              <a:t>statements</a:t>
            </a:r>
            <a:r>
              <a:rPr lang="ko-KR" altLang="en-US" b="0" dirty="0"/>
              <a:t>가 </a:t>
            </a:r>
            <a:r>
              <a:rPr lang="en-US" altLang="ko-KR" b="0" dirty="0"/>
              <a:t>Stack</a:t>
            </a:r>
            <a:r>
              <a:rPr lang="ko-KR" altLang="en-US" b="0" dirty="0"/>
              <a:t>에 정보가 남게 됩니다</a:t>
            </a:r>
            <a:r>
              <a:rPr lang="en-US" altLang="ko-KR" b="0" dirty="0"/>
              <a:t>.</a:t>
            </a:r>
          </a:p>
          <a:p>
            <a:endParaRPr lang="en-US" altLang="ko-KR" b="0" dirty="0"/>
          </a:p>
          <a:p>
            <a:r>
              <a:rPr lang="en-US" altLang="ko-KR" b="0" dirty="0"/>
              <a:t>Stack </a:t>
            </a:r>
            <a:r>
              <a:rPr lang="ko-KR" altLang="en-US" b="0" dirty="0"/>
              <a:t>창을 보면 </a:t>
            </a:r>
            <a:r>
              <a:rPr lang="ko-KR" altLang="en-US" b="0" dirty="0" err="1"/>
              <a:t>복호화</a:t>
            </a:r>
            <a:r>
              <a:rPr lang="ko-KR" altLang="en-US" b="0" dirty="0"/>
              <a:t> </a:t>
            </a:r>
            <a:r>
              <a:rPr lang="en-US" altLang="ko-KR" b="0" dirty="0"/>
              <a:t>XOR</a:t>
            </a:r>
            <a:r>
              <a:rPr lang="ko-KR" altLang="en-US" b="0" dirty="0"/>
              <a:t> 키로 보이는 문자열과 </a:t>
            </a:r>
            <a:r>
              <a:rPr lang="en-US" altLang="ko-KR" b="0" dirty="0"/>
              <a:t>Key</a:t>
            </a:r>
            <a:r>
              <a:rPr lang="ko-KR" altLang="en-US" b="0" dirty="0"/>
              <a:t>를 가진 주소로 보이는 정보들을 알 수 있게 됩니다</a:t>
            </a:r>
            <a:r>
              <a:rPr lang="en-US" altLang="ko-KR" b="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4165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6</a:t>
            </a:r>
            <a:r>
              <a:rPr lang="ko-KR" altLang="en-US" b="0" dirty="0"/>
              <a:t>번째 문제는 이 </a:t>
            </a:r>
            <a:r>
              <a:rPr lang="en-US" altLang="ko-KR" b="0" dirty="0"/>
              <a:t>malware</a:t>
            </a:r>
            <a:r>
              <a:rPr lang="ko-KR" altLang="en-US" b="0" dirty="0"/>
              <a:t>가 사용된 </a:t>
            </a:r>
            <a:r>
              <a:rPr lang="en-US" altLang="ko-KR" b="0" dirty="0" err="1"/>
              <a:t>domai</a:t>
            </a:r>
            <a:r>
              <a:rPr lang="ko-KR" altLang="en-US" b="0" dirty="0"/>
              <a:t>의 이름은 무엇이냐는 것입니다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앞서 </a:t>
            </a:r>
            <a:r>
              <a:rPr lang="en-US" altLang="ko-KR" b="0" dirty="0"/>
              <a:t>XOR</a:t>
            </a:r>
            <a:r>
              <a:rPr lang="en-US" altLang="ko-KR" b="0" baseline="0" dirty="0"/>
              <a:t> </a:t>
            </a:r>
            <a:r>
              <a:rPr lang="ko-KR" altLang="en-US" b="0" baseline="0" dirty="0" err="1"/>
              <a:t>복호화</a:t>
            </a:r>
            <a:r>
              <a:rPr lang="ko-KR" altLang="en-US" b="0" baseline="0" dirty="0"/>
              <a:t> 키와 관련된 </a:t>
            </a:r>
            <a:r>
              <a:rPr lang="ko-KR" altLang="en-US" b="0" baseline="0" dirty="0" err="1"/>
              <a:t>첫번째</a:t>
            </a:r>
            <a:r>
              <a:rPr lang="ko-KR" altLang="en-US" b="0" baseline="0" dirty="0"/>
              <a:t> 인자 아래의 </a:t>
            </a:r>
            <a:r>
              <a:rPr lang="ko-KR" altLang="en-US" b="0" baseline="0" dirty="0" err="1"/>
              <a:t>두번째</a:t>
            </a:r>
            <a:r>
              <a:rPr lang="ko-KR" altLang="en-US" b="0" baseline="0" dirty="0"/>
              <a:t> </a:t>
            </a:r>
            <a:r>
              <a:rPr lang="ko-KR" altLang="en-US" b="0" baseline="0" dirty="0" err="1"/>
              <a:t>인자값을</a:t>
            </a:r>
            <a:r>
              <a:rPr lang="ko-KR" altLang="en-US" b="0" baseline="0" dirty="0"/>
              <a:t> 주목해서 따라가보면</a:t>
            </a:r>
            <a:r>
              <a:rPr lang="en-US" altLang="ko-KR" b="0" baseline="0" dirty="0"/>
              <a:t>,</a:t>
            </a:r>
          </a:p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8401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Hex dump </a:t>
            </a:r>
            <a:r>
              <a:rPr lang="ko-KR" altLang="en-US" b="0" dirty="0"/>
              <a:t>값을 보면 현재는 읽을 수 없는 암호 데이터로 되어 있습니다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그 상태에서 </a:t>
            </a:r>
            <a:r>
              <a:rPr lang="en-US" altLang="ko-KR" b="0" dirty="0" err="1"/>
              <a:t>Crtl</a:t>
            </a:r>
            <a:r>
              <a:rPr lang="en-US" altLang="ko-KR" b="0" baseline="0" dirty="0"/>
              <a:t> + F9</a:t>
            </a:r>
            <a:r>
              <a:rPr lang="ko-KR" altLang="en-US" b="0" baseline="0" dirty="0"/>
              <a:t>를 눌러 함수가 </a:t>
            </a:r>
            <a:r>
              <a:rPr lang="en-US" altLang="ko-KR" b="0" baseline="0" dirty="0"/>
              <a:t>Return </a:t>
            </a:r>
            <a:r>
              <a:rPr lang="ko-KR" altLang="en-US" b="0" baseline="0" dirty="0"/>
              <a:t>직전까지 모두 진행되게 하여 </a:t>
            </a:r>
            <a:r>
              <a:rPr lang="en-US" altLang="ko-KR" b="0" baseline="0" dirty="0"/>
              <a:t>XOR</a:t>
            </a:r>
            <a:r>
              <a:rPr lang="ko-KR" altLang="en-US" b="0" baseline="0" dirty="0"/>
              <a:t> </a:t>
            </a:r>
            <a:r>
              <a:rPr lang="ko-KR" altLang="en-US" b="0" baseline="0" dirty="0" err="1"/>
              <a:t>복호화</a:t>
            </a:r>
            <a:r>
              <a:rPr lang="ko-KR" altLang="en-US" b="0" baseline="0" dirty="0"/>
              <a:t> 연산이 모두 진행 된 결과를 확인하게 되면</a:t>
            </a:r>
            <a:endParaRPr lang="en-US" altLang="ko-KR" b="0" baseline="0" dirty="0"/>
          </a:p>
          <a:p>
            <a:r>
              <a:rPr lang="ko-KR" altLang="en-US" b="0" baseline="0" dirty="0"/>
              <a:t>보이시는 것처럼 </a:t>
            </a:r>
            <a:r>
              <a:rPr lang="en-US" altLang="ko-KR" b="0" baseline="0" dirty="0"/>
              <a:t>www.practicalmalwareanalysis.com </a:t>
            </a:r>
            <a:r>
              <a:rPr lang="ko-KR" altLang="en-US" b="0" baseline="0" dirty="0"/>
              <a:t>이라는 주소가 보이게 됩니다</a:t>
            </a:r>
            <a:r>
              <a:rPr lang="en-US" altLang="ko-KR" b="0" baseline="0" dirty="0"/>
              <a:t>.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759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다음 문제는 </a:t>
            </a:r>
            <a:r>
              <a:rPr lang="en-US" altLang="ko-KR" b="0" dirty="0"/>
              <a:t>domain</a:t>
            </a:r>
            <a:r>
              <a:rPr lang="en-US" altLang="ko-KR" b="0" baseline="0" dirty="0"/>
              <a:t> name</a:t>
            </a:r>
            <a:r>
              <a:rPr lang="ko-KR" altLang="en-US" b="0" baseline="0" dirty="0"/>
              <a:t>을 난독화 하기 위해 어떤 </a:t>
            </a:r>
            <a:r>
              <a:rPr lang="en-US" altLang="ko-KR" b="0" baseline="0" dirty="0"/>
              <a:t>encoding routine</a:t>
            </a:r>
            <a:r>
              <a:rPr lang="ko-KR" altLang="en-US" b="0" baseline="0" dirty="0"/>
              <a:t>이 </a:t>
            </a:r>
            <a:r>
              <a:rPr lang="ko-KR" altLang="en-US" b="0" baseline="0" dirty="0" err="1"/>
              <a:t>사용되었냐에</a:t>
            </a:r>
            <a:r>
              <a:rPr lang="ko-KR" altLang="en-US" b="0" dirty="0"/>
              <a:t> 대한 질문입니다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하지만</a:t>
            </a:r>
            <a:r>
              <a:rPr lang="en-US" altLang="ko-KR" b="0" dirty="0"/>
              <a:t>, </a:t>
            </a:r>
            <a:r>
              <a:rPr lang="ko-KR" altLang="en-US" b="0" dirty="0"/>
              <a:t>이 부분은 이전 문제를 풀면서 정답을 알게 되었습니다</a:t>
            </a:r>
            <a:r>
              <a:rPr lang="en-US" altLang="ko-KR" b="0" dirty="0"/>
              <a:t>.</a:t>
            </a:r>
          </a:p>
          <a:p>
            <a:r>
              <a:rPr lang="en-US" altLang="ko-KR" b="0" dirty="0"/>
              <a:t>XOR </a:t>
            </a:r>
            <a:r>
              <a:rPr lang="ko-KR" altLang="en-US" b="0" dirty="0"/>
              <a:t>연산을 통해 이를 </a:t>
            </a:r>
            <a:r>
              <a:rPr lang="en-US" altLang="ko-KR" b="0" dirty="0"/>
              <a:t>Encrypt </a:t>
            </a:r>
            <a:r>
              <a:rPr lang="ko-KR" altLang="en-US" b="0" dirty="0"/>
              <a:t>했었고 이전 문제를 푸는 과정에서 아래 와 같은 암호화 키도 찾아내게 되었었습니다</a:t>
            </a:r>
            <a:r>
              <a:rPr lang="en-US" altLang="ko-KR" b="0" dirty="0"/>
              <a:t>.</a:t>
            </a:r>
            <a:r>
              <a:rPr lang="ko-KR" altLang="en-US" b="0" dirty="0"/>
              <a:t> 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7295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28C2-A166-BB98-D2A6-CFC55334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EEC27-5779-2DE6-C11A-AC9D13EED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C66DE-D8FC-E95D-4A6C-30492FD9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ko-KR" altLang="en-US" dirty="0"/>
              <a:t>지금까지 살펴본 것처럼 </a:t>
            </a:r>
            <a:r>
              <a:rPr lang="en-US" altLang="ko-KR" dirty="0" err="1"/>
              <a:t>OllyDbg</a:t>
            </a:r>
            <a:r>
              <a:rPr lang="ko-KR" altLang="en-US" dirty="0"/>
              <a:t>는 </a:t>
            </a:r>
            <a:r>
              <a:rPr lang="ko-KR" altLang="en-US" dirty="0" err="1"/>
              <a:t>다양한인터페이스</a:t>
            </a:r>
            <a:r>
              <a:rPr lang="ko-KR" altLang="en-US" baseline="0" dirty="0" err="1"/>
              <a:t>를</a:t>
            </a:r>
            <a:r>
              <a:rPr lang="ko-KR" altLang="en-US" dirty="0"/>
              <a:t> 제공하는 가장 대중적인 유저 모드 </a:t>
            </a:r>
            <a:r>
              <a:rPr lang="ko-KR" altLang="en-US" dirty="0" err="1"/>
              <a:t>디버거입니다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조건부 브레이크포인트나 바이너리 수정 기능을 통해 악성코드의 동작을 정교하게 제어할 수 있고</a:t>
            </a:r>
            <a:r>
              <a:rPr lang="en-US" altLang="ko-KR" dirty="0"/>
              <a:t>, </a:t>
            </a:r>
            <a:r>
              <a:rPr lang="ko-KR" altLang="en-US" dirty="0"/>
              <a:t>분석을 진행할 수 있습니다</a:t>
            </a:r>
            <a:r>
              <a:rPr lang="en-US" altLang="ko-KR" dirty="0"/>
              <a:t>.</a:t>
            </a:r>
          </a:p>
          <a:p>
            <a:endParaRPr lang="en-US" altLang="ko-KR" b="0" dirty="0"/>
          </a:p>
          <a:p>
            <a:r>
              <a:rPr lang="ko-KR" altLang="en-US" b="0" dirty="0"/>
              <a:t>지금까지 다루어진 부분은 </a:t>
            </a:r>
            <a:r>
              <a:rPr lang="en-US" altLang="ko-KR" b="0" dirty="0"/>
              <a:t>User Mode Debugger</a:t>
            </a:r>
            <a:r>
              <a:rPr lang="ko-KR" altLang="en-US" b="0" dirty="0"/>
              <a:t>인 </a:t>
            </a:r>
            <a:r>
              <a:rPr lang="en-US" altLang="ko-KR" b="0" dirty="0" err="1"/>
              <a:t>OllyDbg</a:t>
            </a:r>
            <a:r>
              <a:rPr lang="ko-KR" altLang="en-US" b="0" dirty="0"/>
              <a:t>이고 다음으로 </a:t>
            </a:r>
            <a:r>
              <a:rPr lang="ko-KR" altLang="en-US" b="0" dirty="0" err="1"/>
              <a:t>승우학생이</a:t>
            </a:r>
            <a:r>
              <a:rPr lang="ko-KR" altLang="en-US" b="0" dirty="0"/>
              <a:t> 이와 다른 </a:t>
            </a:r>
            <a:r>
              <a:rPr lang="en-US" altLang="ko-KR" b="0" dirty="0"/>
              <a:t>Kernel-Mode Debugger</a:t>
            </a:r>
            <a:r>
              <a:rPr lang="ko-KR" altLang="en-US" b="0" dirty="0"/>
              <a:t>에 대한 발표를 진행해 </a:t>
            </a:r>
            <a:r>
              <a:rPr lang="ko-KR" altLang="en-US" b="0" dirty="0" err="1"/>
              <a:t>줄것입니다</a:t>
            </a:r>
            <a:r>
              <a:rPr lang="en-US" altLang="ko-KR" b="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23842-4397-4BA1-DB5C-64F06625C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051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6F52-52A4-4ADA-8337-1D0E38BC1528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258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F2E-F772-4C48-A022-8DA17AB07D09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23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6CCF-1BD5-41F2-8919-506642824762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0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13B8-9107-4FC6-B669-0711D906AEA8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97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FD3-F67E-42DB-A82A-D7687E1AB5C5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41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8341-9D4A-421F-9395-519F49F2F3AC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5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71C7-3F13-46B6-A58E-7CA23BE81ED6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88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1AA6-5255-4A39-85AE-61A704FE972F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19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48E3-8B93-4D1A-AFFF-2EEA163A89A1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31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E3CF-2B66-464B-AD98-FE0BFF55D30D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5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B0A1-7A7D-42C4-BC3D-4BA8A1C2FF4E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A22A1-79FE-4BB1-8901-01583DC1A7E6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5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12" Type="http://schemas.openxmlformats.org/officeDocument/2006/relationships/image" Target="../media/image11.png"/><Relationship Id="rId17" Type="http://schemas.openxmlformats.org/officeDocument/2006/relationships/customXml" Target="../ink/ink9.xml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4.xml"/><Relationship Id="rId5" Type="http://schemas.openxmlformats.org/officeDocument/2006/relationships/image" Target="../media/image6.png"/><Relationship Id="rId15" Type="http://schemas.openxmlformats.org/officeDocument/2006/relationships/customXml" Target="../ink/ink7.xml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0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customXml" Target="../ink/ink11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39.emf"/><Relationship Id="rId4" Type="http://schemas.openxmlformats.org/officeDocument/2006/relationships/customXml" Target="../ink/ink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customXml" Target="../ink/ink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customXml" Target="../ink/ink1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6.emf"/><Relationship Id="rId4" Type="http://schemas.openxmlformats.org/officeDocument/2006/relationships/customXml" Target="../ink/ink18.xml"/><Relationship Id="rId9" Type="http://schemas.openxmlformats.org/officeDocument/2006/relationships/image" Target="../media/image4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D2B271-A495-42C7-8960-C02F459CE3D5}"/>
              </a:ext>
            </a:extLst>
          </p:cNvPr>
          <p:cNvSpPr txBox="1">
            <a:spLocks/>
          </p:cNvSpPr>
          <p:nvPr/>
        </p:nvSpPr>
        <p:spPr>
          <a:xfrm>
            <a:off x="220358" y="2378621"/>
            <a:ext cx="11769755" cy="2124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6199"/>
              </a:lnSpc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PART 3</a:t>
            </a:r>
          </a:p>
          <a:p>
            <a:pPr>
              <a:lnSpc>
                <a:spcPct val="116199"/>
              </a:lnSpc>
            </a:pPr>
            <a:endParaRPr lang="en-US" altLang="ko-KR" sz="1000" b="1" dirty="0"/>
          </a:p>
          <a:p>
            <a:pPr>
              <a:lnSpc>
                <a:spcPct val="116199"/>
              </a:lnSpc>
            </a:pPr>
            <a:r>
              <a:rPr lang="en-US" altLang="ko-KR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 Advanced Dynamic Analysis &gt;</a:t>
            </a:r>
          </a:p>
          <a:p>
            <a:pPr>
              <a:lnSpc>
                <a:spcPct val="116199"/>
              </a:lnSpc>
            </a:pPr>
            <a:endParaRPr lang="en-US" altLang="ko-KR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938B2-426B-4B82-BFDE-FE7C1372E765}"/>
              </a:ext>
            </a:extLst>
          </p:cNvPr>
          <p:cNvSpPr txBox="1"/>
          <p:nvPr/>
        </p:nvSpPr>
        <p:spPr>
          <a:xfrm>
            <a:off x="4717617" y="5493687"/>
            <a:ext cx="275676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b="1" dirty="0">
                <a:ea typeface="맑은 고딕"/>
              </a:rPr>
              <a:t>Presenter: </a:t>
            </a:r>
            <a:r>
              <a:rPr lang="en-US" altLang="ko-KR" sz="2000" b="1" dirty="0" err="1">
                <a:ea typeface="맑은 고딕"/>
              </a:rPr>
              <a:t>Sangjun</a:t>
            </a:r>
            <a:r>
              <a:rPr lang="en-US" altLang="ko-KR" sz="2000" b="1" dirty="0">
                <a:ea typeface="맑은 고딕"/>
              </a:rPr>
              <a:t> Chae</a:t>
            </a:r>
            <a:endParaRPr lang="en-US" altLang="ko-KR" sz="2000" b="1" dirty="0"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918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BEB7-8765-7F90-2156-0B2F76EF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6CCC56-6EAA-05C5-4D82-1FB030F63E5D}"/>
              </a:ext>
            </a:extLst>
          </p:cNvPr>
          <p:cNvSpPr txBox="1">
            <a:spLocks/>
          </p:cNvSpPr>
          <p:nvPr/>
        </p:nvSpPr>
        <p:spPr>
          <a:xfrm>
            <a:off x="211122" y="1111114"/>
            <a:ext cx="11769755" cy="2951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6199"/>
              </a:lnSpc>
            </a:pPr>
            <a:r>
              <a:rPr lang="en-US" altLang="ko-KR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Chapter 8</a:t>
            </a:r>
          </a:p>
          <a:p>
            <a:pPr>
              <a:lnSpc>
                <a:spcPct val="116199"/>
              </a:lnSpc>
            </a:pPr>
            <a:endParaRPr lang="en-US" altLang="ko-KR" sz="3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6199"/>
              </a:lnSpc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232062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E0DA-16B9-46A8-75CD-12FEDA94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CCEB0-BAF1-A627-5D20-5628FDFB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Debugger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57F1205-D7D3-7110-44C1-607194737555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BA74C90C-805D-B60B-58C4-410BB32BD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 piece of software or hardware used to </a:t>
            </a:r>
            <a:r>
              <a:rPr lang="en-US" sz="2400" b="1" i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test</a:t>
            </a:r>
            <a:r>
              <a:rPr lang="en-US" sz="2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or </a:t>
            </a:r>
            <a:r>
              <a:rPr lang="en-US" sz="2400" b="1" i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examine</a:t>
            </a:r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the </a:t>
            </a:r>
            <a:r>
              <a:rPr lang="en-US" sz="2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execution</a:t>
            </a:r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of another program.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Dynamic Analysis</a:t>
            </a:r>
            <a:r>
              <a:rPr lang="en-US" altLang="ko-KR" sz="2400" dirty="0"/>
              <a:t>: Provides a real-time view of memory and registers (Unlike Disassemblers).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Capabilities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dirty="0"/>
              <a:t>Measure/Control internal state.</a:t>
            </a:r>
          </a:p>
          <a:p>
            <a:pPr lvl="1"/>
            <a:r>
              <a:rPr lang="en-US" altLang="ko-KR" sz="2000" dirty="0"/>
              <a:t>Modify variables, memory, and execution flow on the fly.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Why for Malware?</a:t>
            </a:r>
            <a:r>
              <a:rPr lang="en-US" altLang="ko-KR" sz="2400" dirty="0"/>
              <a:t>: To see what happens </a:t>
            </a:r>
            <a:r>
              <a:rPr lang="en-US" altLang="ko-KR" sz="2400" i="1" dirty="0"/>
              <a:t>when</a:t>
            </a:r>
            <a:r>
              <a:rPr lang="en-US" altLang="ko-KR" sz="2400" dirty="0"/>
              <a:t> the code runs.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E0DA-16B9-46A8-75CD-12FEDA94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CCEB0-BAF1-A627-5D20-5628FDFB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Debugger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57F1205-D7D3-7110-44C1-607194737555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BA74C90C-805D-B60B-58C4-410BB32BD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Source-level vs. Assembly-level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b="1" dirty="0"/>
              <a:t>Source-level</a:t>
            </a:r>
            <a:r>
              <a:rPr lang="en-US" altLang="ko-KR" sz="2000" dirty="0"/>
              <a:t>: For developers (IDE-based, uses source code).</a:t>
            </a:r>
          </a:p>
          <a:p>
            <a:pPr lvl="1"/>
            <a:r>
              <a:rPr lang="en-US" altLang="ko-KR" sz="2000" b="1" dirty="0"/>
              <a:t>Assembly-level</a:t>
            </a:r>
            <a:r>
              <a:rPr lang="en-US" altLang="ko-KR" sz="2000" dirty="0"/>
              <a:t>: For analysts (Low-level, no source code required)</a:t>
            </a:r>
          </a:p>
          <a:p>
            <a:pPr lvl="1"/>
            <a:endParaRPr lang="en-US" sz="1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User-mode vs. Kernel-mode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b="1" dirty="0"/>
              <a:t>User-mode</a:t>
            </a:r>
            <a:r>
              <a:rPr lang="en-US" altLang="ko-KR" sz="2000" dirty="0"/>
              <a:t>: Debugs a single process (ex. </a:t>
            </a:r>
            <a:r>
              <a:rPr lang="en-US" altLang="ko-KR" sz="2000" dirty="0" err="1"/>
              <a:t>OllyDbg</a:t>
            </a:r>
            <a:r>
              <a:rPr lang="en-US" altLang="ko-KR" sz="2000" dirty="0"/>
              <a:t>).</a:t>
            </a:r>
          </a:p>
          <a:p>
            <a:pPr lvl="1"/>
            <a:r>
              <a:rPr lang="en-US" altLang="ko-KR" sz="2000" b="1" dirty="0"/>
              <a:t>Kernel-mode</a:t>
            </a:r>
            <a:r>
              <a:rPr lang="en-US" altLang="ko-KR" sz="2000" dirty="0"/>
              <a:t>: Debugs the OS/Drivers (Requires two systems, ex. </a:t>
            </a:r>
            <a:r>
              <a:rPr lang="en-US" altLang="ko-KR" sz="2000" dirty="0" err="1"/>
              <a:t>WinDbg</a:t>
            </a:r>
            <a:r>
              <a:rPr lang="en-US" altLang="ko-KR" sz="2000" dirty="0"/>
              <a:t>).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4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3B51-F13F-0AC4-877B-60B8998D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1A6BE-05A4-83E1-45BE-E0630BA1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Single-Stepping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DF5BB7-7E04-4BF0-9B54-845CB9F62ACC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60FC20E-5917-FA14-1194-723062865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Starting Methods</a:t>
            </a:r>
            <a:r>
              <a:rPr lang="en-US" altLang="ko-KR" sz="2400" dirty="0"/>
              <a:t>: </a:t>
            </a:r>
            <a:r>
              <a:rPr lang="en-US" altLang="ko-KR" sz="2400" b="1" dirty="0"/>
              <a:t>Start</a:t>
            </a:r>
            <a:r>
              <a:rPr lang="en-US" altLang="ko-KR" sz="2400" dirty="0"/>
              <a:t> (from Entry Point) vs. </a:t>
            </a:r>
            <a:r>
              <a:rPr lang="en-US" altLang="ko-KR" sz="2400" b="1" dirty="0"/>
              <a:t>Attach</a:t>
            </a:r>
            <a:r>
              <a:rPr lang="en-US" altLang="ko-KR" sz="2400" dirty="0"/>
              <a:t> (to running process).</a:t>
            </a:r>
          </a:p>
          <a:p>
            <a:r>
              <a:rPr lang="en-US" altLang="ko-KR" sz="2400" b="1" dirty="0"/>
              <a:t>Single-Stepping</a:t>
            </a:r>
            <a:r>
              <a:rPr lang="en-US" altLang="ko-KR" sz="2400" dirty="0"/>
              <a:t>: Execute one instruction at a time.</a:t>
            </a:r>
          </a:p>
          <a:p>
            <a:r>
              <a:rPr lang="en-US" altLang="ko-KR" sz="2400" b="1" dirty="0"/>
              <a:t>Crucial Rule</a:t>
            </a:r>
            <a:r>
              <a:rPr lang="en-US" altLang="ko-KR" sz="2400" dirty="0"/>
              <a:t>: Be selective. Don't step through everything.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6F171E-297B-3638-8ED1-CEEC5B752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59" y="2754633"/>
            <a:ext cx="3754779" cy="2819794"/>
          </a:xfrm>
          <a:prstGeom prst="rect">
            <a:avLst/>
          </a:prstGeom>
        </p:spPr>
      </p:pic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FD2FAC-3FCB-EB99-19D8-B34D5983A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820" y="2722093"/>
            <a:ext cx="7602011" cy="281979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5B6C1FB-4A2A-E93A-F8F8-F7545162E2AC}"/>
              </a:ext>
            </a:extLst>
          </p:cNvPr>
          <p:cNvSpPr/>
          <p:nvPr/>
        </p:nvSpPr>
        <p:spPr>
          <a:xfrm>
            <a:off x="2250831" y="3826412"/>
            <a:ext cx="607257" cy="30949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9539D3-AF43-4986-453F-44DC5A41AD75}"/>
              </a:ext>
            </a:extLst>
          </p:cNvPr>
          <p:cNvSpPr/>
          <p:nvPr/>
        </p:nvSpPr>
        <p:spPr>
          <a:xfrm>
            <a:off x="2593147" y="5052936"/>
            <a:ext cx="1489691" cy="309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69EB6-F1CB-9EED-7975-53D3BCC8EFE9}"/>
              </a:ext>
            </a:extLst>
          </p:cNvPr>
          <p:cNvSpPr txBox="1"/>
          <p:nvPr/>
        </p:nvSpPr>
        <p:spPr>
          <a:xfrm>
            <a:off x="2805180" y="3429000"/>
            <a:ext cx="532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</a:rPr>
              <a:t>13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6CD577-B0A8-8483-5CE0-AF2F314FE79A}"/>
              </a:ext>
            </a:extLst>
          </p:cNvPr>
          <p:cNvSpPr/>
          <p:nvPr/>
        </p:nvSpPr>
        <p:spPr>
          <a:xfrm>
            <a:off x="338162" y="3826412"/>
            <a:ext cx="449406" cy="30949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70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A31A-E889-CD04-1830-1F2E9C0C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8F1C1-75B3-72D0-A4F6-EB2EAF84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Single-Stepping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7DDBFE2-70EC-4410-F6D4-E939D88A0938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D38C928D-182F-11BD-352A-A6F039F0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Dynamic Analysis: </a:t>
            </a:r>
            <a:r>
              <a:rPr lang="en-US" altLang="ko-KR" sz="2400" dirty="0"/>
              <a:t>Stepping through the XOR loop step-by-step.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8D0774-96AC-0223-7B36-0BD993B4D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59" y="2754633"/>
            <a:ext cx="3754779" cy="2819794"/>
          </a:xfrm>
          <a:prstGeom prst="rect">
            <a:avLst/>
          </a:prstGeom>
        </p:spPr>
      </p:pic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87CB1C-9672-D157-520A-14F09EE8C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820" y="2722093"/>
            <a:ext cx="7602011" cy="281979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3765049-284D-99AB-82AD-40E2690DC9D1}"/>
              </a:ext>
            </a:extLst>
          </p:cNvPr>
          <p:cNvSpPr/>
          <p:nvPr/>
        </p:nvSpPr>
        <p:spPr>
          <a:xfrm>
            <a:off x="9427888" y="4898191"/>
            <a:ext cx="2542733" cy="464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4D3279-DD94-FCA3-6A46-52F8D5401A8E}"/>
              </a:ext>
            </a:extLst>
          </p:cNvPr>
          <p:cNvSpPr/>
          <p:nvPr/>
        </p:nvSpPr>
        <p:spPr>
          <a:xfrm>
            <a:off x="9427888" y="3300800"/>
            <a:ext cx="373608" cy="3879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17F2B7-8EC9-6517-DB69-945A4E3FD71C}"/>
              </a:ext>
            </a:extLst>
          </p:cNvPr>
          <p:cNvSpPr/>
          <p:nvPr/>
        </p:nvSpPr>
        <p:spPr>
          <a:xfrm>
            <a:off x="9427888" y="3726879"/>
            <a:ext cx="554311" cy="3879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8542F8-9166-FF21-3DA6-D104701988B5}"/>
              </a:ext>
            </a:extLst>
          </p:cNvPr>
          <p:cNvSpPr/>
          <p:nvPr/>
        </p:nvSpPr>
        <p:spPr>
          <a:xfrm>
            <a:off x="9427887" y="4131990"/>
            <a:ext cx="717599" cy="3879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95275B-54F0-7EAE-BE7C-506A353FF6DD}"/>
              </a:ext>
            </a:extLst>
          </p:cNvPr>
          <p:cNvSpPr/>
          <p:nvPr/>
        </p:nvSpPr>
        <p:spPr>
          <a:xfrm>
            <a:off x="2593147" y="5052936"/>
            <a:ext cx="1489691" cy="309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6E511211-0A10-5057-323C-A929F199E82B}"/>
                  </a:ext>
                </a:extLst>
              </p14:cNvPr>
              <p14:cNvContentPartPr/>
              <p14:nvPr/>
            </p14:nvContentPartPr>
            <p14:xfrm>
              <a:off x="1501800" y="6585703"/>
              <a:ext cx="360" cy="3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6E511211-0A10-5057-323C-A929F199E8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5680" y="657958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61D57247-A998-8D60-D45D-D8F9840CFA78}"/>
              </a:ext>
            </a:extLst>
          </p:cNvPr>
          <p:cNvSpPr/>
          <p:nvPr/>
        </p:nvSpPr>
        <p:spPr>
          <a:xfrm>
            <a:off x="4438820" y="2900750"/>
            <a:ext cx="1409530" cy="3766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714E2114-2631-447E-16E0-E30C47084AED}"/>
              </a:ext>
            </a:extLst>
          </p:cNvPr>
          <p:cNvCxnSpPr>
            <a:stCxn id="16" idx="3"/>
            <a:endCxn id="22" idx="1"/>
          </p:cNvCxnSpPr>
          <p:nvPr/>
        </p:nvCxnSpPr>
        <p:spPr>
          <a:xfrm flipV="1">
            <a:off x="4082838" y="3089063"/>
            <a:ext cx="355982" cy="211861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DB921A1-E7F5-B77E-2A06-63EF59900BA6}"/>
              </a:ext>
            </a:extLst>
          </p:cNvPr>
          <p:cNvCxnSpPr/>
          <p:nvPr/>
        </p:nvCxnSpPr>
        <p:spPr>
          <a:xfrm>
            <a:off x="5848350" y="3277375"/>
            <a:ext cx="3579537" cy="1620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78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29DA-1C8A-817C-F89C-10F0E02FA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C469E-56D3-017A-29C5-D51C6ACEC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Stepping-Over vs. Stepping-Into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1AD3946-5774-F2A8-D98E-0168FE4E4CFA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EAF4C8CA-5421-BCDE-8DFD-A743A612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Step-Over</a:t>
            </a:r>
            <a:r>
              <a:rPr lang="en-US" altLang="ko-KR" sz="2400" dirty="0"/>
              <a:t>: Bypasses function calls / stops at the next instruction after return.</a:t>
            </a:r>
          </a:p>
          <a:p>
            <a:pPr lvl="1"/>
            <a:r>
              <a:rPr lang="en-US" altLang="ko-KR" sz="2000" i="1" dirty="0"/>
              <a:t>Best for</a:t>
            </a:r>
            <a:r>
              <a:rPr lang="en-US" altLang="ko-KR" sz="2000" dirty="0"/>
              <a:t>: Known APIs (ex. </a:t>
            </a:r>
            <a:r>
              <a:rPr lang="en-US" altLang="ko-KR" sz="2000" dirty="0" err="1"/>
              <a:t>LoadLibrary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en-US" altLang="ko-KR" sz="2400" b="1" dirty="0"/>
              <a:t>Step-Into</a:t>
            </a:r>
            <a:r>
              <a:rPr lang="en-US" altLang="ko-KR" sz="2400" dirty="0"/>
              <a:t>: Enters the function / stops at its first instruction.</a:t>
            </a:r>
          </a:p>
          <a:p>
            <a:endParaRPr lang="en-US" altLang="ko-KR" sz="2400" dirty="0"/>
          </a:p>
          <a:p>
            <a:r>
              <a:rPr lang="en-US" altLang="ko-KR" sz="2400" b="1" dirty="0"/>
              <a:t>Step-Out</a:t>
            </a:r>
            <a:r>
              <a:rPr lang="en-US" altLang="ko-KR" sz="2400" dirty="0"/>
              <a:t>: Executes until the current function returns to the caller.</a:t>
            </a:r>
          </a:p>
          <a:p>
            <a:pPr marL="457200" lvl="1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70175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DCBC-F032-6EDF-2E6B-14AF9817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DC6E1-27FD-D650-2136-203B2128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Pausing Execution with 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105635F-5DE5-3E0E-0E9C-ED44554FB7B7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AEDC1644-4E8E-36E3-8030-1FC0684C9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Purpose</a:t>
            </a:r>
            <a:r>
              <a:rPr lang="en-US" altLang="ko-KR" sz="2400" dirty="0"/>
              <a:t>: Pause execution to examine the internal state ("Broken" state).</a:t>
            </a:r>
          </a:p>
          <a:p>
            <a:r>
              <a:rPr lang="en-US" altLang="ko-KR" sz="2400" b="1" dirty="0"/>
              <a:t>Why?</a:t>
            </a:r>
            <a:r>
              <a:rPr lang="en-US" altLang="ko-KR" sz="2400" dirty="0"/>
              <a:t>: Registers and memory change too fast to see while running.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Dynamic Insight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dirty="0"/>
              <a:t>Identify destinations of dynamic calls.</a:t>
            </a:r>
          </a:p>
          <a:p>
            <a:pPr lvl="1"/>
            <a:r>
              <a:rPr lang="en-US" altLang="ko-KR" sz="2000" dirty="0"/>
              <a:t>View function arguments on the stack (ex. File names, Keys).</a:t>
            </a:r>
          </a:p>
          <a:p>
            <a:pPr lvl="1"/>
            <a:r>
              <a:rPr lang="en-US" altLang="ko-KR" sz="2000" dirty="0"/>
              <a:t>Intercept data before encryption or after decryption.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886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CE73-0013-C6AD-5F39-B4328D1F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CB793-332F-205A-480B-A0CB95A6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Pausing Execution with 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28E9190-C2FB-B9A1-617F-A10D54B820BE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18863A92-D0F8-7D72-0347-8D0736E17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Beginning of a function with a call to </a:t>
            </a:r>
            <a:r>
              <a:rPr lang="en-US" altLang="ko-KR" sz="2400" b="1" i="1" dirty="0" err="1"/>
              <a:t>CreateFile</a:t>
            </a:r>
            <a:r>
              <a:rPr lang="en-US" altLang="ko-KR" sz="2400" dirty="0"/>
              <a:t> to open a handle to a file</a:t>
            </a:r>
            <a:endParaRPr lang="en-US" altLang="ko-K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6C574D-79B2-5361-0147-C19FCBF34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59" y="1881600"/>
            <a:ext cx="4452363" cy="3362439"/>
          </a:xfrm>
          <a:prstGeom prst="rect">
            <a:avLst/>
          </a:prstGeom>
        </p:spPr>
      </p:pic>
      <p:pic>
        <p:nvPicPr>
          <p:cNvPr id="7" name="그림 6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9540EA-181F-3B75-21D7-91D890FFF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19" y="5189611"/>
            <a:ext cx="4749706" cy="1290781"/>
          </a:xfrm>
          <a:prstGeom prst="rect">
            <a:avLst/>
          </a:prstGeom>
        </p:spPr>
      </p:pic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26A365-FAE6-7EB9-4F62-43BE6CB3D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525" y="1805514"/>
            <a:ext cx="6704604" cy="393382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5E047C-B3AD-F95E-3B09-1E9798646BED}"/>
              </a:ext>
            </a:extLst>
          </p:cNvPr>
          <p:cNvSpPr/>
          <p:nvPr/>
        </p:nvSpPr>
        <p:spPr>
          <a:xfrm>
            <a:off x="239157" y="6102701"/>
            <a:ext cx="4810668" cy="377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3532BF-1182-8F92-D9AE-DC233543CE0C}"/>
              </a:ext>
            </a:extLst>
          </p:cNvPr>
          <p:cNvSpPr/>
          <p:nvPr/>
        </p:nvSpPr>
        <p:spPr>
          <a:xfrm>
            <a:off x="5014263" y="3772426"/>
            <a:ext cx="1737770" cy="1888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70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03516-94E9-A63C-E523-1E118FBE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08E7C-5FB9-5BBD-D5FA-38005EED3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Pausing Execution with 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877856E-EA1A-4C78-CAD7-0F9A06C367BD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B0D973A-B32F-5BDC-2002-2A194097A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Beginning of a function with a call to </a:t>
            </a:r>
            <a:r>
              <a:rPr lang="en-US" altLang="ko-KR" sz="2400" b="1" i="1" dirty="0" err="1"/>
              <a:t>CreateFile</a:t>
            </a:r>
            <a:r>
              <a:rPr lang="en-US" altLang="ko-KR" sz="2400" dirty="0"/>
              <a:t> to open a handle to a file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9EE100-8CB1-F462-8798-B607D67BF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59" y="1881600"/>
            <a:ext cx="4452363" cy="3362439"/>
          </a:xfrm>
          <a:prstGeom prst="rect">
            <a:avLst/>
          </a:prstGeom>
        </p:spPr>
      </p:pic>
      <p:pic>
        <p:nvPicPr>
          <p:cNvPr id="7" name="그림 6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DCD03-0559-3EE3-4909-DDF854BB0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19" y="5189611"/>
            <a:ext cx="4749706" cy="1290781"/>
          </a:xfrm>
          <a:prstGeom prst="rect">
            <a:avLst/>
          </a:prstGeom>
        </p:spPr>
      </p:pic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4EC6E7-CEED-1183-2C96-F8B54A87A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525" y="1805514"/>
            <a:ext cx="6704604" cy="393382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738DE2-9FC8-70BC-4295-CF1BC3A70F75}"/>
              </a:ext>
            </a:extLst>
          </p:cNvPr>
          <p:cNvSpPr/>
          <p:nvPr/>
        </p:nvSpPr>
        <p:spPr>
          <a:xfrm>
            <a:off x="5075225" y="4718719"/>
            <a:ext cx="1737770" cy="1888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416354-5AD7-D2AD-4586-621322001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2746" y="5315738"/>
            <a:ext cx="9122728" cy="91045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6287FC3C-FB63-3C42-8CC9-D8609450C912}"/>
                  </a:ext>
                </a:extLst>
              </p14:cNvPr>
              <p14:cNvContentPartPr/>
              <p14:nvPr/>
            </p14:nvContentPartPr>
            <p14:xfrm>
              <a:off x="1400175" y="4924155"/>
              <a:ext cx="3667320" cy="3430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6287FC3C-FB63-3C42-8CC9-D8609450C9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90815" y="4914795"/>
                <a:ext cx="368604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1B4133A8-6EEB-0610-7A49-60492BF459E1}"/>
                  </a:ext>
                </a:extLst>
              </p14:cNvPr>
              <p14:cNvContentPartPr/>
              <p14:nvPr/>
            </p14:nvContentPartPr>
            <p14:xfrm>
              <a:off x="6819975" y="4914435"/>
              <a:ext cx="3667320" cy="347378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1B4133A8-6EEB-0610-7A49-60492BF459E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10615" y="4905076"/>
                <a:ext cx="3686040" cy="366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FFF5E51A-996E-D3BC-24CD-E3D01C3E6AC7}"/>
                  </a:ext>
                </a:extLst>
              </p14:cNvPr>
              <p14:cNvContentPartPr/>
              <p14:nvPr/>
            </p14:nvContentPartPr>
            <p14:xfrm>
              <a:off x="4229055" y="4990755"/>
              <a:ext cx="360" cy="3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FFF5E51A-996E-D3BC-24CD-E3D01C3E6AC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22935" y="4984635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221FBC3A-FF0B-C41C-E048-0B0274F0F0BE}"/>
              </a:ext>
            </a:extLst>
          </p:cNvPr>
          <p:cNvGrpSpPr/>
          <p:nvPr/>
        </p:nvGrpSpPr>
        <p:grpSpPr>
          <a:xfrm>
            <a:off x="4238415" y="5019195"/>
            <a:ext cx="360" cy="360"/>
            <a:chOff x="4238415" y="5019195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07D1095-88FD-67CC-758E-6BB3EAE9EE73}"/>
                    </a:ext>
                  </a:extLst>
                </p14:cNvPr>
                <p14:cNvContentPartPr/>
                <p14:nvPr/>
              </p14:nvContentPartPr>
              <p14:xfrm>
                <a:off x="4238415" y="5019195"/>
                <a:ext cx="360" cy="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07D1095-88FD-67CC-758E-6BB3EAE9EE7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32295" y="501307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922CEFB-285F-37AB-B5F0-B9786878CFA8}"/>
                    </a:ext>
                  </a:extLst>
                </p14:cNvPr>
                <p14:cNvContentPartPr/>
                <p14:nvPr/>
              </p14:nvContentPartPr>
              <p14:xfrm>
                <a:off x="4238415" y="5019195"/>
                <a:ext cx="360" cy="3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922CEFB-285F-37AB-B5F0-B9786878CF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32295" y="501307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B5F640F-08D8-7E73-AABC-EA6F0924C5B9}"/>
              </a:ext>
            </a:extLst>
          </p:cNvPr>
          <p:cNvGrpSpPr/>
          <p:nvPr/>
        </p:nvGrpSpPr>
        <p:grpSpPr>
          <a:xfrm>
            <a:off x="4438575" y="5009835"/>
            <a:ext cx="360" cy="360"/>
            <a:chOff x="4438575" y="5009835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7A21550-0A86-90D6-88BC-4C0057745411}"/>
                    </a:ext>
                  </a:extLst>
                </p14:cNvPr>
                <p14:cNvContentPartPr/>
                <p14:nvPr/>
              </p14:nvContentPartPr>
              <p14:xfrm>
                <a:off x="4438575" y="5009835"/>
                <a:ext cx="360" cy="3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7A21550-0A86-90D6-88BC-4C005774541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32455" y="50037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3B0610F-168B-6E89-833B-F4182CB48985}"/>
                    </a:ext>
                  </a:extLst>
                </p14:cNvPr>
                <p14:cNvContentPartPr/>
                <p14:nvPr/>
              </p14:nvContentPartPr>
              <p14:xfrm>
                <a:off x="4438575" y="5009835"/>
                <a:ext cx="360" cy="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3B0610F-168B-6E89-833B-F4182CB4898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32455" y="50037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378BA86E-A92E-EB39-CF05-6547B3D46C7C}"/>
                  </a:ext>
                </a:extLst>
              </p14:cNvPr>
              <p14:cNvContentPartPr/>
              <p14:nvPr/>
            </p14:nvContentPartPr>
            <p14:xfrm>
              <a:off x="-676305" y="1542675"/>
              <a:ext cx="360" cy="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378BA86E-A92E-EB39-CF05-6547B3D46C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682425" y="153655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8993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77E20-6F79-AFA6-53F6-6818F94A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FA1C9-37BD-4D5D-CC75-41958F7F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Pausing Execution with 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C371E3E-C061-09B9-443E-C349C8747C6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AA2C564A-6523-67E6-2E7B-DF3651431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In the packet capture, we see encrypted data</a:t>
            </a:r>
          </a:p>
          <a:p>
            <a:r>
              <a:rPr lang="en-US" altLang="ko-KR" sz="2400" dirty="0"/>
              <a:t>we can set a breakpoint before the data is encrypted and view the data being sent, as shown in the disassembly for this function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909966-3C2B-C24E-2A7E-745FC9A77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8" y="2542457"/>
            <a:ext cx="3596359" cy="3364048"/>
          </a:xfrm>
          <a:prstGeom prst="rect">
            <a:avLst/>
          </a:prstGeom>
        </p:spPr>
      </p:pic>
      <p:pic>
        <p:nvPicPr>
          <p:cNvPr id="12" name="그림 11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D526F1-44F2-B311-4826-5ACE0FCE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572" y="2457518"/>
            <a:ext cx="7181850" cy="353392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75F90F-01E8-1473-4E21-E8C57554E937}"/>
              </a:ext>
            </a:extLst>
          </p:cNvPr>
          <p:cNvSpPr/>
          <p:nvPr/>
        </p:nvSpPr>
        <p:spPr>
          <a:xfrm>
            <a:off x="4532572" y="3790083"/>
            <a:ext cx="5040053" cy="2744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81DC87-08C3-F522-6082-14885C165A88}"/>
              </a:ext>
            </a:extLst>
          </p:cNvPr>
          <p:cNvSpPr/>
          <p:nvPr/>
        </p:nvSpPr>
        <p:spPr>
          <a:xfrm>
            <a:off x="9915526" y="5143500"/>
            <a:ext cx="1562100" cy="2139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80701CBC-419F-3A15-00BC-366394D9C7B4}"/>
                  </a:ext>
                </a:extLst>
              </p14:cNvPr>
              <p14:cNvContentPartPr/>
              <p14:nvPr/>
            </p14:nvContentPartPr>
            <p14:xfrm>
              <a:off x="477578" y="4224121"/>
              <a:ext cx="2653155" cy="36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80701CBC-419F-3A15-00BC-366394D9C7B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3564" y="4116121"/>
                <a:ext cx="2760822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896554D2-3F72-9F2B-A123-8CD527757EF9}"/>
              </a:ext>
            </a:extLst>
          </p:cNvPr>
          <p:cNvSpPr txBox="1"/>
          <p:nvPr/>
        </p:nvSpPr>
        <p:spPr>
          <a:xfrm>
            <a:off x="7930918" y="5475258"/>
            <a:ext cx="3954916" cy="369332"/>
          </a:xfrm>
          <a:prstGeom prst="rect">
            <a:avLst/>
          </a:prstGeom>
          <a:solidFill>
            <a:srgbClr val="FC6F68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Display the message=&gt; “Secret Message”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B092D3-CC22-0AE8-0122-C9F9AD38EB34}"/>
              </a:ext>
            </a:extLst>
          </p:cNvPr>
          <p:cNvSpPr txBox="1"/>
          <p:nvPr/>
        </p:nvSpPr>
        <p:spPr>
          <a:xfrm>
            <a:off x="5075139" y="3323433"/>
            <a:ext cx="4243032" cy="369332"/>
          </a:xfrm>
          <a:prstGeom prst="rect">
            <a:avLst/>
          </a:prstGeom>
          <a:solidFill>
            <a:srgbClr val="FC6F68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Shows the instruction with the breakpoint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4271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882A-F3AD-6471-4CCC-EC72308A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63D98-CB77-C283-24B5-71888584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Pausing Execution with 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09FAC7-5037-F678-12E0-B5FE7B40B891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F2AD3F39-C09A-6B8B-CC5D-06F96663A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Several different types of breakpoints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sz="2000" dirty="0"/>
              <a:t>Software execution, Hardware execution, and Conditional breakpoints.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ko-KR" sz="2400" dirty="0"/>
          </a:p>
          <a:p>
            <a:r>
              <a:rPr lang="en-US" altLang="ko-KR" sz="2400" dirty="0"/>
              <a:t>Although all breakpoints serve the same general purpose, depending on the situation, certain breakpoints will not work where others will.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58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C3DB-492B-E414-6B44-C85CC4F9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A2A61-4FF5-F299-A721-E5F36834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Software vs. Hardware 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3C74123-655B-253F-30E8-05C46159AF70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DBDC245-4769-B38A-1EB6-9CF456F3A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Software Breakpoints</a:t>
            </a:r>
            <a:endParaRPr lang="en-US" altLang="ko-KR" sz="2400" dirty="0"/>
          </a:p>
          <a:p>
            <a:pPr lvl="1"/>
            <a:r>
              <a:rPr lang="en-US" altLang="ko-KR" sz="2000" b="1" dirty="0"/>
              <a:t>Mechanism</a:t>
            </a:r>
            <a:r>
              <a:rPr lang="en-US" altLang="ko-KR" sz="2000" dirty="0"/>
              <a:t>: Overwrites the first byte with </a:t>
            </a:r>
            <a:r>
              <a:rPr lang="en-US" altLang="ko-KR" sz="2000" b="1" i="1" dirty="0"/>
              <a:t>0xCC (INT 3).</a:t>
            </a:r>
          </a:p>
          <a:p>
            <a:pPr lvl="1"/>
            <a:r>
              <a:rPr lang="en-US" altLang="ko-KR" sz="2000" b="1" dirty="0"/>
              <a:t>Pros</a:t>
            </a:r>
            <a:r>
              <a:rPr lang="en-US" altLang="ko-KR" sz="2000" dirty="0"/>
              <a:t>: Unlimited number of breakpoints.</a:t>
            </a:r>
          </a:p>
          <a:p>
            <a:pPr lvl="1"/>
            <a:r>
              <a:rPr lang="en-US" altLang="ko-KR" sz="2000" b="1" dirty="0"/>
              <a:t>Cons</a:t>
            </a:r>
            <a:r>
              <a:rPr lang="en-US" altLang="ko-KR" sz="2000" dirty="0"/>
              <a:t>: Modifies the binary (detectable by malware), fails on self-modifying code.</a:t>
            </a:r>
            <a:endParaRPr lang="en-US" altLang="ko-KR" sz="2000" b="1" i="1" dirty="0"/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Hardware Breakpoints</a:t>
            </a:r>
          </a:p>
          <a:p>
            <a:pPr lvl="1"/>
            <a:r>
              <a:rPr lang="en-US" altLang="ko-KR" sz="2000" b="1" dirty="0"/>
              <a:t>Mechanism</a:t>
            </a:r>
            <a:r>
              <a:rPr lang="en-US" altLang="ko-KR" sz="2000" dirty="0"/>
              <a:t>: Uses dedicated registers (</a:t>
            </a:r>
            <a:r>
              <a:rPr lang="en-US" altLang="ko-KR" sz="2000" b="1" dirty="0"/>
              <a:t>DR0-DR3</a:t>
            </a:r>
            <a:r>
              <a:rPr lang="en-US" altLang="ko-KR" sz="2000" dirty="0"/>
              <a:t>).</a:t>
            </a:r>
          </a:p>
          <a:p>
            <a:pPr lvl="1"/>
            <a:r>
              <a:rPr lang="en-US" altLang="ko-KR" sz="2000" b="1" dirty="0"/>
              <a:t>Pros</a:t>
            </a:r>
            <a:r>
              <a:rPr lang="en-US" altLang="ko-KR" sz="2000" dirty="0"/>
              <a:t>: Does </a:t>
            </a:r>
            <a:r>
              <a:rPr lang="en-US" altLang="ko-KR" sz="2000" b="1" dirty="0"/>
              <a:t>not</a:t>
            </a:r>
            <a:r>
              <a:rPr lang="en-US" altLang="ko-KR" sz="2000" dirty="0"/>
              <a:t> modify code; Can break on </a:t>
            </a:r>
            <a:r>
              <a:rPr lang="en-US" altLang="ko-KR" sz="2000" b="1" dirty="0"/>
              <a:t>Read/Write/Execute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b="1" dirty="0"/>
              <a:t>Cons</a:t>
            </a:r>
            <a:r>
              <a:rPr lang="en-US" altLang="ko-KR" sz="2000" dirty="0"/>
              <a:t>: Limited to only </a:t>
            </a:r>
            <a:r>
              <a:rPr lang="en-US" altLang="ko-KR" sz="2000" b="1" dirty="0"/>
              <a:t>4</a:t>
            </a:r>
            <a:r>
              <a:rPr lang="en-US" altLang="ko-KR" sz="2000" dirty="0"/>
              <a:t> breakpoints.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5" y="2637248"/>
            <a:ext cx="8276706" cy="188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75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Conditional 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Logic</a:t>
            </a:r>
            <a:r>
              <a:rPr lang="en-US" altLang="ko-KR" sz="2400" dirty="0"/>
              <a:t>: Break only if [Condition == True].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Ex. If [</a:t>
            </a:r>
            <a:r>
              <a:rPr lang="en-US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File_name</a:t>
            </a:r>
            <a:r>
              <a:rPr lang="en-US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== “password.txt”] </a:t>
            </a:r>
          </a:p>
          <a:p>
            <a:endParaRPr lang="en-US" altLang="ko-KR" sz="2000" b="1" dirty="0"/>
          </a:p>
          <a:p>
            <a:r>
              <a:rPr lang="en-US" altLang="ko-KR" sz="2400" b="1" dirty="0"/>
              <a:t>Trade-off</a:t>
            </a:r>
            <a:r>
              <a:rPr lang="en-US" altLang="ko-KR" sz="2400" dirty="0"/>
              <a:t>: High flexibility and effectiveness, but can significantly slow down execution because of calculating every conditions.</a:t>
            </a:r>
            <a:endParaRPr lang="en-US" sz="2400" dirty="0"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111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Exceptions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Mechanism</a:t>
            </a:r>
            <a:r>
              <a:rPr lang="en-US" altLang="ko-KR" sz="2400" dirty="0"/>
              <a:t>: The primary way a debugger gains control of a process.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First-Chance Exception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dirty="0"/>
              <a:t>Debugger gets the first opportunity to handle the exception.</a:t>
            </a:r>
          </a:p>
          <a:p>
            <a:pPr lvl="1"/>
            <a:r>
              <a:rPr lang="en-US" altLang="ko-KR" sz="2000" dirty="0"/>
              <a:t>Malware often uses these to detect or hinder debuggers.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Second-Chance Exception</a:t>
            </a:r>
            <a:r>
              <a:rPr lang="en-US" altLang="ko-KR" sz="2400" dirty="0"/>
              <a:t>:</a:t>
            </a:r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ko-KR" sz="2000" dirty="0"/>
              <a:t>Occurs if the program fails to handle the first-chance exception.</a:t>
            </a:r>
          </a:p>
          <a:p>
            <a:pPr lvl="1"/>
            <a:r>
              <a:rPr lang="en-US" altLang="ko-KR" sz="2000" dirty="0"/>
              <a:t>Result: The program will crash if the debugger doesn't intervene.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Common Types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b="1" dirty="0"/>
              <a:t>INT 3</a:t>
            </a:r>
            <a:r>
              <a:rPr lang="en-US" altLang="ko-KR" sz="2000" dirty="0"/>
              <a:t>: Standard breakpoint exception.</a:t>
            </a:r>
          </a:p>
          <a:p>
            <a:pPr lvl="1"/>
            <a:r>
              <a:rPr lang="en-US" altLang="ko-KR" sz="2000" b="1" dirty="0"/>
              <a:t>Single-Step</a:t>
            </a:r>
            <a:r>
              <a:rPr lang="en-US" altLang="ko-KR" sz="2000" dirty="0"/>
              <a:t>: Uses the </a:t>
            </a:r>
            <a:r>
              <a:rPr lang="en-US" altLang="ko-KR" sz="2000" b="1" dirty="0"/>
              <a:t>Trap Flag</a:t>
            </a:r>
            <a:r>
              <a:rPr lang="en-US" altLang="ko-KR" sz="2000" dirty="0"/>
              <a:t> to execute one instruction.</a:t>
            </a:r>
          </a:p>
          <a:p>
            <a:pPr lvl="1"/>
            <a:r>
              <a:rPr lang="en-US" altLang="ko-KR" sz="2000" b="1" dirty="0"/>
              <a:t>Access Violation</a:t>
            </a:r>
            <a:r>
              <a:rPr lang="en-US" altLang="ko-KR" sz="2000" dirty="0"/>
              <a:t>: Invalid memory access or protection fault.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50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Modifying Execution with a Debugger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Direct Manipulation</a:t>
            </a:r>
            <a:r>
              <a:rPr lang="en-US" altLang="ko-KR" sz="2400" dirty="0"/>
              <a:t>: Change Control Flags, Instruction Pointer (EIP/RIP), or Code.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altLang="ko-KR" sz="2400" b="1" dirty="0"/>
              <a:t>Key Techniques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b="1" dirty="0"/>
              <a:t>Skip Functions</a:t>
            </a:r>
            <a:r>
              <a:rPr lang="en-US" altLang="ko-KR" sz="2000" dirty="0"/>
              <a:t>: Move EIP to the next instruction to bypass malicious calls.</a:t>
            </a:r>
          </a:p>
          <a:p>
            <a:pPr lvl="1"/>
            <a:r>
              <a:rPr lang="en-US" altLang="ko-KR" sz="2000" b="1" dirty="0"/>
              <a:t>Redirect Path</a:t>
            </a:r>
            <a:r>
              <a:rPr lang="en-US" altLang="ko-KR" sz="2000" dirty="0"/>
              <a:t>: Force the program into a specific branch (ex. bypassing login).</a:t>
            </a:r>
          </a:p>
          <a:p>
            <a:pPr lvl="1"/>
            <a:r>
              <a:rPr lang="en-US" altLang="ko-KR" sz="2000" b="1" dirty="0"/>
              <a:t>Value Injection</a:t>
            </a:r>
            <a:r>
              <a:rPr lang="en-US" altLang="ko-KR" sz="2000" dirty="0"/>
              <a:t>: Modify registers to change function return values.</a:t>
            </a:r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400" b="1" dirty="0"/>
              <a:t> Caution</a:t>
            </a:r>
            <a:r>
              <a:rPr lang="en-US" altLang="ko-KR" sz="2400" dirty="0"/>
              <a:t>: Manipulating Instruction Pointer (EIP) can corrupt the stack or cause crashes.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683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BEB7-8765-7F90-2156-0B2F76EF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6CCC56-6EAA-05C5-4D82-1FB030F63E5D}"/>
              </a:ext>
            </a:extLst>
          </p:cNvPr>
          <p:cNvSpPr txBox="1">
            <a:spLocks/>
          </p:cNvSpPr>
          <p:nvPr/>
        </p:nvSpPr>
        <p:spPr>
          <a:xfrm>
            <a:off x="211122" y="1111114"/>
            <a:ext cx="11769755" cy="2951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6199"/>
              </a:lnSpc>
            </a:pPr>
            <a:r>
              <a:rPr lang="en-US" altLang="ko-KR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Chapter 9</a:t>
            </a:r>
          </a:p>
          <a:p>
            <a:pPr>
              <a:lnSpc>
                <a:spcPct val="116199"/>
              </a:lnSpc>
            </a:pPr>
            <a:endParaRPr lang="en-US" altLang="ko-KR" sz="3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6199"/>
              </a:lnSpc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OLLYDBG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32229" y="4525993"/>
            <a:ext cx="2527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(User-Mode Debugger)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7557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OllyDbg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Provides the ability to analyze malware while it is running.</a:t>
            </a:r>
          </a:p>
          <a:p>
            <a:endParaRPr lang="en-US" altLang="ko-KR" sz="2400" dirty="0"/>
          </a:p>
          <a:p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Commonly used by malware analysts and reverse engineers.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Many plug-ins that extend its capabilities.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Free &amp; Easy to use.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1026" name="Picture 2" descr="올리디버거(OllyDbg1.10) 설치[디버거] : 네이버 블로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99" y="822223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619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Opening an Executable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You must open the file on the separated secure Virtual Space. (ex. VMware)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638" y="1810142"/>
            <a:ext cx="7882251" cy="396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74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Opening an Executable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Using</a:t>
            </a:r>
            <a:r>
              <a:rPr lang="ko-KR" altLang="en-US" sz="2400" dirty="0"/>
              <a:t> </a:t>
            </a:r>
            <a:r>
              <a:rPr lang="en-US" altLang="ko-KR" sz="2400" dirty="0"/>
              <a:t>the File -&gt; Open dialog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9" y="2406794"/>
            <a:ext cx="6118461" cy="33154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923" y="1750318"/>
            <a:ext cx="6402322" cy="4628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1169" y="5756065"/>
            <a:ext cx="4756111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Only chance</a:t>
            </a:r>
            <a:r>
              <a:rPr lang="en-US" altLang="ko-KR" dirty="0"/>
              <a:t> to pass </a:t>
            </a:r>
            <a:r>
              <a:rPr lang="en-US" altLang="ko-KR" b="1" dirty="0"/>
              <a:t>command-line arguments</a:t>
            </a:r>
            <a:r>
              <a:rPr lang="en-US" altLang="ko-KR" dirty="0"/>
              <a:t> to </a:t>
            </a:r>
            <a:r>
              <a:rPr lang="en-US" altLang="ko-KR" dirty="0" err="1"/>
              <a:t>OllyDbg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89269" y="5159637"/>
            <a:ext cx="4077931" cy="297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>
            <a:stCxn id="10" idx="0"/>
          </p:cNvCxnSpPr>
          <p:nvPr/>
        </p:nvCxnSpPr>
        <p:spPr>
          <a:xfrm flipH="1" flipV="1">
            <a:off x="2228234" y="5308227"/>
            <a:ext cx="300991" cy="4478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683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Attaching to a Running Process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Concept:</a:t>
            </a:r>
            <a:r>
              <a:rPr lang="en-US" altLang="ko-KR" sz="2400" dirty="0"/>
              <a:t> Debugging a process that is already active in memory.</a:t>
            </a:r>
          </a:p>
          <a:p>
            <a:r>
              <a:rPr lang="en-US" altLang="ko-KR" sz="2400" b="1" dirty="0"/>
              <a:t>Use Case:</a:t>
            </a:r>
            <a:r>
              <a:rPr lang="en-US" altLang="ko-KR" sz="2400" dirty="0"/>
              <a:t> Useful when malware is spawned by another process or is already running as a service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640" y="2500347"/>
            <a:ext cx="6584787" cy="388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2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The </a:t>
            </a:r>
            <a:r>
              <a:rPr lang="en-US" altLang="ko-KR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OllyDbg</a:t>
            </a:r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 Interface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59" y="1626872"/>
            <a:ext cx="6929799" cy="490383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01565" y="2008385"/>
            <a:ext cx="5012372" cy="2728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01565" y="4737370"/>
            <a:ext cx="3561128" cy="17169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023655" y="4737370"/>
            <a:ext cx="3122578" cy="17169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474899" y="2008385"/>
            <a:ext cx="1689570" cy="269007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434748" y="1626872"/>
            <a:ext cx="3647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Disassembler Window</a:t>
            </a:r>
          </a:p>
          <a:p>
            <a:r>
              <a:rPr lang="en-US" altLang="ko-KR" dirty="0"/>
              <a:t>-&gt; View and modify code.</a:t>
            </a:r>
          </a:p>
          <a:p>
            <a:endParaRPr lang="en-US" altLang="ko-KR" dirty="0"/>
          </a:p>
          <a:p>
            <a:r>
              <a:rPr lang="en-US" altLang="ko-KR" b="1" dirty="0"/>
              <a:t>2. Registers Window</a:t>
            </a:r>
          </a:p>
          <a:p>
            <a:r>
              <a:rPr lang="en-US" altLang="ko-KR" dirty="0"/>
              <a:t>-&gt; Real-time CPU state.</a:t>
            </a:r>
          </a:p>
          <a:p>
            <a:endParaRPr lang="en-US" altLang="ko-KR" dirty="0"/>
          </a:p>
          <a:p>
            <a:r>
              <a:rPr lang="en-US" altLang="ko-KR" b="1" dirty="0"/>
              <a:t>3. Stack Window</a:t>
            </a:r>
          </a:p>
          <a:p>
            <a:r>
              <a:rPr lang="en-US" altLang="ko-KR" dirty="0"/>
              <a:t>-&gt; View function arguments and return addresses.</a:t>
            </a:r>
          </a:p>
          <a:p>
            <a:endParaRPr lang="en-US" altLang="ko-KR" dirty="0"/>
          </a:p>
          <a:p>
            <a:r>
              <a:rPr lang="en-US" altLang="ko-KR" b="1" dirty="0"/>
              <a:t>4. Memory Dump Window</a:t>
            </a:r>
          </a:p>
          <a:p>
            <a:r>
              <a:rPr lang="en-US" altLang="ko-KR" dirty="0"/>
              <a:t>-&gt; Raw data and strings in memory.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409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Memory Map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b="1" dirty="0"/>
              <a:t>Function:</a:t>
            </a:r>
            <a:r>
              <a:rPr lang="en-US" altLang="ko-KR" sz="2400" dirty="0"/>
              <a:t> Shows all memory sections (.text, .data… etc.)</a:t>
            </a:r>
          </a:p>
          <a:p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Analysis Tip: Use “Alt + M” to see where the malware’s code is located and its permissions.</a:t>
            </a: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59" y="2959471"/>
            <a:ext cx="2959135" cy="17567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236" y="2119296"/>
            <a:ext cx="5581551" cy="452954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962103" y="3959729"/>
            <a:ext cx="2201653" cy="2258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>
            <a:stCxn id="7" idx="3"/>
            <a:endCxn id="4" idx="1"/>
          </p:cNvCxnSpPr>
          <p:nvPr/>
        </p:nvCxnSpPr>
        <p:spPr>
          <a:xfrm>
            <a:off x="3163756" y="4072637"/>
            <a:ext cx="909480" cy="311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257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Viewing Threads and Stacks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View – Threads</a:t>
            </a:r>
          </a:p>
          <a:p>
            <a:r>
              <a:rPr lang="en-US" altLang="ko-KR" sz="2400" b="1" dirty="0"/>
              <a:t>Control:</a:t>
            </a:r>
            <a:r>
              <a:rPr lang="en-US" altLang="ko-KR" sz="2400" dirty="0"/>
              <a:t> Manage multi-threaded malware.</a:t>
            </a:r>
          </a:p>
          <a:p>
            <a:r>
              <a:rPr lang="en-US" altLang="ko-KR" sz="2400" b="1" dirty="0"/>
              <a:t>Actions:</a:t>
            </a:r>
            <a:r>
              <a:rPr lang="en-US" altLang="ko-KR" sz="2400" dirty="0"/>
              <a:t> Right-click to suspend, resume, or kill specific threads.</a:t>
            </a:r>
          </a:p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191" y="2610196"/>
            <a:ext cx="5246032" cy="367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47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8B8-829A-8437-21A0-4D7B5662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50B1-603D-EA02-C55D-B3B2366B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Executing Code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D15834-6230-D962-2369-32012FE3533F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0FDAB02-CDBB-69BE-373C-6BE9D337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Hotkeys for Basic Functions</a:t>
            </a: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39" y="3039605"/>
            <a:ext cx="7863348" cy="365729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988" y="1666355"/>
            <a:ext cx="4231850" cy="137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49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F0A1-64CC-7D57-4F71-C31AE9FF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677DC-31C0-6051-7C46-E4398772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Breakpoints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3471951-49AF-8671-D41B-AD23DD3DE206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28EA1513-E60E-1FD9-4092-83D1679EC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FB2C9E-BC3A-E5BE-09EA-705E7D297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9" y="1931119"/>
            <a:ext cx="5287908" cy="383421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813515-E8B3-67E3-AFBE-3A18FD3D1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17" y="3429000"/>
            <a:ext cx="6247887" cy="192957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FC42E54-6772-3EAF-B127-CA7B960465DB}"/>
              </a:ext>
            </a:extLst>
          </p:cNvPr>
          <p:cNvCxnSpPr>
            <a:cxnSpLocks/>
          </p:cNvCxnSpPr>
          <p:nvPr/>
        </p:nvCxnSpPr>
        <p:spPr>
          <a:xfrm flipV="1">
            <a:off x="5336381" y="3493294"/>
            <a:ext cx="338138" cy="1587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8094E94-DC70-598C-5672-17CE79496188}"/>
              </a:ext>
            </a:extLst>
          </p:cNvPr>
          <p:cNvCxnSpPr>
            <a:cxnSpLocks/>
          </p:cNvCxnSpPr>
          <p:nvPr/>
        </p:nvCxnSpPr>
        <p:spPr>
          <a:xfrm flipV="1">
            <a:off x="5353050" y="5239559"/>
            <a:ext cx="321469" cy="1833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662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6CC6-4183-B1E5-10FC-7D084AA9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F53D8-EA67-94D0-0556-835FFCC0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Tracing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788DFB-5143-9BD2-3EEE-FB0E9F2B3CB2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1B61A90-5DEC-E580-A898-0F7B094C4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6" y="1118662"/>
            <a:ext cx="6200581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>
                <a:ea typeface="맑은 고딕"/>
                <a:cs typeface="Calibri"/>
              </a:rPr>
              <a:t>Standard Back Trace: </a:t>
            </a:r>
            <a:br>
              <a:rPr lang="en-US" altLang="ko-KR" dirty="0">
                <a:ea typeface="맑은 고딕"/>
                <a:cs typeface="Calibri"/>
              </a:rPr>
            </a:br>
            <a:r>
              <a:rPr lang="en-US" altLang="ko-KR" sz="2000" dirty="0"/>
              <a:t>A basic method to move backward through recently executed code.</a:t>
            </a:r>
            <a:endParaRPr lang="en-US" altLang="ko-KR" sz="2000" dirty="0">
              <a:ea typeface="맑은 고딕"/>
              <a:cs typeface="Calibri"/>
            </a:endParaRPr>
          </a:p>
          <a:p>
            <a:endParaRPr lang="en-US" altLang="ko-KR" dirty="0">
              <a:ea typeface="맑은 고딕"/>
              <a:cs typeface="Calibri"/>
            </a:endParaRPr>
          </a:p>
          <a:p>
            <a:r>
              <a:rPr lang="en-US" altLang="ko-KR" sz="2400" dirty="0">
                <a:ea typeface="맑은 고딕"/>
                <a:cs typeface="Calibri"/>
              </a:rPr>
              <a:t>Call Stack:</a:t>
            </a:r>
            <a:br>
              <a:rPr lang="en-US" altLang="ko-KR" dirty="0">
                <a:ea typeface="맑은 고딕"/>
                <a:cs typeface="Calibri"/>
              </a:rPr>
            </a:br>
            <a:r>
              <a:rPr lang="en-US" altLang="ko-KR" sz="2000" dirty="0"/>
              <a:t>Displays the chain of function calls that led to the current instruction.</a:t>
            </a:r>
            <a:endParaRPr lang="en-US" altLang="ko-KR" sz="2000" dirty="0">
              <a:ea typeface="맑은 고딕"/>
              <a:cs typeface="Calibri"/>
            </a:endParaRPr>
          </a:p>
          <a:p>
            <a:endParaRPr lang="en-US" altLang="ko-KR" dirty="0">
              <a:ea typeface="맑은 고딕"/>
              <a:cs typeface="Calibri"/>
            </a:endParaRPr>
          </a:p>
          <a:p>
            <a:r>
              <a:rPr lang="en-US" altLang="ko-KR" sz="2400" b="1" dirty="0">
                <a:ea typeface="맑은 고딕"/>
                <a:cs typeface="Calibri"/>
              </a:rPr>
              <a:t>Run Trace</a:t>
            </a:r>
            <a:r>
              <a:rPr lang="en-US" altLang="ko-KR" sz="2400" dirty="0">
                <a:ea typeface="맑은 고딕"/>
                <a:cs typeface="Calibri"/>
              </a:rPr>
              <a:t>:</a:t>
            </a:r>
            <a:br>
              <a:rPr lang="en-US" altLang="ko-KR" dirty="0">
                <a:ea typeface="맑은 고딕"/>
                <a:cs typeface="Calibri"/>
              </a:rPr>
            </a:br>
            <a:r>
              <a:rPr lang="en-US" altLang="ko-KR" sz="2000" dirty="0"/>
              <a:t>Records every executed instruction into a log, allowing the analyst to review the execution history later.</a:t>
            </a:r>
            <a:endParaRPr lang="en-US" altLang="ko-KR" sz="2000" dirty="0">
              <a:ea typeface="맑은 고딕"/>
              <a:cs typeface="Calibri"/>
            </a:endParaRPr>
          </a:p>
          <a:p>
            <a:endParaRPr lang="en-US" altLang="ko-KR" sz="2400" dirty="0">
              <a:ea typeface="맑은 고딕"/>
              <a:cs typeface="Calibri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400" dirty="0">
                <a:ea typeface="맑은 고딕"/>
                <a:cs typeface="Calibri"/>
              </a:rPr>
              <a:t> Need a Conditional Tracing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675355" y="1318663"/>
            <a:ext cx="5149325" cy="4807974"/>
            <a:chOff x="6284657" y="1118662"/>
            <a:chExt cx="5149325" cy="480797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4657" y="1118662"/>
              <a:ext cx="5149325" cy="4807974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6990735" y="4136923"/>
              <a:ext cx="774291" cy="25072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989947" y="5144729"/>
              <a:ext cx="774291" cy="250722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/>
            <p:cNvCxnSpPr/>
            <p:nvPr/>
          </p:nvCxnSpPr>
          <p:spPr>
            <a:xfrm flipV="1">
              <a:off x="7765026" y="4136923"/>
              <a:ext cx="1600200" cy="10028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 flipV="1">
              <a:off x="7764238" y="2138516"/>
              <a:ext cx="1647480" cy="20132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9936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6CC6-4183-B1E5-10FC-7D084AA9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F53D8-EA67-94D0-0556-835FFCC0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Exeception</a:t>
            </a:r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Handling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788DFB-5143-9BD2-3EEE-FB0E9F2B3CB2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1B61A90-5DEC-E580-A898-0F7B094C4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 err="1"/>
              <a:t>OllyDbg</a:t>
            </a:r>
            <a:r>
              <a:rPr lang="en-US" altLang="ko-KR" dirty="0"/>
              <a:t> will pause execution when the exception happens, and you can decide to pass the exception</a:t>
            </a:r>
          </a:p>
          <a:p>
            <a:endParaRPr lang="en-US" altLang="ko-KR" dirty="0">
              <a:latin typeface="Calibri"/>
              <a:ea typeface="맑은 고딕"/>
              <a:cs typeface="Calibri"/>
            </a:endParaRPr>
          </a:p>
          <a:p>
            <a:endParaRPr lang="en-US" altLang="ko-KR" dirty="0">
              <a:latin typeface="Calibri"/>
              <a:ea typeface="맑은 고딕"/>
              <a:cs typeface="Calibri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dirty="0"/>
              <a:t> SHIFT-F7 will step into the exception.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dirty="0"/>
              <a:t> SHIFT-F8 will step over it.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dirty="0"/>
              <a:t> </a:t>
            </a:r>
            <a:r>
              <a:rPr lang="en-US" altLang="ko-KR" b="1" dirty="0"/>
              <a:t>SHIFT-F9 will run the exception handler.</a:t>
            </a:r>
            <a:endParaRPr lang="en-US" altLang="ko-KR" b="1" dirty="0">
              <a:latin typeface="Calibri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0222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C830-5616-3CDA-2C21-3C96A8D2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71C5D-C0A1-297D-AA01-E152CCE26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Code Patching (Modification)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DA8F82C-77DD-C591-8766-B1D6EAC93AA5}"/>
              </a:ext>
            </a:extLst>
          </p:cNvPr>
          <p:cNvCxnSpPr>
            <a:cxnSpLocks/>
          </p:cNvCxnSpPr>
          <p:nvPr/>
        </p:nvCxnSpPr>
        <p:spPr>
          <a:xfrm flipV="1">
            <a:off x="328059" y="921774"/>
            <a:ext cx="5962128" cy="2251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FCFF0946-7BC7-C789-D83B-78A90339B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000" b="1" dirty="0"/>
              <a:t>Live Editing:</a:t>
            </a:r>
            <a:r>
              <a:rPr lang="en-US" altLang="ko-KR" sz="2000" dirty="0"/>
              <a:t> Modify registers, flags, and instructions in real-time.</a:t>
            </a:r>
          </a:p>
          <a:p>
            <a:r>
              <a:rPr lang="en-US" altLang="ko-KR" sz="2000" b="1" dirty="0"/>
              <a:t>Bypassing Logic:</a:t>
            </a:r>
            <a:r>
              <a:rPr lang="en-US" altLang="ko-KR" sz="2000" dirty="0"/>
              <a:t> Use </a:t>
            </a:r>
            <a:r>
              <a:rPr lang="en-US" altLang="ko-KR" sz="2000" b="1" dirty="0"/>
              <a:t>"Fill with NOPs"</a:t>
            </a:r>
            <a:r>
              <a:rPr lang="en-US" altLang="ko-KR" sz="2000" dirty="0"/>
              <a:t> to neutralize security checks or conditional jumps.</a:t>
            </a:r>
          </a:p>
          <a:p>
            <a:r>
              <a:rPr lang="en-US" altLang="ko-KR" sz="2000" b="1" dirty="0"/>
              <a:t>Permanent Changes:</a:t>
            </a:r>
            <a:r>
              <a:rPr lang="en-US" altLang="ko-KR" sz="2000" dirty="0"/>
              <a:t> Save memory patches to a new executable file via </a:t>
            </a:r>
            <a:r>
              <a:rPr lang="en-US" altLang="ko-KR" sz="2000" b="1" dirty="0"/>
              <a:t>"Copy to Executable"</a:t>
            </a:r>
            <a:r>
              <a:rPr lang="en-US" altLang="ko-KR" sz="2000" dirty="0"/>
              <a:t>.</a:t>
            </a:r>
            <a:endParaRPr lang="en-US" altLang="ko-KR" sz="2000" dirty="0">
              <a:ea typeface="맑은 고딕"/>
              <a:cs typeface="Calibri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125" y="2576142"/>
            <a:ext cx="7716712" cy="36164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0137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C830-5616-3CDA-2C21-3C96A8D2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71C5D-C0A1-297D-AA01-E152CCE26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Assistance Features &amp; Essential Plug-ins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DA8F82C-77DD-C591-8766-B1D6EAC93AA5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8181760" cy="5123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FCFF0946-7BC7-C789-D83B-78A90339B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Analysis Assistance</a:t>
            </a:r>
          </a:p>
          <a:p>
            <a:pPr lvl="1"/>
            <a:r>
              <a:rPr lang="en-US" altLang="ko-KR" sz="2000" b="1" dirty="0"/>
              <a:t>Logging:</a:t>
            </a:r>
            <a:r>
              <a:rPr lang="en-US" altLang="ko-KR" sz="2000" dirty="0"/>
              <a:t> Track main events, module loads, and breakpoint hits.</a:t>
            </a:r>
          </a:p>
          <a:p>
            <a:pPr lvl="1"/>
            <a:r>
              <a:rPr lang="en-US" altLang="ko-KR" sz="2000" b="1" dirty="0"/>
              <a:t>Watches Window:</a:t>
            </a:r>
            <a:r>
              <a:rPr lang="en-US" altLang="ko-KR" sz="2000" dirty="0"/>
              <a:t> Monitor expressions in real-time.</a:t>
            </a:r>
          </a:p>
          <a:p>
            <a:pPr lvl="1"/>
            <a:r>
              <a:rPr lang="en-US" altLang="ko-KR" sz="2000" b="1" dirty="0"/>
              <a:t>Labeling:</a:t>
            </a:r>
            <a:r>
              <a:rPr lang="en-US" altLang="ko-KR" sz="2000" dirty="0"/>
              <a:t> Assign symbolic names to addresses for better readability.</a:t>
            </a:r>
            <a:endParaRPr lang="en-US" altLang="ko-KR" sz="2000" dirty="0">
              <a:ea typeface="맑은 고딕"/>
              <a:cs typeface="Calibri"/>
            </a:endParaRPr>
          </a:p>
          <a:p>
            <a:pPr marL="0" indent="0">
              <a:buNone/>
            </a:pPr>
            <a:endParaRPr lang="en-US" altLang="ko-KR" dirty="0">
              <a:latin typeface="Calibri"/>
              <a:ea typeface="맑은 고딕"/>
              <a:cs typeface="Calibri"/>
            </a:endParaRPr>
          </a:p>
          <a:p>
            <a:r>
              <a:rPr lang="en-US" altLang="ko-KR" sz="2400" dirty="0"/>
              <a:t>Core Plug-ins</a:t>
            </a:r>
          </a:p>
          <a:p>
            <a:pPr lvl="1"/>
            <a:r>
              <a:rPr lang="en-US" altLang="ko-KR" sz="2000" b="1" dirty="0" err="1"/>
              <a:t>OllyDump</a:t>
            </a:r>
            <a:r>
              <a:rPr lang="en-US" altLang="ko-KR" sz="2000" b="1" dirty="0"/>
              <a:t>:</a:t>
            </a:r>
            <a:r>
              <a:rPr lang="en-US" altLang="ko-KR" sz="2000" dirty="0"/>
              <a:t> Used to store data uploaded to memory (Essential for unpacking).</a:t>
            </a:r>
          </a:p>
          <a:p>
            <a:pPr lvl="1"/>
            <a:r>
              <a:rPr lang="en-US" altLang="ko-KR" sz="2000" b="1" dirty="0"/>
              <a:t>Hide Debugger:</a:t>
            </a:r>
            <a:r>
              <a:rPr lang="en-US" altLang="ko-KR" sz="2000" dirty="0"/>
              <a:t> Bypass anti-debugging techniques.</a:t>
            </a:r>
          </a:p>
          <a:p>
            <a:pPr lvl="1"/>
            <a:r>
              <a:rPr lang="en-US" altLang="ko-KR" sz="2000" b="1" dirty="0"/>
              <a:t>Command Line:</a:t>
            </a:r>
            <a:r>
              <a:rPr lang="en-US" altLang="ko-KR" sz="2000" dirty="0"/>
              <a:t> Quick control via commands.</a:t>
            </a:r>
          </a:p>
          <a:p>
            <a:pPr lvl="1"/>
            <a:r>
              <a:rPr lang="en-US" altLang="ko-KR" sz="2000" b="1" dirty="0"/>
              <a:t>Bookmarks:</a:t>
            </a:r>
            <a:r>
              <a:rPr lang="en-US" altLang="ko-KR" sz="2000" dirty="0"/>
              <a:t> Save and quickly jump to important memory locations.</a:t>
            </a:r>
            <a:endParaRPr lang="en-US" altLang="ko-KR" sz="2000" dirty="0">
              <a:latin typeface="Calibri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3492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78BD-6F24-63AB-9268-640A8A0B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21F98-C470-9051-252D-2AA7A0F36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Loading DLLs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48A0070-0E11-3357-A5E0-0D4BF10A6246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55928237-8024-24D1-1487-F2A7DF96F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Since DLLs (Dynamic-Link Library) cannot be executed directly, </a:t>
            </a:r>
            <a:r>
              <a:rPr lang="en-US" altLang="ko-KR" sz="2400" dirty="0" err="1"/>
              <a:t>OllyDbg</a:t>
            </a:r>
            <a:r>
              <a:rPr lang="en-US" altLang="ko-KR" sz="2400" dirty="0"/>
              <a:t> uses a dummy program called </a:t>
            </a:r>
            <a:r>
              <a:rPr lang="en-US" altLang="ko-KR" sz="2400" b="1" i="1" dirty="0"/>
              <a:t>loaddll.exe</a:t>
            </a:r>
          </a:p>
          <a:p>
            <a:r>
              <a:rPr lang="en-US" altLang="ko-KR" sz="2400" dirty="0"/>
              <a:t>This technique is extremely useful, because malware often comes packaged as a DLL, with most of its code contained inside its </a:t>
            </a:r>
            <a:r>
              <a:rPr lang="en-US" altLang="ko-KR" sz="2400" dirty="0" err="1"/>
              <a:t>DllMain</a:t>
            </a:r>
            <a:r>
              <a:rPr lang="en-US" altLang="ko-KR" sz="2400" dirty="0"/>
              <a:t> function</a:t>
            </a:r>
            <a:endParaRPr lang="en-US" sz="2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850" y="2808515"/>
            <a:ext cx="4606765" cy="38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36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78BD-6F24-63AB-9268-640A8A0B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21F98-C470-9051-252D-2AA7A0F36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Loading DLLs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48A0070-0E11-3357-A5E0-0D4BF10A6246}"/>
              </a:ext>
            </a:extLst>
          </p:cNvPr>
          <p:cNvCxnSpPr>
            <a:cxnSpLocks/>
          </p:cNvCxnSpPr>
          <p:nvPr/>
        </p:nvCxnSpPr>
        <p:spPr>
          <a:xfrm flipV="1">
            <a:off x="328059" y="913999"/>
            <a:ext cx="7962682" cy="10026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55928237-8024-24D1-1487-F2A7DF96F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69" y="1118662"/>
            <a:ext cx="11906076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Call DLL export</a:t>
            </a:r>
          </a:p>
          <a:p>
            <a:r>
              <a:rPr lang="en-US" altLang="ko-KR" sz="2000" b="1" dirty="0"/>
              <a:t>Direct Execution:</a:t>
            </a:r>
            <a:r>
              <a:rPr lang="en-US" altLang="ko-KR" sz="2000" dirty="0"/>
              <a:t> The </a:t>
            </a:r>
            <a:r>
              <a:rPr lang="en-US" altLang="ko-KR" sz="2000" b="1" dirty="0"/>
              <a:t>"Call export"</a:t>
            </a:r>
            <a:r>
              <a:rPr lang="en-US" altLang="ko-KR" sz="2000" dirty="0"/>
              <a:t> feature allows you to execute specific functions exported by the DLL directly.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46" y="2309997"/>
            <a:ext cx="5371502" cy="39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92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/>
              <a:t>Analyze the malware found in the file Lab09-02.exe using </a:t>
            </a:r>
            <a:r>
              <a:rPr lang="en-US" altLang="ko-KR" dirty="0" err="1"/>
              <a:t>OllyDbg</a:t>
            </a:r>
            <a:r>
              <a:rPr lang="en-US" altLang="ko-KR" dirty="0"/>
              <a:t> to answer the following questions. </a:t>
            </a:r>
          </a:p>
          <a:p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419" y="2089445"/>
            <a:ext cx="6644845" cy="46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9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Q1. </a:t>
            </a:r>
            <a:r>
              <a:rPr lang="en-US" altLang="ko-KR" dirty="0"/>
              <a:t>What strings do you see statically in the binary?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sz="2000" dirty="0"/>
              <a:t>Run -&gt; Terminated immediately</a:t>
            </a:r>
          </a:p>
          <a:p>
            <a:endParaRPr lang="en-US" altLang="ko-KR" dirty="0">
              <a:latin typeface="Calibri"/>
              <a:ea typeface="맑은 고딕"/>
              <a:cs typeface="Calibri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59" y="2014806"/>
            <a:ext cx="6488991" cy="45572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727" y="3819833"/>
            <a:ext cx="7930507" cy="2518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2580968" y="4704735"/>
            <a:ext cx="1268361" cy="2580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>
            <a:stCxn id="7" idx="3"/>
          </p:cNvCxnSpPr>
          <p:nvPr/>
        </p:nvCxnSpPr>
        <p:spPr>
          <a:xfrm>
            <a:off x="3849329" y="4833784"/>
            <a:ext cx="3849329" cy="1290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7698658" y="4164383"/>
            <a:ext cx="3827207" cy="2088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491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Q2. </a:t>
            </a:r>
            <a:r>
              <a:rPr lang="en-US" altLang="ko-KR" dirty="0"/>
              <a:t>What happens when you run this binary?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187245" y="3629451"/>
            <a:ext cx="9223643" cy="870156"/>
            <a:chOff x="398206" y="3629450"/>
            <a:chExt cx="9223643" cy="870156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398206" y="3629451"/>
              <a:ext cx="3495368" cy="870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tx1"/>
                  </a:solidFill>
                </a:rPr>
                <a:t>Lab09-02.exe</a:t>
              </a:r>
              <a:endParaRPr lang="ko-KR" altLang="en-US" sz="2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직선 화살표 연결선 4"/>
            <p:cNvCxnSpPr>
              <a:stCxn id="3" idx="3"/>
            </p:cNvCxnSpPr>
            <p:nvPr/>
          </p:nvCxnSpPr>
          <p:spPr>
            <a:xfrm flipV="1">
              <a:off x="3893574" y="4064528"/>
              <a:ext cx="2218159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모서리가 둥근 직사각형 8"/>
            <p:cNvSpPr/>
            <p:nvPr/>
          </p:nvSpPr>
          <p:spPr>
            <a:xfrm>
              <a:off x="6126481" y="3629450"/>
              <a:ext cx="3495368" cy="870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400" b="1" dirty="0">
                  <a:solidFill>
                    <a:schemeClr val="tx1"/>
                  </a:solidFill>
                </a:rPr>
                <a:t>“ Terminated </a:t>
              </a:r>
              <a:r>
                <a:rPr lang="en-US" altLang="ko-KR" sz="2400" b="1" dirty="0" err="1">
                  <a:solidFill>
                    <a:schemeClr val="tx1"/>
                  </a:solidFill>
                </a:rPr>
                <a:t>Immedietly</a:t>
              </a:r>
              <a:r>
                <a:rPr lang="en-US" altLang="ko-KR" sz="2400" b="1" dirty="0">
                  <a:solidFill>
                    <a:schemeClr val="tx1"/>
                  </a:solidFill>
                </a:rPr>
                <a:t>”</a:t>
              </a:r>
              <a:endParaRPr lang="ko-KR" altLang="en-US" sz="24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937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Q3. </a:t>
            </a:r>
            <a:r>
              <a:rPr lang="en-US" altLang="ko-KR" dirty="0"/>
              <a:t>How can you get this sample to run its malicious payload?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59" y="4149085"/>
            <a:ext cx="8799871" cy="22604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59" y="2014806"/>
            <a:ext cx="8799871" cy="1344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7458" y="2502392"/>
            <a:ext cx="1777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JE: Jump if Equal</a:t>
            </a:r>
            <a:endParaRPr lang="ko-KR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800303" y="5094632"/>
            <a:ext cx="1231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JMP: Jump</a:t>
            </a:r>
            <a:endParaRPr lang="ko-KR" alt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A52EB911-B32B-1507-AB01-C3AB6CE528BD}"/>
                  </a:ext>
                </a:extLst>
              </p14:cNvPr>
              <p14:cNvContentPartPr/>
              <p14:nvPr/>
            </p14:nvContentPartPr>
            <p14:xfrm>
              <a:off x="3259393" y="2584066"/>
              <a:ext cx="2839065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A52EB911-B32B-1507-AB01-C3AB6CE528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05391" y="2476066"/>
                <a:ext cx="2947069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A52EB911-B32B-1507-AB01-C3AB6CE528BD}"/>
                  </a:ext>
                </a:extLst>
              </p14:cNvPr>
              <p14:cNvContentPartPr/>
              <p14:nvPr/>
            </p14:nvContentPartPr>
            <p14:xfrm>
              <a:off x="1118419" y="5877872"/>
              <a:ext cx="2839065" cy="3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A52EB911-B32B-1507-AB01-C3AB6CE528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4417" y="5769872"/>
                <a:ext cx="2947069" cy="216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6" name="직선 화살표 연결선 15"/>
          <p:cNvCxnSpPr/>
          <p:nvPr/>
        </p:nvCxnSpPr>
        <p:spPr>
          <a:xfrm flipH="1">
            <a:off x="2662084" y="2779062"/>
            <a:ext cx="1880419" cy="29285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781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Q4. </a:t>
            </a:r>
            <a:r>
              <a:rPr lang="en-US" altLang="ko-KR" dirty="0"/>
              <a:t>What is happening at </a:t>
            </a:r>
            <a:r>
              <a:rPr lang="en-US" altLang="ko-KR" i="1" dirty="0"/>
              <a:t>0x00401133</a:t>
            </a:r>
            <a:r>
              <a:rPr lang="en-US" altLang="ko-KR" dirty="0"/>
              <a:t>?</a:t>
            </a:r>
            <a:endParaRPr lang="en-US" altLang="ko-KR" dirty="0">
              <a:latin typeface="Calibri"/>
              <a:ea typeface="맑은 고딕"/>
              <a:cs typeface="Calibri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47" y="1651274"/>
            <a:ext cx="8264322" cy="43291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6937" y="3814085"/>
            <a:ext cx="27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o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52EB911-B32B-1507-AB01-C3AB6CE528BD}"/>
                  </a:ext>
                </a:extLst>
              </p14:cNvPr>
              <p14:cNvContentPartPr/>
              <p14:nvPr/>
            </p14:nvContentPartPr>
            <p14:xfrm>
              <a:off x="181247" y="1913015"/>
              <a:ext cx="991250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A52EB911-B32B-1507-AB01-C3AB6CE528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257" y="1805015"/>
                <a:ext cx="1099229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B22E679-FD34-E4BB-C3B5-FD5DD5C14F69}"/>
                  </a:ext>
                </a:extLst>
              </p14:cNvPr>
              <p14:cNvContentPartPr/>
              <p14:nvPr/>
            </p14:nvContentPartPr>
            <p14:xfrm rot="5400000">
              <a:off x="5374076" y="4439246"/>
              <a:ext cx="1061209" cy="7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FB22E679-FD34-E4BB-C3B5-FD5DD5C14F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5400000">
                <a:off x="5320080" y="4223246"/>
                <a:ext cx="1169202" cy="4327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/>
          <p:cNvSpPr txBox="1"/>
          <p:nvPr/>
        </p:nvSpPr>
        <p:spPr>
          <a:xfrm>
            <a:off x="6046069" y="3962158"/>
            <a:ext cx="27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c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6235" y="4133624"/>
            <a:ext cx="27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l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46069" y="4438074"/>
            <a:ext cx="27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e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76235" y="4227540"/>
            <a:ext cx="27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1152" y="4609540"/>
            <a:ext cx="27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x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46069" y="4772600"/>
            <a:ext cx="27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e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524165" y="1913015"/>
            <a:ext cx="35619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MOV BYTE PTR</a:t>
            </a:r>
            <a:r>
              <a:rPr lang="ko-KR" altLang="en-US" dirty="0"/>
              <a:t> </a:t>
            </a:r>
            <a:r>
              <a:rPr lang="en-US" altLang="ko-KR" dirty="0"/>
              <a:t>[EBP-xx]  Z</a:t>
            </a:r>
          </a:p>
          <a:p>
            <a:r>
              <a:rPr lang="en-US" altLang="ko-KR" dirty="0"/>
              <a:t>: Put value of Z to BYTE PTR [EBP-xx]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67834" y="4192015"/>
            <a:ext cx="1309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“ocl.exe”</a:t>
            </a:r>
          </a:p>
        </p:txBody>
      </p:sp>
      <p:sp>
        <p:nvSpPr>
          <p:cNvPr id="18" name="오른쪽 화살표 17"/>
          <p:cNvSpPr/>
          <p:nvPr/>
        </p:nvSpPr>
        <p:spPr>
          <a:xfrm>
            <a:off x="6390514" y="4290157"/>
            <a:ext cx="332572" cy="2653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244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Q5. </a:t>
            </a:r>
            <a:r>
              <a:rPr lang="en-US" altLang="ko-KR" dirty="0"/>
              <a:t>What arguments are being passed to subroutine 0x00401089?</a:t>
            </a:r>
            <a:endParaRPr lang="en-US" altLang="ko-KR" dirty="0">
              <a:latin typeface="Calibri"/>
              <a:ea typeface="맑은 고딕"/>
              <a:cs typeface="Calibri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57" y="2014806"/>
            <a:ext cx="6621485" cy="35610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FAD4E69-3D5A-939C-9287-2BFB2C7CEC04}"/>
                  </a:ext>
                </a:extLst>
              </p14:cNvPr>
              <p14:cNvContentPartPr/>
              <p14:nvPr/>
            </p14:nvContentPartPr>
            <p14:xfrm>
              <a:off x="2433411" y="2266840"/>
              <a:ext cx="4148818" cy="7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FFAD4E69-3D5A-939C-9287-2BFB2C7CEC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9409" y="2050840"/>
                <a:ext cx="4256823" cy="43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9830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Q5. </a:t>
            </a:r>
            <a:r>
              <a:rPr lang="en-US" altLang="ko-KR" dirty="0"/>
              <a:t>What arguments are being passed to subroutine 0x00401089?</a:t>
            </a:r>
            <a:endParaRPr lang="en-US" altLang="ko-KR" dirty="0">
              <a:latin typeface="Calibri"/>
              <a:ea typeface="맑은 고딕"/>
              <a:cs typeface="Calibri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47" y="2621206"/>
            <a:ext cx="4747309" cy="25531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8059" y="2014806"/>
            <a:ext cx="216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“F2” -&gt; Breakpoint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21" y="2585504"/>
            <a:ext cx="2528952" cy="3926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7069" y="2732922"/>
            <a:ext cx="949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&lt;Stack&gt;</a:t>
            </a:r>
            <a:endParaRPr lang="ko-KR" altLang="en-US" b="1" dirty="0"/>
          </a:p>
        </p:txBody>
      </p:sp>
      <p:sp>
        <p:nvSpPr>
          <p:cNvPr id="10" name="오른쪽 화살표 9"/>
          <p:cNvSpPr/>
          <p:nvPr/>
        </p:nvSpPr>
        <p:spPr>
          <a:xfrm>
            <a:off x="5321391" y="3897774"/>
            <a:ext cx="1062398" cy="32389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807210" y="1876306"/>
            <a:ext cx="220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“F9” -&gt; Run </a:t>
            </a:r>
          </a:p>
          <a:p>
            <a:r>
              <a:rPr lang="en-US" altLang="ko-KR" dirty="0"/>
              <a:t>-&gt; stop at breakpoint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77"/>
          <a:stretch/>
        </p:blipFill>
        <p:spPr>
          <a:xfrm>
            <a:off x="6471298" y="3102254"/>
            <a:ext cx="5253788" cy="1859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A52EB911-B32B-1507-AB01-C3AB6CE528BD}"/>
                  </a:ext>
                </a:extLst>
              </p14:cNvPr>
              <p14:cNvContentPartPr/>
              <p14:nvPr/>
            </p14:nvContentPartPr>
            <p14:xfrm>
              <a:off x="8224536" y="3371935"/>
              <a:ext cx="1717750" cy="3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A52EB911-B32B-1507-AB01-C3AB6CE528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70541" y="3263935"/>
                <a:ext cx="1825739" cy="2163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/>
          <p:cNvSpPr txBox="1"/>
          <p:nvPr/>
        </p:nvSpPr>
        <p:spPr>
          <a:xfrm>
            <a:off x="8551383" y="3420785"/>
            <a:ext cx="1750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“Decryption key”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324138" y="3269342"/>
            <a:ext cx="814993" cy="151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8675914" y="3264756"/>
            <a:ext cx="1266372" cy="206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521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Q6. </a:t>
            </a:r>
            <a:r>
              <a:rPr lang="en-US" altLang="ko-KR" dirty="0"/>
              <a:t>What domain name does this malware use?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77"/>
          <a:stretch/>
        </p:blipFill>
        <p:spPr>
          <a:xfrm>
            <a:off x="328059" y="2014806"/>
            <a:ext cx="7641204" cy="270467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673942" y="2440858"/>
            <a:ext cx="1047135" cy="2064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52EB911-B32B-1507-AB01-C3AB6CE528BD}"/>
                  </a:ext>
                </a:extLst>
              </p14:cNvPr>
              <p14:cNvContentPartPr/>
              <p14:nvPr/>
            </p14:nvContentPartPr>
            <p14:xfrm>
              <a:off x="1673941" y="2543736"/>
              <a:ext cx="1047135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A52EB911-B32B-1507-AB01-C3AB6CE528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9946" y="2435736"/>
                <a:ext cx="1155124" cy="2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4419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Q6. </a:t>
            </a:r>
            <a:r>
              <a:rPr lang="en-US" altLang="ko-KR" dirty="0"/>
              <a:t>What domain name does this malware use?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77"/>
          <a:stretch/>
        </p:blipFill>
        <p:spPr>
          <a:xfrm>
            <a:off x="328059" y="2014806"/>
            <a:ext cx="7641204" cy="270467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673942" y="2440858"/>
            <a:ext cx="1047135" cy="2064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52EB911-B32B-1507-AB01-C3AB6CE528BD}"/>
                  </a:ext>
                </a:extLst>
              </p14:cNvPr>
              <p14:cNvContentPartPr/>
              <p14:nvPr/>
            </p14:nvContentPartPr>
            <p14:xfrm>
              <a:off x="1673941" y="2543736"/>
              <a:ext cx="1047135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A52EB911-B32B-1507-AB01-C3AB6CE528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9946" y="2435736"/>
                <a:ext cx="1155124" cy="21636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8587"/>
            <a:ext cx="8592749" cy="15908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61257" y="3526971"/>
            <a:ext cx="7620000" cy="397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0"/>
          <a:stretch/>
        </p:blipFill>
        <p:spPr>
          <a:xfrm>
            <a:off x="814177" y="5145536"/>
            <a:ext cx="9015262" cy="9704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43753" y="3526971"/>
            <a:ext cx="2443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Crtl</a:t>
            </a:r>
            <a:r>
              <a:rPr lang="en-US" altLang="ko-KR" dirty="0"/>
              <a:t> + F9</a:t>
            </a:r>
          </a:p>
          <a:p>
            <a:r>
              <a:rPr lang="en-US" altLang="ko-KR" dirty="0"/>
              <a:t>: Run the function </a:t>
            </a:r>
            <a:br>
              <a:rPr lang="en-US" altLang="ko-KR" dirty="0"/>
            </a:br>
            <a:r>
              <a:rPr lang="en-US" altLang="ko-KR" dirty="0"/>
              <a:t>until the RETN (return)</a:t>
            </a:r>
            <a:endParaRPr lang="ko-KR" altLang="en-US" dirty="0"/>
          </a:p>
        </p:txBody>
      </p:sp>
      <p:cxnSp>
        <p:nvCxnSpPr>
          <p:cNvPr id="15" name="꺾인 연결선 14"/>
          <p:cNvCxnSpPr>
            <a:stCxn id="4" idx="3"/>
          </p:cNvCxnSpPr>
          <p:nvPr/>
        </p:nvCxnSpPr>
        <p:spPr>
          <a:xfrm>
            <a:off x="8592749" y="3924036"/>
            <a:ext cx="551251" cy="122150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FFAD4E69-3D5A-939C-9287-2BFB2C7CEC04}"/>
                  </a:ext>
                </a:extLst>
              </p14:cNvPr>
              <p14:cNvContentPartPr/>
              <p14:nvPr/>
            </p14:nvContentPartPr>
            <p14:xfrm>
              <a:off x="5748078" y="5630779"/>
              <a:ext cx="3279544" cy="72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="" xmlns:a16="http://schemas.microsoft.com/office/drawing/2014/main" xmlns:p14="http://schemas.microsoft.com/office/powerpoint/2010/main" id="{FFAD4E69-3D5A-939C-9287-2BFB2C7CEC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94073" y="5414779"/>
                <a:ext cx="3387554" cy="4327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/>
          <p:cNvSpPr txBox="1"/>
          <p:nvPr/>
        </p:nvSpPr>
        <p:spPr>
          <a:xfrm>
            <a:off x="5473570" y="5908098"/>
            <a:ext cx="420624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“www.practicalmalwareanalysis.com”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169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9-2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0776B1-E7B6-C7A7-24FD-2E54BF455F8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9374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latin typeface="Calibri"/>
                <a:ea typeface="맑은 고딕"/>
                <a:cs typeface="Calibri"/>
              </a:rPr>
              <a:t>Q7. </a:t>
            </a:r>
            <a:r>
              <a:rPr lang="en-US" altLang="ko-KR" dirty="0"/>
              <a:t>What encoding routine is being used to obfuscate the domain name?</a:t>
            </a:r>
          </a:p>
          <a:p>
            <a:endParaRPr lang="en-US" altLang="ko-KR" dirty="0">
              <a:latin typeface="Calibri"/>
              <a:ea typeface="맑은 고딕"/>
              <a:cs typeface="Calibri"/>
            </a:endParaRPr>
          </a:p>
          <a:p>
            <a:endParaRPr lang="en-US" altLang="ko-KR" dirty="0">
              <a:latin typeface="Calibri"/>
              <a:ea typeface="맑은 고딕"/>
              <a:cs typeface="Calibri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395728" y="3518198"/>
            <a:ext cx="6158067" cy="1071799"/>
            <a:chOff x="517051" y="2636327"/>
            <a:chExt cx="6158067" cy="1071799"/>
          </a:xfrm>
        </p:grpSpPr>
        <p:sp>
          <p:nvSpPr>
            <p:cNvPr id="4" name="직사각형 3"/>
            <p:cNvSpPr/>
            <p:nvPr/>
          </p:nvSpPr>
          <p:spPr>
            <a:xfrm>
              <a:off x="4451029" y="3246461"/>
              <a:ext cx="222408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solidFill>
                    <a:srgbClr val="FF0000"/>
                  </a:solidFill>
                </a:rPr>
                <a:t>“1qaz2wsx3edc”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7051" y="2636327"/>
              <a:ext cx="58521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/>
                <a:t>Plaintext = </a:t>
              </a:r>
              <a:r>
                <a:rPr lang="en-US" altLang="ko-KR" sz="3600" dirty="0" err="1"/>
                <a:t>Ciphertext</a:t>
              </a:r>
              <a:r>
                <a:rPr lang="en-US" altLang="ko-KR" sz="3600" dirty="0"/>
                <a:t>      Key </a:t>
              </a:r>
              <a:r>
                <a:rPr lang="en-US" altLang="ko-KR" sz="3600" dirty="0">
                  <a:ea typeface="한컴 고딕" panose="02000500000000000000" pitchFamily="2" charset="-127"/>
                </a:rPr>
                <a:t> </a:t>
              </a:r>
              <a:r>
                <a:rPr lang="en-US" altLang="ko-KR" sz="3600" dirty="0"/>
                <a:t> </a:t>
              </a:r>
              <a:endParaRPr lang="ko-KR" altLang="en-US" sz="3600" dirty="0"/>
            </a:p>
          </p:txBody>
        </p:sp>
        <p:pic>
          <p:nvPicPr>
            <p:cNvPr id="1027" name="Picture 3" descr="논리 Xor 기호 무료 벡터 | FreeImage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192" y="2818014"/>
              <a:ext cx="326808" cy="326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22764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50050-6C76-DA11-2B72-0DE33074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182E7-16AB-7116-D0B4-01E71382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028167CC-93D6-132C-38A2-C0DFACEA4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 err="1">
                <a:latin typeface="Calibri"/>
                <a:ea typeface="맑은 고딕"/>
                <a:cs typeface="Calibri"/>
              </a:rPr>
              <a:t>OllyDbg</a:t>
            </a:r>
            <a:r>
              <a:rPr lang="en-US" altLang="ko-KR" dirty="0">
                <a:latin typeface="Calibri"/>
                <a:ea typeface="맑은 고딕"/>
                <a:cs typeface="Calibri"/>
              </a:rPr>
              <a:t>: The User-Mode Standard</a:t>
            </a:r>
          </a:p>
          <a:p>
            <a:pPr lvl="1"/>
            <a:r>
              <a:rPr lang="en-US" altLang="ko-KR" dirty="0">
                <a:ea typeface="맑은 고딕"/>
                <a:cs typeface="Calibri"/>
              </a:rPr>
              <a:t>Rich Interface: Detailed section viewing.</a:t>
            </a:r>
          </a:p>
          <a:p>
            <a:pPr lvl="1"/>
            <a:r>
              <a:rPr lang="en-US" altLang="ko-KR" dirty="0">
                <a:ea typeface="맑은 고딕"/>
                <a:cs typeface="Calibri"/>
              </a:rPr>
              <a:t>Advanced Control: Flexible breakpoints (conditional) and binary patching.</a:t>
            </a:r>
          </a:p>
          <a:p>
            <a:pPr marL="0" indent="0">
              <a:buNone/>
            </a:pPr>
            <a:endParaRPr lang="en-US" altLang="ko-KR" dirty="0">
              <a:latin typeface="Calibri"/>
              <a:ea typeface="맑은 고딕"/>
              <a:cs typeface="Calibri"/>
            </a:endParaRPr>
          </a:p>
          <a:p>
            <a:r>
              <a:rPr lang="en-US" altLang="ko-KR" dirty="0">
                <a:latin typeface="Calibri"/>
                <a:ea typeface="맑은 고딕"/>
                <a:cs typeface="Calibri"/>
              </a:rPr>
              <a:t>The Next Step: Kernel-Mode Analysis</a:t>
            </a:r>
          </a:p>
          <a:p>
            <a:pPr lvl="1"/>
            <a:r>
              <a:rPr lang="en-US" altLang="ko-KR" dirty="0" err="1">
                <a:latin typeface="Calibri"/>
                <a:ea typeface="맑은 고딕"/>
                <a:cs typeface="Calibri"/>
              </a:rPr>
              <a:t>WinDbg</a:t>
            </a:r>
            <a:r>
              <a:rPr lang="en-US" altLang="ko-KR" dirty="0">
                <a:latin typeface="Calibri"/>
                <a:ea typeface="맑은 고딕"/>
                <a:cs typeface="Calibri"/>
              </a:rPr>
              <a:t>: The essential tool for dynamic kernel-mode analysis</a:t>
            </a:r>
          </a:p>
          <a:p>
            <a:pPr lvl="1"/>
            <a:endParaRPr lang="en-US" altLang="ko-KR" dirty="0">
              <a:latin typeface="Calibri"/>
              <a:ea typeface="맑은 고딕"/>
              <a:cs typeface="Calibri"/>
            </a:endParaRPr>
          </a:p>
          <a:p>
            <a:pPr lvl="1"/>
            <a:endParaRPr lang="en-US" altLang="ko-KR" dirty="0">
              <a:latin typeface="Calibri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311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25759</TotalTime>
  <Words>3818</Words>
  <Application>Microsoft Office PowerPoint</Application>
  <PresentationFormat>와이드스크린</PresentationFormat>
  <Paragraphs>453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1" baseType="lpstr">
      <vt:lpstr>맑은 고딕</vt:lpstr>
      <vt:lpstr>한컴 고딕</vt:lpstr>
      <vt:lpstr>ADLaM Display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Debugger</vt:lpstr>
      <vt:lpstr>Debugger</vt:lpstr>
      <vt:lpstr>Single-Stepping</vt:lpstr>
      <vt:lpstr>Single-Stepping</vt:lpstr>
      <vt:lpstr>Stepping-Over vs. Stepping-Into</vt:lpstr>
      <vt:lpstr>Pausing Execution with Breakpoints</vt:lpstr>
      <vt:lpstr>Pausing Execution with Breakpoints</vt:lpstr>
      <vt:lpstr>Pausing Execution with Breakpoints</vt:lpstr>
      <vt:lpstr>Pausing Execution with Breakpoints</vt:lpstr>
      <vt:lpstr>Pausing Execution with Breakpoints</vt:lpstr>
      <vt:lpstr>Software vs. Hardware Breakpoints</vt:lpstr>
      <vt:lpstr>Conditional Breakpoints</vt:lpstr>
      <vt:lpstr>Exceptions</vt:lpstr>
      <vt:lpstr>Modifying Execution with a Debugger</vt:lpstr>
      <vt:lpstr>PowerPoint 프레젠테이션</vt:lpstr>
      <vt:lpstr>OllyDbg</vt:lpstr>
      <vt:lpstr>Opening an Executable</vt:lpstr>
      <vt:lpstr>Opening an Executable</vt:lpstr>
      <vt:lpstr>Attaching to a Running Process</vt:lpstr>
      <vt:lpstr>The OllyDbg Interface</vt:lpstr>
      <vt:lpstr>Memory Map</vt:lpstr>
      <vt:lpstr>Viewing Threads and Stacks</vt:lpstr>
      <vt:lpstr>Executing Code</vt:lpstr>
      <vt:lpstr>Breakpoints</vt:lpstr>
      <vt:lpstr>Tracing</vt:lpstr>
      <vt:lpstr>Exeception Handling</vt:lpstr>
      <vt:lpstr>Code Patching (Modification)</vt:lpstr>
      <vt:lpstr>Assistance Features &amp; Essential Plug-ins</vt:lpstr>
      <vt:lpstr>Loading DLLs</vt:lpstr>
      <vt:lpstr>Loading DLLs</vt:lpstr>
      <vt:lpstr>Lab 9-2</vt:lpstr>
      <vt:lpstr>Lab 9-2</vt:lpstr>
      <vt:lpstr>Lab 9-2</vt:lpstr>
      <vt:lpstr>Lab 9-2</vt:lpstr>
      <vt:lpstr>Lab 9-2</vt:lpstr>
      <vt:lpstr>Lab 9-2</vt:lpstr>
      <vt:lpstr>Lab 9-2</vt:lpstr>
      <vt:lpstr>Lab 9-2</vt:lpstr>
      <vt:lpstr>Lab 9-2</vt:lpstr>
      <vt:lpstr>Lab 9-2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상준 채</cp:lastModifiedBy>
  <cp:revision>554</cp:revision>
  <dcterms:created xsi:type="dcterms:W3CDTF">2025-02-25T16:10:16Z</dcterms:created>
  <dcterms:modified xsi:type="dcterms:W3CDTF">2026-01-28T05:10:07Z</dcterms:modified>
</cp:coreProperties>
</file>