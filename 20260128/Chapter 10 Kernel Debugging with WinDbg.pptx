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2"/>
  </p:notesMasterIdLst>
  <p:sldIdLst>
    <p:sldId id="258" r:id="rId2"/>
    <p:sldId id="308" r:id="rId3"/>
    <p:sldId id="309" r:id="rId4"/>
    <p:sldId id="307" r:id="rId5"/>
    <p:sldId id="312" r:id="rId6"/>
    <p:sldId id="314" r:id="rId7"/>
    <p:sldId id="315" r:id="rId8"/>
    <p:sldId id="318" r:id="rId9"/>
    <p:sldId id="317" r:id="rId10"/>
    <p:sldId id="319" r:id="rId11"/>
    <p:sldId id="321" r:id="rId12"/>
    <p:sldId id="322" r:id="rId13"/>
    <p:sldId id="324" r:id="rId14"/>
    <p:sldId id="323" r:id="rId15"/>
    <p:sldId id="326" r:id="rId16"/>
    <p:sldId id="327" r:id="rId17"/>
    <p:sldId id="328" r:id="rId18"/>
    <p:sldId id="329" r:id="rId19"/>
    <p:sldId id="310" r:id="rId20"/>
    <p:sldId id="331" r:id="rId21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6F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79634" autoAdjust="0"/>
  </p:normalViewPr>
  <p:slideViewPr>
    <p:cSldViewPr snapToGrid="0">
      <p:cViewPr varScale="1">
        <p:scale>
          <a:sx n="59" d="100"/>
          <a:sy n="59" d="100"/>
        </p:scale>
        <p:origin x="956" y="2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승우 유" userId="e4bb43a4fce12bc3" providerId="LiveId" clId="{874E7A55-BC35-4E9D-AC45-86C5DEF3F3CC}"/>
    <pc:docChg chg="modSld">
      <pc:chgData name="승우 유" userId="e4bb43a4fce12bc3" providerId="LiveId" clId="{874E7A55-BC35-4E9D-AC45-86C5DEF3F3CC}" dt="2026-01-28T03:43:10.023" v="16" actId="20577"/>
      <pc:docMkLst>
        <pc:docMk/>
      </pc:docMkLst>
      <pc:sldChg chg="modNotesTx">
        <pc:chgData name="승우 유" userId="e4bb43a4fce12bc3" providerId="LiveId" clId="{874E7A55-BC35-4E9D-AC45-86C5DEF3F3CC}" dt="2026-01-28T03:43:04.032" v="14" actId="20577"/>
        <pc:sldMkLst>
          <pc:docMk/>
          <pc:sldMk cId="1580682114" sldId="307"/>
        </pc:sldMkLst>
      </pc:sldChg>
      <pc:sldChg chg="modNotesTx">
        <pc:chgData name="승우 유" userId="e4bb43a4fce12bc3" providerId="LiveId" clId="{874E7A55-BC35-4E9D-AC45-86C5DEF3F3CC}" dt="2026-01-28T03:43:10.023" v="16" actId="20577"/>
        <pc:sldMkLst>
          <pc:docMk/>
          <pc:sldMk cId="4274858507" sldId="308"/>
        </pc:sldMkLst>
      </pc:sldChg>
      <pc:sldChg chg="modNotesTx">
        <pc:chgData name="승우 유" userId="e4bb43a4fce12bc3" providerId="LiveId" clId="{874E7A55-BC35-4E9D-AC45-86C5DEF3F3CC}" dt="2026-01-28T03:43:06.977" v="15" actId="20577"/>
        <pc:sldMkLst>
          <pc:docMk/>
          <pc:sldMk cId="967278362" sldId="309"/>
        </pc:sldMkLst>
      </pc:sldChg>
      <pc:sldChg chg="modNotesTx">
        <pc:chgData name="승우 유" userId="e4bb43a4fce12bc3" providerId="LiveId" clId="{874E7A55-BC35-4E9D-AC45-86C5DEF3F3CC}" dt="2026-01-28T03:42:25.098" v="0" actId="20577"/>
        <pc:sldMkLst>
          <pc:docMk/>
          <pc:sldMk cId="823046428" sldId="310"/>
        </pc:sldMkLst>
      </pc:sldChg>
      <pc:sldChg chg="modNotesTx">
        <pc:chgData name="승우 유" userId="e4bb43a4fce12bc3" providerId="LiveId" clId="{874E7A55-BC35-4E9D-AC45-86C5DEF3F3CC}" dt="2026-01-28T03:43:01.603" v="13" actId="20577"/>
        <pc:sldMkLst>
          <pc:docMk/>
          <pc:sldMk cId="3458432162" sldId="312"/>
        </pc:sldMkLst>
      </pc:sldChg>
      <pc:sldChg chg="modNotesTx">
        <pc:chgData name="승우 유" userId="e4bb43a4fce12bc3" providerId="LiveId" clId="{874E7A55-BC35-4E9D-AC45-86C5DEF3F3CC}" dt="2026-01-28T03:42:59.432" v="12" actId="20577"/>
        <pc:sldMkLst>
          <pc:docMk/>
          <pc:sldMk cId="119808015" sldId="314"/>
        </pc:sldMkLst>
      </pc:sldChg>
      <pc:sldChg chg="modNotesTx">
        <pc:chgData name="승우 유" userId="e4bb43a4fce12bc3" providerId="LiveId" clId="{874E7A55-BC35-4E9D-AC45-86C5DEF3F3CC}" dt="2026-01-28T03:42:56.862" v="11" actId="20577"/>
        <pc:sldMkLst>
          <pc:docMk/>
          <pc:sldMk cId="1980082079" sldId="315"/>
        </pc:sldMkLst>
      </pc:sldChg>
      <pc:sldChg chg="modNotesTx">
        <pc:chgData name="승우 유" userId="e4bb43a4fce12bc3" providerId="LiveId" clId="{874E7A55-BC35-4E9D-AC45-86C5DEF3F3CC}" dt="2026-01-28T03:42:52.207" v="9" actId="20577"/>
        <pc:sldMkLst>
          <pc:docMk/>
          <pc:sldMk cId="1360013153" sldId="317"/>
        </pc:sldMkLst>
      </pc:sldChg>
      <pc:sldChg chg="modNotesTx">
        <pc:chgData name="승우 유" userId="e4bb43a4fce12bc3" providerId="LiveId" clId="{874E7A55-BC35-4E9D-AC45-86C5DEF3F3CC}" dt="2026-01-28T03:42:54.995" v="10" actId="20577"/>
        <pc:sldMkLst>
          <pc:docMk/>
          <pc:sldMk cId="662948927" sldId="318"/>
        </pc:sldMkLst>
      </pc:sldChg>
      <pc:sldChg chg="modNotesTx">
        <pc:chgData name="승우 유" userId="e4bb43a4fce12bc3" providerId="LiveId" clId="{874E7A55-BC35-4E9D-AC45-86C5DEF3F3CC}" dt="2026-01-28T03:42:49.661" v="8" actId="20577"/>
        <pc:sldMkLst>
          <pc:docMk/>
          <pc:sldMk cId="918989375" sldId="319"/>
        </pc:sldMkLst>
      </pc:sldChg>
      <pc:sldChg chg="modNotesTx">
        <pc:chgData name="승우 유" userId="e4bb43a4fce12bc3" providerId="LiveId" clId="{874E7A55-BC35-4E9D-AC45-86C5DEF3F3CC}" dt="2026-01-28T03:42:47.531" v="7" actId="20577"/>
        <pc:sldMkLst>
          <pc:docMk/>
          <pc:sldMk cId="2615299007" sldId="321"/>
        </pc:sldMkLst>
      </pc:sldChg>
      <pc:sldChg chg="modNotesTx">
        <pc:chgData name="승우 유" userId="e4bb43a4fce12bc3" providerId="LiveId" clId="{874E7A55-BC35-4E9D-AC45-86C5DEF3F3CC}" dt="2026-01-28T03:42:44.737" v="6" actId="20577"/>
        <pc:sldMkLst>
          <pc:docMk/>
          <pc:sldMk cId="1501230147" sldId="322"/>
        </pc:sldMkLst>
      </pc:sldChg>
      <pc:sldChg chg="modNotesTx">
        <pc:chgData name="승우 유" userId="e4bb43a4fce12bc3" providerId="LiveId" clId="{874E7A55-BC35-4E9D-AC45-86C5DEF3F3CC}" dt="2026-01-28T03:42:38.944" v="4" actId="20577"/>
        <pc:sldMkLst>
          <pc:docMk/>
          <pc:sldMk cId="2646115757" sldId="323"/>
        </pc:sldMkLst>
      </pc:sldChg>
      <pc:sldChg chg="modNotesTx">
        <pc:chgData name="승우 유" userId="e4bb43a4fce12bc3" providerId="LiveId" clId="{874E7A55-BC35-4E9D-AC45-86C5DEF3F3CC}" dt="2026-01-28T03:42:41.735" v="5" actId="20577"/>
        <pc:sldMkLst>
          <pc:docMk/>
          <pc:sldMk cId="3907654303" sldId="324"/>
        </pc:sldMkLst>
      </pc:sldChg>
      <pc:sldChg chg="modNotesTx">
        <pc:chgData name="승우 유" userId="e4bb43a4fce12bc3" providerId="LiveId" clId="{874E7A55-BC35-4E9D-AC45-86C5DEF3F3CC}" dt="2026-01-28T03:42:34.447" v="3" actId="20577"/>
        <pc:sldMkLst>
          <pc:docMk/>
          <pc:sldMk cId="607272974" sldId="327"/>
        </pc:sldMkLst>
      </pc:sldChg>
      <pc:sldChg chg="modNotesTx">
        <pc:chgData name="승우 유" userId="e4bb43a4fce12bc3" providerId="LiveId" clId="{874E7A55-BC35-4E9D-AC45-86C5DEF3F3CC}" dt="2026-01-28T03:42:31.896" v="2" actId="20577"/>
        <pc:sldMkLst>
          <pc:docMk/>
          <pc:sldMk cId="3131098270" sldId="328"/>
        </pc:sldMkLst>
      </pc:sldChg>
      <pc:sldChg chg="modNotesTx">
        <pc:chgData name="승우 유" userId="e4bb43a4fce12bc3" providerId="LiveId" clId="{874E7A55-BC35-4E9D-AC45-86C5DEF3F3CC}" dt="2026-01-28T03:42:27.799" v="1" actId="20577"/>
        <pc:sldMkLst>
          <pc:docMk/>
          <pc:sldMk cId="4084296351" sldId="32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36495-DC0D-4CAB-99CF-2BC91B7B4E63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8743950" y="6513910"/>
            <a:ext cx="397934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A937ED-931D-40D0-A52B-9D3119F262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417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369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0CD95-C73B-00C3-5341-D62501CE7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3D791A-6F97-4D86-2C45-5C24FB3DA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9F8C31-D0D5-D23A-DEFC-92040FA1C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1977B2-24D1-47DB-5313-4EB175B6AE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425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65C03-A79B-8CE5-B7BD-F43F3B45D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017EA5-2591-8F66-C16B-820574DBC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FB8A1C-FA7F-1C8C-F704-F925A2CD7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263AE2-1204-4C0B-D049-9F88CFCA1B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259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CDB23-F3FE-968D-06D8-F54575253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CCFC3E-66D6-5C7B-BF1A-972C023888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5438F6-A136-269B-83C3-864B2F701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69330A-C53D-83FB-3579-C04D0627C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779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6B6A3-C8D5-B367-2DA0-C1E407001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CFC29F-289A-5C39-A305-723A98279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530D9F-4D4F-31AA-F743-CBC8C027C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1F290F-F0B4-36C9-A122-B46BCD984D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75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CA776-9D14-0B70-769A-B4C188F6E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A4A5F3-43EA-54B4-0F53-E36DA907A4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65B55E-B443-094C-EDAB-E08333F87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14EBA6-B77D-A2DF-C355-8D47FF0C85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74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C769F-E78E-82C9-5F69-33F88F725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78D4EB-FE9A-8524-A292-1EB0816E7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4F621C-4E42-56B5-A537-CF234665D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F2B12E-ABFA-970A-EAF9-05ABEE4C11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457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C1ED4-A449-A7FD-C3B9-E5AE44F21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64F07E-4F50-6253-014F-0DB56BE7EB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6A7C9F-9BED-DAAD-D65C-A8F96272F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E5AE66-C68E-C341-5273-B44279564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5053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5ABA8-B550-ABB0-7995-67ABC209A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555D98-A6FB-5734-9AEB-33CBB5F7B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C691EA-0C54-46C1-F5C7-C383B7D90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18EC55-1007-78B2-D753-EB907334A9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9265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8B374-AEBA-45B1-10F2-2972DA506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AE835-C406-1114-4617-06F129F00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704C31-A317-6934-E5FD-2E15BBC05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930846-DAE8-95CC-F028-1580A77724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2645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DE227-A663-D5AD-ABA7-8E592615E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2011E1-2A40-DDD1-3F53-3CB3C8A4CA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7E6F06-D211-A16E-F1E7-F1D5838FD7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2DA461-AEF5-2FAA-DF03-3D652A26E4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05361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D4B93-608B-28D9-8B76-CC5B1EBFB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0DADE6-484D-F349-7E82-337FDB0B6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02C0D9-E4EF-64B3-6089-A913805AA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64617D-BA75-2BC3-B579-524EFC471D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465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71252-D0A9-0482-054C-3F1B42E14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28FDC4-3280-0D22-7367-97A59342D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142109-0E0E-2CCF-7166-CA40DA255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2D68B6-55B4-ABCB-13E1-8635E49703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5300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39353-E00E-0E0C-69CA-BF45600FE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1E6B22-612F-C303-650A-CB6B1E7A5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A2F9D3-F706-C93F-3A35-A99A93EC4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B0C2B6-9475-EB27-04B1-545DD47F2C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5286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61E67-0A0A-5681-F117-9E9002543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9904A6-4143-1408-B97C-2FC105092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D61807-2E7E-E5EF-FF88-D47649047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8DEABA-AEA1-9B41-9613-3B5C25D72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5130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A6847-A72B-FBA7-21A2-FEA3583DC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3DD848-0ED7-B5DD-9101-0BF7D1533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196F65-436C-EEBA-D861-B2E140318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1577B4-834D-6D3F-4521-9D071076E5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128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2C9D1-3A5B-89FB-93C3-9E7D9D60B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DF6B01-C684-8613-747C-E62D5A45D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0694E5-BF49-F260-E94F-06AE69ED2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D847D6-1B35-C023-2713-73DE5C4DB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3066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7B4A1-9DA9-637E-58DC-5EE2180F3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B50F6B-FD2D-904B-490F-046397F384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76482D-0447-CC8C-C13F-D45851058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C53986-D768-E9CD-C07D-0EF25AF8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6327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4F167-DC6A-512F-DF9F-FDEF7EFC7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D80974-68BC-2068-E6D1-6D337E437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54C945-5835-1F66-0534-023C3FE95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41603D-6A9E-F1D8-0848-3A30CC2B7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15618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DF9C3-381D-FB16-0F11-694E734FC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F8EF35-6F88-3872-C08A-23630BA799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191EAE-D072-D74F-44FE-E8D87F2E7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5E4E70-FCF4-5B97-4EEA-581E9C5C1D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052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6F52-52A4-4ADA-8337-1D0E38BC1528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258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CF2E-F772-4C48-A022-8DA17AB07D09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239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6CCF-1BD5-41F2-8919-506642824762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03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013B8-9107-4FC6-B669-0711D906AEA8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974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0FD3-F67E-42DB-A82A-D7687E1AB5C5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413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8341-9D4A-421F-9395-519F49F2F3AC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356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D71C7-3F13-46B6-A58E-7CA23BE81ED6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886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E1AA6-5255-4A39-85AE-61A704FE972F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197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F48E3-8B93-4D1A-AFFF-2EEA163A89A1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312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E3CF-2B66-464B-AD98-FE0BFF55D30D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52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B0A1-7A7D-42C4-BC3D-4BA8A1C2FF4E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5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A22A1-79FE-4BB1-8901-01583DC1A7E6}" type="datetime1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30B1F-A8C1-4283-9092-BCCC9E34DE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751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sec.ahnlab.com/ko/38593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8.png"/><Relationship Id="rId4" Type="http://schemas.openxmlformats.org/officeDocument/2006/relationships/hyperlink" Target="https://pwnable.kr/play.php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5D2B271-A495-42C7-8960-C02F459CE3D5}"/>
              </a:ext>
            </a:extLst>
          </p:cNvPr>
          <p:cNvSpPr txBox="1">
            <a:spLocks/>
          </p:cNvSpPr>
          <p:nvPr/>
        </p:nvSpPr>
        <p:spPr>
          <a:xfrm>
            <a:off x="211122" y="1342553"/>
            <a:ext cx="11769755" cy="21247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6199"/>
              </a:lnSpc>
            </a:pPr>
            <a:r>
              <a:rPr lang="en-US" altLang="ko-KR" sz="4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10. Kernel Debugging With </a:t>
            </a:r>
            <a:r>
              <a:rPr lang="en-US" altLang="ko-KR" sz="4000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Windbg</a:t>
            </a:r>
            <a:endParaRPr lang="ko-KR" sz="40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A938B2-426B-4B82-BFDE-FE7C1372E765}"/>
              </a:ext>
            </a:extLst>
          </p:cNvPr>
          <p:cNvSpPr txBox="1"/>
          <p:nvPr/>
        </p:nvSpPr>
        <p:spPr>
          <a:xfrm>
            <a:off x="4223657" y="4634051"/>
            <a:ext cx="3744686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endParaRPr lang="en-US" altLang="ko-KR" b="1" dirty="0">
              <a:ea typeface="맑은 고딕"/>
            </a:endParaRPr>
          </a:p>
          <a:p>
            <a:pPr algn="ctr"/>
            <a:r>
              <a:rPr lang="en-US" altLang="ko-KR" b="1" dirty="0">
                <a:ea typeface="맑은 고딕"/>
              </a:rPr>
              <a:t>Presenter: Seungwoo Yoo</a:t>
            </a:r>
          </a:p>
          <a:p>
            <a:pPr algn="ctr"/>
            <a:endParaRPr lang="en-US" altLang="ko-KR" b="1" dirty="0">
              <a:ea typeface="맑은 고딕"/>
            </a:endParaRPr>
          </a:p>
          <a:p>
            <a:pPr algn="ctr"/>
            <a:endParaRPr lang="en-US" altLang="ko-KR" b="1" dirty="0">
              <a:ea typeface="맑은 고딕"/>
            </a:endParaRPr>
          </a:p>
          <a:p>
            <a:pPr algn="ctr"/>
            <a:r>
              <a:rPr lang="en-US" altLang="ko-KR" i="1" dirty="0">
                <a:ea typeface="맑은 고딕"/>
              </a:rPr>
              <a:t>2026-01-28</a:t>
            </a:r>
          </a:p>
        </p:txBody>
      </p:sp>
    </p:spTree>
    <p:extLst>
      <p:ext uri="{BB962C8B-B14F-4D97-AF65-F5344CB8AC3E}">
        <p14:creationId xmlns:p14="http://schemas.microsoft.com/office/powerpoint/2010/main" val="4249187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59CFD-6899-EC8B-5FA4-7C36CD94D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2480EF-A65E-FE8B-BD17-46AD21FD6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What is kernel?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/>
              <a:cs typeface="Calibri"/>
            </a:endParaRPr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1A8348BE-9B63-FD91-73C3-1C4BD96BE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47" y="1118662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altLang="ko-KR" sz="2400" dirty="0"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  <a:p>
            <a:pPr lvl="2"/>
            <a:endParaRPr lang="en-US" altLang="ko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854CEB-3F03-A422-D3F5-F2485C330252}"/>
              </a:ext>
            </a:extLst>
          </p:cNvPr>
          <p:cNvSpPr txBox="1"/>
          <p:nvPr/>
        </p:nvSpPr>
        <p:spPr>
          <a:xfrm>
            <a:off x="374551" y="1163696"/>
            <a:ext cx="11109878" cy="44935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200" b="1" dirty="0">
                <a:ea typeface="맑은 고딕"/>
                <a:cs typeface="Calibri"/>
              </a:rPr>
              <a:t>Kernel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맑은 고딕"/>
                <a:cs typeface="Calibri"/>
              </a:rPr>
              <a:t>Core of the operating system.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맑은 고딕"/>
                <a:cs typeface="Calibri"/>
              </a:rPr>
              <a:t>Act as a bridge between applications and hardware.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맑은 고딕"/>
                <a:cs typeface="Calibri"/>
              </a:rPr>
              <a:t>Full system privileges.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맑은 고딕"/>
                <a:cs typeface="Calibri"/>
              </a:rPr>
              <a:t>Controls memory, CPU, devices.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2200" dirty="0">
              <a:ea typeface="맑은 고딕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200" b="1" dirty="0">
                <a:ea typeface="맑은 고딕"/>
                <a:cs typeface="Calibri"/>
              </a:rPr>
              <a:t>Kernel mode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맑은 고딕"/>
                <a:cs typeface="Calibri"/>
              </a:rPr>
              <a:t>Execution environment for kernel code.</a:t>
            </a:r>
          </a:p>
          <a:p>
            <a:pPr lvl="1"/>
            <a:endParaRPr lang="en-US" altLang="ko-KR" sz="2200" dirty="0">
              <a:ea typeface="맑은 고딕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200" b="1" dirty="0">
                <a:ea typeface="맑은 고딕"/>
                <a:cs typeface="Calibri"/>
              </a:rPr>
              <a:t>User mode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맑은 고딕"/>
                <a:cs typeface="Calibri"/>
              </a:rPr>
              <a:t>Execution environment for normal applications.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맑은 고딕"/>
                <a:cs typeface="Calibri"/>
              </a:rPr>
              <a:t>Limited privileges.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맑은 고딕"/>
                <a:cs typeface="Calibri"/>
              </a:rPr>
              <a:t>Cannot directly access hardware.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27AFCE8-B704-DF76-F719-EA644310479B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3058608" cy="0"/>
          </a:xfrm>
          <a:prstGeom prst="line">
            <a:avLst/>
          </a:prstGeom>
          <a:ln w="38100">
            <a:solidFill>
              <a:schemeClr val="accent1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4858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08F14-E801-8CE7-0498-A45786699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2C9B8B-AB76-40FA-8354-A21B114587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73" r="11647"/>
          <a:stretch>
            <a:fillRect/>
          </a:stretch>
        </p:blipFill>
        <p:spPr>
          <a:xfrm>
            <a:off x="7612063" y="2374503"/>
            <a:ext cx="4552636" cy="358005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278623B-39F0-74AC-5670-838AE75A6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How do user application interact with kernel?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/>
              <a:cs typeface="Calibri"/>
            </a:endParaRPr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A61CC012-A7D7-AC53-2CE9-F77724ED0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47" y="1118662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altLang="ko-KR" sz="2400" dirty="0"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  <a:p>
            <a:pPr lvl="2"/>
            <a:endParaRPr lang="en-US" altLang="ko-KR" sz="16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87B324-2205-B56D-F2BA-481E91BE2F65}"/>
              </a:ext>
            </a:extLst>
          </p:cNvPr>
          <p:cNvSpPr txBox="1"/>
          <p:nvPr/>
        </p:nvSpPr>
        <p:spPr>
          <a:xfrm>
            <a:off x="328059" y="1318663"/>
            <a:ext cx="7564084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맑은 고딕"/>
                <a:cs typeface="Calibri"/>
              </a:rPr>
              <a:t>User application cannot access hardware directly.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맑은 고딕"/>
                <a:cs typeface="Calibri"/>
              </a:rPr>
              <a:t>Requests are made through systems calls.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맑은 고딕"/>
                <a:cs typeface="Calibri"/>
              </a:rPr>
              <a:t>The kernel validates each request and executes the operation.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200" dirty="0">
              <a:ea typeface="맑은 고딕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200" dirty="0">
              <a:ea typeface="맑은 고딕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200" dirty="0">
              <a:ea typeface="맑은 고딕"/>
              <a:cs typeface="Calibri"/>
            </a:endParaRPr>
          </a:p>
          <a:p>
            <a:r>
              <a:rPr lang="en-US" altLang="ko-KR" sz="2400" dirty="0">
                <a:ea typeface="맑은 고딕"/>
                <a:cs typeface="Calibri"/>
              </a:rPr>
              <a:t>Example: Allocating memory</a:t>
            </a:r>
          </a:p>
          <a:p>
            <a:pPr marL="457200" indent="-457200">
              <a:buAutoNum type="arabicPeriod"/>
            </a:pPr>
            <a:r>
              <a:rPr lang="en-US" altLang="ko-KR" sz="2200" dirty="0"/>
              <a:t>User application calls malloc().</a:t>
            </a:r>
          </a:p>
          <a:p>
            <a:pPr marL="457200" indent="-457200">
              <a:buAutoNum type="arabicPeriod"/>
            </a:pPr>
            <a:r>
              <a:rPr lang="en-US" altLang="ko-KR" sz="2200" dirty="0">
                <a:ea typeface="맑은 고딕"/>
                <a:cs typeface="Calibri"/>
              </a:rPr>
              <a:t>malloc() requests memory from the operating system.</a:t>
            </a:r>
          </a:p>
          <a:p>
            <a:pPr marL="457200" indent="-457200">
              <a:buAutoNum type="arabicPeriod"/>
            </a:pPr>
            <a:r>
              <a:rPr lang="en-US" altLang="ko-KR" sz="2200" dirty="0">
                <a:ea typeface="맑은 고딕"/>
                <a:cs typeface="Calibri"/>
              </a:rPr>
              <a:t>System call is triggered and the request enters kernel mode.</a:t>
            </a:r>
          </a:p>
          <a:p>
            <a:pPr marL="457200" indent="-457200">
              <a:buAutoNum type="arabicPeriod"/>
            </a:pPr>
            <a:r>
              <a:rPr lang="en-US" altLang="ko-KR" sz="2200" dirty="0">
                <a:ea typeface="맑은 고딕"/>
                <a:cs typeface="Calibri"/>
              </a:rPr>
              <a:t>Kernel checks available memory and permissions.</a:t>
            </a:r>
          </a:p>
          <a:p>
            <a:pPr marL="457200" indent="-457200">
              <a:buAutoNum type="arabicPeriod"/>
            </a:pPr>
            <a:r>
              <a:rPr lang="en-US" altLang="ko-KR" sz="2200" dirty="0">
                <a:ea typeface="맑은 고딕"/>
                <a:cs typeface="Calibri"/>
              </a:rPr>
              <a:t>Kernel allocates memory.</a:t>
            </a:r>
          </a:p>
          <a:p>
            <a:pPr marL="457200" indent="-457200">
              <a:buAutoNum type="arabicPeriod"/>
            </a:pPr>
            <a:r>
              <a:rPr lang="en-US" altLang="ko-KR" sz="2200" dirty="0">
                <a:ea typeface="맑은 고딕"/>
                <a:cs typeface="Calibri"/>
              </a:rPr>
              <a:t>Memory address is returned to the application.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6C14434-ED37-0ED0-58EE-2FCDBEC06E85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9425541" cy="0"/>
          </a:xfrm>
          <a:prstGeom prst="line">
            <a:avLst/>
          </a:prstGeom>
          <a:ln w="38100">
            <a:solidFill>
              <a:schemeClr val="accent1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278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46ED6-0657-2B09-389D-67386B486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F78881-308E-A297-10C5-94D07825A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 Why Kernel Debugging?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/>
              <a:cs typeface="Calibri"/>
            </a:endParaRPr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D71A64F0-0217-CB64-E82F-6853EBC5C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47" y="1118662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altLang="ko-KR" sz="2400" dirty="0"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  <a:p>
            <a:pPr lvl="2"/>
            <a:endParaRPr lang="en-US" altLang="ko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538976-201C-FEC7-3FF5-9BD775FB21CC}"/>
              </a:ext>
            </a:extLst>
          </p:cNvPr>
          <p:cNvSpPr txBox="1"/>
          <p:nvPr/>
        </p:nvSpPr>
        <p:spPr>
          <a:xfrm>
            <a:off x="328059" y="1318663"/>
            <a:ext cx="11543159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맑은 고딕"/>
                <a:cs typeface="Calibri"/>
              </a:rPr>
              <a:t>Most malware analysis focuses on user application.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200" dirty="0">
              <a:ea typeface="맑은 고딕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맑은 고딕"/>
                <a:cs typeface="Calibri"/>
              </a:rPr>
              <a:t>Advanced attacks operate in kernel mode.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200" dirty="0">
              <a:ea typeface="맑은 고딕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200" dirty="0">
                <a:ea typeface="맑은 고딕"/>
                <a:cs typeface="Calibri"/>
              </a:rPr>
              <a:t>Kernel malware runs with </a:t>
            </a:r>
            <a:r>
              <a:rPr lang="en-US" altLang="ko-KR" sz="2200" b="1" dirty="0">
                <a:ea typeface="맑은 고딕"/>
                <a:cs typeface="Calibri"/>
              </a:rPr>
              <a:t>full system privileges</a:t>
            </a:r>
            <a:r>
              <a:rPr lang="en-US" altLang="ko-KR" sz="2200" dirty="0">
                <a:ea typeface="맑은 고딕"/>
                <a:cs typeface="Calibri"/>
              </a:rPr>
              <a:t>, so it can bypass security mechanisms and easily evade detection.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D3BA8AA-3B68-40C0-B351-9B0CE57ED063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4943852" cy="0"/>
          </a:xfrm>
          <a:prstGeom prst="line">
            <a:avLst/>
          </a:prstGeom>
          <a:ln w="38100">
            <a:solidFill>
              <a:schemeClr val="accent1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682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2B6B1-326A-2EE5-7BAD-1AA8093E0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E58F6-53CA-0DFC-146D-2FEEF23D5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Kernel Debugging Setting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/>
              <a:cs typeface="Calibri"/>
            </a:endParaRPr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94B2D8F8-8729-B175-41BC-D4D2D0A4C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47" y="1118662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altLang="ko-KR" sz="2400" dirty="0"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  <a:p>
            <a:pPr lvl="2"/>
            <a:endParaRPr lang="en-US" altLang="ko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05062B-1483-550D-8441-54ED273C857B}"/>
              </a:ext>
            </a:extLst>
          </p:cNvPr>
          <p:cNvSpPr txBox="1"/>
          <p:nvPr/>
        </p:nvSpPr>
        <p:spPr>
          <a:xfrm>
            <a:off x="328059" y="1318663"/>
            <a:ext cx="11729186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Windows runs inside VMware, with a virtual serial connection between VMware and </a:t>
            </a:r>
            <a:r>
              <a:rPr lang="en-US" altLang="ko-KR" sz="2400" dirty="0" err="1">
                <a:ea typeface="맑은 고딕"/>
                <a:cs typeface="Calibri"/>
              </a:rPr>
              <a:t>WinDbg</a:t>
            </a:r>
            <a:r>
              <a:rPr lang="en-US" altLang="ko-KR" sz="2400" dirty="0">
                <a:ea typeface="맑은 고딕"/>
                <a:cs typeface="Calibri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ea typeface="맑은 고딕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Kernel module: a piece of code loaded into kernel.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Kernel driver: a kernel module that controls hardware.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ea typeface="맑은 고딕"/>
              <a:cs typeface="Calibri"/>
            </a:endParaRPr>
          </a:p>
        </p:txBody>
      </p:sp>
      <p:pic>
        <p:nvPicPr>
          <p:cNvPr id="6" name="그림 5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3018FA-58D9-8BA7-4EF3-22EAD2D40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638" y="4487516"/>
            <a:ext cx="6679933" cy="193783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1D35BC5-FB5E-84B7-1C12-CC71F96DE3E0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5158341" cy="0"/>
          </a:xfrm>
          <a:prstGeom prst="line">
            <a:avLst/>
          </a:prstGeom>
          <a:ln w="38100">
            <a:solidFill>
              <a:schemeClr val="accent1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VMware Workstation Pro | Logopedia | Fandom">
            <a:extLst>
              <a:ext uri="{FF2B5EF4-FFF2-40B4-BE49-F238E27FC236}">
                <a16:creationId xmlns:a16="http://schemas.microsoft.com/office/drawing/2014/main" id="{768D0E9D-A8F7-2E26-2DD5-9E5F2119D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33" y="4487516"/>
            <a:ext cx="2524125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F2DEE52-19DD-C824-A6D0-7375928E6904}"/>
              </a:ext>
            </a:extLst>
          </p:cNvPr>
          <p:cNvCxnSpPr>
            <a:cxnSpLocks/>
          </p:cNvCxnSpPr>
          <p:nvPr/>
        </p:nvCxnSpPr>
        <p:spPr>
          <a:xfrm>
            <a:off x="3721705" y="5456431"/>
            <a:ext cx="780210" cy="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432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497CF-0580-F81C-8A32-2ADB84D6B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ED7541-6E35-C291-D1B4-60BE59B33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Kernel Debugging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/>
              <a:cs typeface="Calibri"/>
            </a:endParaRPr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1DA98238-F359-F75F-718D-66D6B59F6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241" y="1148159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altLang="ko-KR" sz="2400" dirty="0"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  <a:p>
            <a:pPr lvl="2"/>
            <a:endParaRPr lang="en-US" altLang="ko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FA32BB-6260-ACF2-D9D3-2F208EA95D6A}"/>
              </a:ext>
            </a:extLst>
          </p:cNvPr>
          <p:cNvSpPr txBox="1"/>
          <p:nvPr/>
        </p:nvSpPr>
        <p:spPr>
          <a:xfrm>
            <a:off x="328059" y="1318663"/>
            <a:ext cx="11682694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 err="1">
                <a:ea typeface="맑은 고딕"/>
                <a:cs typeface="Calibri"/>
              </a:rPr>
              <a:t>lm</a:t>
            </a:r>
            <a:r>
              <a:rPr lang="en-US" altLang="ko-KR" sz="2400" dirty="0">
                <a:ea typeface="맑은 고딕"/>
                <a:cs typeface="Calibri"/>
              </a:rPr>
              <a:t> – list all kernel modules loaded in memory.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ea typeface="맑은 고딕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ea typeface="맑은 고딕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>
                <a:ea typeface="맑은 고딕"/>
                <a:cs typeface="Calibri"/>
              </a:rPr>
              <a:t>dx</a:t>
            </a:r>
            <a:r>
              <a:rPr lang="en-US" altLang="ko-KR" sz="2400" dirty="0">
                <a:ea typeface="맑은 고딕"/>
                <a:cs typeface="Calibri"/>
              </a:rPr>
              <a:t> – display structured data inspection.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ea typeface="맑은 고딕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ea typeface="맑은 고딕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ea typeface="맑은 고딕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>
                <a:ea typeface="맑은 고딕"/>
                <a:cs typeface="Calibri"/>
              </a:rPr>
              <a:t>da</a:t>
            </a:r>
            <a:r>
              <a:rPr lang="en-US" altLang="ko-KR" sz="2400" dirty="0">
                <a:ea typeface="맑은 고딕"/>
                <a:cs typeface="Calibri"/>
              </a:rPr>
              <a:t> – display ASCII text.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ea typeface="맑은 고딕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ea typeface="맑은 고딕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>
                <a:ea typeface="맑은 고딕"/>
                <a:cs typeface="Calibri"/>
              </a:rPr>
              <a:t>ed</a:t>
            </a:r>
            <a:r>
              <a:rPr lang="en-US" altLang="ko-KR" sz="2400" dirty="0">
                <a:ea typeface="맑은 고딕"/>
                <a:cs typeface="Calibri"/>
              </a:rPr>
              <a:t> – enter the value into memory.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ea typeface="맑은 고딕"/>
              <a:cs typeface="Calibri"/>
            </a:endParaRPr>
          </a:p>
          <a:p>
            <a:endParaRPr lang="en-US" altLang="ko-KR" sz="2400" dirty="0">
              <a:ea typeface="맑은 고딕"/>
              <a:cs typeface="Calibri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AD1E4E6-7D16-937F-4F1B-A41EA1AE92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528" r="6151" b="-3306"/>
          <a:stretch>
            <a:fillRect/>
          </a:stretch>
        </p:blipFill>
        <p:spPr>
          <a:xfrm>
            <a:off x="778721" y="2976689"/>
            <a:ext cx="9929932" cy="626260"/>
          </a:xfrm>
          <a:prstGeom prst="rect">
            <a:avLst/>
          </a:prstGeom>
        </p:spPr>
      </p:pic>
      <p:pic>
        <p:nvPicPr>
          <p:cNvPr id="10" name="그림 9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F91EA2-05E9-ECF8-CA6A-190D806E22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488" b="1"/>
          <a:stretch>
            <a:fillRect/>
          </a:stretch>
        </p:blipFill>
        <p:spPr>
          <a:xfrm>
            <a:off x="778721" y="4322959"/>
            <a:ext cx="3521136" cy="436654"/>
          </a:xfrm>
          <a:prstGeom prst="rect">
            <a:avLst/>
          </a:prstGeom>
        </p:spPr>
      </p:pic>
      <p:pic>
        <p:nvPicPr>
          <p:cNvPr id="13" name="그림 12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C41225-978E-B94E-1153-4E73CDFF94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721" y="5538078"/>
            <a:ext cx="2160422" cy="63212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55F98E5-121D-E1BF-C93D-79A7A55173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435" r="5472" b="8139"/>
          <a:stretch>
            <a:fillRect/>
          </a:stretch>
        </p:blipFill>
        <p:spPr>
          <a:xfrm>
            <a:off x="778721" y="1782816"/>
            <a:ext cx="9919513" cy="62626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60FF164-7D54-3736-AF6E-BF4D26BFFA6F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3600474" cy="0"/>
          </a:xfrm>
          <a:prstGeom prst="line">
            <a:avLst/>
          </a:prstGeom>
          <a:ln w="38100">
            <a:solidFill>
              <a:schemeClr val="accent1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08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11F3E-EF4E-B535-794A-1FE4FB891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02289A-91A0-B106-7760-BB023293A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Kernel Debugging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/>
              <a:cs typeface="Calibri"/>
            </a:endParaRPr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FFC2455C-60C6-067A-7094-CF4CF3EB2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241" y="1148159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altLang="ko-KR" sz="2400" dirty="0"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  <a:p>
            <a:pPr lvl="2"/>
            <a:endParaRPr lang="en-US" altLang="ko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E20F0F-68C5-1B60-3637-9D62CABB6A82}"/>
              </a:ext>
            </a:extLst>
          </p:cNvPr>
          <p:cNvSpPr txBox="1"/>
          <p:nvPr/>
        </p:nvSpPr>
        <p:spPr>
          <a:xfrm>
            <a:off x="328059" y="1318663"/>
            <a:ext cx="11682694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Kernel debugging scenario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Use Windows XP.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User applications use </a:t>
            </a:r>
            <a:r>
              <a:rPr lang="en-US" altLang="ko-KR" sz="2400" b="1" dirty="0" err="1">
                <a:ea typeface="맑은 고딕"/>
                <a:cs typeface="Calibri"/>
              </a:rPr>
              <a:t>DeviceIoControl</a:t>
            </a:r>
            <a:r>
              <a:rPr lang="en-US" altLang="ko-KR" sz="2400" dirty="0">
                <a:ea typeface="맑은 고딕"/>
                <a:cs typeface="Calibri"/>
              </a:rPr>
              <a:t> to invoke system calls and communicate with kernel drivers.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2400" dirty="0">
              <a:ea typeface="맑은 고딕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What is </a:t>
            </a:r>
            <a:r>
              <a:rPr lang="en-US" altLang="ko-KR" sz="2400" b="1" dirty="0" err="1">
                <a:ea typeface="맑은 고딕"/>
                <a:cs typeface="Calibri"/>
              </a:rPr>
              <a:t>DeviceIoControl</a:t>
            </a:r>
            <a:r>
              <a:rPr lang="en-US" altLang="ko-KR" sz="2400" dirty="0">
                <a:ea typeface="맑은 고딕"/>
                <a:cs typeface="Calibri"/>
              </a:rPr>
              <a:t>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Windows API that allows user application to send request to kernel drivers.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This API executes driver-defined kernel code by driver developer rather than common OS logic.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E.g.,) customized mouse, keyboard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altLang="ko-KR" sz="2400" dirty="0">
              <a:ea typeface="맑은 고딕"/>
              <a:cs typeface="Calibri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If a driver improperly validates input, then it can execute </a:t>
            </a:r>
            <a:r>
              <a:rPr lang="en-US" altLang="ko-KR" sz="2400" b="1" dirty="0">
                <a:ea typeface="맑은 고딕"/>
                <a:cs typeface="Calibri"/>
              </a:rPr>
              <a:t>unintended kernel operations</a:t>
            </a:r>
            <a:r>
              <a:rPr lang="en-US" altLang="ko-KR" sz="2400" dirty="0">
                <a:ea typeface="맑은 고딕"/>
                <a:cs typeface="Calibri"/>
              </a:rPr>
              <a:t> like memory overwrite.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6170B44-0913-997F-8339-D095D180AC07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3600474" cy="0"/>
          </a:xfrm>
          <a:prstGeom prst="line">
            <a:avLst/>
          </a:prstGeom>
          <a:ln w="38100">
            <a:solidFill>
              <a:schemeClr val="accent1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082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DED7A-C53F-A2CD-1E54-E81A2DAF4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6DBDA1-C90C-3377-179A-73CA3F580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Kernel Debugging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/>
              <a:cs typeface="Calibri"/>
            </a:endParaRPr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C64D6C1F-21FA-FBAC-9892-44E623EA1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241" y="1148159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altLang="ko-KR" sz="2400" dirty="0"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  <a:p>
            <a:pPr lvl="2"/>
            <a:endParaRPr lang="en-US" altLang="ko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0BAA91-9163-4AB7-8B08-C9EFDF82C92D}"/>
              </a:ext>
            </a:extLst>
          </p:cNvPr>
          <p:cNvSpPr txBox="1"/>
          <p:nvPr/>
        </p:nvSpPr>
        <p:spPr>
          <a:xfrm>
            <a:off x="328058" y="1318663"/>
            <a:ext cx="11863941" cy="34163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Kernel drivers are usually loaded at boot time to ensure system stability and security.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During analysis, FileWriter.sys loaded.</a:t>
            </a:r>
          </a:p>
          <a:p>
            <a:endParaRPr lang="en-US" altLang="ko-KR" sz="2400" dirty="0">
              <a:ea typeface="맑은 고딕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                                                              – maybe it can be malicious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ea typeface="맑은 고딕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To find what code is called in FileWriter.sys driver, need to find driver object.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>
                <a:ea typeface="맑은 고딕"/>
                <a:cs typeface="Calibri"/>
              </a:rPr>
              <a:t>!</a:t>
            </a:r>
            <a:r>
              <a:rPr lang="en-US" altLang="ko-KR" sz="2400" b="1" dirty="0" err="1">
                <a:ea typeface="맑은 고딕"/>
                <a:cs typeface="Calibri"/>
              </a:rPr>
              <a:t>drvobj</a:t>
            </a:r>
            <a:r>
              <a:rPr lang="en-US" altLang="ko-KR" sz="2400" b="1" dirty="0">
                <a:ea typeface="맑은 고딕"/>
                <a:cs typeface="Calibri"/>
              </a:rPr>
              <a:t> </a:t>
            </a:r>
            <a:r>
              <a:rPr lang="en-US" altLang="ko-KR" sz="2400" dirty="0">
                <a:ea typeface="맑은 고딕"/>
                <a:cs typeface="Calibri"/>
              </a:rPr>
              <a:t>– find driver object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ea typeface="맑은 고딕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ea typeface="맑은 고딕"/>
              <a:cs typeface="Calibri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A60A242-6B5D-046B-7107-A1D9121D10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382" r="10296" b="16569"/>
          <a:stretch>
            <a:fillRect/>
          </a:stretch>
        </p:blipFill>
        <p:spPr>
          <a:xfrm>
            <a:off x="781717" y="2551495"/>
            <a:ext cx="4127740" cy="217010"/>
          </a:xfrm>
          <a:prstGeom prst="rect">
            <a:avLst/>
          </a:prstGeom>
        </p:spPr>
      </p:pic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3EF18A-1A6D-ABC4-9CB7-8DA77B641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17" y="4040348"/>
            <a:ext cx="7698964" cy="2085869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5BEBCC5-6948-BAB0-5BF9-F8A10D6BFC31}"/>
              </a:ext>
            </a:extLst>
          </p:cNvPr>
          <p:cNvSpPr/>
          <p:nvPr/>
        </p:nvSpPr>
        <p:spPr>
          <a:xfrm>
            <a:off x="2057400" y="4449213"/>
            <a:ext cx="1110343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FF973B7-028E-B057-D82E-99BDF8949EEC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3600474" cy="0"/>
          </a:xfrm>
          <a:prstGeom prst="line">
            <a:avLst/>
          </a:prstGeom>
          <a:ln w="38100">
            <a:solidFill>
              <a:schemeClr val="accent1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948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253DD-7233-091B-A4F2-D8BA634BF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2BA0BE-B41D-9B73-F8E5-12C0E9FA0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Kernel Debugging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/>
              <a:cs typeface="Calibri"/>
            </a:endParaRPr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3CE7A0F7-320D-2DEE-9EBD-9D9353FF5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241" y="1148159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altLang="ko-KR" sz="2400" dirty="0"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  <a:p>
            <a:pPr lvl="2"/>
            <a:endParaRPr lang="en-US" altLang="ko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4A4B2-B572-0346-E235-95E1D563A2E1}"/>
              </a:ext>
            </a:extLst>
          </p:cNvPr>
          <p:cNvSpPr txBox="1"/>
          <p:nvPr/>
        </p:nvSpPr>
        <p:spPr>
          <a:xfrm>
            <a:off x="328059" y="1318663"/>
            <a:ext cx="11682694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Driver object address: 0x827e3698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Driver object describes how requests are handled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>
                <a:ea typeface="맑은 고딕"/>
                <a:cs typeface="Calibri"/>
              </a:rPr>
              <a:t>dt</a:t>
            </a:r>
            <a:r>
              <a:rPr lang="en-US" altLang="ko-KR" sz="2400" dirty="0">
                <a:ea typeface="맑은 고딕"/>
                <a:cs typeface="Calibri"/>
              </a:rPr>
              <a:t> – look driver object’s 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ea typeface="맑은 고딕"/>
              <a:cs typeface="Calibri"/>
            </a:endParaRPr>
          </a:p>
        </p:txBody>
      </p:sp>
      <p:pic>
        <p:nvPicPr>
          <p:cNvPr id="4" name="그림 3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1EE9F0-50D0-1106-9323-7F07920B5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50" y="3022422"/>
            <a:ext cx="4553585" cy="1629002"/>
          </a:xfrm>
          <a:prstGeom prst="rect">
            <a:avLst/>
          </a:prstGeom>
        </p:spPr>
      </p:pic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C1E952-6692-0558-FC0F-66F0A6499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406" y="4535934"/>
            <a:ext cx="5706271" cy="2000529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2F51808-EC7F-6EC2-DF7D-0C7ADA99636E}"/>
              </a:ext>
            </a:extLst>
          </p:cNvPr>
          <p:cNvSpPr/>
          <p:nvPr/>
        </p:nvSpPr>
        <p:spPr>
          <a:xfrm>
            <a:off x="1049635" y="6536463"/>
            <a:ext cx="1726222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00E6F3-AD05-480F-7246-9230D00DE199}"/>
              </a:ext>
            </a:extLst>
          </p:cNvPr>
          <p:cNvSpPr txBox="1"/>
          <p:nvPr/>
        </p:nvSpPr>
        <p:spPr>
          <a:xfrm>
            <a:off x="6945086" y="5987143"/>
            <a:ext cx="4691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Major function </a:t>
            </a:r>
            <a:r>
              <a:rPr lang="en-US" altLang="ko-KR" dirty="0"/>
              <a:t>is a function pointer table used by each driver to handle incoming user requests.</a:t>
            </a:r>
            <a:endParaRPr lang="ko-KR" altLang="en-US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7032B92-10BF-B240-88A5-1C639755C7D0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3600474" cy="0"/>
          </a:xfrm>
          <a:prstGeom prst="line">
            <a:avLst/>
          </a:prstGeom>
          <a:ln w="38100">
            <a:solidFill>
              <a:schemeClr val="accent1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0013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F7F2F-A716-626D-C3F4-D40C93514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C0607F-EE19-C96A-0BE9-0CFE11C41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Kernel Debugging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/>
              <a:cs typeface="Calibri"/>
            </a:endParaRPr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6B330957-CCC9-B8F1-8957-E7A54AFD5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241" y="1148159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altLang="ko-KR" sz="2400" dirty="0"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  <a:p>
            <a:pPr lvl="2"/>
            <a:endParaRPr lang="en-US" altLang="ko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9B0CF4-AF42-640C-6B35-E612BA4F5226}"/>
              </a:ext>
            </a:extLst>
          </p:cNvPr>
          <p:cNvSpPr txBox="1"/>
          <p:nvPr/>
        </p:nvSpPr>
        <p:spPr>
          <a:xfrm>
            <a:off x="328059" y="1318663"/>
            <a:ext cx="11682694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 err="1">
                <a:ea typeface="맑은 고딕"/>
                <a:cs typeface="Calibri"/>
              </a:rPr>
              <a:t>MajorFunction</a:t>
            </a:r>
            <a:r>
              <a:rPr lang="en-US" altLang="ko-KR" sz="2400" dirty="0">
                <a:ea typeface="맑은 고딕"/>
                <a:cs typeface="Calibri"/>
              </a:rPr>
              <a:t> table starts at offset 0x38.</a:t>
            </a:r>
          </a:p>
          <a:p>
            <a:endParaRPr lang="en-US" altLang="ko-KR" sz="2400" dirty="0">
              <a:ea typeface="맑은 고딕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ea typeface="맑은 고딕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We must find </a:t>
            </a:r>
            <a:r>
              <a:rPr lang="en-US" altLang="ko-KR" sz="2400" b="1" dirty="0" err="1">
                <a:ea typeface="맑은 고딕"/>
                <a:cs typeface="Calibri"/>
              </a:rPr>
              <a:t>DeviceIoControl</a:t>
            </a:r>
            <a:r>
              <a:rPr lang="en-US" altLang="ko-KR" sz="2400" dirty="0">
                <a:ea typeface="맑은 고딕"/>
                <a:cs typeface="Calibri"/>
              </a:rPr>
              <a:t> function.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 err="1">
                <a:ea typeface="맑은 고딕"/>
                <a:cs typeface="Calibri"/>
              </a:rPr>
              <a:t>DeviceIoControl</a:t>
            </a:r>
            <a:r>
              <a:rPr lang="en-US" altLang="ko-KR" sz="2400" dirty="0">
                <a:ea typeface="맑은 고딕"/>
                <a:cs typeface="Calibri"/>
              </a:rPr>
              <a:t> always maps to the same table entry (index 0xe).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2400" dirty="0">
              <a:ea typeface="맑은 고딕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On 32-bit systems, pointer is 4 bytes, so target is located at 0xe * 4 bytes from table.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>
                <a:ea typeface="맑은 고딕"/>
                <a:cs typeface="Calibri"/>
              </a:rPr>
              <a:t>L1</a:t>
            </a:r>
            <a:r>
              <a:rPr lang="en-US" altLang="ko-KR" sz="2400" dirty="0">
                <a:ea typeface="맑은 고딕"/>
                <a:cs typeface="Calibri"/>
              </a:rPr>
              <a:t> – read only one 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ea typeface="맑은 고딕"/>
              <a:cs typeface="Calibri"/>
            </a:endParaRPr>
          </a:p>
        </p:txBody>
      </p:sp>
      <p:pic>
        <p:nvPicPr>
          <p:cNvPr id="6" name="그림 5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26F6D2-9159-21D4-F6E3-C7C1FBC2E7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61" b="67618"/>
          <a:stretch>
            <a:fillRect/>
          </a:stretch>
        </p:blipFill>
        <p:spPr>
          <a:xfrm>
            <a:off x="609967" y="4479645"/>
            <a:ext cx="8614117" cy="51067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0D48AFD-7368-9139-565F-093EC6666224}"/>
              </a:ext>
            </a:extLst>
          </p:cNvPr>
          <p:cNvSpPr/>
          <p:nvPr/>
        </p:nvSpPr>
        <p:spPr>
          <a:xfrm flipV="1">
            <a:off x="1704637" y="4990320"/>
            <a:ext cx="1093432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EFA6E0C-8A44-3BBE-223F-57923E4D047C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3600474" cy="0"/>
          </a:xfrm>
          <a:prstGeom prst="line">
            <a:avLst/>
          </a:prstGeom>
          <a:ln w="38100">
            <a:solidFill>
              <a:schemeClr val="accent1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882C5BC2-1D66-6C56-4A23-E3F6ED2A7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67" y="1820169"/>
            <a:ext cx="6480882" cy="35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989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FC558-D0B0-2F6B-A72D-78D8846F9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 descr="텍스트, 스크린샷, 메뉴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4BF864-702F-3EF9-07A2-AF8FADFF1B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12" r="3440" b="1967"/>
          <a:stretch>
            <a:fillRect/>
          </a:stretch>
        </p:blipFill>
        <p:spPr>
          <a:xfrm>
            <a:off x="6433267" y="324058"/>
            <a:ext cx="5578758" cy="644095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6D58765-EAF0-7DA3-8161-2DCF93319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Kernel Debugging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/>
              <a:cs typeface="Calibri"/>
            </a:endParaRPr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2A2AAA24-B4BE-9AC0-5D57-E8215DE66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241" y="1148159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altLang="ko-KR" sz="2400" dirty="0"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  <a:p>
            <a:pPr lvl="2"/>
            <a:endParaRPr lang="en-US" altLang="ko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213BA1-45E4-EE61-A1ED-034E5F579F1A}"/>
              </a:ext>
            </a:extLst>
          </p:cNvPr>
          <p:cNvSpPr txBox="1"/>
          <p:nvPr/>
        </p:nvSpPr>
        <p:spPr>
          <a:xfrm>
            <a:off x="328059" y="1318663"/>
            <a:ext cx="5999026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Driver code calls </a:t>
            </a:r>
            <a:r>
              <a:rPr lang="en-US" altLang="ko-KR" sz="2400" b="1" dirty="0" err="1">
                <a:ea typeface="맑은 고딕"/>
                <a:cs typeface="Calibri"/>
              </a:rPr>
              <a:t>ZwCreateFile</a:t>
            </a:r>
            <a:r>
              <a:rPr lang="en-US" altLang="ko-KR" sz="2400" dirty="0">
                <a:ea typeface="맑은 고딕"/>
                <a:cs typeface="Calibri"/>
              </a:rPr>
              <a:t>, </a:t>
            </a:r>
            <a:r>
              <a:rPr lang="en-US" altLang="ko-KR" sz="2400" b="1" dirty="0" err="1">
                <a:ea typeface="맑은 고딕"/>
                <a:cs typeface="Calibri"/>
              </a:rPr>
              <a:t>ZwWriteFile</a:t>
            </a:r>
            <a:r>
              <a:rPr lang="en-US" altLang="ko-KR" sz="2400" dirty="0">
                <a:ea typeface="맑은 고딕"/>
                <a:cs typeface="Calibri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This driver performs create file and read file in kernel mode.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If a driver performs without validating user input, it can lead to security issues.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B36126-3B1A-4C53-0FAE-FBA2FDD586ED}"/>
              </a:ext>
            </a:extLst>
          </p:cNvPr>
          <p:cNvSpPr/>
          <p:nvPr/>
        </p:nvSpPr>
        <p:spPr>
          <a:xfrm flipV="1">
            <a:off x="7789751" y="4651675"/>
            <a:ext cx="1093432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976189D-4D89-46B0-1D3F-7CF3A0FE45EE}"/>
              </a:ext>
            </a:extLst>
          </p:cNvPr>
          <p:cNvSpPr/>
          <p:nvPr/>
        </p:nvSpPr>
        <p:spPr>
          <a:xfrm flipV="1">
            <a:off x="7778865" y="6714794"/>
            <a:ext cx="1093432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A9C9F6-8147-7F34-6C9F-B69D36E661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961" r="62472" b="67618"/>
          <a:stretch>
            <a:fillRect/>
          </a:stretch>
        </p:blipFill>
        <p:spPr>
          <a:xfrm>
            <a:off x="620852" y="5283999"/>
            <a:ext cx="3232691" cy="51067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5E230797-0DDF-6638-E46C-94CAF6479AF8}"/>
              </a:ext>
            </a:extLst>
          </p:cNvPr>
          <p:cNvSpPr/>
          <p:nvPr/>
        </p:nvSpPr>
        <p:spPr>
          <a:xfrm flipV="1">
            <a:off x="1715522" y="5794674"/>
            <a:ext cx="1093432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DE261B5-4D6D-D793-3A93-09EC6DCBDEC3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3600474" cy="0"/>
          </a:xfrm>
          <a:prstGeom prst="line">
            <a:avLst/>
          </a:prstGeom>
          <a:ln w="38100">
            <a:solidFill>
              <a:schemeClr val="accent1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구부러짐 24">
            <a:extLst>
              <a:ext uri="{FF2B5EF4-FFF2-40B4-BE49-F238E27FC236}">
                <a16:creationId xmlns:a16="http://schemas.microsoft.com/office/drawing/2014/main" id="{F3372854-B509-FDB5-D349-D24B3235005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818646" y="1700787"/>
            <a:ext cx="3415383" cy="661925"/>
          </a:xfrm>
          <a:prstGeom prst="curvedConnector3">
            <a:avLst>
              <a:gd name="adj1" fmla="val 107690"/>
            </a:avLst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구부러짐 25">
            <a:extLst>
              <a:ext uri="{FF2B5EF4-FFF2-40B4-BE49-F238E27FC236}">
                <a16:creationId xmlns:a16="http://schemas.microsoft.com/office/drawing/2014/main" id="{E6D2F697-B0B1-B08C-29D2-46D13C4C49FB}"/>
              </a:ext>
            </a:extLst>
          </p:cNvPr>
          <p:cNvCxnSpPr>
            <a:cxnSpLocks/>
          </p:cNvCxnSpPr>
          <p:nvPr/>
        </p:nvCxnSpPr>
        <p:spPr>
          <a:xfrm flipV="1">
            <a:off x="3091543" y="3739441"/>
            <a:ext cx="3103832" cy="1938992"/>
          </a:xfrm>
          <a:prstGeom prst="curvedConnector3">
            <a:avLst>
              <a:gd name="adj1" fmla="val 99802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50A4C1F-7F95-0CA7-01E3-7AFEBBFD38E6}"/>
              </a:ext>
            </a:extLst>
          </p:cNvPr>
          <p:cNvSpPr/>
          <p:nvPr/>
        </p:nvSpPr>
        <p:spPr>
          <a:xfrm flipV="1">
            <a:off x="9585893" y="486783"/>
            <a:ext cx="2355735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5299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11C55-8D67-6FFA-091D-1504F13B7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099C20-E6AB-4D43-502A-8881B9304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Rootkit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/>
              <a:cs typeface="Calibri"/>
            </a:endParaRPr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DC49F680-9D36-94CF-1B6E-BF74A6014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241" y="1148159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altLang="ko-KR" sz="2400" dirty="0"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  <a:p>
            <a:pPr lvl="2"/>
            <a:endParaRPr lang="en-US" altLang="ko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5F9DA4-CD3A-C1E6-7788-20736FE52E45}"/>
              </a:ext>
            </a:extLst>
          </p:cNvPr>
          <p:cNvSpPr txBox="1"/>
          <p:nvPr/>
        </p:nvSpPr>
        <p:spPr>
          <a:xfrm>
            <a:off x="328059" y="1318663"/>
            <a:ext cx="11682694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Rootkit is a malware designed to </a:t>
            </a:r>
            <a:r>
              <a:rPr lang="en-US" altLang="ko-KR" sz="2400" b="1" dirty="0">
                <a:ea typeface="맑은 고딕"/>
                <a:cs typeface="Calibri"/>
              </a:rPr>
              <a:t>stay hidden </a:t>
            </a:r>
            <a:r>
              <a:rPr lang="en-US" altLang="ko-KR" sz="2400" dirty="0">
                <a:ea typeface="맑은 고딕"/>
                <a:cs typeface="Calibri"/>
              </a:rPr>
              <a:t>on a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By modifying operating system, Rootkit controls what the system is allowed to see.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Believes system is clean but actually it is not.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2400" dirty="0">
              <a:ea typeface="맑은 고딕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System Service Descriptor Table (SSDT) hooking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b="1" dirty="0">
                <a:ea typeface="맑은 고딕"/>
                <a:cs typeface="Calibri"/>
              </a:rPr>
              <a:t>SSDT maps each system call number to a specific kernel function.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Rootkit modifies SSDT, redirecting to a malicious code.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Ex: When a user create or open a file, Rootkit can intercept </a:t>
            </a:r>
            <a:r>
              <a:rPr lang="en-US" altLang="ko-KR" sz="2400" b="1" dirty="0" err="1">
                <a:ea typeface="맑은 고딕"/>
                <a:cs typeface="Calibri"/>
              </a:rPr>
              <a:t>NtCreateFile</a:t>
            </a:r>
            <a:r>
              <a:rPr lang="en-US" altLang="ko-KR" sz="2400" dirty="0">
                <a:ea typeface="맑은 고딕"/>
                <a:cs typeface="Calibri"/>
              </a:rPr>
              <a:t> to block or redirect access to specific files.</a:t>
            </a:r>
          </a:p>
        </p:txBody>
      </p:sp>
      <p:pic>
        <p:nvPicPr>
          <p:cNvPr id="7" name="그림 6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901781-492A-5C4F-9D25-BFE710ACBD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3"/>
          <a:stretch>
            <a:fillRect/>
          </a:stretch>
        </p:blipFill>
        <p:spPr>
          <a:xfrm>
            <a:off x="4959914" y="5365007"/>
            <a:ext cx="4009888" cy="1305107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1AD72CD-50AE-74F0-CA8F-9886D48782A2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1410430" cy="0"/>
          </a:xfrm>
          <a:prstGeom prst="line">
            <a:avLst/>
          </a:prstGeom>
          <a:ln w="38100">
            <a:solidFill>
              <a:schemeClr val="accent1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3846036-A668-8C44-E9FB-3E440AE6DDD6}"/>
              </a:ext>
            </a:extLst>
          </p:cNvPr>
          <p:cNvSpPr/>
          <p:nvPr/>
        </p:nvSpPr>
        <p:spPr>
          <a:xfrm>
            <a:off x="415716" y="5365007"/>
            <a:ext cx="2600930" cy="121711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User mode application</a:t>
            </a:r>
          </a:p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CreateFile</a:t>
            </a:r>
            <a:r>
              <a:rPr lang="en-US" altLang="ko-KR" dirty="0">
                <a:solidFill>
                  <a:schemeClr val="tx1"/>
                </a:solidFill>
              </a:rPr>
              <a:t>()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4BBC684-9584-57F3-2ECC-2657673D8D10}"/>
              </a:ext>
            </a:extLst>
          </p:cNvPr>
          <p:cNvCxnSpPr>
            <a:cxnSpLocks/>
          </p:cNvCxnSpPr>
          <p:nvPr/>
        </p:nvCxnSpPr>
        <p:spPr>
          <a:xfrm>
            <a:off x="3143904" y="5973271"/>
            <a:ext cx="1732296" cy="88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F0D7816-52EA-8F3B-BC19-DE7722B7F4F8}"/>
              </a:ext>
            </a:extLst>
          </p:cNvPr>
          <p:cNvSpPr/>
          <p:nvPr/>
        </p:nvSpPr>
        <p:spPr>
          <a:xfrm>
            <a:off x="4876200" y="5973271"/>
            <a:ext cx="2867642" cy="21554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C6F68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72E4D1B-5A15-FD59-5B14-DB2F2F7327BA}"/>
              </a:ext>
            </a:extLst>
          </p:cNvPr>
          <p:cNvSpPr/>
          <p:nvPr/>
        </p:nvSpPr>
        <p:spPr>
          <a:xfrm rot="169292">
            <a:off x="3337210" y="5582876"/>
            <a:ext cx="1426028" cy="346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System call number 0x25</a:t>
            </a:r>
            <a:endParaRPr lang="ko-KR" altLang="en-US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5906007-4C77-D3C0-AADA-A7572707030B}"/>
              </a:ext>
            </a:extLst>
          </p:cNvPr>
          <p:cNvCxnSpPr>
            <a:cxnSpLocks/>
          </p:cNvCxnSpPr>
          <p:nvPr/>
        </p:nvCxnSpPr>
        <p:spPr>
          <a:xfrm>
            <a:off x="7863585" y="6061852"/>
            <a:ext cx="1309183" cy="19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A1E0163-2F60-2C4F-71EB-6811836A8528}"/>
              </a:ext>
            </a:extLst>
          </p:cNvPr>
          <p:cNvSpPr/>
          <p:nvPr/>
        </p:nvSpPr>
        <p:spPr>
          <a:xfrm>
            <a:off x="9350829" y="5356055"/>
            <a:ext cx="2600930" cy="121711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Move to 0x8056d3ca and execute code.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4374952-AB9C-F1C7-B660-6BE2BC62F97F}"/>
              </a:ext>
            </a:extLst>
          </p:cNvPr>
          <p:cNvSpPr/>
          <p:nvPr/>
        </p:nvSpPr>
        <p:spPr>
          <a:xfrm>
            <a:off x="6115772" y="5018156"/>
            <a:ext cx="1426028" cy="346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SSDT</a:t>
            </a:r>
            <a:endParaRPr lang="ko-KR" altLang="en-US" dirty="0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22495CCF-1680-6CF4-253B-8972E63788A6}"/>
              </a:ext>
            </a:extLst>
          </p:cNvPr>
          <p:cNvCxnSpPr/>
          <p:nvPr/>
        </p:nvCxnSpPr>
        <p:spPr>
          <a:xfrm flipH="1">
            <a:off x="6389914" y="3156857"/>
            <a:ext cx="3918857" cy="29241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8B318EE-8156-C3AA-A5F4-30FE7D025FBD}"/>
              </a:ext>
            </a:extLst>
          </p:cNvPr>
          <p:cNvSpPr txBox="1"/>
          <p:nvPr/>
        </p:nvSpPr>
        <p:spPr>
          <a:xfrm>
            <a:off x="8578698" y="2522078"/>
            <a:ext cx="3613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Malicious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code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0xff432333 (Customed </a:t>
            </a:r>
            <a:r>
              <a:rPr lang="en-US" altLang="ko-KR" dirty="0" err="1">
                <a:solidFill>
                  <a:srgbClr val="FF0000"/>
                </a:solidFill>
              </a:rPr>
              <a:t>NtCreateFile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230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E04C6-3AD2-BBB2-5720-6CA838056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9932A2-5EC6-A5F1-97D2-96F68D473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Kernel Issues for Windows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/>
              <a:cs typeface="Calibri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E9F29AE-2D4F-66EC-3823-1B41B4BB2E7E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5372830" cy="0"/>
          </a:xfrm>
          <a:prstGeom prst="line">
            <a:avLst/>
          </a:prstGeom>
          <a:ln w="38100">
            <a:solidFill>
              <a:schemeClr val="accent1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DB1F881E-B17E-62D1-24B2-6D7F3273B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241" y="1148159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altLang="ko-KR" sz="2400" dirty="0"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  <a:p>
            <a:pPr lvl="2"/>
            <a:endParaRPr lang="en-US" altLang="ko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A56978-AF00-DD9C-5F38-011D04FAC0B0}"/>
              </a:ext>
            </a:extLst>
          </p:cNvPr>
          <p:cNvSpPr txBox="1"/>
          <p:nvPr/>
        </p:nvSpPr>
        <p:spPr>
          <a:xfrm>
            <a:off x="328059" y="1318663"/>
            <a:ext cx="11682694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Modern Windows has strong kernel protection.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 err="1">
                <a:ea typeface="맑은 고딕"/>
                <a:cs typeface="Calibri"/>
              </a:rPr>
              <a:t>PatchGuard</a:t>
            </a:r>
            <a:r>
              <a:rPr lang="en-US" altLang="ko-KR" sz="2400" dirty="0">
                <a:ea typeface="맑은 고딕"/>
                <a:cs typeface="Calibri"/>
              </a:rPr>
              <a:t> prevents modification of critical kernel structures.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SSDT is protected.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ea typeface="맑은 고딕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64-bit Windows requires </a:t>
            </a:r>
            <a:r>
              <a:rPr lang="en-US" altLang="ko-KR" sz="2400" b="1" dirty="0">
                <a:ea typeface="맑은 고딕"/>
                <a:cs typeface="Calibri"/>
              </a:rPr>
              <a:t>digitally signed drivers</a:t>
            </a:r>
            <a:r>
              <a:rPr lang="en-US" altLang="ko-KR" sz="2400" dirty="0">
                <a:ea typeface="맑은 고딕"/>
                <a:cs typeface="Calibri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Unsigned kernel drivers cannot be loaded → blocks most traditional Rootkits.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Attackers must use alternative approaches to gain kernel access.</a:t>
            </a:r>
          </a:p>
        </p:txBody>
      </p:sp>
    </p:spTree>
    <p:extLst>
      <p:ext uri="{BB962C8B-B14F-4D97-AF65-F5344CB8AC3E}">
        <p14:creationId xmlns:p14="http://schemas.microsoft.com/office/powerpoint/2010/main" val="3907654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453AA-DAD3-FD8A-08D2-84BC6390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DB3CE8-604C-2C81-FEF6-D4EAB5815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Rootkit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/>
              <a:cs typeface="Calibri"/>
            </a:endParaRPr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6D9C7AB1-243C-1E59-49A3-4A83C1530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241" y="1148159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altLang="ko-KR" sz="2400" dirty="0"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  <a:p>
            <a:pPr lvl="2"/>
            <a:endParaRPr lang="en-US" altLang="ko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80F2B4-E122-DF98-AD9E-1447DD3D524E}"/>
              </a:ext>
            </a:extLst>
          </p:cNvPr>
          <p:cNvSpPr txBox="1"/>
          <p:nvPr/>
        </p:nvSpPr>
        <p:spPr>
          <a:xfrm>
            <a:off x="328059" y="1318663"/>
            <a:ext cx="11682694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>
                <a:ea typeface="맑은 고딕"/>
                <a:cs typeface="Calibri"/>
              </a:rPr>
              <a:t>Bring Your Own Vulnerable Driver (BYOVD)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Attackers abuse a legitimate but vulnerable driver.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Driver is signed and trusted by Windows but has security flaws.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Allow unintended kernel memory access.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altLang="ko-KR" sz="2400" dirty="0">
              <a:ea typeface="맑은 고딕"/>
              <a:cs typeface="Calibri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Attacks gain kernel level capabilities without modifying the kernel.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2400" dirty="0">
              <a:ea typeface="맑은 고딕"/>
              <a:cs typeface="Calibri"/>
            </a:endParaRPr>
          </a:p>
        </p:txBody>
      </p:sp>
      <p:pic>
        <p:nvPicPr>
          <p:cNvPr id="4" name="그림 3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7D89E0-8F16-A4E6-A154-8C974AB1F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4" y="3556475"/>
            <a:ext cx="7903432" cy="27939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673D73-C252-CE4B-EDCB-626AFCEAD896}"/>
              </a:ext>
            </a:extLst>
          </p:cNvPr>
          <p:cNvSpPr txBox="1"/>
          <p:nvPr/>
        </p:nvSpPr>
        <p:spPr>
          <a:xfrm>
            <a:off x="1251857" y="6350461"/>
            <a:ext cx="8218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linkClick r:id="rId4"/>
              </a:rPr>
              <a:t> https://asec.ahnlab.com/ko/38593/</a:t>
            </a:r>
            <a:endParaRPr lang="ko-KR" altLang="en-US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1EACCD5-330C-E8C6-3BC8-3451065DDC1D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1410430" cy="0"/>
          </a:xfrm>
          <a:prstGeom prst="line">
            <a:avLst/>
          </a:prstGeom>
          <a:ln w="38100">
            <a:solidFill>
              <a:schemeClr val="accent1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6115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FA0B0-DD15-DB65-8BE0-7AD74CF10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 descr="만화 영화, 아니메, 소녀, CG 아트워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AE49F7-E28C-E24A-57C9-1D657D476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292" y="1318663"/>
            <a:ext cx="2019582" cy="298174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5E9B9CB-49AE-BC7B-8D80-B8C27E510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Capture The flag (CTF)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0E623-7609-0AFE-873E-A970FCCFF117}"/>
              </a:ext>
            </a:extLst>
          </p:cNvPr>
          <p:cNvSpPr txBox="1"/>
          <p:nvPr/>
        </p:nvSpPr>
        <p:spPr>
          <a:xfrm>
            <a:off x="328059" y="1318663"/>
            <a:ext cx="9501741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  <a:hlinkClick r:id="rId4"/>
              </a:rPr>
              <a:t>https://pwnable.kr/play.php</a:t>
            </a:r>
            <a:endParaRPr lang="en-US" altLang="ko-KR" sz="2400" dirty="0">
              <a:ea typeface="맑은 고딕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Problem: </a:t>
            </a:r>
            <a:r>
              <a:rPr lang="en-US" altLang="ko-KR" sz="2400" dirty="0" err="1">
                <a:ea typeface="맑은 고딕"/>
                <a:cs typeface="Calibri"/>
              </a:rPr>
              <a:t>syscall</a:t>
            </a:r>
            <a:endParaRPr lang="en-US" altLang="ko-KR" sz="2400" dirty="0">
              <a:ea typeface="맑은 고딕"/>
              <a:cs typeface="Calibri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Uses a Linux </a:t>
            </a:r>
            <a:r>
              <a:rPr lang="en-US" altLang="ko-KR" sz="2400" b="1" dirty="0" err="1">
                <a:ea typeface="맑은 고딕"/>
                <a:cs typeface="Calibri"/>
              </a:rPr>
              <a:t>syscall</a:t>
            </a:r>
            <a:r>
              <a:rPr lang="en-US" altLang="ko-KR" sz="2400" b="1" dirty="0">
                <a:ea typeface="맑은 고딕"/>
                <a:cs typeface="Calibri"/>
              </a:rPr>
              <a:t> table </a:t>
            </a:r>
            <a:r>
              <a:rPr lang="en-US" altLang="ko-KR" sz="2400" dirty="0">
                <a:ea typeface="맑은 고딕"/>
                <a:cs typeface="Calibri"/>
              </a:rPr>
              <a:t>to illustrate the same mechanism used by SSDT hooking.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ea typeface="맑은 고딕"/>
                <a:cs typeface="Calibri"/>
              </a:rPr>
              <a:t>This problem demonstrates a kernel exploit by </a:t>
            </a:r>
            <a:r>
              <a:rPr lang="en-US" altLang="ko-KR" sz="2400" b="1" dirty="0">
                <a:ea typeface="맑은 고딕"/>
                <a:cs typeface="Calibri"/>
              </a:rPr>
              <a:t>modifying the </a:t>
            </a:r>
            <a:r>
              <a:rPr lang="en-US" altLang="ko-KR" sz="2400" b="1" dirty="0" err="1">
                <a:ea typeface="맑은 고딕"/>
                <a:cs typeface="Calibri"/>
              </a:rPr>
              <a:t>syscall</a:t>
            </a:r>
            <a:r>
              <a:rPr lang="en-US" altLang="ko-KR" sz="2400" b="1" dirty="0">
                <a:ea typeface="맑은 고딕"/>
                <a:cs typeface="Calibri"/>
              </a:rPr>
              <a:t> table </a:t>
            </a:r>
            <a:r>
              <a:rPr lang="en-US" altLang="ko-KR" sz="2400" dirty="0">
                <a:ea typeface="맑은 고딕"/>
                <a:cs typeface="Calibri"/>
              </a:rPr>
              <a:t>so that a system call invokes a custom kernel function, enabling </a:t>
            </a:r>
            <a:r>
              <a:rPr lang="en-US" altLang="ko-KR" sz="2400" b="1" dirty="0">
                <a:ea typeface="맑은 고딕"/>
                <a:cs typeface="Calibri"/>
              </a:rPr>
              <a:t>privilege escalation</a:t>
            </a:r>
            <a:r>
              <a:rPr lang="en-US" altLang="ko-KR" sz="2400" dirty="0">
                <a:ea typeface="맑은 고딕"/>
                <a:cs typeface="Calibri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Goal</a:t>
            </a:r>
            <a:r>
              <a:rPr lang="en-US" altLang="ko-KR" sz="2400" dirty="0"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: execute </a:t>
            </a:r>
            <a:r>
              <a:rPr lang="en-US" altLang="ko-KR" sz="2400" dirty="0" err="1"/>
              <a:t>commit_creds</a:t>
            </a:r>
            <a:r>
              <a:rPr lang="en-US" altLang="ko-KR" sz="2400" dirty="0"/>
              <a:t>(</a:t>
            </a:r>
            <a:r>
              <a:rPr lang="en-US" altLang="ko-KR" sz="2400" dirty="0" err="1"/>
              <a:t>prepare_kernel_cred</a:t>
            </a:r>
            <a:r>
              <a:rPr lang="en-US" altLang="ko-KR" sz="2400" dirty="0"/>
              <a:t>(0));</a:t>
            </a:r>
            <a:endParaRPr lang="en-US" altLang="ko-KR" sz="2400" b="1" dirty="0">
              <a:ea typeface="맑은 고딕"/>
              <a:cs typeface="Calibri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04F6F68-E509-18EB-F889-8DB3DC329E04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4428998" cy="0"/>
          </a:xfrm>
          <a:prstGeom prst="line">
            <a:avLst/>
          </a:prstGeom>
          <a:ln w="38100">
            <a:solidFill>
              <a:schemeClr val="accent1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Pwnable KR">
            <a:extLst>
              <a:ext uri="{FF2B5EF4-FFF2-40B4-BE49-F238E27FC236}">
                <a16:creationId xmlns:a16="http://schemas.microsoft.com/office/drawing/2014/main" id="{8CBE2C2B-F8D7-8D91-0E7F-CB4530D2AEC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3145" y="414115"/>
            <a:ext cx="4179436" cy="57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그림 20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EC7A75-6FBD-5AC4-3682-D98FB4660E5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63"/>
          <a:stretch>
            <a:fillRect/>
          </a:stretch>
        </p:blipFill>
        <p:spPr>
          <a:xfrm>
            <a:off x="4872257" y="4864264"/>
            <a:ext cx="4009888" cy="1305107"/>
          </a:xfrm>
          <a:prstGeom prst="rect">
            <a:avLst/>
          </a:prstGeom>
        </p:spPr>
      </p:pic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4D642C6-4C10-D5CB-E683-B3A4F3EB3626}"/>
              </a:ext>
            </a:extLst>
          </p:cNvPr>
          <p:cNvSpPr/>
          <p:nvPr/>
        </p:nvSpPr>
        <p:spPr>
          <a:xfrm>
            <a:off x="328059" y="4864264"/>
            <a:ext cx="2600930" cy="121711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User mode application</a:t>
            </a:r>
          </a:p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CreateFile</a:t>
            </a:r>
            <a:r>
              <a:rPr lang="en-US" altLang="ko-KR" dirty="0">
                <a:solidFill>
                  <a:schemeClr val="tx1"/>
                </a:solidFill>
              </a:rPr>
              <a:t>()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E7DA2D1-3AFA-6244-1C53-3CD6598F9304}"/>
              </a:ext>
            </a:extLst>
          </p:cNvPr>
          <p:cNvCxnSpPr>
            <a:cxnSpLocks/>
          </p:cNvCxnSpPr>
          <p:nvPr/>
        </p:nvCxnSpPr>
        <p:spPr>
          <a:xfrm>
            <a:off x="3056247" y="5472528"/>
            <a:ext cx="1732296" cy="88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D0AC1D0-138B-DE87-66A0-7C5CB8E3AD38}"/>
              </a:ext>
            </a:extLst>
          </p:cNvPr>
          <p:cNvSpPr/>
          <p:nvPr/>
        </p:nvSpPr>
        <p:spPr>
          <a:xfrm>
            <a:off x="4788543" y="5472528"/>
            <a:ext cx="2867642" cy="21554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0B5DA87-EAA9-5215-8761-83410EBDD9A7}"/>
              </a:ext>
            </a:extLst>
          </p:cNvPr>
          <p:cNvSpPr/>
          <p:nvPr/>
        </p:nvSpPr>
        <p:spPr>
          <a:xfrm rot="169292">
            <a:off x="3249553" y="5082133"/>
            <a:ext cx="1426028" cy="346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System call number 0x25</a:t>
            </a:r>
            <a:endParaRPr lang="ko-KR" altLang="en-US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8E684969-D746-9236-0C7A-3B8013F5C3CA}"/>
              </a:ext>
            </a:extLst>
          </p:cNvPr>
          <p:cNvCxnSpPr>
            <a:cxnSpLocks/>
          </p:cNvCxnSpPr>
          <p:nvPr/>
        </p:nvCxnSpPr>
        <p:spPr>
          <a:xfrm>
            <a:off x="7775928" y="5561109"/>
            <a:ext cx="1309183" cy="19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DCE2922-4D6C-9FE9-783E-4B1B432AF193}"/>
              </a:ext>
            </a:extLst>
          </p:cNvPr>
          <p:cNvSpPr/>
          <p:nvPr/>
        </p:nvSpPr>
        <p:spPr>
          <a:xfrm>
            <a:off x="9263172" y="4855312"/>
            <a:ext cx="2600930" cy="121711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Move to 0x8056d3ca and execute code.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583F985-806F-25E9-DF57-242BAB8CCF31}"/>
              </a:ext>
            </a:extLst>
          </p:cNvPr>
          <p:cNvSpPr/>
          <p:nvPr/>
        </p:nvSpPr>
        <p:spPr>
          <a:xfrm>
            <a:off x="6028115" y="4517413"/>
            <a:ext cx="1426028" cy="346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SSDT</a:t>
            </a:r>
            <a:endParaRPr lang="ko-KR" altLang="en-US" dirty="0"/>
          </a:p>
        </p:txBody>
      </p:sp>
      <p:pic>
        <p:nvPicPr>
          <p:cNvPr id="33" name="그림 32" descr="텍스트, 전자제품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902244-0AED-2E99-D357-00A88BA998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7000" y="1270877"/>
            <a:ext cx="6897999" cy="463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35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CF6E3-3E69-D7FA-82C6-DC28533B4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3F675E-1413-18B3-72E9-E9DB80351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CTF - </a:t>
            </a:r>
            <a:r>
              <a:rPr lang="en-US" altLang="ko-KR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syscall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/>
              <a:cs typeface="Calibri"/>
            </a:endParaRPr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A1E88961-3D8A-6D5A-8132-E33EF418E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241" y="1148159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altLang="ko-KR" sz="2400" dirty="0"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  <a:p>
            <a:pPr lvl="2"/>
            <a:endParaRPr lang="en-US" altLang="ko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CB16038-5665-6076-40D8-725AAC3F5380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2333626" cy="0"/>
          </a:xfrm>
          <a:prstGeom prst="line">
            <a:avLst/>
          </a:prstGeom>
          <a:ln w="38100">
            <a:solidFill>
              <a:schemeClr val="accent1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텍스트, 문서, 스크린샷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F1F61A-9530-FF83-592E-FB4768598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59" y="1084038"/>
            <a:ext cx="5713199" cy="574608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406DA56-AADD-5F55-53E6-426C2F5B0F8A}"/>
              </a:ext>
            </a:extLst>
          </p:cNvPr>
          <p:cNvSpPr/>
          <p:nvPr/>
        </p:nvSpPr>
        <p:spPr>
          <a:xfrm>
            <a:off x="328059" y="4909457"/>
            <a:ext cx="3100941" cy="947057"/>
          </a:xfrm>
          <a:prstGeom prst="rect">
            <a:avLst/>
          </a:prstGeom>
          <a:noFill/>
          <a:ln>
            <a:solidFill>
              <a:srgbClr val="FC6F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7D7C881-B6BD-42F3-6F5C-6AF3B556475E}"/>
              </a:ext>
            </a:extLst>
          </p:cNvPr>
          <p:cNvCxnSpPr>
            <a:stCxn id="8" idx="3"/>
          </p:cNvCxnSpPr>
          <p:nvPr/>
        </p:nvCxnSpPr>
        <p:spPr>
          <a:xfrm>
            <a:off x="3429000" y="5382986"/>
            <a:ext cx="3766457" cy="16328"/>
          </a:xfrm>
          <a:prstGeom prst="straightConnector1">
            <a:avLst/>
          </a:prstGeom>
          <a:ln>
            <a:solidFill>
              <a:srgbClr val="FC6F68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2E0702F-BB32-C4B6-AA35-34D39891EC57}"/>
              </a:ext>
            </a:extLst>
          </p:cNvPr>
          <p:cNvSpPr txBox="1"/>
          <p:nvPr/>
        </p:nvSpPr>
        <p:spPr>
          <a:xfrm>
            <a:off x="7445829" y="5018314"/>
            <a:ext cx="4038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Executes when the kernel modules is loaded and registers new system call, kernel function mapping into </a:t>
            </a:r>
            <a:r>
              <a:rPr lang="en-US" altLang="ko-KR" dirty="0" err="1"/>
              <a:t>syscall</a:t>
            </a:r>
            <a:r>
              <a:rPr lang="en-US" altLang="ko-KR" dirty="0"/>
              <a:t> table.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86250C1-2F43-709C-005D-6306C1B4110D}"/>
              </a:ext>
            </a:extLst>
          </p:cNvPr>
          <p:cNvSpPr/>
          <p:nvPr/>
        </p:nvSpPr>
        <p:spPr>
          <a:xfrm>
            <a:off x="328059" y="3222840"/>
            <a:ext cx="3100941" cy="1632190"/>
          </a:xfrm>
          <a:prstGeom prst="rect">
            <a:avLst/>
          </a:prstGeom>
          <a:noFill/>
          <a:ln>
            <a:solidFill>
              <a:srgbClr val="FC6F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487B4AD-7C3B-D1C1-4550-2780036A87F8}"/>
              </a:ext>
            </a:extLst>
          </p:cNvPr>
          <p:cNvCxnSpPr>
            <a:cxnSpLocks/>
          </p:cNvCxnSpPr>
          <p:nvPr/>
        </p:nvCxnSpPr>
        <p:spPr>
          <a:xfrm flipV="1">
            <a:off x="3429000" y="1924756"/>
            <a:ext cx="3969378" cy="1951225"/>
          </a:xfrm>
          <a:prstGeom prst="straightConnector1">
            <a:avLst/>
          </a:prstGeom>
          <a:ln>
            <a:solidFill>
              <a:srgbClr val="FC6F68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4C5C43C-DE49-0FC2-F95E-CDC1159D04E2}"/>
              </a:ext>
            </a:extLst>
          </p:cNvPr>
          <p:cNvSpPr txBox="1"/>
          <p:nvPr/>
        </p:nvSpPr>
        <p:spPr>
          <a:xfrm>
            <a:off x="7635514" y="1494473"/>
            <a:ext cx="403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Kernel function that converts lowercase into uppercase in kernel mode.</a:t>
            </a:r>
            <a:endParaRPr lang="ko-KR" altLang="en-US" dirty="0"/>
          </a:p>
        </p:txBody>
      </p:sp>
      <p:pic>
        <p:nvPicPr>
          <p:cNvPr id="21" name="그림 2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4D88BF-7ADD-0F5D-DF4D-CEF2913C4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6578" y="2787830"/>
            <a:ext cx="2219635" cy="145752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4383EC1-8D1E-C301-B0F3-44FCDCD5A429}"/>
              </a:ext>
            </a:extLst>
          </p:cNvPr>
          <p:cNvSpPr txBox="1"/>
          <p:nvPr/>
        </p:nvSpPr>
        <p:spPr>
          <a:xfrm>
            <a:off x="8653516" y="2436082"/>
            <a:ext cx="346469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read(</a:t>
            </a:r>
            <a:r>
              <a:rPr lang="en-US" altLang="ko-KR" sz="1600" dirty="0" err="1"/>
              <a:t>fd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buf</a:t>
            </a:r>
            <a:r>
              <a:rPr lang="en-US" altLang="ko-KR" sz="1600" dirty="0"/>
              <a:t>, size);</a:t>
            </a:r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 err="1"/>
              <a:t>syscall</a:t>
            </a:r>
            <a:r>
              <a:rPr lang="en-US" altLang="ko-KR" sz="1600" dirty="0"/>
              <a:t>(__</a:t>
            </a:r>
            <a:r>
              <a:rPr lang="en-US" altLang="ko-KR" sz="1600" dirty="0" err="1"/>
              <a:t>NR_read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fd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buf</a:t>
            </a:r>
            <a:r>
              <a:rPr lang="en-US" altLang="ko-KR" sz="1600" dirty="0"/>
              <a:t>, size);</a:t>
            </a:r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 err="1"/>
              <a:t>sys_call_table</a:t>
            </a:r>
            <a:r>
              <a:rPr lang="en-US" altLang="ko-KR" sz="1600" dirty="0"/>
              <a:t>[(__</a:t>
            </a:r>
            <a:r>
              <a:rPr lang="en-US" altLang="ko-KR" sz="1600" dirty="0" err="1"/>
              <a:t>NR_read</a:t>
            </a:r>
            <a:r>
              <a:rPr lang="en-US" altLang="ko-KR" sz="1600" dirty="0"/>
              <a:t>] = </a:t>
            </a:r>
            <a:r>
              <a:rPr lang="en-US" altLang="ko-KR" sz="1600" dirty="0" err="1"/>
              <a:t>sys_read</a:t>
            </a:r>
            <a:r>
              <a:rPr lang="en-US" altLang="ko-KR" sz="1600" dirty="0"/>
              <a:t>;</a:t>
            </a:r>
            <a:endParaRPr lang="ko-KR" altLang="en-US" sz="1600" dirty="0"/>
          </a:p>
        </p:txBody>
      </p:sp>
      <p:pic>
        <p:nvPicPr>
          <p:cNvPr id="19" name="그림 1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916CD7-BECF-53FC-8E46-7FFDE102601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273"/>
          <a:stretch>
            <a:fillRect/>
          </a:stretch>
        </p:blipFill>
        <p:spPr>
          <a:xfrm>
            <a:off x="5575474" y="213649"/>
            <a:ext cx="6492958" cy="1648055"/>
          </a:xfrm>
          <a:prstGeom prst="rect">
            <a:avLst/>
          </a:prstGeom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50DFD08A-B8DA-382F-369A-D4FCA333288F}"/>
              </a:ext>
            </a:extLst>
          </p:cNvPr>
          <p:cNvCxnSpPr/>
          <p:nvPr/>
        </p:nvCxnSpPr>
        <p:spPr>
          <a:xfrm>
            <a:off x="9654814" y="2820068"/>
            <a:ext cx="0" cy="370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731071B-7F1A-4B92-7515-5AD62A8795EE}"/>
              </a:ext>
            </a:extLst>
          </p:cNvPr>
          <p:cNvCxnSpPr/>
          <p:nvPr/>
        </p:nvCxnSpPr>
        <p:spPr>
          <a:xfrm>
            <a:off x="9654814" y="3517419"/>
            <a:ext cx="0" cy="370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70A4642-ECEB-1B22-C691-9ACE153E8A30}"/>
              </a:ext>
            </a:extLst>
          </p:cNvPr>
          <p:cNvSpPr txBox="1"/>
          <p:nvPr/>
        </p:nvSpPr>
        <p:spPr>
          <a:xfrm>
            <a:off x="2661685" y="827061"/>
            <a:ext cx="305138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 b="1" dirty="0"/>
              <a:t>ssh syscall@pwnable.kr -p2222</a:t>
            </a:r>
            <a:endParaRPr lang="ko-KR" altLang="en-US" sz="1700" b="1" dirty="0"/>
          </a:p>
        </p:txBody>
      </p:sp>
    </p:spTree>
    <p:extLst>
      <p:ext uri="{BB962C8B-B14F-4D97-AF65-F5344CB8AC3E}">
        <p14:creationId xmlns:p14="http://schemas.microsoft.com/office/powerpoint/2010/main" val="607272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FDC0C-2086-6FC2-97A3-9D0BC77D0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793B6D-A93E-08B7-20CC-4E4EBD754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CTF - </a:t>
            </a:r>
            <a:r>
              <a:rPr lang="en-US" altLang="ko-KR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syscall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/>
              <a:cs typeface="Calibri"/>
            </a:endParaRPr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C5E3C75E-0599-3340-DF5C-219629366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241" y="1148159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altLang="ko-KR" sz="2400" dirty="0"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  <a:p>
            <a:pPr lvl="2"/>
            <a:endParaRPr lang="en-US" altLang="ko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D14BDE5-1247-153E-FB4B-83F1F9045D5C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2245808" cy="0"/>
          </a:xfrm>
          <a:prstGeom prst="line">
            <a:avLst/>
          </a:prstGeom>
          <a:ln w="38100">
            <a:solidFill>
              <a:schemeClr val="accent1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 descr="텍스트, 폰트, 친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F6FB78-29B4-F451-A2AD-8913C606D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80" y="1924482"/>
            <a:ext cx="5820587" cy="35533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B6480F-D7D5-A60A-DD48-014BED8ADA30}"/>
              </a:ext>
            </a:extLst>
          </p:cNvPr>
          <p:cNvSpPr txBox="1"/>
          <p:nvPr/>
        </p:nvSpPr>
        <p:spPr>
          <a:xfrm>
            <a:off x="6403106" y="2002972"/>
            <a:ext cx="50160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 = user input</a:t>
            </a:r>
          </a:p>
          <a:p>
            <a:r>
              <a:rPr lang="en-US" altLang="ko-KR" dirty="0"/>
              <a:t>out = user input written to memory</a:t>
            </a:r>
          </a:p>
          <a:p>
            <a:endParaRPr lang="en-US" altLang="ko-KR" dirty="0"/>
          </a:p>
          <a:p>
            <a:r>
              <a:rPr lang="en-US" altLang="ko-KR" dirty="0"/>
              <a:t>This code doesn’t check whether user input is safe.</a:t>
            </a:r>
          </a:p>
          <a:p>
            <a:endParaRPr lang="en-US" altLang="ko-KR" dirty="0"/>
          </a:p>
          <a:p>
            <a:r>
              <a:rPr lang="en-US" altLang="ko-KR" dirty="0"/>
              <a:t>Example: </a:t>
            </a:r>
            <a:r>
              <a:rPr lang="en-US" altLang="ko-KR" dirty="0" err="1"/>
              <a:t>syscall</a:t>
            </a:r>
            <a:r>
              <a:rPr lang="en-US" altLang="ko-KR" dirty="0"/>
              <a:t>(223, “</a:t>
            </a:r>
            <a:r>
              <a:rPr lang="en-US" altLang="ko-KR" dirty="0" err="1"/>
              <a:t>aaaa</a:t>
            </a:r>
            <a:r>
              <a:rPr lang="en-US" altLang="ko-KR" dirty="0"/>
              <a:t>", 0x8003f56c);</a:t>
            </a:r>
          </a:p>
          <a:p>
            <a:endParaRPr lang="en-US" altLang="ko-KR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8189903-11EA-262A-8C34-ABB3D15588FF}"/>
              </a:ext>
            </a:extLst>
          </p:cNvPr>
          <p:cNvSpPr/>
          <p:nvPr/>
        </p:nvSpPr>
        <p:spPr>
          <a:xfrm>
            <a:off x="9818914" y="4206978"/>
            <a:ext cx="1689592" cy="3592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0x8003f56c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6BC0A0B-005C-A8EC-A5E7-4BC6FFC8BDA9}"/>
              </a:ext>
            </a:extLst>
          </p:cNvPr>
          <p:cNvSpPr/>
          <p:nvPr/>
        </p:nvSpPr>
        <p:spPr>
          <a:xfrm>
            <a:off x="9818914" y="4718606"/>
            <a:ext cx="1689592" cy="3592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0x8003f56d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113CF76-8CE5-9249-0FAC-95891D3B86D6}"/>
              </a:ext>
            </a:extLst>
          </p:cNvPr>
          <p:cNvSpPr/>
          <p:nvPr/>
        </p:nvSpPr>
        <p:spPr>
          <a:xfrm>
            <a:off x="9818914" y="5198213"/>
            <a:ext cx="1689592" cy="3592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0x8003f56e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A0106BB-A2B6-BC11-FC55-7B736706A435}"/>
              </a:ext>
            </a:extLst>
          </p:cNvPr>
          <p:cNvSpPr/>
          <p:nvPr/>
        </p:nvSpPr>
        <p:spPr>
          <a:xfrm>
            <a:off x="9818914" y="5709841"/>
            <a:ext cx="1689592" cy="3592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0x8003f56f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18322D-33C9-7DBE-6AE1-AB4F8F6CA07A}"/>
              </a:ext>
            </a:extLst>
          </p:cNvPr>
          <p:cNvSpPr txBox="1"/>
          <p:nvPr/>
        </p:nvSpPr>
        <p:spPr>
          <a:xfrm>
            <a:off x="9162516" y="4191785"/>
            <a:ext cx="37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5DC062-D8BD-C574-BD82-00F1257194FD}"/>
              </a:ext>
            </a:extLst>
          </p:cNvPr>
          <p:cNvSpPr txBox="1"/>
          <p:nvPr/>
        </p:nvSpPr>
        <p:spPr>
          <a:xfrm>
            <a:off x="9162516" y="4721839"/>
            <a:ext cx="37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076199-9831-6644-7A11-6BBF40B8AFC5}"/>
              </a:ext>
            </a:extLst>
          </p:cNvPr>
          <p:cNvSpPr txBox="1"/>
          <p:nvPr/>
        </p:nvSpPr>
        <p:spPr>
          <a:xfrm>
            <a:off x="9162516" y="5215979"/>
            <a:ext cx="37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FFADAB-06D8-DA2B-02C5-10AEFB4DB595}"/>
              </a:ext>
            </a:extLst>
          </p:cNvPr>
          <p:cNvSpPr txBox="1"/>
          <p:nvPr/>
        </p:nvSpPr>
        <p:spPr>
          <a:xfrm>
            <a:off x="9162516" y="5709841"/>
            <a:ext cx="37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BC9E0EC6-9253-C897-FED4-27838D67AC30}"/>
              </a:ext>
            </a:extLst>
          </p:cNvPr>
          <p:cNvCxnSpPr>
            <a:stCxn id="22" idx="3"/>
          </p:cNvCxnSpPr>
          <p:nvPr/>
        </p:nvCxnSpPr>
        <p:spPr>
          <a:xfrm>
            <a:off x="9532630" y="4376451"/>
            <a:ext cx="4495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4B3BCFA0-BDC6-D837-1148-B93C513118AD}"/>
              </a:ext>
            </a:extLst>
          </p:cNvPr>
          <p:cNvCxnSpPr/>
          <p:nvPr/>
        </p:nvCxnSpPr>
        <p:spPr>
          <a:xfrm>
            <a:off x="9532630" y="4898220"/>
            <a:ext cx="4495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4FC491C8-8D6D-4041-44ED-7B29845981DE}"/>
              </a:ext>
            </a:extLst>
          </p:cNvPr>
          <p:cNvCxnSpPr/>
          <p:nvPr/>
        </p:nvCxnSpPr>
        <p:spPr>
          <a:xfrm>
            <a:off x="9514674" y="5889455"/>
            <a:ext cx="4495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5ACCBB20-30D5-A4D7-9BDF-4B0DBAFE0C22}"/>
              </a:ext>
            </a:extLst>
          </p:cNvPr>
          <p:cNvCxnSpPr/>
          <p:nvPr/>
        </p:nvCxnSpPr>
        <p:spPr>
          <a:xfrm>
            <a:off x="9532630" y="5400645"/>
            <a:ext cx="4495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CF10D1D-DEA3-AF83-1A48-D63B405A0A14}"/>
              </a:ext>
            </a:extLst>
          </p:cNvPr>
          <p:cNvSpPr txBox="1"/>
          <p:nvPr/>
        </p:nvSpPr>
        <p:spPr>
          <a:xfrm>
            <a:off x="6531428" y="3733800"/>
            <a:ext cx="34507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 dirty="0">
                <a:solidFill>
                  <a:srgbClr val="FC6F68"/>
                </a:solidFill>
              </a:rPr>
              <a:t>Can write at kernel memory</a:t>
            </a:r>
            <a:endParaRPr lang="ko-KR" altLang="en-US" sz="2200" b="1" dirty="0">
              <a:solidFill>
                <a:srgbClr val="FC6F68"/>
              </a:solidFill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F9EBD38-9838-E947-1726-E4E93A4E8423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2333626" cy="0"/>
          </a:xfrm>
          <a:prstGeom prst="line">
            <a:avLst/>
          </a:prstGeom>
          <a:ln w="38100">
            <a:solidFill>
              <a:schemeClr val="accent1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109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B3B59-43E2-3A2A-6D84-05D822C41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95FACB-60C8-FC5A-A486-03EC3C67A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CTF - </a:t>
            </a:r>
            <a:r>
              <a:rPr lang="en-US" altLang="ko-KR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syscall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/>
              <a:cs typeface="Calibri"/>
            </a:endParaRPr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A1857864-0309-D5A9-D1DF-FE6425F0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241" y="1148159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400" dirty="0"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Goal: execute </a:t>
            </a:r>
            <a:r>
              <a:rPr lang="en-US" altLang="ko-KR" sz="2400" dirty="0" err="1"/>
              <a:t>commit_creds</a:t>
            </a:r>
            <a:r>
              <a:rPr lang="en-US" altLang="ko-KR" sz="2400" dirty="0"/>
              <a:t>(</a:t>
            </a:r>
            <a:r>
              <a:rPr lang="en-US" altLang="ko-KR" sz="2400" dirty="0" err="1"/>
              <a:t>prepare_kernel_cred</a:t>
            </a:r>
            <a:r>
              <a:rPr lang="en-US" altLang="ko-KR" sz="2400" dirty="0"/>
              <a:t>(0)); to gain root privileges.</a:t>
            </a:r>
          </a:p>
          <a:p>
            <a:pPr lvl="1"/>
            <a:r>
              <a:rPr lang="en-US" altLang="ko-KR" sz="2000" dirty="0">
                <a:latin typeface="Calibri" panose="020F0502020204030204" pitchFamily="34" charset="0"/>
                <a:ea typeface="맑은 고딕"/>
                <a:cs typeface="Calibri" panose="020F0502020204030204" pitchFamily="34" charset="0"/>
              </a:rPr>
              <a:t>Directly grants root privileges to the current process.</a:t>
            </a:r>
          </a:p>
          <a:p>
            <a:pPr lvl="2"/>
            <a:r>
              <a:rPr lang="en-US" altLang="ko-KR" dirty="0" err="1"/>
              <a:t>commit_creds</a:t>
            </a:r>
            <a:r>
              <a:rPr lang="en-US" altLang="ko-KR" dirty="0"/>
              <a:t> = 0x8003f56c</a:t>
            </a:r>
          </a:p>
          <a:p>
            <a:pPr lvl="2"/>
            <a:r>
              <a:rPr lang="en-US" altLang="ko-KR" dirty="0" err="1"/>
              <a:t>prepare_kernel_cred</a:t>
            </a:r>
            <a:r>
              <a:rPr lang="en-US" altLang="ko-KR" dirty="0"/>
              <a:t> = 0x8003f924</a:t>
            </a:r>
          </a:p>
          <a:p>
            <a:pPr lvl="1"/>
            <a:endParaRPr lang="en-US" altLang="ko-KR" sz="2000" dirty="0"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  <a:p>
            <a:pPr marL="914400" lvl="2" indent="0">
              <a:buNone/>
            </a:pPr>
            <a:endParaRPr lang="en-US" altLang="ko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9AFB08B-2AAE-A445-563D-CD8902F02467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2245808" cy="0"/>
          </a:xfrm>
          <a:prstGeom prst="line">
            <a:avLst/>
          </a:prstGeom>
          <a:ln w="38100">
            <a:solidFill>
              <a:schemeClr val="accent1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3EC8D9-976A-79BB-C73E-FB504AB2D65E}"/>
              </a:ext>
            </a:extLst>
          </p:cNvPr>
          <p:cNvSpPr/>
          <p:nvPr/>
        </p:nvSpPr>
        <p:spPr>
          <a:xfrm>
            <a:off x="1066800" y="3250361"/>
            <a:ext cx="1828800" cy="31133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Syscall</a:t>
            </a:r>
            <a:r>
              <a:rPr lang="en-US" altLang="ko-KR" dirty="0">
                <a:solidFill>
                  <a:schemeClr val="tx1"/>
                </a:solidFill>
              </a:rPr>
              <a:t> table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4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5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6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33C48DC-EC64-5E1D-4F0B-E8833D4D79F8}"/>
              </a:ext>
            </a:extLst>
          </p:cNvPr>
          <p:cNvCxnSpPr/>
          <p:nvPr/>
        </p:nvCxnSpPr>
        <p:spPr>
          <a:xfrm>
            <a:off x="1050470" y="3712028"/>
            <a:ext cx="18614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7F4522A-768D-0828-3FD1-3606C208CB15}"/>
              </a:ext>
            </a:extLst>
          </p:cNvPr>
          <p:cNvCxnSpPr/>
          <p:nvPr/>
        </p:nvCxnSpPr>
        <p:spPr>
          <a:xfrm>
            <a:off x="1050470" y="4246425"/>
            <a:ext cx="18614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0804645-DB48-3ADE-1851-F64FC91227F6}"/>
              </a:ext>
            </a:extLst>
          </p:cNvPr>
          <p:cNvCxnSpPr/>
          <p:nvPr/>
        </p:nvCxnSpPr>
        <p:spPr>
          <a:xfrm>
            <a:off x="1050471" y="4807018"/>
            <a:ext cx="18614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B1912FF-E5A5-28B5-370D-EB47808677A0}"/>
              </a:ext>
            </a:extLst>
          </p:cNvPr>
          <p:cNvCxnSpPr/>
          <p:nvPr/>
        </p:nvCxnSpPr>
        <p:spPr>
          <a:xfrm>
            <a:off x="1034141" y="5378538"/>
            <a:ext cx="18614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534D476-69F2-C092-165B-99933622C542}"/>
              </a:ext>
            </a:extLst>
          </p:cNvPr>
          <p:cNvCxnSpPr/>
          <p:nvPr/>
        </p:nvCxnSpPr>
        <p:spPr>
          <a:xfrm>
            <a:off x="1050470" y="5901053"/>
            <a:ext cx="18614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4B1D3D29-CC24-BE97-AC95-FF450FD926CB}"/>
              </a:ext>
            </a:extLst>
          </p:cNvPr>
          <p:cNvSpPr/>
          <p:nvPr/>
        </p:nvSpPr>
        <p:spPr>
          <a:xfrm>
            <a:off x="1959429" y="6520543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1509BC83-0FF0-33A9-E805-E7A9C17E1AEA}"/>
              </a:ext>
            </a:extLst>
          </p:cNvPr>
          <p:cNvSpPr/>
          <p:nvPr/>
        </p:nvSpPr>
        <p:spPr>
          <a:xfrm>
            <a:off x="1959433" y="668382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EE663BE-514A-F908-0C77-30119E651B56}"/>
              </a:ext>
            </a:extLst>
          </p:cNvPr>
          <p:cNvCxnSpPr/>
          <p:nvPr/>
        </p:nvCxnSpPr>
        <p:spPr>
          <a:xfrm>
            <a:off x="2667000" y="3505200"/>
            <a:ext cx="13607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74B2A4EF-7870-6193-5DC9-5FAD8CEFC932}"/>
              </a:ext>
            </a:extLst>
          </p:cNvPr>
          <p:cNvCxnSpPr/>
          <p:nvPr/>
        </p:nvCxnSpPr>
        <p:spPr>
          <a:xfrm>
            <a:off x="2667000" y="4027714"/>
            <a:ext cx="13607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3B8E733F-BC81-F8E5-3347-7E35FE55B904}"/>
              </a:ext>
            </a:extLst>
          </p:cNvPr>
          <p:cNvCxnSpPr/>
          <p:nvPr/>
        </p:nvCxnSpPr>
        <p:spPr>
          <a:xfrm>
            <a:off x="2667000" y="4561114"/>
            <a:ext cx="13607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0C0CA02B-61F9-136C-574E-DB0B626A2D28}"/>
              </a:ext>
            </a:extLst>
          </p:cNvPr>
          <p:cNvCxnSpPr/>
          <p:nvPr/>
        </p:nvCxnSpPr>
        <p:spPr>
          <a:xfrm>
            <a:off x="2667000" y="5116286"/>
            <a:ext cx="13607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F8687C62-AEE1-61DB-4B67-892CB36C566C}"/>
              </a:ext>
            </a:extLst>
          </p:cNvPr>
          <p:cNvCxnSpPr/>
          <p:nvPr/>
        </p:nvCxnSpPr>
        <p:spPr>
          <a:xfrm>
            <a:off x="2667000" y="5715000"/>
            <a:ext cx="13607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8ECDC54-8CA6-892D-D993-0BF8EE632B18}"/>
              </a:ext>
            </a:extLst>
          </p:cNvPr>
          <p:cNvCxnSpPr/>
          <p:nvPr/>
        </p:nvCxnSpPr>
        <p:spPr>
          <a:xfrm>
            <a:off x="2667000" y="6161314"/>
            <a:ext cx="13607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4E92CC0-6614-D3D9-248D-DA3BEF9267AC}"/>
              </a:ext>
            </a:extLst>
          </p:cNvPr>
          <p:cNvSpPr txBox="1"/>
          <p:nvPr/>
        </p:nvSpPr>
        <p:spPr>
          <a:xfrm>
            <a:off x="4234543" y="5456958"/>
            <a:ext cx="2100943" cy="38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sys_open</a:t>
            </a:r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A0EBDA-2290-AA8B-811C-A71F981368E4}"/>
              </a:ext>
            </a:extLst>
          </p:cNvPr>
          <p:cNvSpPr txBox="1"/>
          <p:nvPr/>
        </p:nvSpPr>
        <p:spPr>
          <a:xfrm>
            <a:off x="4207328" y="5950022"/>
            <a:ext cx="1170215" cy="38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sys_close</a:t>
            </a:r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C28FB4-B28F-0F02-696B-06E4B8EC8C92}"/>
              </a:ext>
            </a:extLst>
          </p:cNvPr>
          <p:cNvSpPr txBox="1"/>
          <p:nvPr/>
        </p:nvSpPr>
        <p:spPr>
          <a:xfrm>
            <a:off x="4234543" y="3837215"/>
            <a:ext cx="2100943" cy="38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sys_fork</a:t>
            </a:r>
            <a:endParaRPr lang="ko-KR" alt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D51F2D-1738-823D-D113-29D2B49AE9A1}"/>
              </a:ext>
            </a:extLst>
          </p:cNvPr>
          <p:cNvSpPr txBox="1"/>
          <p:nvPr/>
        </p:nvSpPr>
        <p:spPr>
          <a:xfrm>
            <a:off x="4234543" y="3276602"/>
            <a:ext cx="95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sys_exit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55A87D-542B-AB60-4979-42DC25194E19}"/>
              </a:ext>
            </a:extLst>
          </p:cNvPr>
          <p:cNvSpPr txBox="1"/>
          <p:nvPr/>
        </p:nvSpPr>
        <p:spPr>
          <a:xfrm>
            <a:off x="4207327" y="4925787"/>
            <a:ext cx="2100943" cy="38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sys_write</a:t>
            </a:r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E3A524-405C-F138-C71A-CC83A04FB1E4}"/>
              </a:ext>
            </a:extLst>
          </p:cNvPr>
          <p:cNvSpPr txBox="1"/>
          <p:nvPr/>
        </p:nvSpPr>
        <p:spPr>
          <a:xfrm>
            <a:off x="4234543" y="4365174"/>
            <a:ext cx="2100943" cy="38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sys_read</a:t>
            </a:r>
            <a:endParaRPr lang="ko-KR" altLang="en-US" dirty="0"/>
          </a:p>
        </p:txBody>
      </p:sp>
      <p:sp>
        <p:nvSpPr>
          <p:cNvPr id="50" name="곱하기 기호 49">
            <a:extLst>
              <a:ext uri="{FF2B5EF4-FFF2-40B4-BE49-F238E27FC236}">
                <a16:creationId xmlns:a16="http://schemas.microsoft.com/office/drawing/2014/main" id="{337621D3-278D-E9FC-FB1C-1DEC2D224AA6}"/>
              </a:ext>
            </a:extLst>
          </p:cNvPr>
          <p:cNvSpPr/>
          <p:nvPr/>
        </p:nvSpPr>
        <p:spPr>
          <a:xfrm>
            <a:off x="4419600" y="3250361"/>
            <a:ext cx="566057" cy="471573"/>
          </a:xfrm>
          <a:prstGeom prst="mathMultiply">
            <a:avLst/>
          </a:prstGeom>
          <a:solidFill>
            <a:srgbClr val="FC6F6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곱하기 기호 50">
            <a:extLst>
              <a:ext uri="{FF2B5EF4-FFF2-40B4-BE49-F238E27FC236}">
                <a16:creationId xmlns:a16="http://schemas.microsoft.com/office/drawing/2014/main" id="{A191C3FC-B765-36F4-B30D-1D4A2EEE3FF4}"/>
              </a:ext>
            </a:extLst>
          </p:cNvPr>
          <p:cNvSpPr/>
          <p:nvPr/>
        </p:nvSpPr>
        <p:spPr>
          <a:xfrm>
            <a:off x="4419599" y="5937552"/>
            <a:ext cx="566057" cy="471573"/>
          </a:xfrm>
          <a:prstGeom prst="mathMultiply">
            <a:avLst/>
          </a:prstGeom>
          <a:solidFill>
            <a:srgbClr val="FC6F6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B408E8A-BFF6-A78F-2A81-93AA22FB9302}"/>
              </a:ext>
            </a:extLst>
          </p:cNvPr>
          <p:cNvSpPr txBox="1"/>
          <p:nvPr/>
        </p:nvSpPr>
        <p:spPr>
          <a:xfrm>
            <a:off x="8044543" y="3250361"/>
            <a:ext cx="363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syscall</a:t>
            </a:r>
            <a:r>
              <a:rPr lang="en-US" altLang="ko-KR" dirty="0"/>
              <a:t>(1,0) = </a:t>
            </a:r>
            <a:r>
              <a:rPr lang="en-US" altLang="ko-KR" dirty="0" err="1"/>
              <a:t>prepare_kernel_cred</a:t>
            </a:r>
            <a:r>
              <a:rPr lang="en-US" altLang="ko-KR" dirty="0"/>
              <a:t>(0)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3739B4B-1D3D-398A-4691-88F21C24CCE0}"/>
              </a:ext>
            </a:extLst>
          </p:cNvPr>
          <p:cNvSpPr txBox="1"/>
          <p:nvPr/>
        </p:nvSpPr>
        <p:spPr>
          <a:xfrm>
            <a:off x="8044543" y="5912116"/>
            <a:ext cx="363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syscall</a:t>
            </a:r>
            <a:r>
              <a:rPr lang="en-US" altLang="ko-KR" dirty="0"/>
              <a:t>(6,0) = </a:t>
            </a:r>
            <a:r>
              <a:rPr lang="en-US" altLang="ko-KR" dirty="0" err="1"/>
              <a:t>commit_creds</a:t>
            </a:r>
            <a:r>
              <a:rPr lang="en-US" altLang="ko-KR" dirty="0"/>
              <a:t>(0)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8791E9A-73E1-5B71-3145-01AC9E06553F}"/>
              </a:ext>
            </a:extLst>
          </p:cNvPr>
          <p:cNvSpPr txBox="1"/>
          <p:nvPr/>
        </p:nvSpPr>
        <p:spPr>
          <a:xfrm>
            <a:off x="5551713" y="4365174"/>
            <a:ext cx="5910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syscall</a:t>
            </a:r>
            <a:r>
              <a:rPr lang="en-US" altLang="ko-KR" dirty="0"/>
              <a:t>(223, "\x24\xf9\x03\x80", &amp;</a:t>
            </a:r>
            <a:r>
              <a:rPr lang="en-US" altLang="ko-KR" dirty="0" err="1"/>
              <a:t>Syscall</a:t>
            </a:r>
            <a:r>
              <a:rPr lang="en-US" altLang="ko-KR" dirty="0"/>
              <a:t> table[1]);</a:t>
            </a:r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r>
              <a:rPr lang="en-US" altLang="ko-KR" dirty="0" err="1"/>
              <a:t>syscall</a:t>
            </a:r>
            <a:r>
              <a:rPr lang="en-US" altLang="ko-KR" dirty="0"/>
              <a:t>(223, "\x6c\xf5\x03\x80", &amp;</a:t>
            </a:r>
            <a:r>
              <a:rPr lang="en-US" altLang="ko-KR" dirty="0" err="1"/>
              <a:t>Syscall</a:t>
            </a:r>
            <a:r>
              <a:rPr lang="en-US" altLang="ko-KR" dirty="0"/>
              <a:t> table[6]);</a:t>
            </a:r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F14D0B3-7A70-2156-15F8-E117E7EDEFD3}"/>
              </a:ext>
            </a:extLst>
          </p:cNvPr>
          <p:cNvSpPr txBox="1"/>
          <p:nvPr/>
        </p:nvSpPr>
        <p:spPr>
          <a:xfrm>
            <a:off x="7079859" y="4931301"/>
            <a:ext cx="1632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0x8003f56c</a:t>
            </a:r>
          </a:p>
          <a:p>
            <a:endParaRPr lang="ko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64945B5-5405-199E-D8C1-3C00A4217FE6}"/>
              </a:ext>
            </a:extLst>
          </p:cNvPr>
          <p:cNvSpPr txBox="1"/>
          <p:nvPr/>
        </p:nvSpPr>
        <p:spPr>
          <a:xfrm>
            <a:off x="7079859" y="4042008"/>
            <a:ext cx="1632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0x8003f924</a:t>
            </a:r>
          </a:p>
          <a:p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A959CBD-61EF-3090-1EF0-337A3A1B00CF}"/>
              </a:ext>
            </a:extLst>
          </p:cNvPr>
          <p:cNvSpPr txBox="1"/>
          <p:nvPr/>
        </p:nvSpPr>
        <p:spPr>
          <a:xfrm>
            <a:off x="5175673" y="3282667"/>
            <a:ext cx="2286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prepare_kernel_cred</a:t>
            </a:r>
            <a:endParaRPr lang="ko-KR" alt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EE9F032-1AC8-78FB-FF87-9AA5DAD021A3}"/>
              </a:ext>
            </a:extLst>
          </p:cNvPr>
          <p:cNvSpPr txBox="1"/>
          <p:nvPr/>
        </p:nvSpPr>
        <p:spPr>
          <a:xfrm>
            <a:off x="5254595" y="5962492"/>
            <a:ext cx="1594759" cy="38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commit_creds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698839-8D62-2AA9-6987-15CE3EB25C9E}"/>
              </a:ext>
            </a:extLst>
          </p:cNvPr>
          <p:cNvSpPr txBox="1"/>
          <p:nvPr/>
        </p:nvSpPr>
        <p:spPr>
          <a:xfrm>
            <a:off x="4985656" y="2622105"/>
            <a:ext cx="71006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/>
              <a:t>syscall</a:t>
            </a:r>
            <a:r>
              <a:rPr lang="en-US" altLang="ko-KR" sz="2000" b="1" dirty="0"/>
              <a:t>(6, </a:t>
            </a:r>
            <a:r>
              <a:rPr lang="en-US" altLang="ko-KR" sz="2000" b="1" dirty="0" err="1"/>
              <a:t>syscall</a:t>
            </a:r>
            <a:r>
              <a:rPr lang="en-US" altLang="ko-KR" sz="2000" b="1" dirty="0"/>
              <a:t>(1, 0)); = </a:t>
            </a:r>
            <a:r>
              <a:rPr lang="en-US" altLang="ko-KR" sz="2000" b="1" dirty="0" err="1"/>
              <a:t>commit_creds</a:t>
            </a:r>
            <a:r>
              <a:rPr lang="en-US" altLang="ko-KR" sz="2000" b="1" dirty="0"/>
              <a:t>(</a:t>
            </a:r>
            <a:r>
              <a:rPr lang="en-US" altLang="ko-KR" sz="2000" b="1" dirty="0" err="1"/>
              <a:t>prepare_kernel_cred</a:t>
            </a:r>
            <a:r>
              <a:rPr lang="en-US" altLang="ko-KR" sz="2000" b="1" dirty="0"/>
              <a:t>(0));</a:t>
            </a:r>
          </a:p>
          <a:p>
            <a:endParaRPr lang="ko-KR" altLang="en-US" sz="2000" b="1" dirty="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B8F4B8C8-276F-FAB3-0C73-27062FF50F3F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2333626" cy="0"/>
          </a:xfrm>
          <a:prstGeom prst="line">
            <a:avLst/>
          </a:prstGeom>
          <a:ln w="38100">
            <a:solidFill>
              <a:schemeClr val="accent1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4296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2" grpId="0"/>
      <p:bldP spid="53" grpId="0"/>
      <p:bldP spid="54" grpId="0"/>
      <p:bldP spid="56" grpId="0"/>
      <p:bldP spid="57" grpId="0"/>
      <p:bldP spid="58" grpId="0"/>
      <p:bldP spid="59" grpId="0"/>
      <p:bldP spid="6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207C0-21BF-642D-763D-9D61CC6E6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3401B8-60C5-DBFE-94DC-4450483AA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CTF - </a:t>
            </a:r>
            <a:r>
              <a:rPr lang="en-US" altLang="ko-KR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/>
                <a:cs typeface="Calibri"/>
              </a:rPr>
              <a:t>syscall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/>
              <a:cs typeface="Calibri"/>
            </a:endParaRPr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75DBDFD3-485D-20EB-D3EA-F2634D7E7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47" y="1118662"/>
            <a:ext cx="11983452" cy="589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2400" dirty="0"/>
              <a:t>system("/bin/</a:t>
            </a:r>
            <a:r>
              <a:rPr lang="en-US" altLang="ko-KR" sz="2400" dirty="0" err="1"/>
              <a:t>sh</a:t>
            </a:r>
            <a:r>
              <a:rPr lang="en-US" altLang="ko-KR" sz="2400" dirty="0"/>
              <a:t>");</a:t>
            </a:r>
          </a:p>
          <a:p>
            <a:pPr lvl="1"/>
            <a:r>
              <a:rPr lang="en-US" altLang="ko-KR" sz="2000" dirty="0"/>
              <a:t> simply opens a shell using the current privileges.</a:t>
            </a:r>
            <a:endParaRPr lang="en-US" altLang="ko-KR" sz="2000" dirty="0">
              <a:latin typeface="Calibri" panose="020F0502020204030204" pitchFamily="34" charset="0"/>
              <a:ea typeface="맑은 고딕"/>
              <a:cs typeface="Calibri" panose="020F0502020204030204" pitchFamily="34" charset="0"/>
            </a:endParaRPr>
          </a:p>
          <a:p>
            <a:pPr lvl="2"/>
            <a:endParaRPr lang="en-US" altLang="ko-K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그림 6" descr="텍스트, 스크린샷, 폰트, 블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354AEE-42AE-0155-F13C-A2777577E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576" y="2628463"/>
            <a:ext cx="5010679" cy="1976194"/>
          </a:xfrm>
          <a:prstGeom prst="rect">
            <a:avLst/>
          </a:prstGeom>
        </p:spPr>
      </p:pic>
      <p:pic>
        <p:nvPicPr>
          <p:cNvPr id="10" name="그림 9" descr="텍스트, 폰트, 스크린샷, 블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423924-4432-C6B2-1F33-38EA5DD49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534" y="2191187"/>
            <a:ext cx="4863300" cy="2805356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FF4E1ED5-AFA5-E685-11E0-BF308EE08601}"/>
              </a:ext>
            </a:extLst>
          </p:cNvPr>
          <p:cNvCxnSpPr/>
          <p:nvPr/>
        </p:nvCxnSpPr>
        <p:spPr>
          <a:xfrm>
            <a:off x="5475514" y="3593865"/>
            <a:ext cx="7837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그림 14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5FD813-8949-BD0F-6520-6CC09BFC1C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4032" y="1118662"/>
            <a:ext cx="7123935" cy="5076653"/>
          </a:xfrm>
          <a:prstGeom prst="rect">
            <a:avLst/>
          </a:prstGeom>
        </p:spPr>
      </p:pic>
      <p:pic>
        <p:nvPicPr>
          <p:cNvPr id="17" name="그림 16" descr="신발류, 만화 영화, CG 아트워크, 드레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A419C3-3600-5A00-0A10-28572A5D8F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5234" y="2043381"/>
            <a:ext cx="2181529" cy="2953162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9A5E641-0680-32A4-6AF1-2976BB78514B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2245808" cy="0"/>
          </a:xfrm>
          <a:prstGeom prst="line">
            <a:avLst/>
          </a:prstGeom>
          <a:ln w="38100">
            <a:solidFill>
              <a:schemeClr val="accent1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71FDF8B0-280A-A7B0-C61D-8C37121488A3}"/>
              </a:ext>
            </a:extLst>
          </p:cNvPr>
          <p:cNvCxnSpPr>
            <a:cxnSpLocks/>
          </p:cNvCxnSpPr>
          <p:nvPr/>
        </p:nvCxnSpPr>
        <p:spPr>
          <a:xfrm>
            <a:off x="328059" y="924025"/>
            <a:ext cx="2333626" cy="0"/>
          </a:xfrm>
          <a:prstGeom prst="line">
            <a:avLst/>
          </a:prstGeom>
          <a:ln w="38100">
            <a:solidFill>
              <a:schemeClr val="accent1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304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A07F4-5582-B1EC-023C-094986E43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EB6F1-443E-CF5A-810B-6EB4AA2787F6}"/>
              </a:ext>
            </a:extLst>
          </p:cNvPr>
          <p:cNvSpPr txBox="1"/>
          <p:nvPr/>
        </p:nvSpPr>
        <p:spPr>
          <a:xfrm>
            <a:off x="4827814" y="3044279"/>
            <a:ext cx="25363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Thank you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960074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1955</TotalTime>
  <Words>1171</Words>
  <Application>Microsoft Office PowerPoint</Application>
  <PresentationFormat>와이드스크린</PresentationFormat>
  <Paragraphs>223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What is kernel?</vt:lpstr>
      <vt:lpstr>How do user application interact with kernel?</vt:lpstr>
      <vt:lpstr> Why Kernel Debugging?</vt:lpstr>
      <vt:lpstr>Kernel Debugging Setting</vt:lpstr>
      <vt:lpstr>Kernel Debugging</vt:lpstr>
      <vt:lpstr>Kernel Debugging</vt:lpstr>
      <vt:lpstr>Kernel Debugging</vt:lpstr>
      <vt:lpstr>Kernel Debugging</vt:lpstr>
      <vt:lpstr>Kernel Debugging</vt:lpstr>
      <vt:lpstr>Kernel Debugging</vt:lpstr>
      <vt:lpstr>Rootkit</vt:lpstr>
      <vt:lpstr>Kernel Issues for Windows</vt:lpstr>
      <vt:lpstr>Rootkit</vt:lpstr>
      <vt:lpstr>Capture The flag (CTF)</vt:lpstr>
      <vt:lpstr>CTF - syscall</vt:lpstr>
      <vt:lpstr>CTF - syscall</vt:lpstr>
      <vt:lpstr>CTF - syscall</vt:lpstr>
      <vt:lpstr>CTF - syscall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승우 유</cp:lastModifiedBy>
  <cp:revision>380</cp:revision>
  <dcterms:created xsi:type="dcterms:W3CDTF">2025-02-25T16:10:16Z</dcterms:created>
  <dcterms:modified xsi:type="dcterms:W3CDTF">2026-01-28T03:43:10Z</dcterms:modified>
</cp:coreProperties>
</file>