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326" r:id="rId3"/>
    <p:sldId id="259" r:id="rId4"/>
    <p:sldId id="302" r:id="rId5"/>
    <p:sldId id="297" r:id="rId6"/>
    <p:sldId id="324" r:id="rId7"/>
    <p:sldId id="265" r:id="rId8"/>
    <p:sldId id="305" r:id="rId9"/>
    <p:sldId id="306" r:id="rId10"/>
    <p:sldId id="320" r:id="rId11"/>
    <p:sldId id="311" r:id="rId12"/>
    <p:sldId id="307" r:id="rId13"/>
    <p:sldId id="312" r:id="rId14"/>
    <p:sldId id="299" r:id="rId15"/>
    <p:sldId id="272" r:id="rId16"/>
    <p:sldId id="322" r:id="rId17"/>
    <p:sldId id="294" r:id="rId18"/>
    <p:sldId id="314" r:id="rId19"/>
    <p:sldId id="313" r:id="rId20"/>
    <p:sldId id="295" r:id="rId21"/>
    <p:sldId id="300" r:id="rId22"/>
    <p:sldId id="277" r:id="rId23"/>
    <p:sldId id="325" r:id="rId24"/>
    <p:sldId id="279" r:id="rId25"/>
    <p:sldId id="286" r:id="rId26"/>
    <p:sldId id="280" r:id="rId27"/>
    <p:sldId id="315" r:id="rId28"/>
    <p:sldId id="283" r:id="rId29"/>
    <p:sldId id="316" r:id="rId30"/>
    <p:sldId id="284" r:id="rId31"/>
    <p:sldId id="289" r:id="rId32"/>
    <p:sldId id="301" r:id="rId33"/>
    <p:sldId id="318" r:id="rId34"/>
    <p:sldId id="291" r:id="rId35"/>
    <p:sldId id="296" r:id="rId36"/>
    <p:sldId id="319" r:id="rId37"/>
    <p:sldId id="327" r:id="rId38"/>
    <p:sldId id="323" r:id="rId3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3385" autoAdjust="0"/>
  </p:normalViewPr>
  <p:slideViewPr>
    <p:cSldViewPr snapToGrid="0">
      <p:cViewPr varScale="1">
        <p:scale>
          <a:sx n="61" d="100"/>
          <a:sy n="61" d="100"/>
        </p:scale>
        <p:origin x="149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320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fld id="{B5C28263-0C27-44CF-96C3-378487344AEC}" type="datetimeFigureOut">
              <a:rPr lang="ko-KR" altLang="en-US" smtClean="0"/>
              <a:pPr/>
              <a:t>2026-03-30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fld id="{4B535ADA-2068-48E2-B915-DE0B8F62BEF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6471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맑은 고딕 Semilight" panose="020B0502040204020203" pitchFamily="50" charset="-127"/>
        <a:ea typeface="맑은 고딕 Semilight" panose="020B0502040204020203" pitchFamily="50" charset="-127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535ADA-2068-48E2-B915-DE0B8F62BEF1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84823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B35E8-0E2B-EA13-500F-4529450FE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29B002-12C7-58C6-DDF3-51A41374E0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D355A2F-69B6-E917-B013-95F2CD527C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F1189D-167C-8FDB-F3A9-00AC9D5F93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535ADA-2068-48E2-B915-DE0B8F62BEF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57895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94C2D-489A-2B4E-E86B-7F0574A2E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BB14820-A7DB-21F3-8475-4FA1F5AD9D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A9406E-355D-2855-9DD0-E99B652EB9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D7C555-E37C-1C5D-483B-78DDDEFA99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535ADA-2068-48E2-B915-DE0B8F62BEF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71404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535ADA-2068-48E2-B915-DE0B8F62BEF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39331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D26D3-B8A8-2407-7A0D-468D6573A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B654AAF-2FCA-28CA-5739-52CAE2B30D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B910F2-0DDE-87C0-8BD6-5BE7736F70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D28B61-911B-02C5-AA56-DE07DA7A1D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535ADA-2068-48E2-B915-DE0B8F62BEF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00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CE53D-AB56-70AE-C4B7-C361C8F7A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CD602D-0D3A-5399-5BEC-9B505DDCA7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5A5B56-5EA6-189B-9989-C7445827A8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61B94C-66FB-7F6E-A549-0758343E16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535ADA-2068-48E2-B915-DE0B8F62BEF1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1300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3D543-2BFF-6B32-AAF6-D8C1DF7A8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8CB8E6C-53D6-E518-B59B-99957EA263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2D655B0-E0A0-A11B-C3B1-0678C32C83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8D2EAB-9A7B-968D-017F-5DC70B6220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535ADA-2068-48E2-B915-DE0B8F62BEF1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43513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876F3-B60D-8801-1D08-BB3D4F5BC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8B2313D-81FD-86AD-ACD6-6F48C80673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008E173-DD82-0634-97DB-B853FB28DC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52E4B3-FDE1-B1C6-C820-8A6CB374D1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535ADA-2068-48E2-B915-DE0B8F62BEF1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39871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A4017-B87E-30C4-C325-BBCB9E095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466534-D6CE-D08C-1801-3F3EC732A6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B022D1C-1FEA-4FB1-2AEC-4AF80B307B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3E3386-A3A0-6F35-0574-F53E82D8C0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535ADA-2068-48E2-B915-DE0B8F62BEF1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23036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1C14E-A9DE-BD23-BAB4-F648991CA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7D1C093-EDC9-B727-0F5E-5D52653794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F78DC0-0434-C5FE-2F0A-9162AC42E6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D8DAA0-87DA-762B-C412-A00764744E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535ADA-2068-48E2-B915-DE0B8F62BEF1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94873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417D3-6BC4-7064-9116-390473D30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596F4A-005C-7D45-A742-6F11C4A9D2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BFE3E39-70D2-9DA7-4BB7-F655B21086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E38554-7C18-AE70-0004-2891A4E9B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535ADA-2068-48E2-B915-DE0B8F62BEF1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77370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A9204-0A1D-A083-C948-F29D2CBE9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29F4F6-8B8B-6A6E-9AFF-FE57172CA4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940728-94BD-B357-B6AC-8352566F64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394638-445A-E1F4-D2D3-44A21A2C1A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535ADA-2068-48E2-B915-DE0B8F62BEF1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34572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2BEC8-041F-E896-1AA9-65B81FE4A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4A7C61A-50D0-9C42-4700-DD56CD54BE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E432163-5B9A-3FA9-9034-53150237EE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E42F4A-CCCE-CCFB-C65C-5A93F7E48C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535ADA-2068-48E2-B915-DE0B8F62BEF1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51337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0E197-1BB7-AB0F-DD8B-BB01F800A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E0E153-8EE8-D153-3878-CC9A5B6634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14105F-B1BA-CD6A-026F-AC71807D56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021BD8-B5AA-7C26-7A40-072C3F81E8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535ADA-2068-48E2-B915-DE0B8F62BEF1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95114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535ADA-2068-48E2-B915-DE0B8F62BEF1}" type="slidenum">
              <a:rPr lang="ko-KR" altLang="en-US" smtClean="0"/>
              <a:pPr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88202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B1E53-D5B3-CA88-E059-C0F2EADFD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F65C23B-3C3A-996D-3131-A569DE88BA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2BB2A3-4463-A740-ABFD-1389E81692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0800DC-2E20-1AC5-C32A-BB3A39787A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535ADA-2068-48E2-B915-DE0B8F62BEF1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29216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535ADA-2068-48E2-B915-DE0B8F62BEF1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00513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04E95-DC41-E9DE-A691-8EA30CED6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73295E-C876-7FFF-4C0F-2C78CA483A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157663-0B08-1542-2B5F-496216CF73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432A5A-AC00-AC34-7E95-DB68D04D4C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535ADA-2068-48E2-B915-DE0B8F62BEF1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7776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C0081-F7A7-5584-377F-B582B2919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A23229-7882-95E4-82D6-C77FFFC015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E9BC342-143E-B4EB-81B7-6D18AF61F5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7DAD30-F618-D0C5-E673-85C6E9F467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535ADA-2068-48E2-B915-DE0B8F62BEF1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57511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8BFE6-512D-F747-AD02-12B76D846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29367C-8047-BEA9-96CF-CDC3C1361E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AA20851-1989-D1F5-D305-FA4640518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47B2E8-65BE-B3B9-DD62-271F896B88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535ADA-2068-48E2-B915-DE0B8F62BEF1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90019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A2290-96B5-7DC3-1774-D625BA211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2414E37-2C92-8657-07D2-6D790343F8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88B176-94DE-2832-6579-0F540FF73C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0B9123-5E8C-89DC-31F5-689CDDD050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535ADA-2068-48E2-B915-DE0B8F62BEF1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19868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927A7-F887-0C6B-6FFA-91F55AD78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0E326B-B5C8-297B-543E-B1EF52A050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358E7A9-485B-5648-18D5-428BD6E0C5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634AC0-1787-3520-976B-59903B7CFE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535ADA-2068-48E2-B915-DE0B8F62BEF1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51270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5DE24-43DE-01A0-477F-1409344F1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D12342E-6597-D4C9-4458-52B08F9A10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7111C88-6453-2B13-027D-D0BA5FBC9A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7D7E43-6793-EAF4-6CDB-011139C8A0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535ADA-2068-48E2-B915-DE0B8F62BEF1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8987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088CD-E185-8600-2EB2-69FA9DA92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95C91E-3C56-A7EF-AFE6-D706B32454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EF7DBF-0BF4-D3E1-765C-2BA5DA281A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96143C-5CA7-2130-ADB8-1A0D1324BB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535ADA-2068-48E2-B915-DE0B8F62BEF1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48761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B2D5F-051D-DDDD-E7D1-45018C3E9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B7143F-067A-6573-412B-F6D0462158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B333BC6-0962-ABF5-BBCC-A915BDA48A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CD442D-D34D-FCA5-F237-34974E3FD4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535ADA-2068-48E2-B915-DE0B8F62BEF1}" type="slidenum">
              <a:rPr lang="ko-KR" altLang="en-US" smtClean="0"/>
              <a:pPr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80202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535ADA-2068-48E2-B915-DE0B8F62BEF1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54152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535ADA-2068-48E2-B915-DE0B8F62BEF1}" type="slidenum">
              <a:rPr lang="ko-KR" altLang="en-US" smtClean="0"/>
              <a:pPr/>
              <a:t>35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391958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B8232-DD30-5F5C-A192-F4A347B72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AD34454-55E4-5502-6AF6-3A4B826CE2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F39C7C-AE82-EA3B-A3C1-06127F6734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19CC50-5228-2378-CC33-C71F57C03C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535ADA-2068-48E2-B915-DE0B8F62BEF1}" type="slidenum">
              <a:rPr lang="ko-KR" altLang="en-US" smtClean="0"/>
              <a:pPr/>
              <a:t>36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6039685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EF943-5832-6FC6-3FD9-3CC05F160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BF268E6-5374-EC3E-5CCB-C7E56A6333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121723-12A7-10D7-D776-CEA5FD8911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4CE738-4255-4386-95D9-1DDCD51344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535ADA-2068-48E2-B915-DE0B8F62BEF1}" type="slidenum">
              <a:rPr lang="ko-KR" altLang="en-US" smtClean="0"/>
              <a:pPr/>
              <a:t>37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5459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3827F3-A21E-3DBC-65E1-FCA230CBDA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5C5A707-BEBE-8BD0-4FF2-1E87E49C1A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9C382B-CEA3-0124-2158-5F0611184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3D588-2CA9-4040-99DE-69B1B7E32575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889046-87B8-B781-2226-3145B97C3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45B6D8-B411-94A9-925B-53650805A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523D2-E4AC-463E-9022-689A8AEE59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8944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2DC626-BA98-C456-0F31-7C80E286A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89B502-9577-BED1-4B52-54C0F4955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C195C7-4342-AC34-DF28-100204894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3D588-2CA9-4040-99DE-69B1B7E32575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FE1199-949E-2B04-ECA9-20A77BA8B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EE62BC-BF86-4171-415D-1CB7218C0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523D2-E4AC-463E-9022-689A8AEE59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0649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B9B64F-4341-0C65-D5EF-DBD3B9E1D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625307-47C6-4ADF-FD10-24CF0C0C8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B2D331-C87B-4F11-2DC3-2474064D7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3D588-2CA9-4040-99DE-69B1B7E32575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5F6402-8CD8-40ED-6E18-9FD8E3C80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690A95-30B5-4291-C859-9AE055582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523D2-E4AC-463E-9022-689A8AEE59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4192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E1901D-C27B-120C-5BB2-6A94DADAC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D5819D-9896-1FBB-7440-A1073F92B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C71D18-3D82-015C-AA3E-54642D228E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DE1A925-4CAF-400E-5F43-B0FF1D350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3D588-2CA9-4040-99DE-69B1B7E32575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AE9D35-1471-517B-4642-489FA0C66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00024B5-5691-8FE2-3AC1-0EB60D4B6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523D2-E4AC-463E-9022-689A8AEE59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9370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DEAA11-6B93-6DD3-C52F-73669A6E7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EA4ECFB-5170-8BF5-DAA5-7958A0976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CEE7668-E870-EB33-AA63-5562E6763D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6665244-DC12-509D-97E2-F07ED3957A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E43ED42-8591-AAAE-9451-A32A7A2DEC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D26DE4A-950F-13CF-4FBB-649323444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3D588-2CA9-4040-99DE-69B1B7E32575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9C508D6-1548-1FC6-BE1E-A45597D42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F782D19-9575-1F7B-45CF-2051C9825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523D2-E4AC-463E-9022-689A8AEE59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1793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40E126-8E5A-3804-07E1-5BC2C47A4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8CD54E9-21CD-756A-4537-7923217AA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3D588-2CA9-4040-99DE-69B1B7E32575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30D0196-29E2-0B56-4B84-FC30DA15F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743D8B-E04A-CC54-C1E8-002FB583D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523D2-E4AC-463E-9022-689A8AEE59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2432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F10049D-22B8-2EB4-931E-6F6D4A455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3D588-2CA9-4040-99DE-69B1B7E32575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74EC3BA-112E-3DC4-5C47-2F276F954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737A6E-1856-5ACF-FFCE-AA6930E8E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523D2-E4AC-463E-9022-689A8AEE59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8798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A3A1E5-F46D-4E8B-A82A-9A5A60697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E29D2B-D81D-0726-E3DB-9556592A5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D1456F-BA05-1A2E-B7AF-836610F938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DD0754-E07A-D745-9E36-A4E829C15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3D588-2CA9-4040-99DE-69B1B7E32575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2E18F88-8376-DD9B-84D5-5D0700BED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41B684-51AF-BE43-5470-54531F4D4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523D2-E4AC-463E-9022-689A8AEE59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8852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7B424D-E9C7-9430-CB6E-68EFE64A7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4A99A1A-7C85-087D-A5BF-4250238E07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9CA2FA8-3118-99BC-6793-10485D3AC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36949F-2E4C-3897-13FD-DB55401A0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3D588-2CA9-4040-99DE-69B1B7E32575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1EC8726-F7AF-EB23-7733-041187BEA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E958EF-BFB8-0585-4454-33FE71148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523D2-E4AC-463E-9022-689A8AEE59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9209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8C5255-6CBA-06F0-E2F7-7AD68F04D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C8F1FF-CCBF-8988-5D64-7CE29998D1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764669-7AA3-2EF3-5451-15F517D7F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3D588-2CA9-4040-99DE-69B1B7E32575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C05DB6-4A41-D53B-45CE-D2723390C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193B9D-D6B3-8BAB-D206-9CC6FAA6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523D2-E4AC-463E-9022-689A8AEE59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6063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BDB4A63-A9FE-5FDF-0EA7-9ACC9E1547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1C95F92-251C-9C1F-335B-91FB7CA3EC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F9915E-D009-D310-0A2F-61273E93D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3D588-2CA9-4040-99DE-69B1B7E32575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570DEB-CD63-484E-DCB5-54C641E3E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0E38F2-6CCE-D60F-E7A7-422473A92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523D2-E4AC-463E-9022-689A8AEE59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3475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C013FEF-497B-9C02-EE7C-C1F79339C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E61C803-837F-1C23-1AA2-4676CC351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1B87F9-C7E0-067E-D056-CFAC3CF280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fld id="{58A3D588-2CA9-4040-99DE-69B1B7E32575}" type="datetimeFigureOut">
              <a:rPr lang="ko-KR" altLang="en-US" smtClean="0"/>
              <a:pPr/>
              <a:t>2026-03-30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58E7CB-D3D4-F634-C8C4-01660CB798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F488C8-8868-B36C-BF6D-5A885D97C9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</a:defRPr>
            </a:lvl1pPr>
          </a:lstStyle>
          <a:p>
            <a:fld id="{01B523D2-E4AC-463E-9022-689A8AEE59F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5486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맑은 고딕 Semilight" panose="020B0502040204020203" pitchFamily="50" charset="-127"/>
          <a:ea typeface="맑은 고딕 Semilight" panose="020B0502040204020203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맑은 고딕 Semilight" panose="020B0502040204020203" pitchFamily="50" charset="-127"/>
          <a:ea typeface="맑은 고딕 Semilight" panose="020B0502040204020203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 Semilight" panose="020B0502040204020203" pitchFamily="50" charset="-127"/>
          <a:ea typeface="맑은 고딕 Semilight" panose="020B0502040204020203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 Semilight" panose="020B0502040204020203" pitchFamily="50" charset="-127"/>
          <a:ea typeface="맑은 고딕 Semilight" panose="020B0502040204020203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 Semilight" panose="020B0502040204020203" pitchFamily="50" charset="-127"/>
          <a:ea typeface="맑은 고딕 Semilight" panose="020B0502040204020203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 Semilight" panose="020B0502040204020203" pitchFamily="50" charset="-127"/>
          <a:ea typeface="맑은 고딕 Semilight" panose="020B0502040204020203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36A9DE-F6AD-5EC6-4C87-C3A5DFE0A3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3600" b="1" dirty="0">
                <a:latin typeface="+mj-lt"/>
                <a:cs typeface="Calibri" panose="020F0502020204030204" pitchFamily="34" charset="0"/>
              </a:rPr>
              <a:t>Symbolic Execution </a:t>
            </a:r>
            <a:r>
              <a:rPr lang="en-US" altLang="ko-KR" sz="3600" b="1" dirty="0" err="1">
                <a:latin typeface="+mj-lt"/>
                <a:cs typeface="Calibri" panose="020F0502020204030204" pitchFamily="34" charset="0"/>
              </a:rPr>
              <a:t>angr</a:t>
            </a:r>
            <a:r>
              <a:rPr lang="en-US" altLang="ko-KR" sz="3600" b="1" dirty="0">
                <a:latin typeface="+mj-lt"/>
                <a:cs typeface="Calibri" panose="020F0502020204030204" pitchFamily="34" charset="0"/>
              </a:rPr>
              <a:t> CTF</a:t>
            </a:r>
            <a:br>
              <a:rPr lang="en-US" altLang="ko-KR" sz="3600" b="1" dirty="0">
                <a:latin typeface="+mj-lt"/>
                <a:cs typeface="Calibri" panose="020F0502020204030204" pitchFamily="34" charset="0"/>
              </a:rPr>
            </a:br>
            <a:br>
              <a:rPr lang="en-US" altLang="ko-KR" sz="3600" b="1" dirty="0">
                <a:latin typeface="+mj-lt"/>
                <a:cs typeface="Calibri" panose="020F0502020204030204" pitchFamily="34" charset="0"/>
              </a:rPr>
            </a:br>
            <a:r>
              <a:rPr lang="en-US" altLang="ko-KR" sz="2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Handling State Explosion</a:t>
            </a:r>
            <a:br>
              <a:rPr lang="en-US" altLang="ko-KR" sz="2000" b="1" dirty="0">
                <a:latin typeface="+mj-lt"/>
              </a:rPr>
            </a:br>
            <a:endParaRPr lang="ko-KR" altLang="en-US" sz="2000" b="1" dirty="0">
              <a:latin typeface="+mj-lt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AA0634-35C0-87A3-B792-C4C404F6BB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altLang="ko-KR" dirty="0">
              <a:latin typeface="+mj-lt"/>
            </a:endParaRPr>
          </a:p>
          <a:p>
            <a:r>
              <a:rPr lang="en-US" altLang="ko-KR" b="1" dirty="0">
                <a:latin typeface="+mj-lt"/>
              </a:rPr>
              <a:t>Presenter: Seojin Park</a:t>
            </a:r>
          </a:p>
          <a:p>
            <a:endParaRPr lang="en-US" altLang="ko-KR" b="1" dirty="0">
              <a:latin typeface="+mj-lt"/>
            </a:endParaRPr>
          </a:p>
          <a:p>
            <a:r>
              <a:rPr lang="en-US" altLang="ko-KR" b="1" dirty="0">
                <a:latin typeface="+mj-lt"/>
              </a:rPr>
              <a:t>2026/03/23</a:t>
            </a:r>
            <a:endParaRPr lang="ko-KR" altLang="en-US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99846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136AE-1D83-CDF1-A68C-89EC123D7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DA5A35-46CC-F231-F745-CA1D701FA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22" y="209484"/>
            <a:ext cx="11652115" cy="1123206"/>
          </a:xfrm>
        </p:spPr>
        <p:txBody>
          <a:bodyPr/>
          <a:lstStyle/>
          <a:p>
            <a:r>
              <a:rPr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Overview</a:t>
            </a:r>
            <a:endParaRPr lang="ko-KR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2A52B8-6ADE-5BD3-EF11-6027B8FBB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721" y="1332690"/>
            <a:ext cx="11652115" cy="501947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latin typeface="+mj-lt"/>
              </a:rPr>
              <a:t>08_angr_constraints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+mj-lt"/>
              </a:rPr>
              <a:t>Manually add conditions to symbolic variables to avoid state explosion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latin typeface="+mj-lt"/>
              </a:rPr>
              <a:t>09_angr_hooks 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+mj-lt"/>
              </a:rPr>
              <a:t>Replace a function call at a specific address with our own Python function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latin typeface="+mj-lt"/>
              </a:rPr>
              <a:t>10_angr_simprocedures 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+mj-lt"/>
              </a:rPr>
              <a:t>Hook by function name so every call is replaced automatically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latin typeface="+mj-lt"/>
              </a:rPr>
              <a:t>11_angr_sim_scanf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+mj-lt"/>
              </a:rPr>
              <a:t>Replace </a:t>
            </a:r>
            <a:r>
              <a:rPr lang="en-US" altLang="ko-KR" sz="2000" dirty="0" err="1">
                <a:latin typeface="+mj-lt"/>
              </a:rPr>
              <a:t>scanf</a:t>
            </a:r>
            <a:r>
              <a:rPr lang="en-US" altLang="ko-KR" sz="2000" dirty="0">
                <a:latin typeface="+mj-lt"/>
              </a:rPr>
              <a:t> with a custom </a:t>
            </a:r>
            <a:r>
              <a:rPr lang="en-US" altLang="ko-KR" sz="2000" dirty="0" err="1">
                <a:latin typeface="+mj-lt"/>
              </a:rPr>
              <a:t>SimProcedure</a:t>
            </a:r>
            <a:r>
              <a:rPr lang="en-US" altLang="ko-KR" sz="2000" dirty="0">
                <a:latin typeface="+mj-lt"/>
              </a:rPr>
              <a:t> when </a:t>
            </a:r>
            <a:r>
              <a:rPr lang="en-US" altLang="ko-KR" sz="2000" dirty="0" err="1">
                <a:latin typeface="+mj-lt"/>
              </a:rPr>
              <a:t>angr's</a:t>
            </a:r>
            <a:r>
              <a:rPr lang="en-US" altLang="ko-KR" sz="2000" dirty="0">
                <a:latin typeface="+mj-lt"/>
              </a:rPr>
              <a:t> built-in one falls short</a:t>
            </a:r>
          </a:p>
        </p:txBody>
      </p:sp>
    </p:spTree>
    <p:extLst>
      <p:ext uri="{BB962C8B-B14F-4D97-AF65-F5344CB8AC3E}">
        <p14:creationId xmlns:p14="http://schemas.microsoft.com/office/powerpoint/2010/main" val="1023736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A4A28-438C-B796-4D21-41496AF02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6492A1-5D7B-0045-BABB-17CEEE183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22" y="209484"/>
            <a:ext cx="11652115" cy="1123206"/>
          </a:xfrm>
        </p:spPr>
        <p:txBody>
          <a:bodyPr/>
          <a:lstStyle/>
          <a:p>
            <a:r>
              <a:rPr lang="en-US" altLang="ko-KR" b="1" dirty="0">
                <a:latin typeface="+mj-lt"/>
              </a:rPr>
              <a:t>What Are Constraints in </a:t>
            </a:r>
            <a:r>
              <a:rPr lang="en-US" altLang="ko-KR" b="1" dirty="0" err="1">
                <a:latin typeface="+mj-lt"/>
              </a:rPr>
              <a:t>angr</a:t>
            </a:r>
            <a:r>
              <a:rPr lang="en-US" altLang="ko-KR" b="1" dirty="0">
                <a:latin typeface="+mj-lt"/>
              </a:rPr>
              <a:t>?</a:t>
            </a:r>
            <a:endParaRPr lang="ko-KR" altLang="en-US" b="1" dirty="0">
              <a:latin typeface="+mj-lt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937C90-38BF-3EFF-1BC3-5F48A06F4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943" y="1629044"/>
            <a:ext cx="7357773" cy="501947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>
                <a:latin typeface="+mj-lt"/>
              </a:rPr>
              <a:t>A constraint is a logical condition (e.g., x &gt; 5, buffer == "ABCD") imposed on a </a:t>
            </a:r>
            <a:r>
              <a:rPr lang="en-US" altLang="ko-KR" sz="2000" b="1" dirty="0">
                <a:latin typeface="+mj-lt"/>
              </a:rPr>
              <a:t>symbolic variable </a:t>
            </a:r>
            <a:r>
              <a:rPr lang="en-US" altLang="ko-KR" sz="2000" b="1" dirty="0">
                <a:solidFill>
                  <a:srgbClr val="FF0000"/>
                </a:solidFill>
                <a:latin typeface="+mj-lt"/>
              </a:rPr>
              <a:t>to restrict its possible values</a:t>
            </a:r>
            <a:r>
              <a:rPr lang="en-US" altLang="ko-KR" sz="2000" dirty="0">
                <a:latin typeface="+mj-lt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+mj-lt"/>
              </a:rPr>
              <a:t>There are two ways constraints are added in </a:t>
            </a:r>
            <a:r>
              <a:rPr lang="en-US" altLang="ko-KR" sz="2000" dirty="0" err="1">
                <a:latin typeface="+mj-lt"/>
              </a:rPr>
              <a:t>angr</a:t>
            </a:r>
            <a:endParaRPr lang="en-US" altLang="ko-KR" sz="2000" dirty="0">
              <a:latin typeface="+mj-lt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b="1" dirty="0">
                <a:latin typeface="+mj-lt"/>
              </a:rPr>
              <a:t>Automatic</a:t>
            </a:r>
            <a:r>
              <a:rPr lang="en-US" altLang="ko-KR" sz="1600" dirty="0">
                <a:latin typeface="+mj-lt"/>
              </a:rPr>
              <a:t>: </a:t>
            </a:r>
            <a:r>
              <a:rPr lang="en-US" altLang="ko-KR" sz="1600" dirty="0" err="1">
                <a:latin typeface="+mj-lt"/>
              </a:rPr>
              <a:t>angr</a:t>
            </a:r>
            <a:r>
              <a:rPr lang="en-US" altLang="ko-KR" sz="1600" dirty="0">
                <a:latin typeface="+mj-lt"/>
              </a:rPr>
              <a:t> accumulates path constraints at every branch. </a:t>
            </a:r>
            <a:br>
              <a:rPr lang="en-US" altLang="ko-KR" sz="1600" dirty="0">
                <a:latin typeface="+mj-lt"/>
              </a:rPr>
            </a:br>
            <a:r>
              <a:rPr lang="en-US" altLang="ko-KR" sz="1600" dirty="0">
                <a:latin typeface="+mj-lt"/>
              </a:rPr>
              <a:t>(also during memory access, library function handling, etc.)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b="1" dirty="0">
                <a:latin typeface="+mj-lt"/>
              </a:rPr>
              <a:t>Manual</a:t>
            </a:r>
            <a:r>
              <a:rPr lang="en-US" altLang="ko-KR" sz="1600" dirty="0">
                <a:latin typeface="+mj-lt"/>
              </a:rPr>
              <a:t>: We can add our own constraints using </a:t>
            </a:r>
            <a:r>
              <a:rPr lang="en-US" altLang="ko-KR" sz="1600" b="1" dirty="0" err="1">
                <a:solidFill>
                  <a:srgbClr val="FF0000"/>
                </a:solidFill>
                <a:latin typeface="+mj-lt"/>
              </a:rPr>
              <a:t>state.add_constraints</a:t>
            </a:r>
            <a:r>
              <a:rPr lang="en-US" altLang="ko-KR" sz="1600" b="1" dirty="0">
                <a:solidFill>
                  <a:srgbClr val="FF0000"/>
                </a:solidFill>
                <a:latin typeface="+mj-lt"/>
              </a:rPr>
              <a:t>(…)</a:t>
            </a:r>
            <a:endParaRPr lang="en-US" altLang="ko-KR" sz="1200" b="1" dirty="0">
              <a:solidFill>
                <a:srgbClr val="FF0000"/>
              </a:solidFill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+mj-lt"/>
              </a:rPr>
              <a:t>The solver searches for inputs that satisfy all current constraints.</a:t>
            </a:r>
          </a:p>
          <a:p>
            <a:pPr>
              <a:lnSpc>
                <a:spcPct val="150000"/>
              </a:lnSpc>
            </a:pPr>
            <a:r>
              <a:rPr lang="en-US" altLang="ko-KR" sz="2000" dirty="0" err="1">
                <a:latin typeface="+mj-lt"/>
              </a:rPr>
              <a:t>state.solver.eval</a:t>
            </a:r>
            <a:r>
              <a:rPr lang="en-US" altLang="ko-KR" sz="2000" dirty="0">
                <a:latin typeface="+mj-lt"/>
              </a:rPr>
              <a:t>() returns a concrete value that satisfies the current constraints.</a:t>
            </a:r>
          </a:p>
        </p:txBody>
      </p:sp>
    </p:spTree>
    <p:extLst>
      <p:ext uri="{BB962C8B-B14F-4D97-AF65-F5344CB8AC3E}">
        <p14:creationId xmlns:p14="http://schemas.microsoft.com/office/powerpoint/2010/main" val="3247983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C7456-3EDD-332F-2708-F2375220E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9BCAC0-2553-1349-935C-11D3FC1A2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22" y="209484"/>
            <a:ext cx="11652115" cy="1123206"/>
          </a:xfrm>
        </p:spPr>
        <p:txBody>
          <a:bodyPr/>
          <a:lstStyle/>
          <a:p>
            <a:r>
              <a:rPr lang="en-US" altLang="ko-KR" b="1" dirty="0">
                <a:latin typeface="+mj-lt"/>
              </a:rPr>
              <a:t>Simple state explosion example</a:t>
            </a:r>
            <a:endParaRPr lang="ko-KR" altLang="en-US" b="1" dirty="0">
              <a:latin typeface="+mj-lt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4C47CB-4BD1-475E-4E6F-D7DD0E062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580" y="1566414"/>
            <a:ext cx="5639420" cy="478428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본문)"/>
              </a:rPr>
              <a:t>check_all_Z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본문)"/>
              </a:rPr>
              <a:t>(</a:t>
            </a:r>
            <a:r>
              <a:rPr lang="en-US" altLang="ko-KR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본문)"/>
              </a:rPr>
              <a:t>user_input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본문)"/>
              </a:rPr>
              <a:t>)</a:t>
            </a:r>
            <a:r>
              <a:rPr lang="en-US" altLang="ko-KR" sz="2000" dirty="0">
                <a:latin typeface="Calibri (본문)"/>
              </a:rPr>
              <a:t> compares 16 symbolic bytes with 'Z’.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Calibri (본문)"/>
              </a:rPr>
              <a:t>Each comparison create two branches.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Calibri (본문)"/>
              </a:rPr>
              <a:t>Worst case: </a:t>
            </a:r>
            <a:r>
              <a:rPr lang="en-US" altLang="ko-KR" sz="2000" b="1" dirty="0">
                <a:solidFill>
                  <a:srgbClr val="FF0000"/>
                </a:solidFill>
                <a:latin typeface="Calibri (본문)"/>
              </a:rPr>
              <a:t>2^16 = 65,536</a:t>
            </a:r>
            <a:r>
              <a:rPr lang="en-US" altLang="ko-KR" sz="2000" dirty="0">
                <a:latin typeface="Calibri (본문)"/>
              </a:rPr>
              <a:t> states.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Calibri (본문)"/>
              </a:rPr>
              <a:t>The loop checks whether all 16 bytes are 'Z’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Calibri (본문)"/>
              </a:rPr>
              <a:t>This is equivalent to one condition: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latin typeface="Calibri (본문)"/>
              </a:rPr>
              <a:t>	</a:t>
            </a:r>
            <a:r>
              <a:rPr lang="en-US" altLang="ko-KR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본문)"/>
              </a:rPr>
              <a:t>user_input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본문)"/>
              </a:rPr>
              <a:t> == “ZZZZZZZZZZZZZZZZ”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Calibri (본문)"/>
              </a:rPr>
              <a:t>Instead of exploring all branches, we can express </a:t>
            </a:r>
            <a:r>
              <a:rPr lang="en-US" altLang="ko-KR" sz="2000" b="1" dirty="0">
                <a:solidFill>
                  <a:srgbClr val="FF0000"/>
                </a:solidFill>
                <a:latin typeface="Calibri (본문)"/>
              </a:rPr>
              <a:t>the same condition as a single constraint</a:t>
            </a:r>
            <a:r>
              <a:rPr lang="en-US" altLang="ko-KR" sz="2000" dirty="0">
                <a:latin typeface="Calibri (본문)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2000" dirty="0">
              <a:latin typeface="Calibri (본문)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585B4AC-1F83-114D-8A32-8D0BE19D88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253" y="1841656"/>
            <a:ext cx="4604550" cy="2830221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A0078349-8F9C-8A66-B00A-5B7AC2C1F713}"/>
              </a:ext>
            </a:extLst>
          </p:cNvPr>
          <p:cNvSpPr/>
          <p:nvPr/>
        </p:nvSpPr>
        <p:spPr>
          <a:xfrm>
            <a:off x="7331902" y="2617940"/>
            <a:ext cx="4041731" cy="638826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7363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B08A5-8296-DD47-707C-EAD9A5B7F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9492E9-DDCE-A1A5-9B03-D6E37B5AA8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55101"/>
            <a:ext cx="9144000" cy="1054862"/>
          </a:xfrm>
        </p:spPr>
        <p:txBody>
          <a:bodyPr>
            <a:normAutofit/>
          </a:bodyPr>
          <a:lstStyle/>
          <a:p>
            <a:r>
              <a:rPr lang="en-US" altLang="ko-KR" sz="3600" b="1" dirty="0">
                <a:latin typeface="Calibri (본문)"/>
              </a:rPr>
              <a:t>08_angr_constraints</a:t>
            </a:r>
            <a:br>
              <a:rPr lang="en-US" altLang="ko-KR" sz="3600" b="1" dirty="0">
                <a:latin typeface="Calibri (본문)"/>
              </a:rPr>
            </a:br>
            <a:endParaRPr lang="ko-KR" altLang="en-US" sz="2000" b="1" dirty="0">
              <a:latin typeface="Calibri (본문)"/>
            </a:endParaRPr>
          </a:p>
        </p:txBody>
      </p:sp>
    </p:spTree>
    <p:extLst>
      <p:ext uri="{BB962C8B-B14F-4D97-AF65-F5344CB8AC3E}">
        <p14:creationId xmlns:p14="http://schemas.microsoft.com/office/powerpoint/2010/main" val="225009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D8F8C-93F3-4484-CCD9-4095884B1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D76FA9-C946-7968-8353-7175A953F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22" y="209484"/>
            <a:ext cx="11652115" cy="1123206"/>
          </a:xfrm>
        </p:spPr>
        <p:txBody>
          <a:bodyPr/>
          <a:lstStyle/>
          <a:p>
            <a:r>
              <a:rPr lang="en-US" altLang="ko-KR" b="1" dirty="0">
                <a:latin typeface="Calibri (본문)"/>
              </a:rPr>
              <a:t>08_angr_constraints</a:t>
            </a:r>
            <a:endParaRPr lang="ko-KR" altLang="en-US" b="1" dirty="0">
              <a:latin typeface="Calibri (본문)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5B235F5-A8BB-645B-15CD-56BC554BD5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6420" y="1908012"/>
            <a:ext cx="5639421" cy="232176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3A2489-D290-97E8-F790-A2E745241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722" y="1496171"/>
            <a:ext cx="5639420" cy="5027085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>
                <a:latin typeface="Calibri (본문)"/>
              </a:rPr>
              <a:t>The right side shows the decompiled main function of the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본문)"/>
              </a:rPr>
              <a:t>08_angr_constraints binary</a:t>
            </a:r>
            <a:r>
              <a:rPr lang="en-US" altLang="ko-KR" sz="2000" dirty="0">
                <a:latin typeface="Calibri (본문)"/>
              </a:rPr>
              <a:t>, obtained using IDA-Pro.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Calibri (본문)"/>
              </a:rPr>
              <a:t>Flow</a:t>
            </a:r>
            <a:r>
              <a:rPr lang="ko-KR" altLang="en-US" sz="2000" dirty="0">
                <a:latin typeface="Calibri (본문)"/>
              </a:rPr>
              <a:t> </a:t>
            </a:r>
            <a:r>
              <a:rPr lang="en-US" altLang="ko-KR" sz="2000" dirty="0">
                <a:latin typeface="Calibri (본문)"/>
              </a:rPr>
              <a:t>of</a:t>
            </a:r>
            <a:r>
              <a:rPr lang="ko-KR" altLang="en-US" sz="2000" dirty="0">
                <a:latin typeface="Calibri (본문)"/>
              </a:rPr>
              <a:t> </a:t>
            </a:r>
            <a:r>
              <a:rPr lang="en-US" altLang="ko-KR" sz="2000" dirty="0">
                <a:latin typeface="Calibri (본문)"/>
              </a:rPr>
              <a:t>main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dirty="0">
                <a:latin typeface="Calibri (본문)"/>
              </a:rPr>
              <a:t>Stores “AUPDNNPROEZRJWKB” into password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dirty="0">
                <a:latin typeface="Calibri (본문)"/>
              </a:rPr>
              <a:t>Reads user input into </a:t>
            </a:r>
            <a:r>
              <a:rPr lang="en-US" altLang="ko-KR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본문)"/>
              </a:rPr>
              <a:t>buffer</a:t>
            </a:r>
            <a:r>
              <a:rPr lang="en-US" altLang="ko-KR" sz="1600" dirty="0">
                <a:latin typeface="Calibri (본문)"/>
              </a:rPr>
              <a:t> via </a:t>
            </a:r>
            <a:r>
              <a:rPr lang="en-US" altLang="ko-KR" sz="1600" dirty="0" err="1">
                <a:latin typeface="Calibri (본문)"/>
              </a:rPr>
              <a:t>scanf</a:t>
            </a:r>
            <a:r>
              <a:rPr lang="en-US" altLang="ko-KR" sz="1600" dirty="0">
                <a:latin typeface="Calibri (본문)"/>
              </a:rPr>
              <a:t> (up to 16 chars)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dirty="0">
                <a:latin typeface="Calibri (본문)"/>
              </a:rPr>
              <a:t>Line 9-10: </a:t>
            </a:r>
            <a:r>
              <a:rPr lang="en-US" altLang="ko-KR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본문)"/>
              </a:rPr>
              <a:t>0x804A050</a:t>
            </a:r>
            <a:r>
              <a:rPr lang="en-US" altLang="ko-KR" sz="1600" dirty="0">
                <a:latin typeface="Calibri (본문)"/>
              </a:rPr>
              <a:t> is the address of buffer. Each bytes of buffer is transformed via </a:t>
            </a:r>
            <a:r>
              <a:rPr lang="en-US" altLang="ko-KR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본문)"/>
              </a:rPr>
              <a:t>complex_function</a:t>
            </a:r>
            <a:endParaRPr lang="en-US" altLang="ko-KR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 (본문)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dirty="0">
                <a:latin typeface="Calibri (본문)"/>
              </a:rPr>
              <a:t>Line 11: </a:t>
            </a:r>
            <a:r>
              <a:rPr lang="en-US" altLang="ko-KR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본문)"/>
              </a:rPr>
              <a:t>check_equals</a:t>
            </a:r>
            <a:r>
              <a:rPr lang="en-US" altLang="ko-KR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본문)"/>
              </a:rPr>
              <a:t>_ AUPDNNPROEZRJWKB</a:t>
            </a:r>
            <a:r>
              <a:rPr lang="en-US" altLang="ko-KR" sz="1600" dirty="0">
                <a:latin typeface="Calibri (본문)"/>
              </a:rPr>
              <a:t> compares</a:t>
            </a:r>
            <a:r>
              <a:rPr lang="ko-KR" altLang="en-US" sz="1600" dirty="0">
                <a:latin typeface="Calibri (본문)"/>
              </a:rPr>
              <a:t> </a:t>
            </a:r>
            <a:r>
              <a:rPr lang="en-US" altLang="ko-KR" sz="1600" dirty="0">
                <a:latin typeface="Calibri (본문)"/>
              </a:rPr>
              <a:t>the</a:t>
            </a:r>
            <a:r>
              <a:rPr lang="ko-KR" altLang="en-US" sz="1600" dirty="0">
                <a:latin typeface="Calibri (본문)"/>
              </a:rPr>
              <a:t> </a:t>
            </a:r>
            <a:r>
              <a:rPr lang="en-US" altLang="ko-KR" sz="1600" dirty="0">
                <a:latin typeface="Calibri (본문)"/>
              </a:rPr>
              <a:t>transformed</a:t>
            </a:r>
            <a:r>
              <a:rPr lang="ko-KR" altLang="en-US" sz="1600" dirty="0">
                <a:latin typeface="Calibri (본문)"/>
              </a:rPr>
              <a:t> </a:t>
            </a:r>
            <a:r>
              <a:rPr lang="en-US" altLang="ko-KR" sz="1600" dirty="0">
                <a:latin typeface="Calibri (본문)"/>
              </a:rPr>
              <a:t>buffer</a:t>
            </a:r>
            <a:r>
              <a:rPr lang="ko-KR" altLang="en-US" sz="1600" dirty="0">
                <a:latin typeface="Calibri (본문)"/>
              </a:rPr>
              <a:t> </a:t>
            </a:r>
            <a:r>
              <a:rPr lang="en-US" altLang="ko-KR" sz="1600" dirty="0">
                <a:latin typeface="Calibri (본문)"/>
              </a:rPr>
              <a:t>against</a:t>
            </a:r>
            <a:r>
              <a:rPr lang="ko-KR" altLang="en-US" sz="1600" dirty="0">
                <a:latin typeface="Calibri (본문)"/>
              </a:rPr>
              <a:t> </a:t>
            </a:r>
            <a:r>
              <a:rPr lang="en-US" altLang="ko-KR" sz="1600" dirty="0">
                <a:latin typeface="Calibri (본문)"/>
              </a:rPr>
              <a:t>“AUPDNNPROEZRJWKB”.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dirty="0">
                <a:latin typeface="Calibri (본문)"/>
              </a:rPr>
              <a:t>Print “Good Job.” if equal. “Try again.” otherwise.</a:t>
            </a:r>
          </a:p>
        </p:txBody>
      </p:sp>
    </p:spTree>
    <p:extLst>
      <p:ext uri="{BB962C8B-B14F-4D97-AF65-F5344CB8AC3E}">
        <p14:creationId xmlns:p14="http://schemas.microsoft.com/office/powerpoint/2010/main" val="2891945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93AD3-A3C1-340C-E67E-DBBA1B848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A9E5D8-69E7-A75E-A4F5-86AA938A4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22" y="209484"/>
            <a:ext cx="11652115" cy="1123206"/>
          </a:xfrm>
        </p:spPr>
        <p:txBody>
          <a:bodyPr/>
          <a:lstStyle/>
          <a:p>
            <a:r>
              <a:rPr lang="en-US" altLang="ko-KR" b="1" dirty="0">
                <a:latin typeface="Calibri (본문)"/>
              </a:rPr>
              <a:t>08_angr_constraints</a:t>
            </a:r>
            <a:endParaRPr lang="ko-KR" altLang="en-US" b="1" dirty="0">
              <a:latin typeface="Calibri (본문)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0E28C36-D95A-3948-B41D-AA9792AC15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6420" y="1908012"/>
            <a:ext cx="5639421" cy="232176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9D1287-301B-7F26-9ED1-E0B5975D0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722" y="1496171"/>
            <a:ext cx="5639420" cy="5027085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>
                <a:latin typeface="Calibri (본문)"/>
              </a:rPr>
              <a:t>The right side shows the decompiled main function of the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본문)"/>
              </a:rPr>
              <a:t>08_angr_constraints binary</a:t>
            </a:r>
            <a:r>
              <a:rPr lang="en-US" altLang="ko-KR" sz="2000" dirty="0">
                <a:latin typeface="Calibri (본문)"/>
              </a:rPr>
              <a:t>, obtained using IDA-Pro.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Calibri (본문)"/>
              </a:rPr>
              <a:t>Flow</a:t>
            </a:r>
            <a:r>
              <a:rPr lang="ko-KR" altLang="en-US" sz="2000" dirty="0">
                <a:latin typeface="Calibri (본문)"/>
              </a:rPr>
              <a:t> </a:t>
            </a:r>
            <a:r>
              <a:rPr lang="en-US" altLang="ko-KR" sz="2000" dirty="0">
                <a:latin typeface="Calibri (본문)"/>
              </a:rPr>
              <a:t>of</a:t>
            </a:r>
            <a:r>
              <a:rPr lang="ko-KR" altLang="en-US" sz="2000" dirty="0">
                <a:latin typeface="Calibri (본문)"/>
              </a:rPr>
              <a:t> </a:t>
            </a:r>
            <a:r>
              <a:rPr lang="en-US" altLang="ko-KR" sz="2000" dirty="0">
                <a:latin typeface="Calibri (본문)"/>
              </a:rPr>
              <a:t>main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dirty="0">
                <a:latin typeface="Calibri (본문)"/>
              </a:rPr>
              <a:t>Stores “AUPDNNPROEZRJWKB” into password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dirty="0">
                <a:latin typeface="Calibri (본문)"/>
              </a:rPr>
              <a:t>Reads user input into </a:t>
            </a:r>
            <a:r>
              <a:rPr lang="en-US" altLang="ko-KR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본문)"/>
              </a:rPr>
              <a:t>buffer</a:t>
            </a:r>
            <a:r>
              <a:rPr lang="en-US" altLang="ko-KR" sz="1600" dirty="0">
                <a:latin typeface="Calibri (본문)"/>
              </a:rPr>
              <a:t> via </a:t>
            </a:r>
            <a:r>
              <a:rPr lang="en-US" altLang="ko-KR" sz="1600" dirty="0" err="1">
                <a:latin typeface="Calibri (본문)"/>
              </a:rPr>
              <a:t>scanf</a:t>
            </a:r>
            <a:r>
              <a:rPr lang="en-US" altLang="ko-KR" sz="1600" dirty="0">
                <a:latin typeface="Calibri (본문)"/>
              </a:rPr>
              <a:t> (up to 16 chars)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dirty="0">
                <a:latin typeface="Calibri (본문)"/>
              </a:rPr>
              <a:t>Line 9-10: </a:t>
            </a:r>
            <a:r>
              <a:rPr lang="en-US" altLang="ko-KR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본문)"/>
              </a:rPr>
              <a:t>0x804A050</a:t>
            </a:r>
            <a:r>
              <a:rPr lang="en-US" altLang="ko-KR" sz="1600" dirty="0">
                <a:latin typeface="Calibri (본문)"/>
              </a:rPr>
              <a:t> is the address of buffer. Each bytes of buffer is transformed via </a:t>
            </a:r>
            <a:r>
              <a:rPr lang="en-US" altLang="ko-KR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본문)"/>
              </a:rPr>
              <a:t>complex_function</a:t>
            </a:r>
            <a:endParaRPr lang="en-US" altLang="ko-KR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 (본문)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dirty="0">
                <a:latin typeface="Calibri (본문)"/>
              </a:rPr>
              <a:t>Line 11: </a:t>
            </a:r>
            <a:r>
              <a:rPr lang="en-US" altLang="ko-KR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본문)"/>
              </a:rPr>
              <a:t>check_equals</a:t>
            </a:r>
            <a:r>
              <a:rPr lang="en-US" altLang="ko-KR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본문)"/>
              </a:rPr>
              <a:t>_ AUPDNNPROEZRJWKB</a:t>
            </a:r>
            <a:r>
              <a:rPr lang="en-US" altLang="ko-KR" sz="1600" dirty="0">
                <a:latin typeface="Calibri (본문)"/>
              </a:rPr>
              <a:t> compares</a:t>
            </a:r>
            <a:r>
              <a:rPr lang="ko-KR" altLang="en-US" sz="1600" dirty="0">
                <a:latin typeface="Calibri (본문)"/>
              </a:rPr>
              <a:t> </a:t>
            </a:r>
            <a:r>
              <a:rPr lang="en-US" altLang="ko-KR" sz="1600" dirty="0">
                <a:latin typeface="Calibri (본문)"/>
              </a:rPr>
              <a:t>the</a:t>
            </a:r>
            <a:r>
              <a:rPr lang="ko-KR" altLang="en-US" sz="1600" dirty="0">
                <a:latin typeface="Calibri (본문)"/>
              </a:rPr>
              <a:t> </a:t>
            </a:r>
            <a:r>
              <a:rPr lang="en-US" altLang="ko-KR" sz="1600" dirty="0">
                <a:latin typeface="Calibri (본문)"/>
              </a:rPr>
              <a:t>transformed</a:t>
            </a:r>
            <a:r>
              <a:rPr lang="ko-KR" altLang="en-US" sz="1600" dirty="0">
                <a:latin typeface="Calibri (본문)"/>
              </a:rPr>
              <a:t> </a:t>
            </a:r>
            <a:r>
              <a:rPr lang="en-US" altLang="ko-KR" sz="1600" dirty="0">
                <a:latin typeface="Calibri (본문)"/>
              </a:rPr>
              <a:t>buffer</a:t>
            </a:r>
            <a:r>
              <a:rPr lang="ko-KR" altLang="en-US" sz="1600" dirty="0">
                <a:latin typeface="Calibri (본문)"/>
              </a:rPr>
              <a:t> </a:t>
            </a:r>
            <a:r>
              <a:rPr lang="en-US" altLang="ko-KR" sz="1600" dirty="0">
                <a:latin typeface="Calibri (본문)"/>
              </a:rPr>
              <a:t>against</a:t>
            </a:r>
            <a:r>
              <a:rPr lang="ko-KR" altLang="en-US" sz="1600" dirty="0">
                <a:latin typeface="Calibri (본문)"/>
              </a:rPr>
              <a:t> </a:t>
            </a:r>
            <a:r>
              <a:rPr lang="en-US" altLang="ko-KR" sz="1600" dirty="0">
                <a:latin typeface="Calibri (본문)"/>
              </a:rPr>
              <a:t>“AUPDNNPROEZRJWKB”.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dirty="0">
                <a:latin typeface="Calibri (본문)"/>
              </a:rPr>
              <a:t>Print “Good Job.” if equal. “Try again.” otherwise.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13960B1-D5BE-397E-39C7-DF36ADAE0A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578" y="5168654"/>
            <a:ext cx="5202477" cy="69433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88890E1-AF89-1FF9-02E0-D34E258B0B7F}"/>
              </a:ext>
            </a:extLst>
          </p:cNvPr>
          <p:cNvSpPr/>
          <p:nvPr/>
        </p:nvSpPr>
        <p:spPr>
          <a:xfrm>
            <a:off x="7793973" y="3269293"/>
            <a:ext cx="674317" cy="159707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456794D-4C00-D251-B017-FA15ACFF520B}"/>
              </a:ext>
            </a:extLst>
          </p:cNvPr>
          <p:cNvSpPr/>
          <p:nvPr/>
        </p:nvSpPr>
        <p:spPr>
          <a:xfrm>
            <a:off x="10473847" y="3269293"/>
            <a:ext cx="674317" cy="159706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641952E-4FC1-7B9A-FE59-412DA9E5E99C}"/>
              </a:ext>
            </a:extLst>
          </p:cNvPr>
          <p:cNvSpPr/>
          <p:nvPr/>
        </p:nvSpPr>
        <p:spPr>
          <a:xfrm>
            <a:off x="7000241" y="5039360"/>
            <a:ext cx="2438400" cy="985520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5C55637C-0474-264B-9848-98DC4CF3430D}"/>
              </a:ext>
            </a:extLst>
          </p:cNvPr>
          <p:cNvCxnSpPr>
            <a:stCxn id="6" idx="2"/>
          </p:cNvCxnSpPr>
          <p:nvPr/>
        </p:nvCxnSpPr>
        <p:spPr>
          <a:xfrm flipH="1">
            <a:off x="8131131" y="3429000"/>
            <a:ext cx="1" cy="16205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629202D5-F9DB-DA35-BE97-DDC2617A41CD}"/>
              </a:ext>
            </a:extLst>
          </p:cNvPr>
          <p:cNvCxnSpPr>
            <a:cxnSpLocks/>
          </p:cNvCxnSpPr>
          <p:nvPr/>
        </p:nvCxnSpPr>
        <p:spPr>
          <a:xfrm flipH="1">
            <a:off x="8636867" y="3445298"/>
            <a:ext cx="2174138" cy="15879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7888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B3A07-0551-BB57-C6E9-B38715023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B16CC7-D26D-B360-27C5-5AEC6A9A1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22" y="209484"/>
            <a:ext cx="11652115" cy="1123206"/>
          </a:xfrm>
        </p:spPr>
        <p:txBody>
          <a:bodyPr/>
          <a:lstStyle/>
          <a:p>
            <a:r>
              <a:rPr lang="en-US" altLang="ko-KR" b="1" dirty="0">
                <a:latin typeface="Calibri (본문)"/>
              </a:rPr>
              <a:t>08_angr_constraints</a:t>
            </a:r>
            <a:endParaRPr lang="ko-KR" altLang="en-US" b="1" dirty="0">
              <a:latin typeface="Calibri (본문)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27B907E-8470-B0F8-7402-12CBB6DA55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6420" y="1908012"/>
            <a:ext cx="5639421" cy="232176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8FDCCF-C14C-27BC-2EB0-46AC2C4AB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722" y="1496171"/>
            <a:ext cx="5639420" cy="5027085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>
                <a:latin typeface="Calibri (본문)"/>
              </a:rPr>
              <a:t>The right side shows the decompiled main function of the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본문)"/>
              </a:rPr>
              <a:t>08_angr_constraints binary</a:t>
            </a:r>
            <a:r>
              <a:rPr lang="en-US" altLang="ko-KR" sz="2000" dirty="0">
                <a:latin typeface="Calibri (본문)"/>
              </a:rPr>
              <a:t>, obtained using IDA-Pro.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Calibri (본문)"/>
              </a:rPr>
              <a:t>Flow</a:t>
            </a:r>
            <a:r>
              <a:rPr lang="ko-KR" altLang="en-US" sz="2000" dirty="0">
                <a:latin typeface="Calibri (본문)"/>
              </a:rPr>
              <a:t> </a:t>
            </a:r>
            <a:r>
              <a:rPr lang="en-US" altLang="ko-KR" sz="2000" dirty="0">
                <a:latin typeface="Calibri (본문)"/>
              </a:rPr>
              <a:t>of</a:t>
            </a:r>
            <a:r>
              <a:rPr lang="ko-KR" altLang="en-US" sz="2000" dirty="0">
                <a:latin typeface="Calibri (본문)"/>
              </a:rPr>
              <a:t> </a:t>
            </a:r>
            <a:r>
              <a:rPr lang="en-US" altLang="ko-KR" sz="2000" dirty="0">
                <a:latin typeface="Calibri (본문)"/>
              </a:rPr>
              <a:t>main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dirty="0">
                <a:latin typeface="Calibri (본문)"/>
              </a:rPr>
              <a:t>Stores “AUPDNNPROEZRJWKB” into password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dirty="0">
                <a:latin typeface="Calibri (본문)"/>
              </a:rPr>
              <a:t>Reads user input into </a:t>
            </a:r>
            <a:r>
              <a:rPr lang="en-US" altLang="ko-KR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본문)"/>
              </a:rPr>
              <a:t>buffer</a:t>
            </a:r>
            <a:r>
              <a:rPr lang="en-US" altLang="ko-KR" sz="1600" dirty="0">
                <a:latin typeface="Calibri (본문)"/>
              </a:rPr>
              <a:t> via </a:t>
            </a:r>
            <a:r>
              <a:rPr lang="en-US" altLang="ko-KR" sz="1600" dirty="0" err="1">
                <a:latin typeface="Calibri (본문)"/>
              </a:rPr>
              <a:t>scanf</a:t>
            </a:r>
            <a:r>
              <a:rPr lang="en-US" altLang="ko-KR" sz="1600" dirty="0">
                <a:latin typeface="Calibri (본문)"/>
              </a:rPr>
              <a:t> (up to 16 chars)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dirty="0">
                <a:latin typeface="Calibri (본문)"/>
              </a:rPr>
              <a:t>Line 9-10: </a:t>
            </a:r>
            <a:r>
              <a:rPr lang="en-US" altLang="ko-KR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본문)"/>
              </a:rPr>
              <a:t>0x804A050</a:t>
            </a:r>
            <a:r>
              <a:rPr lang="en-US" altLang="ko-KR" sz="1600" dirty="0">
                <a:latin typeface="Calibri (본문)"/>
              </a:rPr>
              <a:t> is the address of buffer. Each bytes of buffer is transformed via </a:t>
            </a:r>
            <a:r>
              <a:rPr lang="en-US" altLang="ko-KR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본문)"/>
              </a:rPr>
              <a:t>complex_function</a:t>
            </a:r>
            <a:endParaRPr lang="en-US" altLang="ko-KR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 (본문)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dirty="0">
                <a:latin typeface="Calibri (본문)"/>
              </a:rPr>
              <a:t>Line 11: </a:t>
            </a:r>
            <a:r>
              <a:rPr lang="en-US" altLang="ko-KR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본문)"/>
              </a:rPr>
              <a:t>check_equals</a:t>
            </a:r>
            <a:r>
              <a:rPr lang="en-US" altLang="ko-KR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본문)"/>
              </a:rPr>
              <a:t>_ AUPDNNPROEZRJWKB</a:t>
            </a:r>
            <a:r>
              <a:rPr lang="en-US" altLang="ko-KR" sz="1600" dirty="0">
                <a:latin typeface="Calibri (본문)"/>
              </a:rPr>
              <a:t> compares</a:t>
            </a:r>
            <a:r>
              <a:rPr lang="ko-KR" altLang="en-US" sz="1600" dirty="0">
                <a:latin typeface="Calibri (본문)"/>
              </a:rPr>
              <a:t> </a:t>
            </a:r>
            <a:r>
              <a:rPr lang="en-US" altLang="ko-KR" sz="1600" dirty="0">
                <a:latin typeface="Calibri (본문)"/>
              </a:rPr>
              <a:t>the</a:t>
            </a:r>
            <a:r>
              <a:rPr lang="ko-KR" altLang="en-US" sz="1600" dirty="0">
                <a:latin typeface="Calibri (본문)"/>
              </a:rPr>
              <a:t> </a:t>
            </a:r>
            <a:r>
              <a:rPr lang="en-US" altLang="ko-KR" sz="1600" dirty="0">
                <a:latin typeface="Calibri (본문)"/>
              </a:rPr>
              <a:t>transformed</a:t>
            </a:r>
            <a:r>
              <a:rPr lang="ko-KR" altLang="en-US" sz="1600" dirty="0">
                <a:latin typeface="Calibri (본문)"/>
              </a:rPr>
              <a:t> </a:t>
            </a:r>
            <a:r>
              <a:rPr lang="en-US" altLang="ko-KR" sz="1600" dirty="0">
                <a:latin typeface="Calibri (본문)"/>
              </a:rPr>
              <a:t>buffer</a:t>
            </a:r>
            <a:r>
              <a:rPr lang="ko-KR" altLang="en-US" sz="1600" dirty="0">
                <a:latin typeface="Calibri (본문)"/>
              </a:rPr>
              <a:t> </a:t>
            </a:r>
            <a:r>
              <a:rPr lang="en-US" altLang="ko-KR" sz="1600" dirty="0">
                <a:latin typeface="Calibri (본문)"/>
              </a:rPr>
              <a:t>against</a:t>
            </a:r>
            <a:r>
              <a:rPr lang="ko-KR" altLang="en-US" sz="1600" dirty="0">
                <a:latin typeface="Calibri (본문)"/>
              </a:rPr>
              <a:t> </a:t>
            </a:r>
            <a:r>
              <a:rPr lang="en-US" altLang="ko-KR" sz="1600" dirty="0">
                <a:latin typeface="Calibri (본문)"/>
              </a:rPr>
              <a:t>“AUPDNNPROEZRJWKB”.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dirty="0">
                <a:latin typeface="Calibri (본문)"/>
              </a:rPr>
              <a:t>Print “Good Job.” if equal. “Try again.” otherwise.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DFDDC39-6BF0-E3C6-8433-8CFC8B5ACB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9842" y="4805102"/>
            <a:ext cx="3429620" cy="1538093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F8A122D-281D-5711-2281-9B5FC134958E}"/>
              </a:ext>
            </a:extLst>
          </p:cNvPr>
          <p:cNvSpPr/>
          <p:nvPr/>
        </p:nvSpPr>
        <p:spPr>
          <a:xfrm>
            <a:off x="8523178" y="3269293"/>
            <a:ext cx="1130108" cy="159707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913F23BF-CA32-B8BF-1521-2E48BC9A836E}"/>
              </a:ext>
            </a:extLst>
          </p:cNvPr>
          <p:cNvCxnSpPr>
            <a:cxnSpLocks/>
          </p:cNvCxnSpPr>
          <p:nvPr/>
        </p:nvCxnSpPr>
        <p:spPr>
          <a:xfrm>
            <a:off x="9116131" y="3429000"/>
            <a:ext cx="0" cy="13612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1460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07110-A06C-9396-2D8D-0594B7B75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F1E4FC-65B6-48E7-C0B6-CCF86A57C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22" y="209484"/>
            <a:ext cx="11652115" cy="1123206"/>
          </a:xfrm>
        </p:spPr>
        <p:txBody>
          <a:bodyPr/>
          <a:lstStyle/>
          <a:p>
            <a:r>
              <a:rPr lang="en-US" altLang="ko-KR" b="1" dirty="0">
                <a:latin typeface="Calibri (본문)"/>
              </a:rPr>
              <a:t>08_angr_constraints</a:t>
            </a:r>
            <a:endParaRPr lang="ko-KR" altLang="en-US" b="1" dirty="0">
              <a:latin typeface="Calibri (본문)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CA19AB5-040A-8629-71A2-8D36D0FBF4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6420" y="1908012"/>
            <a:ext cx="5639421" cy="232176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28A931-AD00-C0CA-3940-ED75F3825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722" y="1496171"/>
            <a:ext cx="5639420" cy="5027085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>
                <a:latin typeface="Calibri (본문)"/>
              </a:rPr>
              <a:t>The right side shows the decompiled main function of the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본문)"/>
              </a:rPr>
              <a:t>08_angr_constraints binary</a:t>
            </a:r>
            <a:r>
              <a:rPr lang="en-US" altLang="ko-KR" sz="2000" dirty="0">
                <a:latin typeface="Calibri (본문)"/>
              </a:rPr>
              <a:t>, obtained using IDA-Pro.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Calibri (본문)"/>
              </a:rPr>
              <a:t>Flow</a:t>
            </a:r>
            <a:r>
              <a:rPr lang="ko-KR" altLang="en-US" sz="2000" dirty="0">
                <a:latin typeface="Calibri (본문)"/>
              </a:rPr>
              <a:t> </a:t>
            </a:r>
            <a:r>
              <a:rPr lang="en-US" altLang="ko-KR" sz="2000" dirty="0">
                <a:latin typeface="Calibri (본문)"/>
              </a:rPr>
              <a:t>of</a:t>
            </a:r>
            <a:r>
              <a:rPr lang="ko-KR" altLang="en-US" sz="2000" dirty="0">
                <a:latin typeface="Calibri (본문)"/>
              </a:rPr>
              <a:t> </a:t>
            </a:r>
            <a:r>
              <a:rPr lang="en-US" altLang="ko-KR" sz="2000" dirty="0">
                <a:latin typeface="Calibri (본문)"/>
              </a:rPr>
              <a:t>main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dirty="0">
                <a:latin typeface="Calibri (본문)"/>
              </a:rPr>
              <a:t>Stores “AUPDNNPROEZRJWKB” into password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dirty="0">
                <a:latin typeface="Calibri (본문)"/>
              </a:rPr>
              <a:t>Reads user input into </a:t>
            </a:r>
            <a:r>
              <a:rPr lang="en-US" altLang="ko-KR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본문)"/>
              </a:rPr>
              <a:t>buffer</a:t>
            </a:r>
            <a:r>
              <a:rPr lang="en-US" altLang="ko-KR" sz="1600" dirty="0">
                <a:latin typeface="Calibri (본문)"/>
              </a:rPr>
              <a:t> via </a:t>
            </a:r>
            <a:r>
              <a:rPr lang="en-US" altLang="ko-KR" sz="1600" dirty="0" err="1">
                <a:latin typeface="Calibri (본문)"/>
              </a:rPr>
              <a:t>scanf</a:t>
            </a:r>
            <a:r>
              <a:rPr lang="en-US" altLang="ko-KR" sz="1600" dirty="0">
                <a:latin typeface="Calibri (본문)"/>
              </a:rPr>
              <a:t> (up to 16 chars)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dirty="0">
                <a:latin typeface="Calibri (본문)"/>
              </a:rPr>
              <a:t>Line 9-10: </a:t>
            </a:r>
            <a:r>
              <a:rPr lang="en-US" altLang="ko-KR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본문)"/>
              </a:rPr>
              <a:t>0x804A050</a:t>
            </a:r>
            <a:r>
              <a:rPr lang="en-US" altLang="ko-KR" sz="1600" dirty="0">
                <a:latin typeface="Calibri (본문)"/>
              </a:rPr>
              <a:t> is the address of buffer. Each bytes of buffer is transformed via </a:t>
            </a:r>
            <a:r>
              <a:rPr lang="en-US" altLang="ko-KR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본문)"/>
              </a:rPr>
              <a:t>complex_function</a:t>
            </a:r>
            <a:endParaRPr lang="en-US" altLang="ko-KR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 (본문)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dirty="0">
                <a:latin typeface="Calibri (본문)"/>
              </a:rPr>
              <a:t>Line 11: </a:t>
            </a:r>
            <a:r>
              <a:rPr lang="en-US" altLang="ko-KR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본문)"/>
              </a:rPr>
              <a:t>check_equals</a:t>
            </a:r>
            <a:r>
              <a:rPr lang="en-US" altLang="ko-KR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본문)"/>
              </a:rPr>
              <a:t>_ AUPDNNPROEZRJWKB</a:t>
            </a:r>
            <a:r>
              <a:rPr lang="en-US" altLang="ko-KR" sz="1600" dirty="0">
                <a:latin typeface="Calibri (본문)"/>
              </a:rPr>
              <a:t> compares</a:t>
            </a:r>
            <a:r>
              <a:rPr lang="ko-KR" altLang="en-US" sz="1600" dirty="0">
                <a:latin typeface="Calibri (본문)"/>
              </a:rPr>
              <a:t> </a:t>
            </a:r>
            <a:r>
              <a:rPr lang="en-US" altLang="ko-KR" sz="1600" dirty="0">
                <a:latin typeface="Calibri (본문)"/>
              </a:rPr>
              <a:t>the</a:t>
            </a:r>
            <a:r>
              <a:rPr lang="ko-KR" altLang="en-US" sz="1600" dirty="0">
                <a:latin typeface="Calibri (본문)"/>
              </a:rPr>
              <a:t> </a:t>
            </a:r>
            <a:r>
              <a:rPr lang="en-US" altLang="ko-KR" sz="1600" dirty="0">
                <a:latin typeface="Calibri (본문)"/>
              </a:rPr>
              <a:t>transformed</a:t>
            </a:r>
            <a:r>
              <a:rPr lang="ko-KR" altLang="en-US" sz="1600" dirty="0">
                <a:latin typeface="Calibri (본문)"/>
              </a:rPr>
              <a:t> </a:t>
            </a:r>
            <a:r>
              <a:rPr lang="en-US" altLang="ko-KR" sz="1600" dirty="0">
                <a:latin typeface="Calibri (본문)"/>
              </a:rPr>
              <a:t>buffer</a:t>
            </a:r>
            <a:r>
              <a:rPr lang="ko-KR" altLang="en-US" sz="1600" dirty="0">
                <a:latin typeface="Calibri (본문)"/>
              </a:rPr>
              <a:t> </a:t>
            </a:r>
            <a:r>
              <a:rPr lang="en-US" altLang="ko-KR" sz="1600" dirty="0">
                <a:latin typeface="Calibri (본문)"/>
              </a:rPr>
              <a:t>against</a:t>
            </a:r>
            <a:r>
              <a:rPr lang="ko-KR" altLang="en-US" sz="1600" dirty="0">
                <a:latin typeface="Calibri (본문)"/>
              </a:rPr>
              <a:t> </a:t>
            </a:r>
            <a:r>
              <a:rPr lang="en-US" altLang="ko-KR" sz="1600" dirty="0">
                <a:latin typeface="Calibri (본문)"/>
              </a:rPr>
              <a:t>“AUPDNNPROEZRJWKB”.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dirty="0">
                <a:latin typeface="Calibri (본문)"/>
              </a:rPr>
              <a:t>Print “Good Job.” if equal. “Try again.” otherwise.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7A81B68-AE7B-2BD0-03D3-C6C1084ADA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38056" y="4932423"/>
            <a:ext cx="5470222" cy="1564420"/>
          </a:xfrm>
          <a:prstGeom prst="rect">
            <a:avLst/>
          </a:prstGeom>
          <a:ln w="38100">
            <a:solidFill>
              <a:srgbClr val="FF0000"/>
            </a:solidFill>
            <a:prstDash val="sysDash"/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ABAE2029-5D6B-A96F-9B66-C8B0E05FAEFF}"/>
              </a:ext>
            </a:extLst>
          </p:cNvPr>
          <p:cNvSpPr/>
          <p:nvPr/>
        </p:nvSpPr>
        <p:spPr>
          <a:xfrm>
            <a:off x="7061972" y="3388360"/>
            <a:ext cx="1868667" cy="208280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67359206-5EA4-26DE-134C-431E10EBEBFB}"/>
              </a:ext>
            </a:extLst>
          </p:cNvPr>
          <p:cNvCxnSpPr>
            <a:cxnSpLocks/>
          </p:cNvCxnSpPr>
          <p:nvPr/>
        </p:nvCxnSpPr>
        <p:spPr>
          <a:xfrm>
            <a:off x="7996305" y="3596640"/>
            <a:ext cx="0" cy="133578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4217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81EA4-D50D-C29F-782F-AB43BE949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799E2E-5DBD-25D2-6237-A9992D285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22" y="209484"/>
            <a:ext cx="11652115" cy="1123206"/>
          </a:xfrm>
        </p:spPr>
        <p:txBody>
          <a:bodyPr/>
          <a:lstStyle/>
          <a:p>
            <a:r>
              <a:rPr lang="en-US" altLang="ko-KR" b="1" dirty="0">
                <a:latin typeface="Calibri (본문)"/>
              </a:rPr>
              <a:t>08_angr_constraints</a:t>
            </a:r>
            <a:endParaRPr lang="ko-KR" altLang="en-US" b="1" dirty="0">
              <a:latin typeface="Calibri (본문)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98AF53-AA80-516A-1102-AE31E4931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722" y="1470960"/>
            <a:ext cx="5639420" cy="502708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1800" dirty="0">
                <a:latin typeface="Calibri (본문)"/>
              </a:rPr>
              <a:t>How do we solve this? (i.e., how can we avoid the state explosion caused by </a:t>
            </a:r>
            <a:r>
              <a:rPr lang="en-US" altLang="ko-KR" sz="1800" dirty="0" err="1">
                <a:latin typeface="Calibri (본문)"/>
              </a:rPr>
              <a:t>check_equals</a:t>
            </a:r>
            <a:r>
              <a:rPr lang="en-US" altLang="ko-KR" sz="1800" dirty="0">
                <a:latin typeface="Calibri (본문)"/>
              </a:rPr>
              <a:t>?)</a:t>
            </a:r>
          </a:p>
          <a:p>
            <a:pPr>
              <a:lnSpc>
                <a:spcPct val="150000"/>
              </a:lnSpc>
            </a:pPr>
            <a:r>
              <a:rPr lang="en-US" altLang="ko-KR" sz="1800" dirty="0">
                <a:latin typeface="Calibri (본문)"/>
              </a:rPr>
              <a:t>Strategy: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800" dirty="0">
                <a:latin typeface="Calibri (본문)"/>
              </a:rPr>
              <a:t>Run symbolic execution only up to just before the call to</a:t>
            </a:r>
            <a:r>
              <a:rPr lang="en-US" altLang="ko-KR" sz="1800" b="1" dirty="0">
                <a:solidFill>
                  <a:srgbClr val="FF0000"/>
                </a:solidFill>
                <a:latin typeface="Calibri (본문)"/>
              </a:rPr>
              <a:t> </a:t>
            </a:r>
            <a:r>
              <a:rPr lang="en-US" altLang="ko-KR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본문)"/>
              </a:rPr>
              <a:t>check_equals_AUPDNNPROEZRJWKB</a:t>
            </a:r>
            <a:r>
              <a:rPr lang="en-US" altLang="ko-KR" sz="1800" dirty="0">
                <a:latin typeface="Calibri (본문)"/>
              </a:rPr>
              <a:t>.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800" dirty="0">
                <a:latin typeface="Calibri (본문)"/>
              </a:rPr>
              <a:t>Manually add the constraint </a:t>
            </a:r>
            <a:br>
              <a:rPr lang="en-US" altLang="ko-KR" sz="1800" dirty="0">
                <a:latin typeface="Calibri (본문)"/>
              </a:rPr>
            </a:br>
            <a:r>
              <a:rPr lang="en-US" altLang="ko-KR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본문)"/>
              </a:rPr>
              <a:t>buffer == “AUPDNNPROEZRJWKB” </a:t>
            </a:r>
            <a:br>
              <a:rPr lang="en-US" altLang="ko-KR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본문)"/>
              </a:rPr>
            </a:br>
            <a:r>
              <a:rPr lang="en-US" altLang="ko-KR" sz="1800" dirty="0">
                <a:latin typeface="Calibri (본문)"/>
              </a:rPr>
              <a:t>via </a:t>
            </a:r>
            <a:r>
              <a:rPr lang="en-US" altLang="ko-KR" sz="1800" b="1" dirty="0" err="1">
                <a:latin typeface="Calibri (본문)"/>
              </a:rPr>
              <a:t>add_constraints</a:t>
            </a:r>
            <a:r>
              <a:rPr lang="en-US" altLang="ko-KR" sz="1800" dirty="0">
                <a:latin typeface="Calibri (본문)"/>
              </a:rPr>
              <a:t>.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800" dirty="0">
                <a:latin typeface="Calibri (본문)"/>
              </a:rPr>
              <a:t>Use </a:t>
            </a:r>
            <a:r>
              <a:rPr lang="en-US" altLang="ko-KR" sz="1800" b="1" dirty="0" err="1">
                <a:latin typeface="Calibri (본문)"/>
              </a:rPr>
              <a:t>solver.eval</a:t>
            </a:r>
            <a:r>
              <a:rPr lang="en-US" altLang="ko-KR" sz="1800" b="1" dirty="0">
                <a:latin typeface="Calibri (본문)"/>
              </a:rPr>
              <a:t>()</a:t>
            </a:r>
            <a:r>
              <a:rPr lang="en-US" altLang="ko-KR" sz="1800" dirty="0">
                <a:latin typeface="Calibri (본문)"/>
              </a:rPr>
              <a:t> to find the concrete user input.</a:t>
            </a:r>
            <a:br>
              <a:rPr lang="en-US" altLang="ko-KR" sz="1800" dirty="0">
                <a:latin typeface="Calibri (본문)"/>
              </a:rPr>
            </a:br>
            <a:endParaRPr lang="en-US" altLang="ko-KR" sz="1800" dirty="0">
              <a:latin typeface="Calibri (본문)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B0375D1-AFCF-DB1B-A4D8-32BB5D7E8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54406" y="2658224"/>
            <a:ext cx="5453872" cy="179368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96118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B5DFC-1656-5186-D2BA-40D1CCCD8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13C785-15D1-C6C9-8B32-AF0B0B507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22" y="209484"/>
            <a:ext cx="11652115" cy="1123206"/>
          </a:xfrm>
        </p:spPr>
        <p:txBody>
          <a:bodyPr/>
          <a:lstStyle/>
          <a:p>
            <a:r>
              <a:rPr lang="en-US" altLang="ko-KR" b="1" dirty="0">
                <a:latin typeface="Calibri (본문)"/>
              </a:rPr>
              <a:t>08_angr_constraints</a:t>
            </a:r>
            <a:endParaRPr lang="ko-KR" altLang="en-US" b="1" dirty="0">
              <a:latin typeface="Calibri (본문)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4D6AEF-A519-FA2A-2248-3AC3847AC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722" y="1470960"/>
            <a:ext cx="5639420" cy="502708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1800" dirty="0">
                <a:latin typeface="Calibri (본문)"/>
              </a:rPr>
              <a:t>How do we solve this? (i.e., how can we avoid the state explosion caused by </a:t>
            </a:r>
            <a:r>
              <a:rPr lang="en-US" altLang="ko-KR" sz="1800" dirty="0" err="1">
                <a:latin typeface="Calibri (본문)"/>
              </a:rPr>
              <a:t>check_equals</a:t>
            </a:r>
            <a:r>
              <a:rPr lang="en-US" altLang="ko-KR" sz="1800" dirty="0">
                <a:latin typeface="Calibri (본문)"/>
              </a:rPr>
              <a:t>?)</a:t>
            </a:r>
          </a:p>
          <a:p>
            <a:pPr>
              <a:lnSpc>
                <a:spcPct val="150000"/>
              </a:lnSpc>
            </a:pPr>
            <a:r>
              <a:rPr lang="en-US" altLang="ko-KR" sz="1800" dirty="0">
                <a:latin typeface="Calibri (본문)"/>
              </a:rPr>
              <a:t>Strategy: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800" dirty="0">
                <a:latin typeface="Calibri (본문)"/>
              </a:rPr>
              <a:t>Run symbolic execution only up to just before the call to</a:t>
            </a:r>
            <a:r>
              <a:rPr lang="en-US" altLang="ko-KR" sz="1800" b="1" dirty="0">
                <a:solidFill>
                  <a:srgbClr val="FF0000"/>
                </a:solidFill>
                <a:latin typeface="Calibri (본문)"/>
              </a:rPr>
              <a:t> </a:t>
            </a:r>
            <a:r>
              <a:rPr lang="en-US" altLang="ko-KR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본문)"/>
              </a:rPr>
              <a:t>check_equals_AUPDNNPROEZRJWKB</a:t>
            </a:r>
            <a:r>
              <a:rPr lang="en-US" altLang="ko-KR" sz="1800" dirty="0">
                <a:latin typeface="Calibri (본문)"/>
              </a:rPr>
              <a:t>.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800" dirty="0">
                <a:latin typeface="Calibri (본문)"/>
              </a:rPr>
              <a:t>Manually add the constraint </a:t>
            </a:r>
            <a:br>
              <a:rPr lang="en-US" altLang="ko-KR" sz="1800" dirty="0">
                <a:latin typeface="Calibri (본문)"/>
              </a:rPr>
            </a:br>
            <a:r>
              <a:rPr lang="en-US" altLang="ko-KR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본문)"/>
              </a:rPr>
              <a:t>buffer == “AUPDNNPROEZRJWKB” </a:t>
            </a:r>
            <a:br>
              <a:rPr lang="en-US" altLang="ko-KR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본문)"/>
              </a:rPr>
            </a:br>
            <a:r>
              <a:rPr lang="en-US" altLang="ko-KR" sz="1800" dirty="0">
                <a:latin typeface="Calibri (본문)"/>
              </a:rPr>
              <a:t>via </a:t>
            </a:r>
            <a:r>
              <a:rPr lang="en-US" altLang="ko-KR" sz="1800" b="1" dirty="0" err="1">
                <a:latin typeface="Calibri (본문)"/>
              </a:rPr>
              <a:t>add_constraints</a:t>
            </a:r>
            <a:r>
              <a:rPr lang="en-US" altLang="ko-KR" sz="1800" dirty="0">
                <a:latin typeface="Calibri (본문)"/>
              </a:rPr>
              <a:t>.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800" dirty="0">
                <a:latin typeface="Calibri (본문)"/>
              </a:rPr>
              <a:t>Use </a:t>
            </a:r>
            <a:r>
              <a:rPr lang="en-US" altLang="ko-KR" sz="1800" b="1" dirty="0" err="1">
                <a:latin typeface="Calibri (본문)"/>
              </a:rPr>
              <a:t>solver.eval</a:t>
            </a:r>
            <a:r>
              <a:rPr lang="en-US" altLang="ko-KR" sz="1800" b="1" dirty="0">
                <a:latin typeface="Calibri (본문)"/>
              </a:rPr>
              <a:t>()</a:t>
            </a:r>
            <a:r>
              <a:rPr lang="en-US" altLang="ko-KR" sz="1800" dirty="0">
                <a:latin typeface="Calibri (본문)"/>
              </a:rPr>
              <a:t> to find the concrete user input.</a:t>
            </a:r>
            <a:br>
              <a:rPr lang="en-US" altLang="ko-KR" sz="1800" dirty="0">
                <a:latin typeface="Calibri (본문)"/>
              </a:rPr>
            </a:br>
            <a:endParaRPr lang="en-US" altLang="ko-KR" sz="1800" dirty="0">
              <a:latin typeface="Calibri (본문)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FC9317B-E1C5-54B8-272A-5E170EC4E3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54406" y="2658224"/>
            <a:ext cx="5453872" cy="179368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D8F461C7-1D6A-E0D4-F4F2-F8B1481F1BAA}"/>
              </a:ext>
            </a:extLst>
          </p:cNvPr>
          <p:cNvSpPr/>
          <p:nvPr/>
        </p:nvSpPr>
        <p:spPr>
          <a:xfrm>
            <a:off x="760833" y="2980048"/>
            <a:ext cx="5162309" cy="897904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3FAC4844-0F1E-5470-AEDF-138832D6B7E9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5923142" y="3429000"/>
            <a:ext cx="402502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곱하기 기호 12">
            <a:extLst>
              <a:ext uri="{FF2B5EF4-FFF2-40B4-BE49-F238E27FC236}">
                <a16:creationId xmlns:a16="http://schemas.microsoft.com/office/drawing/2014/main" id="{0E8CFDB2-5865-FE4A-36EA-2C9B9376AE79}"/>
              </a:ext>
            </a:extLst>
          </p:cNvPr>
          <p:cNvSpPr/>
          <p:nvPr/>
        </p:nvSpPr>
        <p:spPr>
          <a:xfrm>
            <a:off x="8396917" y="3429000"/>
            <a:ext cx="2472161" cy="1472962"/>
          </a:xfrm>
          <a:prstGeom prst="mathMultiply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F0CEBFE7-2C8F-444B-6A0B-71BBBC3A53F0}"/>
              </a:ext>
            </a:extLst>
          </p:cNvPr>
          <p:cNvCxnSpPr>
            <a:cxnSpLocks/>
          </p:cNvCxnSpPr>
          <p:nvPr/>
        </p:nvCxnSpPr>
        <p:spPr>
          <a:xfrm>
            <a:off x="6325644" y="3501728"/>
            <a:ext cx="5976395" cy="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8818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A958F-2449-409E-9BE1-B4BE3683D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470B13-4717-18C3-5875-C2EB03DD0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22" y="209484"/>
            <a:ext cx="11652115" cy="1123206"/>
          </a:xfrm>
        </p:spPr>
        <p:txBody>
          <a:bodyPr/>
          <a:lstStyle/>
          <a:p>
            <a:r>
              <a:rPr lang="en-US" altLang="ko-KR" b="1" dirty="0">
                <a:latin typeface="Calibri (본문)"/>
              </a:rPr>
              <a:t>08_angr_constraints</a:t>
            </a:r>
            <a:endParaRPr lang="ko-KR" altLang="en-US" b="1" dirty="0">
              <a:latin typeface="Calibri (본문)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6DA21C6-E67A-0F56-C9C8-0B0A336201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68860" y="1835451"/>
            <a:ext cx="5412688" cy="31870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1DB73A-A95C-9CA8-53A6-9EFE59930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722" y="1343497"/>
            <a:ext cx="5639420" cy="502708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>
                <a:latin typeface="Calibri (본문)"/>
              </a:rPr>
              <a:t>Solution code for 08_angr_constraints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dirty="0">
                <a:latin typeface="Calibri (본문)"/>
              </a:rPr>
              <a:t>Line 3-5: Define </a:t>
            </a:r>
            <a:r>
              <a:rPr lang="en-US" altLang="ko-KR" sz="1600" dirty="0" err="1">
                <a:latin typeface="Calibri (본문)"/>
              </a:rPr>
              <a:t>start_address</a:t>
            </a:r>
            <a:r>
              <a:rPr lang="en-US" altLang="ko-KR" sz="1600" dirty="0">
                <a:latin typeface="Calibri (본문)"/>
              </a:rPr>
              <a:t> (right after </a:t>
            </a:r>
            <a:r>
              <a:rPr lang="en-US" altLang="ko-KR" sz="1600" dirty="0" err="1">
                <a:latin typeface="Calibri (본문)"/>
              </a:rPr>
              <a:t>scanf</a:t>
            </a:r>
            <a:r>
              <a:rPr lang="en-US" altLang="ko-KR" sz="1600" dirty="0">
                <a:latin typeface="Calibri (본문)"/>
              </a:rPr>
              <a:t>), </a:t>
            </a:r>
            <a:r>
              <a:rPr lang="en-US" altLang="ko-KR" sz="1600" dirty="0" err="1">
                <a:latin typeface="Calibri (본문)"/>
              </a:rPr>
              <a:t>stop_address</a:t>
            </a:r>
            <a:r>
              <a:rPr lang="en-US" altLang="ko-KR" sz="1600" dirty="0">
                <a:latin typeface="Calibri (본문)"/>
              </a:rPr>
              <a:t> (right before </a:t>
            </a:r>
            <a:r>
              <a:rPr lang="en-US" altLang="ko-KR" sz="1600" dirty="0" err="1">
                <a:latin typeface="Calibri (본문)"/>
              </a:rPr>
              <a:t>check_equals</a:t>
            </a:r>
            <a:r>
              <a:rPr lang="en-US" altLang="ko-KR" sz="1600" dirty="0">
                <a:latin typeface="Calibri (본문)"/>
              </a:rPr>
              <a:t>), and </a:t>
            </a:r>
            <a:r>
              <a:rPr lang="en-US" altLang="ko-KR" sz="1600" dirty="0" err="1">
                <a:latin typeface="Calibri (본문)"/>
              </a:rPr>
              <a:t>buffer_address</a:t>
            </a:r>
            <a:r>
              <a:rPr lang="en-US" altLang="ko-KR" sz="1600" dirty="0">
                <a:latin typeface="Calibri (본문)"/>
              </a:rPr>
              <a:t> (=0x804A050).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dirty="0">
                <a:latin typeface="Calibri (본문)"/>
              </a:rPr>
              <a:t>Line 7: Create a 16 bytes symbolic </a:t>
            </a:r>
            <a:r>
              <a:rPr lang="en-US" altLang="ko-KR" sz="1600" dirty="0" err="1">
                <a:latin typeface="Calibri (본문)"/>
              </a:rPr>
              <a:t>bitvector</a:t>
            </a:r>
            <a:r>
              <a:rPr lang="en-US" altLang="ko-KR" sz="1600" dirty="0">
                <a:latin typeface="Calibri (본문)"/>
              </a:rPr>
              <a:t> to represent the unknown user input.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dirty="0">
                <a:latin typeface="Calibri (본문)"/>
              </a:rPr>
              <a:t>Line 11-12: Create </a:t>
            </a:r>
            <a:r>
              <a:rPr lang="en-US" altLang="ko-KR" sz="1600" dirty="0" err="1">
                <a:latin typeface="Calibri (본문)"/>
              </a:rPr>
              <a:t>blank_state</a:t>
            </a:r>
            <a:r>
              <a:rPr lang="en-US" altLang="ko-KR" sz="1600" dirty="0">
                <a:latin typeface="Calibri (본문)"/>
              </a:rPr>
              <a:t> starting at </a:t>
            </a:r>
            <a:r>
              <a:rPr lang="en-US" altLang="ko-KR" sz="1600" dirty="0" err="1">
                <a:latin typeface="Calibri (본문)"/>
              </a:rPr>
              <a:t>start_address</a:t>
            </a:r>
            <a:r>
              <a:rPr lang="en-US" altLang="ko-KR" sz="1600" dirty="0">
                <a:latin typeface="Calibri (본문)"/>
              </a:rPr>
              <a:t>, and store the symbolic buffer at </a:t>
            </a:r>
            <a:r>
              <a:rPr lang="en-US" altLang="ko-KR" sz="1600" dirty="0" err="1">
                <a:latin typeface="Calibri (본문)"/>
              </a:rPr>
              <a:t>buffer_address</a:t>
            </a:r>
            <a:r>
              <a:rPr lang="en-US" altLang="ko-KR" sz="1600" dirty="0">
                <a:latin typeface="Calibri (본문)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dirty="0">
                <a:latin typeface="Calibri (본문)"/>
              </a:rPr>
              <a:t>Line 14-15: Run symbolic execution up to </a:t>
            </a:r>
            <a:r>
              <a:rPr lang="en-US" altLang="ko-KR" sz="1600" dirty="0" err="1">
                <a:latin typeface="Calibri (본문)"/>
              </a:rPr>
              <a:t>stop_address</a:t>
            </a:r>
            <a:r>
              <a:rPr lang="en-US" altLang="ko-KR" sz="1600" dirty="0">
                <a:latin typeface="Calibri (본문)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dirty="0">
                <a:latin typeface="Calibri (본문)"/>
              </a:rPr>
              <a:t>Line 20: Load the symbolic buffer back from memory.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dirty="0">
                <a:solidFill>
                  <a:srgbClr val="FF0000"/>
                </a:solidFill>
                <a:latin typeface="Calibri (본문)"/>
              </a:rPr>
              <a:t>Line 21: Manually add the constraint that </a:t>
            </a:r>
            <a:r>
              <a:rPr lang="en-US" altLang="ko-KR" sz="1600" dirty="0" err="1">
                <a:solidFill>
                  <a:srgbClr val="FF0000"/>
                </a:solidFill>
                <a:latin typeface="Calibri (본문)"/>
              </a:rPr>
              <a:t>check_equals</a:t>
            </a:r>
            <a:r>
              <a:rPr lang="en-US" altLang="ko-KR" sz="1600" dirty="0">
                <a:solidFill>
                  <a:srgbClr val="FF0000"/>
                </a:solidFill>
                <a:latin typeface="Calibri (본문)"/>
              </a:rPr>
              <a:t> would have checked </a:t>
            </a:r>
            <a:r>
              <a:rPr lang="en-US" altLang="ko-KR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(본문)"/>
              </a:rPr>
              <a:t>(buffer == “AUPDNNPROEZRJWKB”)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4441D5D-D079-AF65-E240-54B9F8E2656E}"/>
              </a:ext>
            </a:extLst>
          </p:cNvPr>
          <p:cNvSpPr/>
          <p:nvPr/>
        </p:nvSpPr>
        <p:spPr>
          <a:xfrm>
            <a:off x="6841324" y="4143737"/>
            <a:ext cx="4840224" cy="48168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07046F4-455E-4FBA-1941-583ABA9CCC0F}"/>
              </a:ext>
            </a:extLst>
          </p:cNvPr>
          <p:cNvCxnSpPr>
            <a:cxnSpLocks/>
          </p:cNvCxnSpPr>
          <p:nvPr/>
        </p:nvCxnSpPr>
        <p:spPr>
          <a:xfrm flipV="1">
            <a:off x="5923142" y="4722009"/>
            <a:ext cx="1287886" cy="112320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9938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DB951-868F-CF56-6800-62E0C5D7A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934CC5-258E-457C-CFD7-820925D91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22" y="209484"/>
            <a:ext cx="11652115" cy="1123206"/>
          </a:xfrm>
        </p:spPr>
        <p:txBody>
          <a:bodyPr/>
          <a:lstStyle/>
          <a:p>
            <a:r>
              <a:rPr lang="en-US" altLang="ko-KR" b="1" dirty="0">
                <a:latin typeface="Calibri (본문)"/>
              </a:rPr>
              <a:t>08_angr_constraints</a:t>
            </a:r>
            <a:endParaRPr lang="ko-KR" altLang="en-US" b="1" dirty="0">
              <a:latin typeface="Calibri (본문)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734A79A-8A89-918B-9E31-CE65831480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82884" y="1396196"/>
            <a:ext cx="6526401" cy="4088758"/>
          </a:xfrm>
          <a:prstGeom prst="rect">
            <a:avLst/>
          </a:prstGeom>
          <a:ln w="38100">
            <a:noFill/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93DF286-D42A-DD6C-DDDF-A490969AEC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2884" y="5967016"/>
            <a:ext cx="6526401" cy="473344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61DF5495-C50E-F718-0CA9-97BED02010E7}"/>
              </a:ext>
            </a:extLst>
          </p:cNvPr>
          <p:cNvSpPr/>
          <p:nvPr/>
        </p:nvSpPr>
        <p:spPr>
          <a:xfrm>
            <a:off x="4687747" y="5197033"/>
            <a:ext cx="2037144" cy="32827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81761F38-BA8D-BEEF-1CB0-CA4ACF7B4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722" y="1343498"/>
            <a:ext cx="3975762" cy="487210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Calibri (본문)"/>
              </a:rPr>
              <a:t>The execution result is shown on the right</a:t>
            </a:r>
          </a:p>
        </p:txBody>
      </p:sp>
    </p:spTree>
    <p:extLst>
      <p:ext uri="{BB962C8B-B14F-4D97-AF65-F5344CB8AC3E}">
        <p14:creationId xmlns:p14="http://schemas.microsoft.com/office/powerpoint/2010/main" val="3515387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916DC-1401-354A-9390-D149B167E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42EB12-C9EA-1D5F-EAEF-A4FF11242B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55101"/>
            <a:ext cx="9144000" cy="1054862"/>
          </a:xfrm>
        </p:spPr>
        <p:txBody>
          <a:bodyPr>
            <a:normAutofit/>
          </a:bodyPr>
          <a:lstStyle/>
          <a:p>
            <a:r>
              <a:rPr lang="en-US" altLang="ko-KR" sz="3600" b="1" dirty="0">
                <a:latin typeface="Calibri (본문)"/>
              </a:rPr>
              <a:t>09_angr_hooks</a:t>
            </a:r>
            <a:br>
              <a:rPr lang="en-US" altLang="ko-KR" sz="3600" b="1" dirty="0">
                <a:latin typeface="Calibri (본문)"/>
              </a:rPr>
            </a:br>
            <a:endParaRPr lang="ko-KR" altLang="en-US" sz="2000" b="1" dirty="0">
              <a:latin typeface="Calibri (본문)"/>
            </a:endParaRPr>
          </a:p>
        </p:txBody>
      </p:sp>
    </p:spTree>
    <p:extLst>
      <p:ext uri="{BB962C8B-B14F-4D97-AF65-F5344CB8AC3E}">
        <p14:creationId xmlns:p14="http://schemas.microsoft.com/office/powerpoint/2010/main" val="6957636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4E5BA-1581-6134-3869-12F8E2B9A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5C4F3-79CC-FC9A-ABEA-813A46C31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22" y="209484"/>
            <a:ext cx="11652115" cy="1123206"/>
          </a:xfrm>
        </p:spPr>
        <p:txBody>
          <a:bodyPr/>
          <a:lstStyle/>
          <a:p>
            <a:r>
              <a:rPr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Hook in </a:t>
            </a:r>
            <a:r>
              <a:rPr lang="en-US" altLang="ko-KR" b="1" dirty="0" err="1">
                <a:latin typeface="Calibri" panose="020F0502020204030204" pitchFamily="34" charset="0"/>
                <a:cs typeface="Calibri" panose="020F0502020204030204" pitchFamily="34" charset="0"/>
              </a:rPr>
              <a:t>angr</a:t>
            </a:r>
            <a:endParaRPr lang="ko-KR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79043D-C531-428A-8A59-611BFC454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723" y="1629044"/>
            <a:ext cx="6788410" cy="501947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+mj-lt"/>
                <a:cs typeface="Calibri" panose="020F0502020204030204" pitchFamily="34" charset="0"/>
              </a:rPr>
              <a:t>Hooks are another approach to avoid state explosion </a:t>
            </a:r>
          </a:p>
          <a:p>
            <a:pPr>
              <a:lnSpc>
                <a:spcPct val="150000"/>
              </a:lnSpc>
            </a:pPr>
            <a:endParaRPr lang="en-US" altLang="ko-KR" sz="2400" dirty="0">
              <a:latin typeface="+mj-lt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latin typeface="+mj-lt"/>
                <a:cs typeface="Calibri" panose="020F0502020204030204" pitchFamily="34" charset="0"/>
              </a:rPr>
              <a:t>Uses of Hooks</a:t>
            </a:r>
            <a:r>
              <a:rPr lang="en-US" altLang="ko-KR" sz="2400" dirty="0">
                <a:latin typeface="+mj-lt"/>
                <a:cs typeface="Calibri" panose="020F0502020204030204" pitchFamily="34" charset="0"/>
              </a:rPr>
              <a:t>: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>
                <a:latin typeface="+mj-lt"/>
              </a:rPr>
              <a:t>Skip a problematic function entirely.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>
                <a:latin typeface="+mj-lt"/>
              </a:rPr>
              <a:t>Replace it with a Python function that produces the same result.</a:t>
            </a:r>
            <a:endParaRPr lang="en-US" altLang="ko-KR" dirty="0">
              <a:latin typeface="+mj-lt"/>
              <a:cs typeface="Calibri" panose="020F0502020204030204" pitchFamily="34" charset="0"/>
            </a:endParaRPr>
          </a:p>
          <a:p>
            <a:pPr lvl="1">
              <a:lnSpc>
                <a:spcPct val="150000"/>
              </a:lnSpc>
            </a:pPr>
            <a:endParaRPr lang="en-US" altLang="ko-KR" dirty="0">
              <a:latin typeface="+mj-lt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85945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958E6-7B46-6423-E723-2C2F5F231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0D7ECA-CFCD-0603-E6FD-712BC45D4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22" y="209484"/>
            <a:ext cx="11652115" cy="1123206"/>
          </a:xfrm>
        </p:spPr>
        <p:txBody>
          <a:bodyPr/>
          <a:lstStyle/>
          <a:p>
            <a:r>
              <a:rPr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How to use hook in </a:t>
            </a:r>
            <a:r>
              <a:rPr lang="en-US" altLang="ko-KR" b="1" dirty="0" err="1">
                <a:latin typeface="Calibri" panose="020F0502020204030204" pitchFamily="34" charset="0"/>
                <a:cs typeface="Calibri" panose="020F0502020204030204" pitchFamily="34" charset="0"/>
              </a:rPr>
              <a:t>angr</a:t>
            </a:r>
            <a:endParaRPr lang="ko-KR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CAD4B3-EAD8-A0E6-1FE2-70ED8D491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722" y="1503783"/>
            <a:ext cx="5102470" cy="501947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>
                <a:latin typeface="+mj-lt"/>
              </a:rPr>
              <a:t>Hook example using </a:t>
            </a:r>
            <a:br>
              <a:rPr lang="en-US" altLang="ko-KR" sz="2000" dirty="0">
                <a:latin typeface="+mj-lt"/>
              </a:rPr>
            </a:br>
            <a:r>
              <a:rPr lang="en-US" altLang="ko-KR" sz="2000" dirty="0">
                <a:latin typeface="+mj-lt"/>
              </a:rPr>
              <a:t>“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@</a:t>
            </a:r>
            <a:r>
              <a:rPr lang="en-US" altLang="ko-KR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project.hook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decorator”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+mj-lt"/>
              </a:rPr>
              <a:t>Specify </a:t>
            </a:r>
            <a:r>
              <a:rPr lang="en-US" altLang="ko-KR" sz="2000" b="1" dirty="0">
                <a:latin typeface="+mj-lt"/>
              </a:rPr>
              <a:t>the address to hook:</a:t>
            </a:r>
            <a:br>
              <a:rPr lang="en-US" altLang="ko-KR" sz="2000" b="1" dirty="0">
                <a:latin typeface="+mj-lt"/>
              </a:rPr>
            </a:br>
            <a:r>
              <a:rPr lang="en-US" altLang="ko-KR" sz="2000" b="1" dirty="0">
                <a:latin typeface="+mj-lt"/>
              </a:rPr>
              <a:t>	</a:t>
            </a:r>
            <a:r>
              <a:rPr lang="en-US" altLang="ko-KR" b="1" dirty="0">
                <a:solidFill>
                  <a:srgbClr val="FF0000"/>
                </a:solidFill>
                <a:latin typeface="+mj-lt"/>
              </a:rPr>
              <a:t>0x1234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+mj-lt"/>
              </a:rPr>
              <a:t>Specify  </a:t>
            </a:r>
            <a:r>
              <a:rPr lang="en-US" altLang="ko-KR" sz="2000" b="1" dirty="0">
                <a:latin typeface="+mj-lt"/>
              </a:rPr>
              <a:t>the number of instruction bytes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altLang="ko-KR" sz="2000" dirty="0">
                <a:latin typeface="+mj-lt"/>
              </a:rPr>
              <a:t>to skip:</a:t>
            </a:r>
            <a:br>
              <a:rPr lang="en-US" altLang="ko-KR" sz="2000" dirty="0">
                <a:latin typeface="+mj-lt"/>
              </a:rPr>
            </a:br>
            <a:r>
              <a:rPr lang="en-US" altLang="ko-KR" sz="2000" dirty="0">
                <a:latin typeface="+mj-lt"/>
              </a:rPr>
              <a:t>	</a:t>
            </a:r>
            <a:r>
              <a:rPr lang="en-US" altLang="ko-KR" sz="2000" b="1" dirty="0">
                <a:solidFill>
                  <a:srgbClr val="FF0000"/>
                </a:solidFill>
                <a:latin typeface="+mj-lt"/>
              </a:rPr>
              <a:t>length=5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+mj-lt"/>
              </a:rPr>
              <a:t>Specify </a:t>
            </a:r>
            <a:r>
              <a:rPr lang="en-US" altLang="ko-KR" sz="2000" b="1" dirty="0">
                <a:latin typeface="+mj-lt"/>
              </a:rPr>
              <a:t>the Python function</a:t>
            </a:r>
            <a:r>
              <a:rPr lang="en-US" altLang="ko-KR" sz="2000" dirty="0">
                <a:latin typeface="+mj-lt"/>
              </a:rPr>
              <a:t> to execute instead:</a:t>
            </a:r>
            <a:br>
              <a:rPr lang="en-US" altLang="ko-KR" sz="2000" dirty="0">
                <a:latin typeface="+mj-lt"/>
              </a:rPr>
            </a:br>
            <a:r>
              <a:rPr lang="en-US" altLang="ko-KR" sz="2000" dirty="0">
                <a:latin typeface="+mj-lt"/>
              </a:rPr>
              <a:t>	</a:t>
            </a:r>
            <a:r>
              <a:rPr lang="en-US" altLang="ko-KR" sz="2000" b="1" dirty="0" err="1">
                <a:solidFill>
                  <a:srgbClr val="FF0000"/>
                </a:solidFill>
                <a:latin typeface="+mj-lt"/>
              </a:rPr>
              <a:t>set_rax</a:t>
            </a:r>
            <a:r>
              <a:rPr lang="en-US" altLang="ko-KR" sz="2000" b="1" dirty="0">
                <a:solidFill>
                  <a:srgbClr val="FF0000"/>
                </a:solidFill>
                <a:latin typeface="+mj-lt"/>
              </a:rPr>
              <a:t>(state)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endParaRPr lang="en-US" altLang="ko-KR" sz="2000" dirty="0">
              <a:latin typeface="+mj-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82BB188-62A9-4E1E-55DF-B870FEC40F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5325" y="2264136"/>
            <a:ext cx="4252319" cy="116486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414340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AF77505-5994-F3DE-4D71-E2B757E2A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48A33C-9F15-7188-2936-011BC1370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22" y="209484"/>
            <a:ext cx="11652115" cy="1123206"/>
          </a:xfrm>
        </p:spPr>
        <p:txBody>
          <a:bodyPr/>
          <a:lstStyle/>
          <a:p>
            <a:r>
              <a:rPr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How to use hook in </a:t>
            </a:r>
            <a:r>
              <a:rPr lang="en-US" altLang="ko-KR" b="1" dirty="0" err="1">
                <a:latin typeface="Calibri" panose="020F0502020204030204" pitchFamily="34" charset="0"/>
                <a:cs typeface="Calibri" panose="020F0502020204030204" pitchFamily="34" charset="0"/>
              </a:rPr>
              <a:t>angr</a:t>
            </a:r>
            <a:endParaRPr lang="ko-KR" altLang="en-US" b="1" dirty="0">
              <a:latin typeface="+mj-lt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15585D-CBDC-691D-2F71-427752633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401" y="1641385"/>
            <a:ext cx="5075356" cy="48751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1800" dirty="0">
                <a:latin typeface="+mj-lt"/>
              </a:rPr>
              <a:t>We want to skip </a:t>
            </a:r>
            <a:r>
              <a:rPr lang="en-US" altLang="ko-KR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&lt;</a:t>
            </a:r>
            <a:r>
              <a:rPr lang="en-US" altLang="ko-KR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check_all_Z</a:t>
            </a:r>
            <a:r>
              <a:rPr lang="en-US" altLang="ko-KR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&gt;</a:t>
            </a:r>
            <a:r>
              <a:rPr lang="en-US" altLang="ko-KR" sz="1800" dirty="0">
                <a:latin typeface="+mj-lt"/>
              </a:rPr>
              <a:t> and instead run our own Python code.</a:t>
            </a:r>
          </a:p>
          <a:p>
            <a:pPr>
              <a:lnSpc>
                <a:spcPct val="150000"/>
              </a:lnSpc>
            </a:pPr>
            <a:endParaRPr lang="en-US" altLang="ko-KR" sz="1800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altLang="ko-KR" sz="1800" dirty="0">
                <a:latin typeface="+mj-lt"/>
              </a:rPr>
              <a:t>To define a hook, specify: 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800" dirty="0">
                <a:latin typeface="+mj-lt"/>
              </a:rPr>
              <a:t>Specify </a:t>
            </a:r>
            <a:r>
              <a:rPr lang="en-US" altLang="ko-KR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the address to hook 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800" dirty="0">
                <a:latin typeface="+mj-lt"/>
              </a:rPr>
              <a:t>Specify  </a:t>
            </a:r>
            <a:r>
              <a:rPr lang="en-US" altLang="ko-KR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the number of instruction bytes </a:t>
            </a:r>
            <a:r>
              <a:rPr lang="en-US" altLang="ko-KR" sz="1800" dirty="0">
                <a:latin typeface="+mj-lt"/>
              </a:rPr>
              <a:t>to skip (e.g., 5 bytes for a call instruction)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800" dirty="0">
                <a:latin typeface="+mj-lt"/>
              </a:rPr>
              <a:t>Specify </a:t>
            </a:r>
            <a:r>
              <a:rPr lang="en-US" altLang="ko-KR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the Python function</a:t>
            </a:r>
            <a:r>
              <a:rPr lang="en-US" altLang="ko-KR" sz="1800" dirty="0">
                <a:latin typeface="+mj-lt"/>
              </a:rPr>
              <a:t> to execute instead.</a:t>
            </a:r>
          </a:p>
          <a:p>
            <a:pPr>
              <a:lnSpc>
                <a:spcPct val="150000"/>
              </a:lnSpc>
            </a:pPr>
            <a:endParaRPr lang="en-US" altLang="ko-KR" sz="1800" dirty="0">
              <a:latin typeface="+mj-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404C217-1080-9FA3-7248-1365F8A0F1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28527" y="1844771"/>
            <a:ext cx="6206369" cy="347016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79F3E4C9-3540-E72B-B019-7169311F48BF}"/>
              </a:ext>
            </a:extLst>
          </p:cNvPr>
          <p:cNvSpPr/>
          <p:nvPr/>
        </p:nvSpPr>
        <p:spPr>
          <a:xfrm>
            <a:off x="5428527" y="2621280"/>
            <a:ext cx="667473" cy="19304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1D91-55BB-2F45-FCA1-7E88B4EA0779}"/>
              </a:ext>
            </a:extLst>
          </p:cNvPr>
          <p:cNvSpPr/>
          <p:nvPr/>
        </p:nvSpPr>
        <p:spPr>
          <a:xfrm>
            <a:off x="8054716" y="2113280"/>
            <a:ext cx="3456564" cy="425464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996DC7EE-6A29-5E4E-4407-FBB43960E5EB}"/>
              </a:ext>
            </a:extLst>
          </p:cNvPr>
          <p:cNvCxnSpPr>
            <a:stCxn id="11" idx="2"/>
          </p:cNvCxnSpPr>
          <p:nvPr/>
        </p:nvCxnSpPr>
        <p:spPr>
          <a:xfrm>
            <a:off x="5762264" y="2814320"/>
            <a:ext cx="1745976" cy="10058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84A10C7F-ECBF-79A3-957D-5C60A5BDE66B}"/>
              </a:ext>
            </a:extLst>
          </p:cNvPr>
          <p:cNvCxnSpPr>
            <a:cxnSpLocks/>
          </p:cNvCxnSpPr>
          <p:nvPr/>
        </p:nvCxnSpPr>
        <p:spPr>
          <a:xfrm>
            <a:off x="9722052" y="2538744"/>
            <a:ext cx="0" cy="12814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75394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7E716-ECCC-67C6-8322-1ED057D0C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442E90-6621-5E7F-B22E-2DE9B90E9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22" y="209484"/>
            <a:ext cx="11652115" cy="1123206"/>
          </a:xfrm>
        </p:spPr>
        <p:txBody>
          <a:bodyPr/>
          <a:lstStyle/>
          <a:p>
            <a:r>
              <a:rPr lang="en-US" altLang="ko-KR" b="1" dirty="0">
                <a:latin typeface="+mj-lt"/>
              </a:rPr>
              <a:t>Back to the 08_angr_constraints…</a:t>
            </a:r>
            <a:endParaRPr lang="ko-KR" altLang="en-US" b="1" dirty="0">
              <a:latin typeface="+mj-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7EED6F0-DC18-9624-81BC-2DD6AC0C6B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3431" y="1492411"/>
            <a:ext cx="5011295" cy="206316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BFCD6D-0995-95F6-237D-88A561A4E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722" y="1470960"/>
            <a:ext cx="5639420" cy="502708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>
                <a:latin typeface="+mj-lt"/>
              </a:rPr>
              <a:t>How do we solve this using</a:t>
            </a:r>
            <a:r>
              <a:rPr lang="ko-KR" altLang="en-US" sz="2000" dirty="0">
                <a:latin typeface="+mj-lt"/>
              </a:rPr>
              <a:t> </a:t>
            </a:r>
            <a:r>
              <a:rPr lang="en-US" altLang="ko-KR" sz="2000" dirty="0">
                <a:latin typeface="+mj-lt"/>
              </a:rPr>
              <a:t>a</a:t>
            </a:r>
            <a:r>
              <a:rPr lang="ko-KR" altLang="en-US" sz="2000" dirty="0">
                <a:latin typeface="+mj-lt"/>
              </a:rPr>
              <a:t> </a:t>
            </a:r>
            <a:r>
              <a:rPr lang="en-US" altLang="ko-KR" sz="2000" b="1" dirty="0">
                <a:latin typeface="+mj-lt"/>
              </a:rPr>
              <a:t>hook</a:t>
            </a:r>
            <a:r>
              <a:rPr lang="en-US" altLang="ko-KR" sz="2000" dirty="0">
                <a:latin typeface="+mj-lt"/>
              </a:rPr>
              <a:t> instead of </a:t>
            </a:r>
            <a:r>
              <a:rPr lang="en-US" altLang="ko-KR" sz="2000" b="1" dirty="0" err="1">
                <a:latin typeface="+mj-lt"/>
              </a:rPr>
              <a:t>add_constraints</a:t>
            </a:r>
            <a:r>
              <a:rPr lang="en-US" altLang="ko-KR" sz="2000" dirty="0">
                <a:latin typeface="+mj-lt"/>
              </a:rPr>
              <a:t>?</a:t>
            </a:r>
          </a:p>
          <a:p>
            <a:pPr>
              <a:lnSpc>
                <a:spcPct val="150000"/>
              </a:lnSpc>
            </a:pPr>
            <a:endParaRPr lang="en-US" altLang="ko-KR" sz="2000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+mj-lt"/>
              </a:rPr>
              <a:t>To define a hook, specify: 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+mj-lt"/>
              </a:rPr>
              <a:t>Specify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the address to hook 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+mj-lt"/>
              </a:rPr>
              <a:t>Specify 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the number of instruction bytes </a:t>
            </a:r>
            <a:r>
              <a:rPr lang="en-US" altLang="ko-KR" sz="2000" dirty="0">
                <a:latin typeface="+mj-lt"/>
              </a:rPr>
              <a:t>to skip (e.g., 5 bytes for a call instruction)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+mj-lt"/>
              </a:rPr>
              <a:t>Specify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the Python function</a:t>
            </a:r>
            <a:r>
              <a:rPr lang="en-US" altLang="ko-KR" sz="2000" dirty="0">
                <a:latin typeface="+mj-lt"/>
              </a:rPr>
              <a:t> to execute instead.</a:t>
            </a:r>
            <a:br>
              <a:rPr lang="en-US" altLang="ko-KR" sz="2000" dirty="0">
                <a:latin typeface="+mj-lt"/>
              </a:rPr>
            </a:br>
            <a:endParaRPr lang="en-US" altLang="ko-KR" sz="2000" dirty="0">
              <a:latin typeface="+mj-lt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B963E1C-8732-F632-5916-1CA73BB1E0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63431" y="3802437"/>
            <a:ext cx="5011295" cy="62291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912260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A1FA3-DF6E-72AF-9DB8-440A466B2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7F6434-2C47-547D-EDC6-BF886DB29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22" y="209484"/>
            <a:ext cx="11652115" cy="1123206"/>
          </a:xfrm>
        </p:spPr>
        <p:txBody>
          <a:bodyPr/>
          <a:lstStyle/>
          <a:p>
            <a:r>
              <a:rPr lang="en-US" altLang="ko-KR" b="1" dirty="0">
                <a:latin typeface="+mj-lt"/>
              </a:rPr>
              <a:t>Back to the 08_angr_constraints…</a:t>
            </a:r>
            <a:endParaRPr lang="ko-KR" altLang="en-US" b="1" dirty="0">
              <a:latin typeface="+mj-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BF6DEFA-645B-0AB4-F307-3C66ADE16B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3431" y="1492411"/>
            <a:ext cx="5011295" cy="206316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1EBCEE-4D9E-B939-890C-FDB96CCE6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722" y="1470960"/>
            <a:ext cx="5639420" cy="502708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>
                <a:latin typeface="+mj-lt"/>
              </a:rPr>
              <a:t>How do we solve this using</a:t>
            </a:r>
            <a:r>
              <a:rPr lang="ko-KR" altLang="en-US" sz="2000" dirty="0">
                <a:latin typeface="+mj-lt"/>
              </a:rPr>
              <a:t> </a:t>
            </a:r>
            <a:r>
              <a:rPr lang="en-US" altLang="ko-KR" sz="2000" dirty="0">
                <a:latin typeface="+mj-lt"/>
              </a:rPr>
              <a:t>a</a:t>
            </a:r>
            <a:r>
              <a:rPr lang="ko-KR" altLang="en-US" sz="2000" dirty="0">
                <a:latin typeface="+mj-lt"/>
              </a:rPr>
              <a:t> </a:t>
            </a:r>
            <a:r>
              <a:rPr lang="en-US" altLang="ko-KR" sz="2000" b="1" dirty="0">
                <a:latin typeface="+mj-lt"/>
              </a:rPr>
              <a:t>hook</a:t>
            </a:r>
            <a:r>
              <a:rPr lang="en-US" altLang="ko-KR" sz="2000" dirty="0">
                <a:latin typeface="+mj-lt"/>
              </a:rPr>
              <a:t> instead of </a:t>
            </a:r>
            <a:r>
              <a:rPr lang="en-US" altLang="ko-KR" sz="2000" b="1" dirty="0" err="1">
                <a:latin typeface="+mj-lt"/>
              </a:rPr>
              <a:t>add_constraints</a:t>
            </a:r>
            <a:r>
              <a:rPr lang="en-US" altLang="ko-KR" sz="2000" dirty="0">
                <a:latin typeface="+mj-lt"/>
              </a:rPr>
              <a:t>?</a:t>
            </a:r>
          </a:p>
          <a:p>
            <a:pPr>
              <a:lnSpc>
                <a:spcPct val="150000"/>
              </a:lnSpc>
            </a:pPr>
            <a:endParaRPr lang="en-US" altLang="ko-KR" sz="2000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+mj-lt"/>
              </a:rPr>
              <a:t>To define a hook, specify: 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+mj-lt"/>
              </a:rPr>
              <a:t>Specify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the address to hook 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+mj-lt"/>
              </a:rPr>
              <a:t>Specify 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the number of instruction bytes </a:t>
            </a:r>
            <a:r>
              <a:rPr lang="en-US" altLang="ko-KR" sz="2000" dirty="0">
                <a:latin typeface="+mj-lt"/>
              </a:rPr>
              <a:t>to skip (e.g., 5 bytes for a call instruction)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+mj-lt"/>
              </a:rPr>
              <a:t>Specify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the Python function</a:t>
            </a:r>
            <a:r>
              <a:rPr lang="en-US" altLang="ko-KR" sz="2000" dirty="0">
                <a:latin typeface="+mj-lt"/>
              </a:rPr>
              <a:t> to execute instead.</a:t>
            </a:r>
            <a:br>
              <a:rPr lang="en-US" altLang="ko-KR" sz="2000" dirty="0">
                <a:latin typeface="+mj-lt"/>
              </a:rPr>
            </a:br>
            <a:endParaRPr lang="en-US" altLang="ko-KR" sz="2000" dirty="0">
              <a:latin typeface="+mj-lt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F4BFE58-CBFC-1B92-C1D7-833D3BE74A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63431" y="3802437"/>
            <a:ext cx="5011295" cy="62291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2B9D47D0-AE1A-B69E-FA91-577D6D6590A4}"/>
              </a:ext>
            </a:extLst>
          </p:cNvPr>
          <p:cNvSpPr txBox="1">
            <a:spLocks/>
          </p:cNvSpPr>
          <p:nvPr/>
        </p:nvSpPr>
        <p:spPr>
          <a:xfrm>
            <a:off x="6463431" y="4831657"/>
            <a:ext cx="5444847" cy="13533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altLang="ko-KR" sz="2400" b="1" dirty="0">
                <a:solidFill>
                  <a:srgbClr val="FF0000"/>
                </a:solidFill>
                <a:latin typeface="+mj-lt"/>
              </a:rPr>
              <a:t>Address to Hook  = 0x8048673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altLang="ko-KR" sz="2400" b="1" dirty="0">
                <a:solidFill>
                  <a:srgbClr val="FF0000"/>
                </a:solidFill>
                <a:latin typeface="+mj-lt"/>
              </a:rPr>
              <a:t># of bytes to skip = 5 (call instruction)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altLang="ko-KR" sz="2400" b="1" dirty="0">
                <a:solidFill>
                  <a:srgbClr val="FF0000"/>
                </a:solidFill>
                <a:latin typeface="+mj-lt"/>
              </a:rPr>
              <a:t>Python function (next slide)  </a:t>
            </a:r>
          </a:p>
        </p:txBody>
      </p:sp>
    </p:spTree>
    <p:extLst>
      <p:ext uri="{BB962C8B-B14F-4D97-AF65-F5344CB8AC3E}">
        <p14:creationId xmlns:p14="http://schemas.microsoft.com/office/powerpoint/2010/main" val="6054548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1C6C9-778B-D210-D671-B1A390821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2830D4-CFA4-5A9C-2313-40E5E31D7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22" y="209484"/>
            <a:ext cx="11652115" cy="1123206"/>
          </a:xfrm>
        </p:spPr>
        <p:txBody>
          <a:bodyPr/>
          <a:lstStyle/>
          <a:p>
            <a:r>
              <a:rPr lang="en-US" altLang="ko-KR" b="1" dirty="0">
                <a:latin typeface="+mj-lt"/>
              </a:rPr>
              <a:t>Back to the 08_angr_constraints…</a:t>
            </a:r>
            <a:endParaRPr lang="ko-KR" altLang="en-US" b="1" dirty="0">
              <a:latin typeface="+mj-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6557A08-2EEA-FB81-D1C4-D86972A021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73034" y="1329558"/>
            <a:ext cx="4559474" cy="485384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CF658F5-32C4-448B-6785-BB00E1D5E5C7}"/>
              </a:ext>
            </a:extLst>
          </p:cNvPr>
          <p:cNvSpPr/>
          <p:nvPr/>
        </p:nvSpPr>
        <p:spPr>
          <a:xfrm>
            <a:off x="6663847" y="3632548"/>
            <a:ext cx="3995802" cy="1340285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3133111-0EA7-028D-5F82-D5B1198D611A}"/>
              </a:ext>
            </a:extLst>
          </p:cNvPr>
          <p:cNvSpPr/>
          <p:nvPr/>
        </p:nvSpPr>
        <p:spPr>
          <a:xfrm>
            <a:off x="6751529" y="2242159"/>
            <a:ext cx="1728592" cy="210605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DDDCCC3B-DCC1-C876-DABC-B24AF0FB7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722" y="1470960"/>
            <a:ext cx="5639420" cy="502708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latin typeface="+mj-lt"/>
              </a:rPr>
              <a:t>Hook setup:</a:t>
            </a:r>
            <a:endParaRPr lang="en-US" altLang="ko-KR" sz="1600" dirty="0">
              <a:latin typeface="+mj-lt"/>
            </a:endParaRPr>
          </a:p>
          <a:p>
            <a:pPr lvl="1">
              <a:lnSpc>
                <a:spcPct val="150000"/>
              </a:lnSpc>
            </a:pPr>
            <a:r>
              <a:rPr lang="en-US" altLang="ko-KR" sz="1600" dirty="0" err="1">
                <a:latin typeface="+mj-lt"/>
              </a:rPr>
              <a:t>hook_address</a:t>
            </a:r>
            <a:r>
              <a:rPr lang="en-US" altLang="ko-KR" sz="1600" dirty="0">
                <a:latin typeface="+mj-lt"/>
              </a:rPr>
              <a:t> = 0x08048673: the address of the call </a:t>
            </a:r>
            <a:r>
              <a:rPr lang="en-US" altLang="ko-KR" sz="1600" dirty="0" err="1">
                <a:latin typeface="+mj-lt"/>
              </a:rPr>
              <a:t>check_equals</a:t>
            </a:r>
            <a:r>
              <a:rPr lang="en-US" altLang="ko-KR" sz="1600" dirty="0">
                <a:latin typeface="+mj-lt"/>
              </a:rPr>
              <a:t> instruction.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>
                <a:latin typeface="+mj-lt"/>
              </a:rPr>
              <a:t>length=5: skips the 5-byte call instruction so the original </a:t>
            </a:r>
            <a:r>
              <a:rPr lang="en-US" altLang="ko-KR" sz="1600" dirty="0" err="1">
                <a:latin typeface="+mj-lt"/>
              </a:rPr>
              <a:t>check_equals</a:t>
            </a:r>
            <a:r>
              <a:rPr lang="en-US" altLang="ko-KR" sz="1600" dirty="0">
                <a:latin typeface="+mj-lt"/>
              </a:rPr>
              <a:t> is never executed.</a:t>
            </a:r>
          </a:p>
          <a:p>
            <a:pPr lvl="1">
              <a:lnSpc>
                <a:spcPct val="150000"/>
              </a:lnSpc>
            </a:pPr>
            <a:endParaRPr lang="en-US" altLang="ko-KR" sz="1600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latin typeface="+mj-lt"/>
              </a:rPr>
              <a:t>Replacement function </a:t>
            </a:r>
            <a:r>
              <a:rPr lang="en-US" altLang="ko-KR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replace_check_equals</a:t>
            </a:r>
            <a:r>
              <a:rPr lang="en-US" altLang="ko-KR" sz="1600" b="1" dirty="0">
                <a:latin typeface="+mj-lt"/>
              </a:rPr>
              <a:t>:</a:t>
            </a:r>
            <a:endParaRPr lang="en-US" altLang="ko-KR" sz="1600" dirty="0">
              <a:latin typeface="+mj-lt"/>
            </a:endParaRPr>
          </a:p>
          <a:p>
            <a:pPr lvl="1">
              <a:lnSpc>
                <a:spcPct val="150000"/>
              </a:lnSpc>
            </a:pPr>
            <a:r>
              <a:rPr lang="en-US" altLang="ko-KR" sz="1600" dirty="0">
                <a:latin typeface="+mj-lt"/>
              </a:rPr>
              <a:t>Loads the current (transformed) buffer from memory.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>
                <a:latin typeface="+mj-lt"/>
              </a:rPr>
              <a:t>Compares it against </a:t>
            </a:r>
            <a:r>
              <a:rPr lang="en-US" altLang="ko-KR" sz="1600" dirty="0" err="1">
                <a:latin typeface="+mj-lt"/>
              </a:rPr>
              <a:t>b"AUPDNNPROEZRJWKB</a:t>
            </a:r>
            <a:r>
              <a:rPr lang="en-US" altLang="ko-KR" sz="1600" dirty="0">
                <a:latin typeface="+mj-lt"/>
              </a:rPr>
              <a:t>" using </a:t>
            </a:r>
            <a:r>
              <a:rPr lang="en-US" altLang="ko-KR" sz="1600" dirty="0" err="1">
                <a:latin typeface="+mj-lt"/>
              </a:rPr>
              <a:t>claripy.If</a:t>
            </a:r>
            <a:r>
              <a:rPr lang="en-US" altLang="ko-KR" sz="1600" dirty="0">
                <a:latin typeface="+mj-lt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>
                <a:latin typeface="+mj-lt"/>
              </a:rPr>
              <a:t>Writes the result into </a:t>
            </a:r>
            <a:r>
              <a:rPr lang="en-US" altLang="ko-KR" sz="1600" dirty="0" err="1">
                <a:latin typeface="+mj-lt"/>
              </a:rPr>
              <a:t>eax</a:t>
            </a:r>
            <a:r>
              <a:rPr lang="en-US" altLang="ko-KR" sz="1600" dirty="0">
                <a:latin typeface="+mj-lt"/>
              </a:rPr>
              <a:t>: 1 if equal, 0 otherwise.</a:t>
            </a:r>
          </a:p>
        </p:txBody>
      </p:sp>
    </p:spTree>
    <p:extLst>
      <p:ext uri="{BB962C8B-B14F-4D97-AF65-F5344CB8AC3E}">
        <p14:creationId xmlns:p14="http://schemas.microsoft.com/office/powerpoint/2010/main" val="37850174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1563D-C9FF-1B14-B486-20ED93217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24573C-4B4C-0395-4310-A1FD1614DF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55101"/>
            <a:ext cx="9144000" cy="1054862"/>
          </a:xfrm>
        </p:spPr>
        <p:txBody>
          <a:bodyPr>
            <a:normAutofit/>
          </a:bodyPr>
          <a:lstStyle/>
          <a:p>
            <a:r>
              <a:rPr lang="en-US" altLang="ko-KR" sz="3600" b="1" dirty="0">
                <a:latin typeface="+mj-lt"/>
              </a:rPr>
              <a:t>10_angr_SimProcedure</a:t>
            </a:r>
            <a:br>
              <a:rPr lang="en-US" altLang="ko-KR" sz="3600" b="1" dirty="0">
                <a:latin typeface="+mj-lt"/>
              </a:rPr>
            </a:br>
            <a:endParaRPr lang="ko-KR" altLang="en-US" sz="2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638894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FD3A3-7488-3D80-E66B-047B53F7E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897808-C9DE-5F4D-3358-1DCE3F940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22" y="209484"/>
            <a:ext cx="11652115" cy="1123206"/>
          </a:xfrm>
        </p:spPr>
        <p:txBody>
          <a:bodyPr>
            <a:normAutofit/>
          </a:bodyPr>
          <a:lstStyle/>
          <a:p>
            <a:r>
              <a:rPr lang="en-US" altLang="ko-KR" b="1" dirty="0" err="1">
                <a:latin typeface="+mj-lt"/>
              </a:rPr>
              <a:t>SimProcedure</a:t>
            </a:r>
            <a:endParaRPr lang="ko-KR" altLang="en-US" b="1" dirty="0">
              <a:latin typeface="+mj-lt"/>
              <a:cs typeface="맑은 고딕 Semilight" panose="020B0502040204020203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3C93E4-110F-B41E-C421-B6878A4A8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724" y="1629044"/>
            <a:ext cx="6167180" cy="501947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>
                <a:latin typeface="+mj-lt"/>
              </a:rPr>
              <a:t>Syntactic sugar to make it easier to replace functions with a summary in Python.</a:t>
            </a:r>
          </a:p>
          <a:p>
            <a:pPr>
              <a:lnSpc>
                <a:spcPct val="150000"/>
              </a:lnSpc>
            </a:pPr>
            <a:endParaRPr lang="en-US" altLang="ko-KR" sz="2000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 err="1">
                <a:latin typeface="+mj-lt"/>
              </a:rPr>
              <a:t>SimProcedure</a:t>
            </a:r>
            <a:r>
              <a:rPr lang="en-US" altLang="ko-KR" sz="2000" dirty="0">
                <a:latin typeface="+mj-lt"/>
              </a:rPr>
              <a:t> hooks by </a:t>
            </a:r>
            <a:r>
              <a:rPr lang="en-US" altLang="ko-KR" sz="2000" b="1" dirty="0">
                <a:solidFill>
                  <a:srgbClr val="FF0000"/>
                </a:solidFill>
                <a:latin typeface="+mj-lt"/>
              </a:rPr>
              <a:t>function name</a:t>
            </a:r>
            <a:r>
              <a:rPr lang="en-US" altLang="ko-KR" sz="2000" dirty="0">
                <a:latin typeface="+mj-lt"/>
              </a:rPr>
              <a:t>, so every call to that function is replaced automatically.</a:t>
            </a:r>
          </a:p>
          <a:p>
            <a:pPr>
              <a:lnSpc>
                <a:spcPct val="150000"/>
              </a:lnSpc>
            </a:pPr>
            <a:endParaRPr lang="en-US" altLang="ko-KR" sz="2000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+mj-lt"/>
              </a:rPr>
              <a:t>Unlike hooks, </a:t>
            </a:r>
            <a:r>
              <a:rPr lang="en-US" altLang="ko-KR" sz="2000" dirty="0" err="1">
                <a:latin typeface="+mj-lt"/>
              </a:rPr>
              <a:t>SimProcedure</a:t>
            </a:r>
            <a:r>
              <a:rPr lang="en-US" altLang="ko-KR" sz="2000" dirty="0">
                <a:latin typeface="+mj-lt"/>
              </a:rPr>
              <a:t> automatically handles parameter extraction and return values via the calling convention.</a:t>
            </a:r>
          </a:p>
        </p:txBody>
      </p:sp>
    </p:spTree>
    <p:extLst>
      <p:ext uri="{BB962C8B-B14F-4D97-AF65-F5344CB8AC3E}">
        <p14:creationId xmlns:p14="http://schemas.microsoft.com/office/powerpoint/2010/main" val="19289775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50373-3F45-8E59-24CF-22D17BC53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C0938F-9400-481F-BD64-FDD32D00C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22" y="209484"/>
            <a:ext cx="11652115" cy="1123206"/>
          </a:xfrm>
        </p:spPr>
        <p:txBody>
          <a:bodyPr>
            <a:normAutofit/>
          </a:bodyPr>
          <a:lstStyle/>
          <a:p>
            <a:r>
              <a:rPr lang="en-US" altLang="ko-KR" b="1" dirty="0" err="1">
                <a:latin typeface="+mj-lt"/>
              </a:rPr>
              <a:t>SimProcedure</a:t>
            </a:r>
            <a:endParaRPr lang="ko-KR" altLang="en-US" b="1" dirty="0">
              <a:latin typeface="+mj-lt"/>
              <a:cs typeface="맑은 고딕 Semilight" panose="020B0502040204020203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5ACC30-B3CC-7121-A95D-487D65F36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723" y="1629044"/>
            <a:ext cx="4275751" cy="501947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1800" dirty="0">
                <a:latin typeface="+mj-lt"/>
              </a:rPr>
              <a:t>Basic structure of </a:t>
            </a:r>
            <a:r>
              <a:rPr lang="en-US" altLang="ko-KR" sz="1800" dirty="0" err="1">
                <a:latin typeface="+mj-lt"/>
              </a:rPr>
              <a:t>SimProcedure</a:t>
            </a:r>
            <a:r>
              <a:rPr lang="en-US" altLang="ko-KR" sz="1800" dirty="0">
                <a:latin typeface="+mj-lt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en-US" altLang="ko-KR" sz="1800" b="1" dirty="0" err="1">
                <a:latin typeface="+mj-lt"/>
              </a:rPr>
              <a:t>hook_symbol</a:t>
            </a:r>
            <a:r>
              <a:rPr lang="en-US" altLang="ko-KR" sz="1800" b="1" dirty="0">
                <a:latin typeface="+mj-lt"/>
              </a:rPr>
              <a:t>('</a:t>
            </a:r>
            <a:r>
              <a:rPr lang="en-US" altLang="ko-KR" sz="1800" b="1" dirty="0" err="1">
                <a:latin typeface="+mj-lt"/>
              </a:rPr>
              <a:t>target_function</a:t>
            </a:r>
            <a:r>
              <a:rPr lang="en-US" altLang="ko-KR" sz="1800" b="1" dirty="0">
                <a:latin typeface="+mj-lt"/>
              </a:rPr>
              <a:t>', ...) </a:t>
            </a:r>
            <a:r>
              <a:rPr lang="en-US" altLang="ko-KR" sz="1800" dirty="0">
                <a:latin typeface="+mj-lt"/>
              </a:rPr>
              <a:t>hooks by function name, so every call to </a:t>
            </a:r>
            <a:r>
              <a:rPr lang="en-US" altLang="ko-KR" sz="1800" dirty="0" err="1">
                <a:latin typeface="+mj-lt"/>
              </a:rPr>
              <a:t>target_function</a:t>
            </a:r>
            <a:r>
              <a:rPr lang="en-US" altLang="ko-KR" sz="1800" dirty="0">
                <a:latin typeface="+mj-lt"/>
              </a:rPr>
              <a:t> is replaced with </a:t>
            </a:r>
            <a:r>
              <a:rPr lang="en-US" altLang="ko-KR" sz="1800" dirty="0" err="1">
                <a:latin typeface="+mj-lt"/>
              </a:rPr>
              <a:t>MyProcedure</a:t>
            </a:r>
            <a:r>
              <a:rPr lang="en-US" altLang="ko-KR" sz="1800" dirty="0">
                <a:latin typeface="+mj-lt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1800" dirty="0">
                <a:latin typeface="+mj-lt"/>
              </a:rPr>
              <a:t>Inherit from </a:t>
            </a:r>
            <a:r>
              <a:rPr lang="en-US" altLang="ko-KR" sz="1800" b="1" dirty="0" err="1">
                <a:latin typeface="+mj-lt"/>
              </a:rPr>
              <a:t>angr.SimProcedure</a:t>
            </a:r>
            <a:r>
              <a:rPr lang="en-US" altLang="ko-KR" sz="1800" b="1" dirty="0">
                <a:latin typeface="+mj-lt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1800" dirty="0">
                <a:latin typeface="+mj-lt"/>
              </a:rPr>
              <a:t>Declare original function's parameters in </a:t>
            </a:r>
            <a:r>
              <a:rPr lang="en-US" altLang="ko-KR" sz="1800" b="1" dirty="0">
                <a:latin typeface="+mj-lt"/>
              </a:rPr>
              <a:t>run().</a:t>
            </a:r>
          </a:p>
          <a:p>
            <a:pPr lvl="1">
              <a:lnSpc>
                <a:spcPct val="150000"/>
              </a:lnSpc>
            </a:pPr>
            <a:r>
              <a:rPr lang="en-US" altLang="ko-KR" sz="1800" b="1" dirty="0">
                <a:latin typeface="+mj-lt"/>
              </a:rPr>
              <a:t>“arg1 + arg2” </a:t>
            </a:r>
            <a:r>
              <a:rPr lang="en-US" altLang="ko-KR" sz="1800" dirty="0">
                <a:latin typeface="+mj-lt"/>
              </a:rPr>
              <a:t>is automatically stored in </a:t>
            </a:r>
            <a:r>
              <a:rPr lang="en-US" altLang="ko-KR" sz="1800" b="1" dirty="0" err="1">
                <a:latin typeface="+mj-lt"/>
              </a:rPr>
              <a:t>eax</a:t>
            </a:r>
            <a:r>
              <a:rPr lang="en-US" altLang="ko-KR" sz="1800" b="1" dirty="0">
                <a:latin typeface="+mj-lt"/>
              </a:rPr>
              <a:t>/</a:t>
            </a:r>
            <a:r>
              <a:rPr lang="en-US" altLang="ko-KR" sz="1800" b="1" dirty="0" err="1">
                <a:latin typeface="+mj-lt"/>
              </a:rPr>
              <a:t>rax</a:t>
            </a:r>
            <a:r>
              <a:rPr lang="en-US" altLang="ko-KR" sz="1800" b="1" dirty="0">
                <a:latin typeface="+mj-lt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5854E07-0BD2-67FA-C4B2-9926F3D837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2929" y="3799306"/>
            <a:ext cx="4713962" cy="125266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1B4901E-FE0A-9948-E612-8B3EB65272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11027" y="1828474"/>
            <a:ext cx="4149038" cy="88709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05C50F4-F5D4-C845-5F3F-46F0D76B4627}"/>
              </a:ext>
            </a:extLst>
          </p:cNvPr>
          <p:cNvSpPr/>
          <p:nvPr/>
        </p:nvSpPr>
        <p:spPr>
          <a:xfrm>
            <a:off x="8642959" y="1878904"/>
            <a:ext cx="951978" cy="23799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3D4AD8E-FD62-4D3E-8EBA-794C6FDF9BDD}"/>
              </a:ext>
            </a:extLst>
          </p:cNvPr>
          <p:cNvSpPr/>
          <p:nvPr/>
        </p:nvSpPr>
        <p:spPr>
          <a:xfrm>
            <a:off x="9675312" y="1878903"/>
            <a:ext cx="951978" cy="23799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D1AFF2B5-5D4A-8B2E-F561-BC3961ECDAA5}"/>
              </a:ext>
            </a:extLst>
          </p:cNvPr>
          <p:cNvCxnSpPr>
            <a:stCxn id="8" idx="2"/>
          </p:cNvCxnSpPr>
          <p:nvPr/>
        </p:nvCxnSpPr>
        <p:spPr>
          <a:xfrm flipH="1">
            <a:off x="8217074" y="2116899"/>
            <a:ext cx="901874" cy="2021881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0CB84C6A-6BF7-333D-11EF-E987E33E452D}"/>
              </a:ext>
            </a:extLst>
          </p:cNvPr>
          <p:cNvCxnSpPr>
            <a:cxnSpLocks/>
          </p:cNvCxnSpPr>
          <p:nvPr/>
        </p:nvCxnSpPr>
        <p:spPr>
          <a:xfrm flipH="1">
            <a:off x="8714775" y="2116898"/>
            <a:ext cx="1386422" cy="2021882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A44EA0-DE10-9BD5-EDAB-0E647E9C1AC4}"/>
              </a:ext>
            </a:extLst>
          </p:cNvPr>
          <p:cNvSpPr/>
          <p:nvPr/>
        </p:nvSpPr>
        <p:spPr>
          <a:xfrm>
            <a:off x="8238786" y="4772415"/>
            <a:ext cx="1436526" cy="254499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1013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A40E0-4E6C-3DF9-376F-BD5D4EA6C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480879-494F-6584-5A3F-E64AD0E38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22" y="209484"/>
            <a:ext cx="11652115" cy="1123206"/>
          </a:xfrm>
        </p:spPr>
        <p:txBody>
          <a:bodyPr/>
          <a:lstStyle/>
          <a:p>
            <a:r>
              <a:rPr lang="en-US" altLang="ko-KR" b="1" dirty="0">
                <a:latin typeface="+mj-lt"/>
              </a:rPr>
              <a:t>10_angr_simprocedure</a:t>
            </a:r>
            <a:endParaRPr lang="ko-KR" altLang="en-US" b="1" dirty="0">
              <a:latin typeface="+mj-lt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1C110A-317D-1550-3E98-B9D77EB54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722" y="1629044"/>
            <a:ext cx="11652115" cy="5019472"/>
          </a:xfrm>
        </p:spPr>
        <p:txBody>
          <a:bodyPr/>
          <a:lstStyle/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A330094-D30D-1356-0656-EF1039EF14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50596"/>
            <a:ext cx="5189951" cy="319718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7B05CA3D-9E97-6626-B89E-93108C5BBE9C}"/>
              </a:ext>
            </a:extLst>
          </p:cNvPr>
          <p:cNvSpPr txBox="1">
            <a:spLocks/>
          </p:cNvSpPr>
          <p:nvPr/>
        </p:nvSpPr>
        <p:spPr>
          <a:xfrm>
            <a:off x="283724" y="1629044"/>
            <a:ext cx="4576376" cy="5019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2000" dirty="0">
                <a:latin typeface="+mj-lt"/>
              </a:rPr>
              <a:t>This problem looks almost identical to 08_angr_constraints.</a:t>
            </a:r>
          </a:p>
          <a:p>
            <a:pPr>
              <a:lnSpc>
                <a:spcPct val="150000"/>
              </a:lnSpc>
            </a:pPr>
            <a:endParaRPr lang="en-US" altLang="ko-KR" sz="2000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+mj-lt"/>
              </a:rPr>
              <a:t>Is it enough to find the call address of </a:t>
            </a:r>
            <a:r>
              <a:rPr lang="en-US" altLang="ko-KR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check_equals_ORSDDWXHZURJRBDH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</a:t>
            </a:r>
            <a:r>
              <a:rPr lang="en-US" altLang="ko-KR" sz="2000" dirty="0">
                <a:latin typeface="+mj-lt"/>
              </a:rPr>
              <a:t>and hook it?</a:t>
            </a:r>
          </a:p>
          <a:p>
            <a:pPr>
              <a:lnSpc>
                <a:spcPct val="150000"/>
              </a:lnSpc>
            </a:pPr>
            <a:endParaRPr lang="en-US" altLang="ko-KR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999103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8284F-2BDC-3BFE-CC87-9D09834AC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6773F0-3357-8F03-E664-03A9C5251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22" y="209484"/>
            <a:ext cx="11652115" cy="1123206"/>
          </a:xfrm>
        </p:spPr>
        <p:txBody>
          <a:bodyPr/>
          <a:lstStyle/>
          <a:p>
            <a:r>
              <a:rPr lang="en-US" altLang="ko-KR" b="1" dirty="0">
                <a:latin typeface="+mj-lt"/>
              </a:rPr>
              <a:t>10_angr_simprocedure</a:t>
            </a:r>
            <a:endParaRPr lang="ko-KR" altLang="en-US" b="1" dirty="0">
              <a:latin typeface="+mj-lt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E45F34-B795-8A43-4ECA-1892E38ED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722" y="1629044"/>
            <a:ext cx="11652115" cy="5019472"/>
          </a:xfrm>
        </p:spPr>
        <p:txBody>
          <a:bodyPr/>
          <a:lstStyle/>
          <a:p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2FB32DC-4393-C9C8-4940-259CC85052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28386" y="1629044"/>
            <a:ext cx="5924810" cy="451523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4" name="타원 3">
            <a:extLst>
              <a:ext uri="{FF2B5EF4-FFF2-40B4-BE49-F238E27FC236}">
                <a16:creationId xmlns:a16="http://schemas.microsoft.com/office/drawing/2014/main" id="{C9923D9D-ED58-1C91-BD5F-14C4E15602AA}"/>
              </a:ext>
            </a:extLst>
          </p:cNvPr>
          <p:cNvSpPr/>
          <p:nvPr/>
        </p:nvSpPr>
        <p:spPr>
          <a:xfrm>
            <a:off x="5385602" y="5552607"/>
            <a:ext cx="1237130" cy="59167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105EC761-2958-3289-A1AC-C77F453A7592}"/>
              </a:ext>
            </a:extLst>
          </p:cNvPr>
          <p:cNvSpPr txBox="1">
            <a:spLocks/>
          </p:cNvSpPr>
          <p:nvPr/>
        </p:nvSpPr>
        <p:spPr>
          <a:xfrm>
            <a:off x="283724" y="1629044"/>
            <a:ext cx="4576376" cy="5019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800" b="1" dirty="0" err="1">
                <a:latin typeface="+mj-lt"/>
              </a:rPr>
              <a:t>check_equals_ORSDDWXHZURJRBDH</a:t>
            </a:r>
            <a:r>
              <a:rPr lang="en-US" altLang="ko-KR" sz="1800" b="1" dirty="0">
                <a:latin typeface="+mj-lt"/>
              </a:rPr>
              <a:t> </a:t>
            </a:r>
            <a:r>
              <a:rPr lang="en-US" altLang="ko-KR" sz="1800" dirty="0">
                <a:latin typeface="+mj-lt"/>
              </a:rPr>
              <a:t>appears </a:t>
            </a:r>
            <a:r>
              <a:rPr lang="en-US" altLang="ko-KR" sz="1800" b="1" dirty="0">
                <a:solidFill>
                  <a:srgbClr val="FF0000"/>
                </a:solidFill>
                <a:latin typeface="+mj-lt"/>
              </a:rPr>
              <a:t>256</a:t>
            </a:r>
            <a:r>
              <a:rPr lang="en-US" altLang="ko-KR" sz="1800" dirty="0">
                <a:latin typeface="+mj-lt"/>
              </a:rPr>
              <a:t> times in the binary.</a:t>
            </a:r>
          </a:p>
          <a:p>
            <a:pPr>
              <a:lnSpc>
                <a:spcPct val="150000"/>
              </a:lnSpc>
            </a:pPr>
            <a:endParaRPr lang="en-US" altLang="ko-KR" sz="1800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altLang="ko-KR" sz="1800" dirty="0">
                <a:latin typeface="+mj-lt"/>
              </a:rPr>
              <a:t>Manual analysis reveals only 1 of 256 is actually called — hooking that address works, but is tedious.</a:t>
            </a:r>
          </a:p>
          <a:p>
            <a:pPr>
              <a:lnSpc>
                <a:spcPct val="150000"/>
              </a:lnSpc>
            </a:pPr>
            <a:endParaRPr lang="en-US" altLang="ko-KR" sz="1800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altLang="ko-KR" sz="1800" dirty="0" err="1">
                <a:latin typeface="+mj-lt"/>
              </a:rPr>
              <a:t>SimProcedure</a:t>
            </a:r>
            <a:r>
              <a:rPr lang="en-US" altLang="ko-KR" sz="1800" dirty="0">
                <a:latin typeface="+mj-lt"/>
              </a:rPr>
              <a:t> lets us use </a:t>
            </a:r>
            <a:r>
              <a:rPr lang="en-US" altLang="ko-KR" sz="1800" b="1" dirty="0" err="1">
                <a:latin typeface="+mj-lt"/>
              </a:rPr>
              <a:t>hook_symbol</a:t>
            </a:r>
            <a:r>
              <a:rPr lang="en-US" altLang="ko-KR" sz="1800" dirty="0">
                <a:latin typeface="+mj-lt"/>
              </a:rPr>
              <a:t> to hook by function name – no need to find the actual call site address.</a:t>
            </a:r>
          </a:p>
        </p:txBody>
      </p:sp>
    </p:spTree>
    <p:extLst>
      <p:ext uri="{BB962C8B-B14F-4D97-AF65-F5344CB8AC3E}">
        <p14:creationId xmlns:p14="http://schemas.microsoft.com/office/powerpoint/2010/main" val="37508933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F6E30-9252-05DF-D28C-104CEB8F4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5E787-97CD-259A-7C64-EC23D1ED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22" y="209484"/>
            <a:ext cx="11652115" cy="1123206"/>
          </a:xfrm>
        </p:spPr>
        <p:txBody>
          <a:bodyPr/>
          <a:lstStyle/>
          <a:p>
            <a:r>
              <a:rPr lang="en-US" altLang="ko-KR" b="1" dirty="0">
                <a:latin typeface="+mj-lt"/>
              </a:rPr>
              <a:t>10_angr_simprocedure</a:t>
            </a:r>
            <a:endParaRPr lang="ko-KR" altLang="en-US" b="1" dirty="0">
              <a:latin typeface="+mj-lt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DF43D4-CF82-5C17-C57E-52EB76DB2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722" y="1629044"/>
            <a:ext cx="11652115" cy="5019472"/>
          </a:xfrm>
        </p:spPr>
        <p:txBody>
          <a:bodyPr/>
          <a:lstStyle/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1FAE6D5-ED94-763F-1B91-0C73D5F6B0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8311" y="1739997"/>
            <a:ext cx="6255257" cy="81671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E40ED38-7465-1416-DC37-CC922FC0CE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311" y="2969616"/>
            <a:ext cx="6789507" cy="116916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91C6A4D3-13D0-C7E2-9AA2-F1BF66A17097}"/>
              </a:ext>
            </a:extLst>
          </p:cNvPr>
          <p:cNvSpPr/>
          <p:nvPr/>
        </p:nvSpPr>
        <p:spPr>
          <a:xfrm>
            <a:off x="3651631" y="1920097"/>
            <a:ext cx="3219189" cy="228255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1AE496C-309E-568F-7F51-4EA79EE6DD7D}"/>
              </a:ext>
            </a:extLst>
          </p:cNvPr>
          <p:cNvSpPr/>
          <p:nvPr/>
        </p:nvSpPr>
        <p:spPr>
          <a:xfrm>
            <a:off x="3332322" y="3554198"/>
            <a:ext cx="2955847" cy="215725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224DE991-E14F-19A0-2834-16ED0F38F579}"/>
              </a:ext>
            </a:extLst>
          </p:cNvPr>
          <p:cNvSpPr txBox="1">
            <a:spLocks/>
          </p:cNvSpPr>
          <p:nvPr/>
        </p:nvSpPr>
        <p:spPr>
          <a:xfrm>
            <a:off x="124151" y="5322259"/>
            <a:ext cx="11652115" cy="14011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>
              <a:latin typeface="+mj-lt"/>
              <a:ea typeface="맑은 고딕 Semilight" panose="020B0502040204020203" pitchFamily="50" charset="-127"/>
            </a:endParaRP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C7BA9FF0-9075-3FB7-785D-DA3AB7050858}"/>
              </a:ext>
            </a:extLst>
          </p:cNvPr>
          <p:cNvSpPr txBox="1">
            <a:spLocks/>
          </p:cNvSpPr>
          <p:nvPr/>
        </p:nvSpPr>
        <p:spPr>
          <a:xfrm>
            <a:off x="7821097" y="1739997"/>
            <a:ext cx="3955169" cy="7871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3200" b="1" dirty="0">
                <a:solidFill>
                  <a:srgbClr val="FF0000"/>
                </a:solidFill>
                <a:latin typeface="+mj-lt"/>
              </a:rPr>
              <a:t>var_24 = 0xDEADBEEF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E56D1B73-3029-910D-6E1E-639038877A56}"/>
              </a:ext>
            </a:extLst>
          </p:cNvPr>
          <p:cNvCxnSpPr>
            <a:cxnSpLocks/>
          </p:cNvCxnSpPr>
          <p:nvPr/>
        </p:nvCxnSpPr>
        <p:spPr>
          <a:xfrm flipH="1">
            <a:off x="6447740" y="2556707"/>
            <a:ext cx="3164787" cy="99749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C8D09D83-8F9C-B30D-4026-C06697BFC8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39478" y="4672444"/>
            <a:ext cx="5995318" cy="167690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E597E4CF-9E3F-5264-BDED-E3F2067572B4}"/>
              </a:ext>
            </a:extLst>
          </p:cNvPr>
          <p:cNvCxnSpPr/>
          <p:nvPr/>
        </p:nvCxnSpPr>
        <p:spPr>
          <a:xfrm>
            <a:off x="2780778" y="4138780"/>
            <a:ext cx="2029467" cy="137211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02542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7D13B-AF37-5225-E733-2C8658716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2C6EC8-9CC5-44C4-572B-0894D6215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22" y="209484"/>
            <a:ext cx="11652115" cy="1123206"/>
          </a:xfrm>
        </p:spPr>
        <p:txBody>
          <a:bodyPr/>
          <a:lstStyle/>
          <a:p>
            <a:r>
              <a:rPr lang="en-US" altLang="ko-KR" b="1" dirty="0">
                <a:latin typeface="+mj-lt"/>
              </a:rPr>
              <a:t>10_angr_simprocedure</a:t>
            </a:r>
            <a:endParaRPr lang="ko-KR" altLang="en-US" b="1" dirty="0">
              <a:latin typeface="+mj-lt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31FF5E-B52F-8F78-161B-7F98F2591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722" y="1629044"/>
            <a:ext cx="11652115" cy="5019472"/>
          </a:xfrm>
        </p:spPr>
        <p:txBody>
          <a:bodyPr/>
          <a:lstStyle/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F63DC27-D062-5BCB-08BD-3F643E75E1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8311" y="1739997"/>
            <a:ext cx="6255257" cy="81671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C0EFD29-DBE0-B362-BC80-508D6703F8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311" y="2969616"/>
            <a:ext cx="6789507" cy="116916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C5190E36-DA98-FC86-B5FF-2BDB3151D7CD}"/>
              </a:ext>
            </a:extLst>
          </p:cNvPr>
          <p:cNvSpPr/>
          <p:nvPr/>
        </p:nvSpPr>
        <p:spPr>
          <a:xfrm>
            <a:off x="3651631" y="1920097"/>
            <a:ext cx="3219189" cy="228255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B588EBE-3E7F-BD51-E8A1-98EA608B5590}"/>
              </a:ext>
            </a:extLst>
          </p:cNvPr>
          <p:cNvSpPr/>
          <p:nvPr/>
        </p:nvSpPr>
        <p:spPr>
          <a:xfrm>
            <a:off x="3332322" y="3554198"/>
            <a:ext cx="2955847" cy="215725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</a:endParaRP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05C98AB0-19C5-0932-778C-6D93EADC8A24}"/>
              </a:ext>
            </a:extLst>
          </p:cNvPr>
          <p:cNvSpPr txBox="1">
            <a:spLocks/>
          </p:cNvSpPr>
          <p:nvPr/>
        </p:nvSpPr>
        <p:spPr>
          <a:xfrm>
            <a:off x="124151" y="5322259"/>
            <a:ext cx="11652115" cy="14011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dirty="0">
              <a:latin typeface="+mj-lt"/>
              <a:ea typeface="맑은 고딕 Semilight" panose="020B0502040204020203" pitchFamily="50" charset="-127"/>
            </a:endParaRP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4D048B3E-57E6-0BBB-B95A-EBC18C34A3ED}"/>
              </a:ext>
            </a:extLst>
          </p:cNvPr>
          <p:cNvSpPr txBox="1">
            <a:spLocks/>
          </p:cNvSpPr>
          <p:nvPr/>
        </p:nvSpPr>
        <p:spPr>
          <a:xfrm>
            <a:off x="7821097" y="1739997"/>
            <a:ext cx="3955169" cy="7871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3200" b="1" dirty="0">
                <a:solidFill>
                  <a:srgbClr val="FF0000"/>
                </a:solidFill>
                <a:latin typeface="+mj-lt"/>
              </a:rPr>
              <a:t>var_24 = 0xDEADBEEF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32FA1442-2E79-C0A2-7612-792480AFCDE1}"/>
              </a:ext>
            </a:extLst>
          </p:cNvPr>
          <p:cNvCxnSpPr>
            <a:cxnSpLocks/>
          </p:cNvCxnSpPr>
          <p:nvPr/>
        </p:nvCxnSpPr>
        <p:spPr>
          <a:xfrm flipH="1">
            <a:off x="6447740" y="2556707"/>
            <a:ext cx="3164787" cy="99749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4CA67E77-C3C9-B32D-B27A-C1155C8371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39478" y="4672444"/>
            <a:ext cx="5995318" cy="167690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1DEB2CE-3F86-1183-E0AF-AEB23F7ABBE0}"/>
              </a:ext>
            </a:extLst>
          </p:cNvPr>
          <p:cNvCxnSpPr/>
          <p:nvPr/>
        </p:nvCxnSpPr>
        <p:spPr>
          <a:xfrm>
            <a:off x="2780778" y="4138780"/>
            <a:ext cx="2029467" cy="137211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곱하기 기호 5">
            <a:extLst>
              <a:ext uri="{FF2B5EF4-FFF2-40B4-BE49-F238E27FC236}">
                <a16:creationId xmlns:a16="http://schemas.microsoft.com/office/drawing/2014/main" id="{8EAFBCE3-2BCC-C11B-1FFC-3CD5681D9531}"/>
              </a:ext>
            </a:extLst>
          </p:cNvPr>
          <p:cNvSpPr/>
          <p:nvPr/>
        </p:nvSpPr>
        <p:spPr>
          <a:xfrm>
            <a:off x="7600460" y="4737677"/>
            <a:ext cx="2164748" cy="1265751"/>
          </a:xfrm>
          <a:prstGeom prst="mathMultiply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66266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98757-CE4E-9B76-AFA5-E1B847154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47A3FE-CC53-9B18-B90E-2AE27947F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22" y="209484"/>
            <a:ext cx="11652115" cy="1123206"/>
          </a:xfrm>
        </p:spPr>
        <p:txBody>
          <a:bodyPr/>
          <a:lstStyle/>
          <a:p>
            <a:r>
              <a:rPr lang="en-US" altLang="ko-KR" b="1" dirty="0">
                <a:latin typeface="+mj-lt"/>
              </a:rPr>
              <a:t>10_angr_simprocedure</a:t>
            </a:r>
            <a:endParaRPr lang="ko-KR" altLang="en-US" b="1" dirty="0">
              <a:latin typeface="+mj-lt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724E3D-F68F-3077-A8CF-8BD5A7EAA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722" y="1629044"/>
            <a:ext cx="11652115" cy="5019472"/>
          </a:xfrm>
        </p:spPr>
        <p:txBody>
          <a:bodyPr/>
          <a:lstStyle/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8E8C63E-A6EA-0C81-68FB-D8D6E99CBD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38622" y="4430029"/>
            <a:ext cx="8314756" cy="159785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F5B3BF2-862E-B3F9-7E93-F1DF070FCB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7045" y="1821134"/>
            <a:ext cx="6817910" cy="85122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B0356400-6878-3238-9E16-8B0723233AF4}"/>
              </a:ext>
            </a:extLst>
          </p:cNvPr>
          <p:cNvSpPr/>
          <p:nvPr/>
        </p:nvSpPr>
        <p:spPr>
          <a:xfrm>
            <a:off x="5594958" y="3220966"/>
            <a:ext cx="689385" cy="716101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26C7209-F1EB-EA84-04D4-E2603BF63D09}"/>
              </a:ext>
            </a:extLst>
          </p:cNvPr>
          <p:cNvSpPr/>
          <p:nvPr/>
        </p:nvSpPr>
        <p:spPr>
          <a:xfrm>
            <a:off x="5123588" y="5529724"/>
            <a:ext cx="3895152" cy="258184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ACC5C8C-51ED-DFE6-E95F-50D9322A2B69}"/>
              </a:ext>
            </a:extLst>
          </p:cNvPr>
          <p:cNvSpPr/>
          <p:nvPr/>
        </p:nvSpPr>
        <p:spPr>
          <a:xfrm>
            <a:off x="1934577" y="5529724"/>
            <a:ext cx="1685446" cy="258184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93349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47709CD-C954-83B9-4C39-C0D4A75B9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B8B533-3711-0E53-0F77-CE5BD5849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22" y="209484"/>
            <a:ext cx="11652115" cy="1123206"/>
          </a:xfrm>
        </p:spPr>
        <p:txBody>
          <a:bodyPr/>
          <a:lstStyle/>
          <a:p>
            <a:r>
              <a:rPr lang="en-US" altLang="ko-KR" b="1" dirty="0">
                <a:latin typeface="+mj-lt"/>
              </a:rPr>
              <a:t>10_angr_simprocedure</a:t>
            </a:r>
            <a:endParaRPr lang="ko-KR" altLang="en-US" b="1" dirty="0">
              <a:latin typeface="+mj-lt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69DB28-D3AD-ED9B-3CEF-29FD5FE59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722" y="1629044"/>
            <a:ext cx="11652115" cy="5019472"/>
          </a:xfrm>
        </p:spPr>
        <p:txBody>
          <a:bodyPr/>
          <a:lstStyle/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295AB5D-02A5-944A-080F-D017CAAC34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38813" y="1629044"/>
            <a:ext cx="9314373" cy="442149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851392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AC9A0-6767-360C-50B0-DBE6AFDF7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9A8B77-F29D-38B9-84CF-C3300C253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22" y="209484"/>
            <a:ext cx="11652115" cy="1123206"/>
          </a:xfrm>
        </p:spPr>
        <p:txBody>
          <a:bodyPr/>
          <a:lstStyle/>
          <a:p>
            <a:r>
              <a:rPr lang="en-US" altLang="ko-KR" b="1" dirty="0">
                <a:latin typeface="+mj-lt"/>
              </a:rPr>
              <a:t>10_angr_simprocedure - Hook</a:t>
            </a:r>
            <a:endParaRPr lang="ko-KR" altLang="en-US" b="1" dirty="0">
              <a:latin typeface="+mj-lt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86446A-70AA-75D7-644B-3ED92367F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6672" y="5114287"/>
            <a:ext cx="9006214" cy="99815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ko-KR" sz="2000" b="1" dirty="0">
                <a:latin typeface="+mj-lt"/>
              </a:rPr>
              <a:t>0x08499FA: </a:t>
            </a:r>
            <a:br>
              <a:rPr lang="en-US" altLang="ko-KR" sz="2000" b="1" dirty="0">
                <a:latin typeface="+mj-lt"/>
              </a:rPr>
            </a:br>
            <a:r>
              <a:rPr lang="en-US" altLang="ko-KR" sz="2000" dirty="0">
                <a:latin typeface="+mj-lt"/>
              </a:rPr>
              <a:t>The address we had to find manually by tracing the actual execution path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46D19EF-555B-775E-2E61-45FC69D190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46579" y="2087918"/>
            <a:ext cx="8098842" cy="247155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4BF9CDDC-B46A-F605-1B76-48747DE8FA88}"/>
              </a:ext>
            </a:extLst>
          </p:cNvPr>
          <p:cNvSpPr/>
          <p:nvPr/>
        </p:nvSpPr>
        <p:spPr>
          <a:xfrm>
            <a:off x="3670127" y="2505205"/>
            <a:ext cx="951978" cy="175365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8848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4070A-D3C4-4F61-1CE1-3DCC2C306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124293-BD4D-7566-2634-E4D93CE78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22" y="209484"/>
            <a:ext cx="11652115" cy="1123206"/>
          </a:xfrm>
        </p:spPr>
        <p:txBody>
          <a:bodyPr/>
          <a:lstStyle/>
          <a:p>
            <a:r>
              <a:rPr lang="en-US" altLang="ko-KR" b="1" dirty="0">
                <a:latin typeface="+mj-lt"/>
              </a:rPr>
              <a:t>10_angr_simprocedure – </a:t>
            </a:r>
            <a:r>
              <a:rPr lang="en-US" altLang="ko-KR" b="1" dirty="0" err="1">
                <a:latin typeface="+mj-lt"/>
              </a:rPr>
              <a:t>SimProcedure</a:t>
            </a:r>
            <a:endParaRPr lang="ko-KR" altLang="en-US" b="1" dirty="0">
              <a:latin typeface="+mj-lt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C32374-727D-9DBA-6443-5C1A99D36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722" y="1629044"/>
            <a:ext cx="11652115" cy="5019472"/>
          </a:xfrm>
        </p:spPr>
        <p:txBody>
          <a:bodyPr/>
          <a:lstStyle/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24336F3-CE5E-9A4A-0246-87943822DF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55447" y="1475354"/>
            <a:ext cx="3905035" cy="516213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496B90C-1450-858B-29D0-0A3DE5F145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602" y="1781010"/>
            <a:ext cx="4956726" cy="21457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557404D4-5BAC-6830-E62A-C754465D52C6}"/>
              </a:ext>
            </a:extLst>
          </p:cNvPr>
          <p:cNvSpPr txBox="1">
            <a:spLocks/>
          </p:cNvSpPr>
          <p:nvPr/>
        </p:nvSpPr>
        <p:spPr>
          <a:xfrm>
            <a:off x="538619" y="1475354"/>
            <a:ext cx="4792901" cy="516213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600" b="1" dirty="0" err="1">
                <a:latin typeface="+mj-lt"/>
              </a:rPr>
              <a:t>ReplacementCheckEquals</a:t>
            </a:r>
            <a:r>
              <a:rPr lang="en-US" altLang="ko-KR" sz="1600" b="1" dirty="0">
                <a:latin typeface="+mj-lt"/>
              </a:rPr>
              <a:t> (lines 12–28):</a:t>
            </a:r>
            <a:endParaRPr lang="en-US" altLang="ko-KR" sz="1600" dirty="0">
              <a:latin typeface="+mj-lt"/>
            </a:endParaRPr>
          </a:p>
          <a:p>
            <a:pPr lvl="1">
              <a:lnSpc>
                <a:spcPct val="150000"/>
              </a:lnSpc>
            </a:pPr>
            <a:r>
              <a:rPr lang="en-US" altLang="ko-KR" sz="1600" dirty="0">
                <a:latin typeface="+mj-lt"/>
              </a:rPr>
              <a:t>Two parameters</a:t>
            </a:r>
          </a:p>
          <a:p>
            <a:pPr lvl="2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200" b="1" dirty="0" err="1">
                <a:latin typeface="+mj-lt"/>
              </a:rPr>
              <a:t>to_check</a:t>
            </a:r>
            <a:r>
              <a:rPr lang="en-US" altLang="ko-KR" sz="1200" dirty="0">
                <a:latin typeface="+mj-lt"/>
              </a:rPr>
              <a:t>: buffer address</a:t>
            </a:r>
          </a:p>
          <a:p>
            <a:pPr lvl="2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200" b="1" dirty="0">
                <a:latin typeface="+mj-lt"/>
              </a:rPr>
              <a:t>length</a:t>
            </a:r>
            <a:r>
              <a:rPr lang="en-US" altLang="ko-KR" sz="1200" dirty="0">
                <a:latin typeface="+mj-lt"/>
              </a:rPr>
              <a:t>: buffer length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>
                <a:latin typeface="+mj-lt"/>
              </a:rPr>
              <a:t>Loads the symbolic buffer from memory, compares it against </a:t>
            </a:r>
            <a:r>
              <a:rPr lang="en-US" altLang="ko-KR" sz="1600" b="1" dirty="0" err="1">
                <a:latin typeface="+mj-lt"/>
              </a:rPr>
              <a:t>b"ORSDDWXHZURJRBDH</a:t>
            </a:r>
            <a:r>
              <a:rPr lang="en-US" altLang="ko-KR" sz="1600" b="1" dirty="0">
                <a:latin typeface="+mj-lt"/>
              </a:rPr>
              <a:t>" </a:t>
            </a:r>
            <a:r>
              <a:rPr lang="en-US" altLang="ko-KR" sz="1600" dirty="0">
                <a:latin typeface="+mj-lt"/>
              </a:rPr>
              <a:t>using </a:t>
            </a:r>
            <a:r>
              <a:rPr lang="en-US" altLang="ko-KR" sz="1600" b="1" dirty="0" err="1">
                <a:latin typeface="+mj-lt"/>
              </a:rPr>
              <a:t>claripy.If</a:t>
            </a:r>
            <a:r>
              <a:rPr lang="en-US" altLang="ko-KR" sz="1600" dirty="0">
                <a:latin typeface="+mj-lt"/>
              </a:rPr>
              <a:t>, and returns 1 or 0.</a:t>
            </a:r>
          </a:p>
          <a:p>
            <a:pPr lvl="1">
              <a:lnSpc>
                <a:spcPct val="150000"/>
              </a:lnSpc>
            </a:pPr>
            <a:endParaRPr lang="en-US" altLang="ko-KR" sz="1600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latin typeface="+mj-lt"/>
              </a:rPr>
              <a:t>Hooking by name (lines 30–31)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 err="1">
                <a:latin typeface="+mj-lt"/>
              </a:rPr>
              <a:t>hook_symbol</a:t>
            </a:r>
            <a:r>
              <a:rPr lang="en-US" altLang="ko-KR" sz="1600" dirty="0">
                <a:latin typeface="+mj-lt"/>
              </a:rPr>
              <a:t>("</a:t>
            </a:r>
            <a:r>
              <a:rPr lang="en-US" altLang="ko-KR" sz="1600" dirty="0" err="1">
                <a:latin typeface="+mj-lt"/>
              </a:rPr>
              <a:t>check_equals_ORSDDWXHZURJRBDH</a:t>
            </a:r>
            <a:r>
              <a:rPr lang="en-US" altLang="ko-KR" sz="1600" dirty="0">
                <a:latin typeface="+mj-lt"/>
              </a:rPr>
              <a:t>", </a:t>
            </a:r>
            <a:r>
              <a:rPr lang="en-US" altLang="ko-KR" sz="1600" dirty="0" err="1">
                <a:latin typeface="+mj-lt"/>
              </a:rPr>
              <a:t>ReplacementCheckEquals</a:t>
            </a:r>
            <a:r>
              <a:rPr lang="en-US" altLang="ko-KR" sz="1600" dirty="0">
                <a:latin typeface="+mj-lt"/>
              </a:rPr>
              <a:t>())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>
                <a:latin typeface="+mj-lt"/>
              </a:rPr>
              <a:t>Every call to this function is now replaced by our </a:t>
            </a:r>
            <a:r>
              <a:rPr lang="en-US" altLang="ko-KR" sz="1600" b="1" dirty="0">
                <a:latin typeface="+mj-lt"/>
              </a:rPr>
              <a:t>run() </a:t>
            </a:r>
            <a:r>
              <a:rPr lang="en-US" altLang="ko-KR" sz="1600" dirty="0">
                <a:latin typeface="+mj-lt"/>
              </a:rPr>
              <a:t>method.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513E711-2A52-A67E-00CA-8444CE15C9B1}"/>
              </a:ext>
            </a:extLst>
          </p:cNvPr>
          <p:cNvSpPr/>
          <p:nvPr/>
        </p:nvSpPr>
        <p:spPr>
          <a:xfrm>
            <a:off x="7422082" y="2565643"/>
            <a:ext cx="3525665" cy="2407189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DFCA99E-BBB9-6F97-0A2E-21BEC521E068}"/>
              </a:ext>
            </a:extLst>
          </p:cNvPr>
          <p:cNvSpPr/>
          <p:nvPr/>
        </p:nvSpPr>
        <p:spPr>
          <a:xfrm>
            <a:off x="7422081" y="5093926"/>
            <a:ext cx="3525665" cy="35052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오른쪽 대괄호 14">
            <a:extLst>
              <a:ext uri="{FF2B5EF4-FFF2-40B4-BE49-F238E27FC236}">
                <a16:creationId xmlns:a16="http://schemas.microsoft.com/office/drawing/2014/main" id="{C61628D4-F962-4BF8-254C-A6B98A74074A}"/>
              </a:ext>
            </a:extLst>
          </p:cNvPr>
          <p:cNvSpPr/>
          <p:nvPr/>
        </p:nvSpPr>
        <p:spPr>
          <a:xfrm>
            <a:off x="5194229" y="1611129"/>
            <a:ext cx="230879" cy="2445293"/>
          </a:xfrm>
          <a:prstGeom prst="rightBracke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오른쪽 대괄호 15">
            <a:extLst>
              <a:ext uri="{FF2B5EF4-FFF2-40B4-BE49-F238E27FC236}">
                <a16:creationId xmlns:a16="http://schemas.microsoft.com/office/drawing/2014/main" id="{E6E11532-407C-9718-202D-E69FDDD1B3BB}"/>
              </a:ext>
            </a:extLst>
          </p:cNvPr>
          <p:cNvSpPr/>
          <p:nvPr/>
        </p:nvSpPr>
        <p:spPr>
          <a:xfrm>
            <a:off x="5216080" y="4676774"/>
            <a:ext cx="230879" cy="1799181"/>
          </a:xfrm>
          <a:prstGeom prst="rightBracke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30D0150F-147E-0894-06BE-92875ABA4970}"/>
              </a:ext>
            </a:extLst>
          </p:cNvPr>
          <p:cNvCxnSpPr>
            <a:stCxn id="15" idx="2"/>
          </p:cNvCxnSpPr>
          <p:nvPr/>
        </p:nvCxnSpPr>
        <p:spPr>
          <a:xfrm>
            <a:off x="5425108" y="2833776"/>
            <a:ext cx="1996973" cy="72361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302826AB-AC66-DDBA-B40D-795EDF316F54}"/>
              </a:ext>
            </a:extLst>
          </p:cNvPr>
          <p:cNvCxnSpPr>
            <a:cxnSpLocks/>
            <a:stCxn id="16" idx="2"/>
          </p:cNvCxnSpPr>
          <p:nvPr/>
        </p:nvCxnSpPr>
        <p:spPr>
          <a:xfrm flipV="1">
            <a:off x="5446959" y="5269186"/>
            <a:ext cx="1862386" cy="30717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61833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F2B5C-777C-46FA-99B4-5A623A497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E10FD9-E2D6-1923-7B5A-880B88A86F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55101"/>
            <a:ext cx="9144000" cy="1054862"/>
          </a:xfrm>
        </p:spPr>
        <p:txBody>
          <a:bodyPr>
            <a:normAutofit/>
          </a:bodyPr>
          <a:lstStyle/>
          <a:p>
            <a:r>
              <a:rPr lang="en-US" altLang="ko-KR" sz="3600" b="1" dirty="0">
                <a:latin typeface="+mj-lt"/>
              </a:rPr>
              <a:t>11_angr_sim_scanf</a:t>
            </a:r>
            <a:br>
              <a:rPr lang="en-US" altLang="ko-KR" sz="3600" b="1" dirty="0">
                <a:latin typeface="+mj-lt"/>
              </a:rPr>
            </a:br>
            <a:endParaRPr lang="ko-KR" altLang="en-US" sz="2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54950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81D31-6A7F-3E9D-65EB-CD7840A2B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C7AB33-5DDB-5045-438C-A36F1BCB6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22" y="209484"/>
            <a:ext cx="11652115" cy="1123206"/>
          </a:xfrm>
        </p:spPr>
        <p:txBody>
          <a:bodyPr/>
          <a:lstStyle/>
          <a:p>
            <a:r>
              <a:rPr lang="en-US" altLang="ko-KR" b="1" dirty="0">
                <a:latin typeface="+mj-lt"/>
              </a:rPr>
              <a:t>11_angr_sim_scanf</a:t>
            </a:r>
            <a:endParaRPr lang="ko-KR" altLang="en-US" b="1" dirty="0">
              <a:latin typeface="+mj-lt"/>
              <a:cs typeface="Calibri" panose="020F050202020403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AC97CD-7305-BF74-9D01-6D5ECECC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723" y="1713053"/>
            <a:ext cx="4959609" cy="4599798"/>
          </a:xfrm>
        </p:spPr>
        <p:txBody>
          <a:bodyPr>
            <a:normAutofit/>
          </a:bodyPr>
          <a:lstStyle/>
          <a:p>
            <a:r>
              <a:rPr lang="en-US" altLang="ko-K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angr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SimProcedure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</a:rPr>
              <a:t> for </a:t>
            </a:r>
            <a:r>
              <a:rPr lang="en-US" altLang="ko-K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scanf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</a:rPr>
              <a:t> limited to single format specifiers.</a:t>
            </a:r>
          </a:p>
          <a:p>
            <a:endParaRPr lang="en-US" altLang="ko-K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</a:rPr>
              <a:t>Write custom </a:t>
            </a:r>
            <a:r>
              <a:rPr lang="en-US" altLang="ko-K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SimProcedure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</a:rPr>
              <a:t> to replace </a:t>
            </a:r>
            <a:r>
              <a:rPr lang="en-US" altLang="ko-K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scanf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</a:rPr>
              <a:t> to solve.</a:t>
            </a:r>
          </a:p>
          <a:p>
            <a:endParaRPr lang="en-US" altLang="ko-K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scanf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</a:rPr>
              <a:t>(“</a:t>
            </a:r>
            <a:r>
              <a:rPr lang="en-US" altLang="ko-KR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%u %u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</a:rPr>
              <a:t>”, buffer0, buffer1);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177D82F-C250-A54C-2411-1E7FA6FB5F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48719"/>
            <a:ext cx="5507477" cy="321975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BF31A997-983A-4786-AD12-E34276C19B36}"/>
              </a:ext>
            </a:extLst>
          </p:cNvPr>
          <p:cNvSpPr/>
          <p:nvPr/>
        </p:nvSpPr>
        <p:spPr>
          <a:xfrm>
            <a:off x="6458673" y="4120587"/>
            <a:ext cx="3402957" cy="254643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26718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2D154-0D6B-19E0-501B-6A5EB58F8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2D8829-7F9E-6FC4-E28B-2A9578DC3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22" y="209484"/>
            <a:ext cx="11652115" cy="1123206"/>
          </a:xfrm>
        </p:spPr>
        <p:txBody>
          <a:bodyPr/>
          <a:lstStyle/>
          <a:p>
            <a:r>
              <a:rPr lang="en-US" altLang="ko-KR" b="1" dirty="0">
                <a:latin typeface="+mj-lt"/>
              </a:rPr>
              <a:t>11_angr_sim_scanf</a:t>
            </a:r>
            <a:endParaRPr lang="ko-KR" altLang="en-US" b="1" dirty="0">
              <a:latin typeface="+mj-lt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BFFB55E-C090-C590-3BDF-A938B59116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68455" y="1526369"/>
            <a:ext cx="5672683" cy="432335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67134E9C-94C6-FFE2-B9EA-58296F1A0DFF}"/>
              </a:ext>
            </a:extLst>
          </p:cNvPr>
          <p:cNvSpPr/>
          <p:nvPr/>
        </p:nvSpPr>
        <p:spPr>
          <a:xfrm>
            <a:off x="5162791" y="5193260"/>
            <a:ext cx="1043491" cy="85014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5C0DD5-8A03-904A-2952-0A0ECE46E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723" y="1526369"/>
            <a:ext cx="4160955" cy="4793407"/>
          </a:xfrm>
        </p:spPr>
        <p:txBody>
          <a:bodyPr>
            <a:normAutofit/>
          </a:bodyPr>
          <a:lstStyle/>
          <a:p>
            <a:r>
              <a:rPr lang="en-US" altLang="ko-KR" sz="2000" dirty="0">
                <a:latin typeface="+mj-lt"/>
              </a:rPr>
              <a:t>We can see that </a:t>
            </a:r>
            <a:br>
              <a:rPr lang="en-US" altLang="ko-KR" sz="2000" dirty="0">
                <a:latin typeface="+mj-lt"/>
              </a:rPr>
            </a:br>
            <a:r>
              <a:rPr lang="en-US" altLang="ko-KR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scanf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("%u %u", buffer0, buffer1) </a:t>
            </a:r>
            <a:r>
              <a:rPr lang="en-US" altLang="ko-KR" sz="2000" dirty="0">
                <a:latin typeface="+mj-lt"/>
              </a:rPr>
              <a:t>appears </a:t>
            </a:r>
            <a:r>
              <a:rPr lang="en-US" altLang="ko-KR" sz="2000" b="1" dirty="0">
                <a:solidFill>
                  <a:srgbClr val="FF0000"/>
                </a:solidFill>
                <a:latin typeface="+mj-lt"/>
              </a:rPr>
              <a:t>256</a:t>
            </a:r>
            <a:r>
              <a:rPr lang="en-US" altLang="ko-KR" sz="2000" dirty="0">
                <a:latin typeface="+mj-lt"/>
              </a:rPr>
              <a:t> times in the binary.</a:t>
            </a:r>
          </a:p>
          <a:p>
            <a:endParaRPr lang="en-US" altLang="ko-KR" sz="2000" dirty="0">
              <a:latin typeface="+mj-lt"/>
              <a:cs typeface="Calibri" panose="020F0502020204030204" pitchFamily="34" charset="0"/>
            </a:endParaRPr>
          </a:p>
          <a:p>
            <a:r>
              <a:rPr lang="en-US" altLang="ko-KR" sz="2000" dirty="0">
                <a:latin typeface="+mj-lt"/>
              </a:rPr>
              <a:t>11_angr_sim_scanf is very similar to 10_angr_simprocedure, using the same 0xDEADBEEF/var_24 comparison pattern.</a:t>
            </a:r>
          </a:p>
          <a:p>
            <a:endParaRPr lang="en-US" altLang="ko-KR" sz="2000" dirty="0">
              <a:latin typeface="+mj-lt"/>
            </a:endParaRPr>
          </a:p>
          <a:p>
            <a:r>
              <a:rPr lang="en-US" altLang="ko-KR" sz="2000" dirty="0">
                <a:latin typeface="+mj-lt"/>
              </a:rPr>
              <a:t>Since we already covered the detailed walkthrough in 10_angr_simprocedure, we skip it here.</a:t>
            </a:r>
          </a:p>
          <a:p>
            <a:endParaRPr lang="en-US" altLang="ko-KR" sz="2000" dirty="0">
              <a:latin typeface="+mj-lt"/>
              <a:cs typeface="Calibri" panose="020F0502020204030204" pitchFamily="34" charset="0"/>
            </a:endParaRPr>
          </a:p>
          <a:p>
            <a:endParaRPr lang="en-US" altLang="ko-KR" sz="2000" dirty="0">
              <a:latin typeface="+mj-lt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9903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C450D-C7D3-580E-ABE9-3565C6911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6182CE-96A3-9A8E-F5A0-5069683E0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22" y="209484"/>
            <a:ext cx="11652115" cy="1123206"/>
          </a:xfrm>
        </p:spPr>
        <p:txBody>
          <a:bodyPr/>
          <a:lstStyle/>
          <a:p>
            <a:r>
              <a:rPr lang="en-US" altLang="ko-KR" b="1" dirty="0">
                <a:latin typeface="+mj-lt"/>
              </a:rPr>
              <a:t>11_angr_sim_scanf</a:t>
            </a:r>
            <a:endParaRPr lang="ko-KR" altLang="en-US" b="1" dirty="0">
              <a:latin typeface="+mj-lt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FE75BF2-6478-DD25-85F0-4352C41D2C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76997" y="2278039"/>
            <a:ext cx="6147287" cy="331335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E17FF8E-0637-5798-E04E-B3040CEFEA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997" y="1615563"/>
            <a:ext cx="5326373" cy="25924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656D7B0E-BE01-9A0A-57F5-36514893B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723" y="1713053"/>
            <a:ext cx="4716540" cy="4599798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sz="2400" b="1" dirty="0" err="1">
                <a:latin typeface="+mj-lt"/>
              </a:rPr>
              <a:t>ReplacementScanf</a:t>
            </a:r>
            <a:r>
              <a:rPr lang="en-US" altLang="ko-KR" sz="2400" b="1" dirty="0">
                <a:latin typeface="+mj-lt"/>
              </a:rPr>
              <a:t> (lines 9–20):</a:t>
            </a:r>
            <a:endParaRPr lang="en-US" altLang="ko-KR" sz="2400" dirty="0">
              <a:latin typeface="+mj-lt"/>
            </a:endParaRPr>
          </a:p>
          <a:p>
            <a:pPr lvl="1"/>
            <a:r>
              <a:rPr lang="en-US" altLang="ko-KR" sz="2000" dirty="0">
                <a:latin typeface="+mj-lt"/>
              </a:rPr>
              <a:t>Creates two 32-bit symbolic </a:t>
            </a:r>
            <a:r>
              <a:rPr lang="en-US" altLang="ko-KR" sz="2000" dirty="0" err="1">
                <a:latin typeface="+mj-lt"/>
              </a:rPr>
              <a:t>bitvectors</a:t>
            </a:r>
            <a:r>
              <a:rPr lang="en-US" altLang="ko-KR" sz="2000" dirty="0">
                <a:latin typeface="+mj-lt"/>
              </a:rPr>
              <a:t> (</a:t>
            </a:r>
            <a:r>
              <a:rPr lang="en-US" altLang="ko-KR" b="1" dirty="0">
                <a:latin typeface="+mj-lt"/>
              </a:rPr>
              <a:t>scanf0</a:t>
            </a:r>
            <a:r>
              <a:rPr lang="en-US" altLang="ko-KR" sz="2000" dirty="0">
                <a:latin typeface="+mj-lt"/>
              </a:rPr>
              <a:t>, </a:t>
            </a:r>
            <a:r>
              <a:rPr lang="en-US" altLang="ko-KR" b="1" dirty="0">
                <a:latin typeface="+mj-lt"/>
              </a:rPr>
              <a:t>scanf1</a:t>
            </a:r>
            <a:r>
              <a:rPr lang="en-US" altLang="ko-KR" sz="2000" dirty="0">
                <a:latin typeface="+mj-lt"/>
              </a:rPr>
              <a:t>).</a:t>
            </a:r>
          </a:p>
          <a:p>
            <a:pPr lvl="1"/>
            <a:r>
              <a:rPr lang="en-US" altLang="ko-KR" sz="2000" dirty="0">
                <a:latin typeface="+mj-lt"/>
              </a:rPr>
              <a:t>Stores them at </a:t>
            </a:r>
            <a:r>
              <a:rPr lang="en-US" altLang="ko-KR" b="1" dirty="0">
                <a:latin typeface="+mj-lt"/>
              </a:rPr>
              <a:t>scanf0_address</a:t>
            </a:r>
            <a:r>
              <a:rPr lang="en-US" altLang="ko-KR" sz="2000" dirty="0">
                <a:latin typeface="+mj-lt"/>
              </a:rPr>
              <a:t> and </a:t>
            </a:r>
            <a:r>
              <a:rPr lang="en-US" altLang="ko-KR" b="1" dirty="0">
                <a:latin typeface="+mj-lt"/>
              </a:rPr>
              <a:t>scanf1_address</a:t>
            </a:r>
            <a:r>
              <a:rPr lang="en-US" altLang="ko-KR" sz="2000" dirty="0">
                <a:latin typeface="+mj-lt"/>
              </a:rPr>
              <a:t>.</a:t>
            </a:r>
          </a:p>
          <a:p>
            <a:pPr lvl="1"/>
            <a:r>
              <a:rPr lang="en-US" altLang="ko-KR" sz="2000" dirty="0">
                <a:latin typeface="+mj-lt"/>
              </a:rPr>
              <a:t>Saves them in </a:t>
            </a:r>
            <a:r>
              <a:rPr lang="en-US" altLang="ko-KR" dirty="0" err="1">
                <a:latin typeface="+mj-lt"/>
              </a:rPr>
              <a:t>state.globals</a:t>
            </a:r>
            <a:r>
              <a:rPr lang="en-US" altLang="ko-KR" sz="2000" dirty="0">
                <a:latin typeface="+mj-lt"/>
              </a:rPr>
              <a:t> for later retrieval.</a:t>
            </a:r>
          </a:p>
          <a:p>
            <a:pPr lvl="1"/>
            <a:r>
              <a:rPr lang="en-US" altLang="ko-KR" sz="2000" dirty="0">
                <a:latin typeface="+mj-lt"/>
              </a:rPr>
              <a:t>Returns 2 (number of items parsed).</a:t>
            </a:r>
          </a:p>
          <a:p>
            <a:pPr lvl="1"/>
            <a:endParaRPr lang="en-US" altLang="ko-KR" sz="2000" dirty="0">
              <a:latin typeface="+mj-lt"/>
            </a:endParaRPr>
          </a:p>
          <a:p>
            <a:pPr lvl="1"/>
            <a:endParaRPr lang="en-US" altLang="ko-KR" sz="2000" dirty="0">
              <a:latin typeface="+mj-lt"/>
            </a:endParaRPr>
          </a:p>
          <a:p>
            <a:r>
              <a:rPr lang="en-US" altLang="ko-KR" sz="2400" b="1" dirty="0">
                <a:latin typeface="+mj-lt"/>
              </a:rPr>
              <a:t>Solving (lines 30–34):</a:t>
            </a:r>
            <a:endParaRPr lang="en-US" altLang="ko-KR" sz="2400" dirty="0">
              <a:latin typeface="+mj-lt"/>
            </a:endParaRPr>
          </a:p>
          <a:p>
            <a:pPr lvl="1"/>
            <a:r>
              <a:rPr lang="en-US" altLang="ko-KR" sz="2000" dirty="0">
                <a:latin typeface="+mj-lt"/>
              </a:rPr>
              <a:t>Retrieves the symbolic </a:t>
            </a:r>
            <a:r>
              <a:rPr lang="en-US" altLang="ko-KR" sz="2000" dirty="0" err="1">
                <a:latin typeface="+mj-lt"/>
              </a:rPr>
              <a:t>bitvectors</a:t>
            </a:r>
            <a:r>
              <a:rPr lang="en-US" altLang="ko-KR" sz="2000" dirty="0">
                <a:latin typeface="+mj-lt"/>
              </a:rPr>
              <a:t> from </a:t>
            </a:r>
            <a:r>
              <a:rPr lang="en-US" altLang="ko-KR" dirty="0" err="1">
                <a:latin typeface="+mj-lt"/>
              </a:rPr>
              <a:t>state.globals</a:t>
            </a:r>
            <a:r>
              <a:rPr lang="en-US" altLang="ko-KR" sz="2000" dirty="0">
                <a:latin typeface="+mj-lt"/>
              </a:rPr>
              <a:t> and concretizes each with </a:t>
            </a:r>
            <a:r>
              <a:rPr lang="en-US" altLang="ko-KR" dirty="0" err="1">
                <a:latin typeface="+mj-lt"/>
              </a:rPr>
              <a:t>solver.eval</a:t>
            </a:r>
            <a:r>
              <a:rPr lang="en-US" altLang="ko-KR" sz="2000" dirty="0">
                <a:latin typeface="+mj-lt"/>
              </a:rPr>
              <a:t>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D0C192C-7DFE-CFA6-D9F7-67D1E94E72E8}"/>
              </a:ext>
            </a:extLst>
          </p:cNvPr>
          <p:cNvSpPr/>
          <p:nvPr/>
        </p:nvSpPr>
        <p:spPr>
          <a:xfrm>
            <a:off x="5891514" y="2278039"/>
            <a:ext cx="5932770" cy="1391136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93806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DFC08-4D8C-04C2-4DF4-D24C03D8D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FF77C8-34BE-3FA9-FD38-2CD17030B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22" y="209484"/>
            <a:ext cx="11652115" cy="1123206"/>
          </a:xfrm>
        </p:spPr>
        <p:txBody>
          <a:bodyPr/>
          <a:lstStyle/>
          <a:p>
            <a:r>
              <a:rPr lang="en-US" altLang="ko-KR" b="1" dirty="0">
                <a:latin typeface="+mj-lt"/>
              </a:rPr>
              <a:t>11_angr_sim_scanf</a:t>
            </a:r>
            <a:endParaRPr lang="ko-KR" altLang="en-US" b="1" dirty="0">
              <a:latin typeface="+mj-lt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8343713-8C9F-6430-BBAF-D532BAD716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30479" y="1236699"/>
            <a:ext cx="4577645" cy="340431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085F1B88-CDFF-4131-420F-61224A7C5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723" y="1713053"/>
            <a:ext cx="4577644" cy="4599798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</a:rPr>
              <a:t>However, recent versions of </a:t>
            </a:r>
            <a:r>
              <a:rPr lang="en-US" altLang="ko-K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angr’s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format_parser.py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</a:rPr>
              <a:t> can handle multiple format specifiers.</a:t>
            </a:r>
          </a:p>
          <a:p>
            <a:endParaRPr lang="en-US" altLang="ko-K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</a:rPr>
              <a:t>This means a simpler solution without a custom </a:t>
            </a:r>
            <a:r>
              <a:rPr lang="en-US" altLang="ko-K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SimProcedure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</a:rPr>
              <a:t> is now possible.</a:t>
            </a:r>
          </a:p>
          <a:p>
            <a:endParaRPr lang="en-US" altLang="ko-K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</a:rPr>
              <a:t>But,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format_parser.py 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</a:rPr>
              <a:t>is still incomplete.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70A834E-609D-6FC9-EE5C-FE5FBFF791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8" y="5209489"/>
            <a:ext cx="5646909" cy="96782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6ED271A2-B2C3-2F91-185F-D7350E882C37}"/>
              </a:ext>
            </a:extLst>
          </p:cNvPr>
          <p:cNvSpPr/>
          <p:nvPr/>
        </p:nvSpPr>
        <p:spPr>
          <a:xfrm>
            <a:off x="5397128" y="2790081"/>
            <a:ext cx="794793" cy="474562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57EA5564-42FB-18FC-98C3-7EAEA1B3BDA0}"/>
              </a:ext>
            </a:extLst>
          </p:cNvPr>
          <p:cNvSpPr/>
          <p:nvPr/>
        </p:nvSpPr>
        <p:spPr>
          <a:xfrm>
            <a:off x="4602335" y="5456120"/>
            <a:ext cx="794793" cy="474562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오른쪽 중괄호 14">
            <a:extLst>
              <a:ext uri="{FF2B5EF4-FFF2-40B4-BE49-F238E27FC236}">
                <a16:creationId xmlns:a16="http://schemas.microsoft.com/office/drawing/2014/main" id="{F42ABF03-AA68-7AEA-1104-F6D6650B0BE7}"/>
              </a:ext>
            </a:extLst>
          </p:cNvPr>
          <p:cNvSpPr/>
          <p:nvPr/>
        </p:nvSpPr>
        <p:spPr>
          <a:xfrm>
            <a:off x="4595138" y="1730998"/>
            <a:ext cx="542958" cy="2653112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7007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AD9CC-B550-2C0E-0DE1-6757F9782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68BB82-D2A2-CE31-4703-E2EB55B79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22" y="209484"/>
            <a:ext cx="11652115" cy="1123206"/>
          </a:xfrm>
        </p:spPr>
        <p:txBody>
          <a:bodyPr/>
          <a:lstStyle/>
          <a:p>
            <a:r>
              <a:rPr lang="en-US" altLang="ko-KR" b="1" dirty="0">
                <a:latin typeface="+mj-lt"/>
              </a:rPr>
              <a:t>11_angr_sim_scanf</a:t>
            </a:r>
            <a:endParaRPr lang="ko-KR" altLang="en-US" b="1" dirty="0">
              <a:latin typeface="+mj-lt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B07D404-2FE7-280E-BFEC-3C7F0459D6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30479" y="1236699"/>
            <a:ext cx="4577645" cy="340431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7869EAAF-FCDE-3E7E-88C1-689E6AA9E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723" y="1713053"/>
            <a:ext cx="4577644" cy="4599798"/>
          </a:xfrm>
        </p:spPr>
        <p:txBody>
          <a:bodyPr>
            <a:normAutofit/>
          </a:bodyPr>
          <a:lstStyle/>
          <a:p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</a:rPr>
              <a:t>However, recent versions of </a:t>
            </a:r>
            <a:r>
              <a:rPr lang="en-US" altLang="ko-K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angr’s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2400" b="1" dirty="0">
                <a:latin typeface="Calibri" panose="020F0502020204030204" pitchFamily="34" charset="0"/>
                <a:cs typeface="Calibri" panose="020F0502020204030204" pitchFamily="34" charset="0"/>
              </a:rPr>
              <a:t>format_parser.py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</a:rPr>
              <a:t> can handle multiple format specifiers.</a:t>
            </a:r>
          </a:p>
          <a:p>
            <a:endParaRPr lang="en-US" altLang="ko-K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</a:rPr>
              <a:t>This means a simpler solution without a custom </a:t>
            </a:r>
            <a:r>
              <a:rPr lang="en-US" altLang="ko-KR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SimProcedure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</a:rPr>
              <a:t> is now possible.</a:t>
            </a:r>
          </a:p>
          <a:p>
            <a:endParaRPr lang="en-US" altLang="ko-K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ko-K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</a:rPr>
              <a:t>But, </a:t>
            </a:r>
            <a:r>
              <a:rPr lang="en-US" altLang="ko-KR" sz="2400" b="1" dirty="0">
                <a:latin typeface="Calibri" panose="020F0502020204030204" pitchFamily="34" charset="0"/>
                <a:cs typeface="Calibri" panose="020F0502020204030204" pitchFamily="34" charset="0"/>
              </a:rPr>
              <a:t>format_parser.py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2400" dirty="0">
                <a:latin typeface="Calibri" panose="020F0502020204030204" pitchFamily="34" charset="0"/>
                <a:cs typeface="Calibri" panose="020F0502020204030204" pitchFamily="34" charset="0"/>
              </a:rPr>
              <a:t>is still incomplete.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35354A1-DFEA-4837-4880-B263B28C4E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8" y="5209489"/>
            <a:ext cx="5646909" cy="96782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105734F0-5FEA-2B01-BF4F-818F50303DD5}"/>
              </a:ext>
            </a:extLst>
          </p:cNvPr>
          <p:cNvSpPr/>
          <p:nvPr/>
        </p:nvSpPr>
        <p:spPr>
          <a:xfrm>
            <a:off x="5397128" y="2790081"/>
            <a:ext cx="794793" cy="474562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D8E5EB5C-B860-FF09-8CDD-64F6B3AFE345}"/>
              </a:ext>
            </a:extLst>
          </p:cNvPr>
          <p:cNvSpPr/>
          <p:nvPr/>
        </p:nvSpPr>
        <p:spPr>
          <a:xfrm>
            <a:off x="4602335" y="5456120"/>
            <a:ext cx="794793" cy="474562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오른쪽 중괄호 14">
            <a:extLst>
              <a:ext uri="{FF2B5EF4-FFF2-40B4-BE49-F238E27FC236}">
                <a16:creationId xmlns:a16="http://schemas.microsoft.com/office/drawing/2014/main" id="{3DF1E19A-CC1A-9D9E-C0D5-CAF6C66C0DAC}"/>
              </a:ext>
            </a:extLst>
          </p:cNvPr>
          <p:cNvSpPr/>
          <p:nvPr/>
        </p:nvSpPr>
        <p:spPr>
          <a:xfrm>
            <a:off x="4595138" y="1730998"/>
            <a:ext cx="542958" cy="2653112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48820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AEDD3-E216-417F-6F5E-F4C4365E7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BE784A-1BED-C675-B3AD-167AEF6DC6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74138"/>
            <a:ext cx="9144000" cy="1054862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+mj-lt"/>
              </a:rPr>
              <a:t>Thank you</a:t>
            </a:r>
            <a:endParaRPr lang="ko-KR" altLang="en-US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78249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libri 글꼴 테마">
      <a:majorFont>
        <a:latin typeface="Calibri"/>
        <a:ea typeface="Calibri"/>
        <a:cs typeface=""/>
      </a:majorFont>
      <a:minorFont>
        <a:latin typeface="Calibri"/>
        <a:ea typeface="Calibr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libri 글꼴 테마">
      <a:majorFont>
        <a:latin typeface="Calibri"/>
        <a:ea typeface="맑은 고딕"/>
        <a:cs typeface=""/>
      </a:majorFont>
      <a:minorFont>
        <a:latin typeface="Calibri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2236</TotalTime>
  <Words>2020</Words>
  <Application>Microsoft Office PowerPoint</Application>
  <PresentationFormat>와이드스크린</PresentationFormat>
  <Paragraphs>239</Paragraphs>
  <Slides>38</Slides>
  <Notes>29</Notes>
  <HiddenSlides>2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3" baseType="lpstr">
      <vt:lpstr>Calibri (본문)</vt:lpstr>
      <vt:lpstr>맑은 고딕 Semilight</vt:lpstr>
      <vt:lpstr>Arial</vt:lpstr>
      <vt:lpstr>Calibri</vt:lpstr>
      <vt:lpstr>Office 테마</vt:lpstr>
      <vt:lpstr>Symbolic Execution angr CTF  Handling State Explosion </vt:lpstr>
      <vt:lpstr>Overview</vt:lpstr>
      <vt:lpstr>What Are Constraints in angr?</vt:lpstr>
      <vt:lpstr>Simple state explosion example</vt:lpstr>
      <vt:lpstr>08_angr_constraints </vt:lpstr>
      <vt:lpstr>08_angr_constraints</vt:lpstr>
      <vt:lpstr>08_angr_constraints</vt:lpstr>
      <vt:lpstr>08_angr_constraints</vt:lpstr>
      <vt:lpstr>08_angr_constraints</vt:lpstr>
      <vt:lpstr>08_angr_constraints</vt:lpstr>
      <vt:lpstr>08_angr_constraints</vt:lpstr>
      <vt:lpstr>08_angr_constraints</vt:lpstr>
      <vt:lpstr>08_angr_constraints</vt:lpstr>
      <vt:lpstr>09_angr_hooks </vt:lpstr>
      <vt:lpstr>Hook in angr</vt:lpstr>
      <vt:lpstr>How to use hook in angr</vt:lpstr>
      <vt:lpstr>How to use hook in angr</vt:lpstr>
      <vt:lpstr>Back to the 08_angr_constraints…</vt:lpstr>
      <vt:lpstr>Back to the 08_angr_constraints…</vt:lpstr>
      <vt:lpstr>Back to the 08_angr_constraints…</vt:lpstr>
      <vt:lpstr>10_angr_SimProcedure </vt:lpstr>
      <vt:lpstr>SimProcedure</vt:lpstr>
      <vt:lpstr>SimProcedure</vt:lpstr>
      <vt:lpstr>10_angr_simprocedure</vt:lpstr>
      <vt:lpstr>10_angr_simprocedure</vt:lpstr>
      <vt:lpstr>10_angr_simprocedure</vt:lpstr>
      <vt:lpstr>10_angr_simprocedure</vt:lpstr>
      <vt:lpstr>10_angr_simprocedure</vt:lpstr>
      <vt:lpstr>10_angr_simprocedure</vt:lpstr>
      <vt:lpstr>10_angr_simprocedure - Hook</vt:lpstr>
      <vt:lpstr>10_angr_simprocedure – SimProcedure</vt:lpstr>
      <vt:lpstr>11_angr_sim_scanf </vt:lpstr>
      <vt:lpstr>11_angr_sim_scanf</vt:lpstr>
      <vt:lpstr>11_angr_sim_scanf</vt:lpstr>
      <vt:lpstr>11_angr_sim_scanf</vt:lpstr>
      <vt:lpstr>11_angr_sim_scanf</vt:lpstr>
      <vt:lpstr>11_angr_sim_scanf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박서진</dc:creator>
  <cp:lastModifiedBy>박서진</cp:lastModifiedBy>
  <cp:revision>2409</cp:revision>
  <dcterms:created xsi:type="dcterms:W3CDTF">2026-03-19T03:52:50Z</dcterms:created>
  <dcterms:modified xsi:type="dcterms:W3CDTF">2026-03-30T05:05:15Z</dcterms:modified>
</cp:coreProperties>
</file>