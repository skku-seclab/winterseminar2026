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28"/>
  </p:notesMasterIdLst>
  <p:sldIdLst>
    <p:sldId id="256" r:id="rId2"/>
    <p:sldId id="257" r:id="rId3"/>
    <p:sldId id="289" r:id="rId4"/>
    <p:sldId id="288" r:id="rId5"/>
    <p:sldId id="287" r:id="rId6"/>
    <p:sldId id="290" r:id="rId7"/>
    <p:sldId id="291" r:id="rId8"/>
    <p:sldId id="292" r:id="rId9"/>
    <p:sldId id="293" r:id="rId10"/>
    <p:sldId id="294" r:id="rId11"/>
    <p:sldId id="295" r:id="rId12"/>
    <p:sldId id="298" r:id="rId13"/>
    <p:sldId id="299" r:id="rId14"/>
    <p:sldId id="300" r:id="rId15"/>
    <p:sldId id="303" r:id="rId16"/>
    <p:sldId id="316" r:id="rId17"/>
    <p:sldId id="313" r:id="rId18"/>
    <p:sldId id="314" r:id="rId19"/>
    <p:sldId id="317" r:id="rId20"/>
    <p:sldId id="302" r:id="rId21"/>
    <p:sldId id="306" r:id="rId22"/>
    <p:sldId id="311" r:id="rId23"/>
    <p:sldId id="312" r:id="rId24"/>
    <p:sldId id="308" r:id="rId25"/>
    <p:sldId id="309" r:id="rId26"/>
    <p:sldId id="28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269" autoAdjust="0"/>
  </p:normalViewPr>
  <p:slideViewPr>
    <p:cSldViewPr snapToGrid="0">
      <p:cViewPr varScale="1">
        <p:scale>
          <a:sx n="63" d="100"/>
          <a:sy n="63" d="100"/>
        </p:scale>
        <p:origin x="716" y="6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98287BFF-A211-48B6-A32A-FD563381AB88}" type="datetime1">
              <a:rPr lang="ko-KR" altLang="en-US"/>
              <a:pPr lvl="0">
                <a:defRPr/>
              </a:pPr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52D165E-266B-4625-863F-C8655092B92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C++</a:t>
            </a:r>
            <a:r>
              <a:rPr lang="ko-KR" altLang="en-US" dirty="0"/>
              <a:t>로 작성된 악성코드는 </a:t>
            </a:r>
            <a:r>
              <a:rPr lang="en-US" altLang="ko-KR" dirty="0"/>
              <a:t>C</a:t>
            </a:r>
            <a:r>
              <a:rPr lang="ko-KR" altLang="en-US" dirty="0"/>
              <a:t>에는 없는 객체지향 구조 때문에 어셈블리 분석이 더 복잡해짐</a:t>
            </a:r>
            <a:r>
              <a:rPr lang="en-US" altLang="ko-KR" dirty="0"/>
              <a:t>. </a:t>
            </a:r>
          </a:p>
          <a:p>
            <a:pPr lvl="0">
              <a:defRPr/>
            </a:pPr>
            <a:r>
              <a:rPr lang="ko-KR" altLang="en-US" dirty="0"/>
              <a:t>해당 파트에서는 </a:t>
            </a:r>
            <a:r>
              <a:rPr lang="en-US" altLang="ko-KR" dirty="0"/>
              <a:t>C++</a:t>
            </a:r>
            <a:r>
              <a:rPr lang="ko-KR" altLang="en-US" dirty="0"/>
              <a:t>의 기능들이 어셈블리에서 어떻게 나타나는지를 다룸</a:t>
            </a:r>
            <a:r>
              <a:rPr lang="en-US" altLang="ko-KR" dirty="0"/>
              <a:t>. </a:t>
            </a:r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C++</a:t>
            </a:r>
            <a:r>
              <a:rPr lang="ko-KR" altLang="en-US" dirty="0"/>
              <a:t>는 데이터와 그 데이터를 처리하는 함수를 하나의 객체로 묶는 객체지향 언어이다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000" dirty="0">
                <a:latin typeface="Cambria"/>
                <a:ea typeface="Cambria"/>
              </a:rPr>
              <a:t>C++ </a:t>
            </a:r>
            <a:r>
              <a:rPr lang="ko-KR" altLang="en-US" sz="2000" dirty="0">
                <a:latin typeface="Cambria"/>
              </a:rPr>
              <a:t>클래스의 메서드는 “어떤 객체 인스턴스에 대해 </a:t>
            </a:r>
            <a:r>
              <a:rPr lang="ko-KR" altLang="en-US" sz="2000" dirty="0" err="1">
                <a:latin typeface="Cambria"/>
              </a:rPr>
              <a:t>호출됐는지”를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알아야하고</a:t>
            </a:r>
            <a:r>
              <a:rPr lang="ko-KR" altLang="en-US" sz="2000" dirty="0">
                <a:latin typeface="Cambria"/>
              </a:rPr>
              <a:t> </a:t>
            </a:r>
            <a:r>
              <a:rPr lang="en-US" altLang="ko-KR" sz="2000" dirty="0">
                <a:latin typeface="Cambria"/>
                <a:ea typeface="Cambria"/>
              </a:rPr>
              <a:t>, </a:t>
            </a:r>
            <a:r>
              <a:rPr lang="ko-KR" altLang="en-US" sz="2000" dirty="0">
                <a:latin typeface="Cambria"/>
              </a:rPr>
              <a:t>이를 위해 </a:t>
            </a:r>
            <a:r>
              <a:rPr lang="en-US" altLang="ko-KR" sz="2000" b="1" dirty="0">
                <a:latin typeface="Cambria"/>
                <a:ea typeface="Cambria"/>
              </a:rPr>
              <a:t>this </a:t>
            </a:r>
            <a:r>
              <a:rPr lang="ko-KR" altLang="en-US" sz="2000" b="1" dirty="0">
                <a:latin typeface="Cambria"/>
              </a:rPr>
              <a:t>포인터</a:t>
            </a:r>
            <a:r>
              <a:rPr lang="ko-KR" altLang="en-US" sz="2000" dirty="0">
                <a:latin typeface="Cambria"/>
              </a:rPr>
              <a:t>가 사용됨</a:t>
            </a:r>
            <a:endParaRPr lang="en-US" altLang="ko-KR" sz="2000" dirty="0">
              <a:latin typeface="Cambri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HelloWorld()</a:t>
            </a:r>
            <a:r>
              <a:rPr lang="ko-KR" altLang="en-US" sz="2000" dirty="0">
                <a:latin typeface="Cambria" panose="02040503050406030204" pitchFamily="18" charset="0"/>
              </a:rPr>
              <a:t> 내부의 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ko-KR" altLang="en-US" sz="2000" dirty="0">
                <a:latin typeface="Cambria" panose="02040503050406030204" pitchFamily="18" charset="0"/>
              </a:rPr>
              <a:t>는 호출한 객체에 따라 다른 메모리 주소를 가리킴</a:t>
            </a: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defRPr/>
            </a:pPr>
            <a:endParaRPr lang="ko-KR" altLang="en-US" sz="2000" dirty="0">
              <a:latin typeface="Cambria"/>
            </a:endParaRPr>
          </a:p>
          <a:p>
            <a:pPr lvl="0">
              <a:defRPr/>
            </a:pPr>
            <a:endParaRPr lang="en-US" altLang="ko-KR" sz="2000" dirty="0">
              <a:latin typeface="Cambria"/>
            </a:endParaRPr>
          </a:p>
          <a:p>
            <a:pPr lvl="0"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클래스의 멤버 함수 내에서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객체 자신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주소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가리키는 숨겨진 포인터</a:t>
            </a:r>
            <a:r>
              <a:rPr lang="ko-KR" altLang="en-US" sz="2000" dirty="0">
                <a:latin typeface="Cambria"/>
              </a:rPr>
              <a:t> </a:t>
            </a:r>
            <a:endParaRPr lang="en-US" altLang="ko-KR" sz="2000" dirty="0">
              <a:latin typeface="Cambria"/>
              <a:ea typeface="Cambri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000" dirty="0"/>
              <a:t>객체 시작에 </a:t>
            </a:r>
            <a:r>
              <a:rPr lang="en-US" altLang="ko-KR" sz="2000" dirty="0" err="1"/>
              <a:t>vtable</a:t>
            </a:r>
            <a:r>
              <a:rPr lang="en-US" altLang="ko-KR" sz="2000" dirty="0"/>
              <a:t> </a:t>
            </a:r>
            <a:r>
              <a:rPr lang="ko-KR" altLang="en-US" sz="2000" dirty="0"/>
              <a:t>주소 저장 </a:t>
            </a:r>
            <a:r>
              <a:rPr lang="en-US" altLang="ko-KR" sz="2000" dirty="0"/>
              <a:t>(</a:t>
            </a:r>
            <a:r>
              <a:rPr lang="ko-KR" altLang="en-US" sz="2000" dirty="0"/>
              <a:t>이거는 객체지향구조상 관례</a:t>
            </a:r>
            <a:r>
              <a:rPr lang="en-US" altLang="ko-KR" sz="2000" dirty="0"/>
              <a:t>) </a:t>
            </a:r>
            <a:r>
              <a:rPr lang="en-US" altLang="ko-KR" sz="2000" dirty="0">
                <a:latin typeface="Cambria"/>
                <a:ea typeface="Cambria"/>
              </a:rPr>
              <a:t>= var_10 </a:t>
            </a:r>
          </a:p>
          <a:p>
            <a:pPr lvl="0">
              <a:defRPr/>
            </a:pPr>
            <a:r>
              <a:rPr lang="ko-KR" altLang="en-US" sz="2000" dirty="0">
                <a:latin typeface="Cambria"/>
              </a:rPr>
              <a:t>그 다음 </a:t>
            </a:r>
            <a:r>
              <a:rPr lang="en-US" altLang="ko-KR" sz="2000" dirty="0">
                <a:latin typeface="Cambria"/>
              </a:rPr>
              <a:t>4 </a:t>
            </a:r>
            <a:r>
              <a:rPr lang="ko-KR" altLang="en-US" sz="2000" dirty="0">
                <a:latin typeface="Cambria"/>
              </a:rPr>
              <a:t>바이트에 </a:t>
            </a:r>
            <a:r>
              <a:rPr lang="en-US" altLang="ko-KR" sz="2000" dirty="0">
                <a:latin typeface="Cambria"/>
              </a:rPr>
              <a:t>9 </a:t>
            </a:r>
            <a:r>
              <a:rPr lang="ko-KR" altLang="en-US" sz="2000" dirty="0">
                <a:latin typeface="Cambria"/>
              </a:rPr>
              <a:t>값을 넣고 </a:t>
            </a:r>
          </a:p>
          <a:p>
            <a:pPr lvl="0">
              <a:defRPr/>
            </a:pPr>
            <a:r>
              <a:rPr lang="ko-KR" altLang="en-US" sz="2000" dirty="0">
                <a:latin typeface="Cambria"/>
              </a:rPr>
              <a:t>이 </a:t>
            </a:r>
            <a:r>
              <a:rPr lang="en-US" altLang="ko-KR" sz="2000" dirty="0">
                <a:latin typeface="Cambria"/>
              </a:rPr>
              <a:t>var_10 </a:t>
            </a:r>
            <a:r>
              <a:rPr lang="ko-KR" altLang="en-US" sz="2000" dirty="0">
                <a:latin typeface="Cambria"/>
              </a:rPr>
              <a:t>즉 객체가 시작된</a:t>
            </a:r>
            <a:r>
              <a:rPr lang="en-US" altLang="ko-KR" sz="2000" dirty="0">
                <a:latin typeface="Cambria"/>
              </a:rPr>
              <a:t>, </a:t>
            </a:r>
            <a:r>
              <a:rPr lang="ko-KR" altLang="en-US" sz="2000" dirty="0">
                <a:latin typeface="Cambria"/>
              </a:rPr>
              <a:t>객체의 시작 주소를 </a:t>
            </a:r>
            <a:r>
              <a:rPr lang="en-US" altLang="ko-KR" sz="2000" dirty="0">
                <a:latin typeface="Cambria"/>
              </a:rPr>
              <a:t>lea </a:t>
            </a:r>
            <a:r>
              <a:rPr lang="ko-KR" altLang="en-US" sz="2000" dirty="0">
                <a:latin typeface="Cambria"/>
              </a:rPr>
              <a:t>명령어를 사용해서 </a:t>
            </a:r>
            <a:r>
              <a:rPr lang="en-US" altLang="ko-KR" sz="2000" dirty="0" err="1">
                <a:latin typeface="Cambria"/>
              </a:rPr>
              <a:t>ecx</a:t>
            </a:r>
            <a:r>
              <a:rPr lang="ko-KR" altLang="en-US" sz="2000" dirty="0">
                <a:latin typeface="Cambria"/>
              </a:rPr>
              <a:t>에 </a:t>
            </a:r>
            <a:r>
              <a:rPr lang="en-US" altLang="ko-KR" sz="2000" dirty="0">
                <a:latin typeface="Cambria"/>
              </a:rPr>
              <a:t> </a:t>
            </a:r>
            <a:r>
              <a:rPr lang="ko-KR" altLang="en-US" sz="2000" dirty="0">
                <a:latin typeface="Cambria"/>
              </a:rPr>
              <a:t>넣은 후 </a:t>
            </a:r>
            <a:r>
              <a:rPr lang="en-US" altLang="ko-KR" sz="2000" dirty="0" err="1">
                <a:latin typeface="Cambria"/>
              </a:rPr>
              <a:t>helloworl</a:t>
            </a:r>
            <a:r>
              <a:rPr lang="en-US" altLang="ko-KR" sz="2000" dirty="0">
                <a:latin typeface="Cambria"/>
              </a:rPr>
              <a:t> </a:t>
            </a:r>
            <a:r>
              <a:rPr lang="ko-KR" altLang="en-US" sz="2000" dirty="0">
                <a:latin typeface="Cambria"/>
              </a:rPr>
              <a:t>를 호출하는 것</a:t>
            </a:r>
            <a:r>
              <a:rPr lang="en-US" altLang="ko-KR" sz="2000" dirty="0">
                <a:latin typeface="Cambria"/>
              </a:rPr>
              <a:t>. </a:t>
            </a:r>
          </a:p>
          <a:p>
            <a:pPr lvl="0">
              <a:defRPr/>
            </a:pPr>
            <a:endParaRPr lang="en-US" altLang="ko-KR" sz="2000" dirty="0">
              <a:latin typeface="Cambria"/>
            </a:endParaRPr>
          </a:p>
          <a:p>
            <a:pPr lvl="0">
              <a:defRPr/>
            </a:pPr>
            <a:r>
              <a:rPr lang="ko-KR" altLang="en-US" sz="2000" dirty="0">
                <a:latin typeface="Cambria"/>
              </a:rPr>
              <a:t>넘어온 객체 시작 주소를 읽어 오고 </a:t>
            </a:r>
            <a:r>
              <a:rPr lang="en-US" altLang="ko-KR" sz="2000" dirty="0" err="1">
                <a:latin typeface="Cambria"/>
              </a:rPr>
              <a:t>eax</a:t>
            </a:r>
            <a:r>
              <a:rPr lang="ko-KR" altLang="en-US" sz="2000" dirty="0">
                <a:latin typeface="Cambria"/>
              </a:rPr>
              <a:t>에 저장</a:t>
            </a:r>
            <a:r>
              <a:rPr lang="en-US" altLang="ko-KR" sz="2000" dirty="0">
                <a:latin typeface="Cambria"/>
              </a:rPr>
              <a:t>. </a:t>
            </a:r>
          </a:p>
          <a:p>
            <a:pPr lvl="0">
              <a:defRPr/>
            </a:pPr>
            <a:r>
              <a:rPr lang="ko-KR" altLang="en-US" sz="2000" dirty="0">
                <a:latin typeface="Cambria"/>
              </a:rPr>
              <a:t>그 다음 </a:t>
            </a:r>
            <a:r>
              <a:rPr lang="en-US" altLang="ko-KR" sz="2000" dirty="0">
                <a:latin typeface="Cambria"/>
              </a:rPr>
              <a:t>eax+4</a:t>
            </a:r>
            <a:r>
              <a:rPr lang="ko-KR" altLang="en-US" sz="2000" dirty="0">
                <a:latin typeface="Cambria"/>
              </a:rPr>
              <a:t>는</a:t>
            </a:r>
            <a:r>
              <a:rPr lang="en-US" altLang="ko-KR" sz="2000" dirty="0">
                <a:latin typeface="Cambria"/>
              </a:rPr>
              <a:t> </a:t>
            </a:r>
            <a:r>
              <a:rPr lang="ko-KR" altLang="en-US" sz="2000" dirty="0">
                <a:latin typeface="Cambria"/>
              </a:rPr>
              <a:t>아까 저장한 </a:t>
            </a:r>
            <a:r>
              <a:rPr lang="en-US" altLang="ko-KR" sz="2000" dirty="0">
                <a:latin typeface="Cambria"/>
              </a:rPr>
              <a:t>9</a:t>
            </a:r>
            <a:r>
              <a:rPr lang="ko-KR" altLang="en-US" sz="2000" dirty="0">
                <a:latin typeface="Cambria"/>
              </a:rPr>
              <a:t>이므로 </a:t>
            </a:r>
            <a:r>
              <a:rPr lang="en-US" altLang="ko-KR" sz="2000" dirty="0">
                <a:latin typeface="Cambria"/>
              </a:rPr>
              <a:t>9</a:t>
            </a:r>
            <a:r>
              <a:rPr lang="ko-KR" altLang="en-US" sz="2000" dirty="0">
                <a:latin typeface="Cambria"/>
              </a:rPr>
              <a:t>와 </a:t>
            </a:r>
            <a:r>
              <a:rPr lang="en-US" altLang="ko-KR" sz="2000" dirty="0">
                <a:latin typeface="Cambria"/>
              </a:rPr>
              <a:t>10</a:t>
            </a:r>
            <a:r>
              <a:rPr lang="ko-KR" altLang="en-US" sz="2000" dirty="0">
                <a:latin typeface="Cambria"/>
              </a:rPr>
              <a:t>을 비교해서 계산</a:t>
            </a:r>
            <a:r>
              <a:rPr lang="en-US" altLang="ko-KR" sz="2000" dirty="0">
                <a:latin typeface="Cambria"/>
              </a:rPr>
              <a:t>. </a:t>
            </a:r>
          </a:p>
          <a:p>
            <a:pPr lvl="0">
              <a:defRPr/>
            </a:pPr>
            <a:endParaRPr lang="en-US" altLang="ko-KR" sz="2000" dirty="0">
              <a:latin typeface="Cambria"/>
            </a:endParaRPr>
          </a:p>
          <a:p>
            <a:pPr lvl="0">
              <a:defRPr/>
            </a:pPr>
            <a:r>
              <a:rPr lang="en-US" altLang="ko-KR" sz="2000" dirty="0" err="1">
                <a:latin typeface="Cambria"/>
              </a:rPr>
              <a:t>Jnz</a:t>
            </a:r>
            <a:r>
              <a:rPr lang="en-US" altLang="ko-KR" sz="2000" dirty="0">
                <a:latin typeface="Cambria"/>
              </a:rPr>
              <a:t> : </a:t>
            </a:r>
            <a:r>
              <a:rPr lang="ko-KR" altLang="en-US" sz="2000" dirty="0">
                <a:latin typeface="Cambria"/>
              </a:rPr>
              <a:t>같지 않으면 점프</a:t>
            </a:r>
          </a:p>
          <a:p>
            <a:pPr lvl="0">
              <a:defRPr/>
            </a:pPr>
            <a:r>
              <a:rPr lang="en-US" altLang="ko-KR" sz="2000" dirty="0">
                <a:latin typeface="Cambria"/>
              </a:rPr>
              <a:t>X is 10. </a:t>
            </a:r>
            <a:r>
              <a:rPr lang="ko-KR" altLang="en-US" sz="2000" dirty="0">
                <a:latin typeface="Cambria"/>
              </a:rPr>
              <a:t>인자 </a:t>
            </a:r>
            <a:r>
              <a:rPr lang="ko-KR" altLang="en-US" sz="2000" dirty="0" err="1">
                <a:latin typeface="Cambria"/>
              </a:rPr>
              <a:t>푸시하고</a:t>
            </a:r>
            <a:r>
              <a:rPr lang="ko-KR" altLang="en-US" sz="2000" dirty="0">
                <a:latin typeface="Cambria"/>
              </a:rPr>
              <a:t> </a:t>
            </a:r>
            <a:r>
              <a:rPr lang="en-US" altLang="ko-KR" sz="2000" dirty="0" err="1">
                <a:latin typeface="Cambria"/>
              </a:rPr>
              <a:t>printf</a:t>
            </a:r>
            <a:r>
              <a:rPr lang="en-US" altLang="ko-KR" sz="2000" dirty="0">
                <a:latin typeface="Cambria"/>
              </a:rPr>
              <a:t> </a:t>
            </a:r>
            <a:r>
              <a:rPr lang="ko-KR" altLang="en-US" sz="2000" dirty="0">
                <a:latin typeface="Cambria"/>
              </a:rPr>
              <a:t>호출</a:t>
            </a:r>
            <a:r>
              <a:rPr lang="en-US" altLang="ko-KR" sz="2000" dirty="0">
                <a:latin typeface="Cambria"/>
              </a:rPr>
              <a:t>. </a:t>
            </a:r>
          </a:p>
          <a:p>
            <a:pPr lvl="0">
              <a:defRPr/>
            </a:pPr>
            <a:endParaRPr lang="en-US" altLang="ko-KR" sz="2000" dirty="0">
              <a:latin typeface="Cambria"/>
            </a:endParaRPr>
          </a:p>
          <a:p>
            <a:pPr lvl="0">
              <a:defRPr/>
            </a:pPr>
            <a:endParaRPr lang="en-US" altLang="ko-KR" sz="2000" dirty="0">
              <a:latin typeface="Cambria"/>
            </a:endParaRPr>
          </a:p>
          <a:p>
            <a:pPr lvl="0">
              <a:defRPr/>
            </a:pPr>
            <a:r>
              <a:rPr lang="en-US" altLang="ko-KR" sz="2000" dirty="0"/>
              <a:t>Microsoft </a:t>
            </a:r>
            <a:r>
              <a:rPr lang="ko-KR" altLang="en-US" sz="2000" dirty="0"/>
              <a:t>컴파일러에서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ko-KR" altLang="en-US" sz="2000" dirty="0"/>
              <a:t>는 보통 </a:t>
            </a:r>
            <a:r>
              <a:rPr lang="en-US" altLang="ko-KR" sz="2000" b="1" dirty="0"/>
              <a:t>ECX</a:t>
            </a:r>
            <a:r>
              <a:rPr lang="ko-KR" altLang="en-US" sz="2000" dirty="0"/>
              <a:t> 레지스터로 전달되는데 이 </a:t>
            </a:r>
            <a:r>
              <a:rPr lang="en-US" altLang="ko-KR" sz="2000" dirty="0" err="1"/>
              <a:t>thiscall</a:t>
            </a:r>
            <a:r>
              <a:rPr lang="en-US" altLang="ko-KR" sz="2000" dirty="0"/>
              <a:t> </a:t>
            </a:r>
            <a:r>
              <a:rPr lang="ko-KR" altLang="en-US" sz="2000" dirty="0"/>
              <a:t>규약을 인식하면 </a:t>
            </a:r>
            <a:r>
              <a:rPr lang="ko-KR" altLang="en-US" sz="2000" dirty="0" err="1"/>
              <a:t>디스어셈블리에서</a:t>
            </a:r>
            <a:r>
              <a:rPr lang="ko-KR" altLang="en-US" sz="2000" dirty="0"/>
              <a:t> 객체지향코드를 쉽게 식별할 수 있음</a:t>
            </a:r>
            <a:r>
              <a:rPr lang="en-US" altLang="ko-KR" sz="2000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000" b="1" dirty="0"/>
              <a:t>메서드 오버로딩</a:t>
            </a:r>
            <a:r>
              <a:rPr lang="en-US" altLang="ko-KR" sz="2000" dirty="0"/>
              <a:t>: </a:t>
            </a:r>
            <a:r>
              <a:rPr lang="ko-KR" altLang="en-US" sz="2000" dirty="0"/>
              <a:t>같은 이름의 함수를 매개변수만 다르게 여러 개 정의하는 것</a:t>
            </a:r>
            <a:r>
              <a:rPr lang="en-US" altLang="ko-KR" sz="2000" dirty="0"/>
              <a:t>. -&gt; </a:t>
            </a:r>
            <a:r>
              <a:rPr lang="ko-KR" altLang="en-US" sz="1600" dirty="0"/>
              <a:t>컴파일러가 매개변수의 수와 타입을 보고 어떤 함수를 호출할지 결정</a:t>
            </a:r>
            <a:endParaRPr lang="en-US" altLang="ko-KR" sz="1600" dirty="0">
              <a:latin typeface="Cambria"/>
              <a:ea typeface="Cambri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1600" dirty="0"/>
              <a:t>PE </a:t>
            </a:r>
            <a:r>
              <a:rPr lang="ko-KR" altLang="en-US" sz="1600" dirty="0"/>
              <a:t>파일에서는 함수 이름만 저장되고 매개변수 정보는 저장되지 않는다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따라서 함수 오버로딩을 지원하기 위해 컴파일러는 </a:t>
            </a:r>
            <a:r>
              <a:rPr lang="ko-KR" altLang="en-US" sz="1600" b="1" dirty="0"/>
              <a:t>매개변수 정보를 함수 이름에 인코딩</a:t>
            </a:r>
            <a:r>
              <a:rPr lang="ko-KR" altLang="en-US" sz="1600" dirty="0"/>
              <a:t>한다</a:t>
            </a:r>
            <a:r>
              <a:rPr lang="en-US" altLang="ko-KR" sz="1600" dirty="0"/>
              <a:t>. –</a:t>
            </a:r>
            <a:r>
              <a:rPr lang="ko-KR" altLang="en-US" sz="1600" dirty="0"/>
              <a:t>그래서 함수 정보를 식별하는데 도움이 됨 </a:t>
            </a:r>
            <a:endParaRPr lang="ko-KR" altLang="en-US" sz="1600" dirty="0">
              <a:latin typeface="Cambria"/>
              <a:ea typeface="Cambri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000" b="1" dirty="0"/>
              <a:t>상속</a:t>
            </a:r>
            <a:r>
              <a:rPr lang="en-US" altLang="ko-KR" sz="2000" b="1" dirty="0"/>
              <a:t>(Inheritance)</a:t>
            </a:r>
            <a:r>
              <a:rPr lang="en-US" altLang="ko-KR" sz="2000" dirty="0"/>
              <a:t>: </a:t>
            </a:r>
            <a:r>
              <a:rPr lang="ko-KR" altLang="en-US" sz="2000" dirty="0"/>
              <a:t>부모</a:t>
            </a:r>
            <a:r>
              <a:rPr lang="en-US" altLang="ko-KR" sz="2000" dirty="0"/>
              <a:t>-</a:t>
            </a:r>
            <a:r>
              <a:rPr lang="ko-KR" altLang="en-US" sz="2000" dirty="0"/>
              <a:t>자식 관계를 통해 자식 클래스가 부모의 함수와 데이터를 자동으로 물려받는 것</a:t>
            </a:r>
            <a:r>
              <a:rPr lang="en-US" altLang="ko-KR" sz="2000" dirty="0"/>
              <a:t>.</a:t>
            </a:r>
          </a:p>
          <a:p>
            <a:pPr lvl="0"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상속은 보통 특별한 런타임 구조를 필요로 하지 않아서 어셈블리 코드에서는 종종 명확하게 보이지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않</a:t>
            </a:r>
            <a:endParaRPr lang="en-US" altLang="ko-KR" sz="1600" dirty="0">
              <a:latin typeface="Cambria"/>
              <a:ea typeface="Cambri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000" dirty="0"/>
              <a:t>C++</a:t>
            </a:r>
            <a:r>
              <a:rPr lang="ko-KR" altLang="en-US" sz="2000" dirty="0"/>
              <a:t>에서 함수 호출 방식은 크게 두 가지 </a:t>
            </a:r>
            <a:r>
              <a:rPr lang="en-US" altLang="ko-KR" sz="2000" dirty="0"/>
              <a:t>: Virtual, Nonvirtual </a:t>
            </a:r>
          </a:p>
          <a:p>
            <a:pPr lvl="0">
              <a:defRPr/>
            </a:pPr>
            <a:r>
              <a:rPr lang="ko-KR" altLang="en-US" sz="2000" b="1" dirty="0"/>
              <a:t>컴파일 타임</a:t>
            </a:r>
            <a:r>
              <a:rPr lang="ko-KR" altLang="en-US" sz="2000" dirty="0"/>
              <a:t> → 소스코드를 기계어로 번역하는 단계 </a:t>
            </a:r>
            <a:r>
              <a:rPr lang="ko-KR" altLang="en-US" sz="2000" b="1" dirty="0"/>
              <a:t>런타임</a:t>
            </a:r>
            <a:r>
              <a:rPr lang="ko-KR" altLang="en-US" sz="2000" dirty="0"/>
              <a:t> → 실제로 프로그램이 실행되는 단계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lang="ko-KR" altLang="en-US" sz="1600" dirty="0"/>
              <a:t> 함수의 파라미터가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A&amp;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</a:t>
            </a:r>
            <a:r>
              <a:rPr lang="en-US" altLang="ko-K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임 </a:t>
            </a:r>
            <a:r>
              <a:rPr lang="en-US" altLang="ko-KR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 </a:t>
            </a:r>
            <a:r>
              <a:rPr lang="en-US" altLang="ko-KR" sz="1600" dirty="0"/>
              <a:t>B </a:t>
            </a:r>
            <a:r>
              <a:rPr lang="ko-KR" altLang="en-US" sz="1600" dirty="0"/>
              <a:t>객체인 </a:t>
            </a:r>
            <a:r>
              <a:rPr lang="en-US" altLang="ko-KR" sz="1600" dirty="0"/>
              <a:t>b</a:t>
            </a:r>
            <a:r>
              <a:rPr lang="ko-KR" altLang="en-US" sz="1600" dirty="0"/>
              <a:t>를 넘겼지만 </a:t>
            </a:r>
            <a:r>
              <a:rPr lang="en-US" altLang="ko-KR" sz="1600" b="1" dirty="0"/>
              <a:t>A </a:t>
            </a:r>
            <a:r>
              <a:rPr lang="ko-KR" altLang="en-US" sz="1600" b="1" dirty="0"/>
              <a:t>타입 참조</a:t>
            </a:r>
            <a:r>
              <a:rPr lang="ko-KR" altLang="en-US" sz="1600" dirty="0"/>
              <a:t>로 받음 </a:t>
            </a:r>
            <a:endParaRPr lang="en-US" altLang="ko-KR" sz="1600" dirty="0"/>
          </a:p>
          <a:p>
            <a:pPr lvl="0">
              <a:defRPr/>
            </a:pPr>
            <a:endParaRPr lang="en-US" altLang="ko-KR" sz="1600" dirty="0">
              <a:latin typeface="Cambria"/>
              <a:ea typeface="Cambria"/>
            </a:endParaRPr>
          </a:p>
          <a:p>
            <a:pPr lvl="0">
              <a:defRPr/>
            </a:pPr>
            <a:endParaRPr lang="en-US" altLang="ko-KR" sz="1600" dirty="0">
              <a:latin typeface="Cambria"/>
              <a:ea typeface="Cambria"/>
            </a:endParaRPr>
          </a:p>
          <a:p>
            <a:r>
              <a:rPr lang="en-US" altLang="ko-KR" sz="1600" b="1" dirty="0">
                <a:latin typeface="Cambria" panose="02040503050406030204" pitchFamily="18" charset="0"/>
                <a:ea typeface="Cambria" panose="02040503050406030204" pitchFamily="18" charset="0"/>
              </a:rPr>
              <a:t>Non-virtual</a:t>
            </a:r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ko-KR" altLang="en-US" sz="1600" dirty="0">
                <a:latin typeface="Cambria" panose="02040503050406030204" pitchFamily="18" charset="0"/>
              </a:rPr>
              <a:t>어떤 함수가 호출될지 </a:t>
            </a:r>
            <a:r>
              <a:rPr lang="ko-KR" altLang="en-US" sz="1600" b="1" dirty="0">
                <a:latin typeface="Cambria" panose="02040503050406030204" pitchFamily="18" charset="0"/>
              </a:rPr>
              <a:t>컴파일 타임</a:t>
            </a:r>
            <a:r>
              <a:rPr lang="ko-KR" altLang="en-US" sz="1600" dirty="0">
                <a:latin typeface="Cambria" panose="02040503050406030204" pitchFamily="18" charset="0"/>
              </a:rPr>
              <a:t>에 결정</a:t>
            </a:r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ko-KR" sz="1600" b="1" dirty="0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ko-KR" altLang="en-US" sz="1600" dirty="0">
                <a:latin typeface="Cambria" panose="02040503050406030204" pitchFamily="18" charset="0"/>
              </a:rPr>
              <a:t>어떤 함수가 호출될지 </a:t>
            </a:r>
            <a:r>
              <a:rPr lang="ko-KR" altLang="en-US" sz="1600" b="1" dirty="0">
                <a:latin typeface="Cambria" panose="02040503050406030204" pitchFamily="18" charset="0"/>
              </a:rPr>
              <a:t>런타임</a:t>
            </a:r>
            <a:r>
              <a:rPr lang="ko-KR" altLang="en-US" sz="1600" dirty="0">
                <a:latin typeface="Cambria" panose="02040503050406030204" pitchFamily="18" charset="0"/>
              </a:rPr>
              <a:t>에 결정되며</a:t>
            </a:r>
            <a:r>
              <a:rPr lang="en-US" altLang="ko-KR" sz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ko-KR" altLang="en-US" sz="1600" dirty="0">
                <a:latin typeface="Cambria" panose="02040503050406030204" pitchFamily="18" charset="0"/>
              </a:rPr>
              <a:t>객체 타입에 따라 호출 대상이 바뀔 수 있음 </a:t>
            </a:r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defRPr/>
            </a:pPr>
            <a:endParaRPr lang="en-US" altLang="ko-KR" sz="1600" dirty="0">
              <a:latin typeface="Cambria"/>
              <a:ea typeface="Cambri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000"/>
              <a:t>C++</a:t>
            </a:r>
            <a:r>
              <a:rPr lang="ko-KR" altLang="en-US" sz="2000"/>
              <a:t>에서 함수 호출 방식은 크게 두 가지 </a:t>
            </a:r>
            <a:r>
              <a:rPr lang="en-US" altLang="ko-KR" sz="2000"/>
              <a:t>: Virtual, Nonvirtual </a:t>
            </a:r>
          </a:p>
          <a:p>
            <a:pPr lvl="0">
              <a:defRPr/>
            </a:pPr>
            <a:r>
              <a:rPr lang="ko-KR" altLang="en-US" sz="2000" b="1"/>
              <a:t>컴파일 타임</a:t>
            </a:r>
            <a:r>
              <a:rPr lang="ko-KR" altLang="en-US" sz="2000"/>
              <a:t> → 소스코드를 기계어로 번역하는 단계 </a:t>
            </a:r>
            <a:r>
              <a:rPr lang="ko-KR" altLang="en-US" sz="2000" b="1"/>
              <a:t>런타임</a:t>
            </a:r>
            <a:r>
              <a:rPr lang="ko-KR" altLang="en-US" sz="2000"/>
              <a:t> → 실제로 프로그램이 실행되는 단계</a:t>
            </a:r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r>
              <a:rPr lang="ko-KR" altLang="en-US" sz="1600"/>
              <a:t> 함수의 파라미터가 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A&amp; arg</a:t>
            </a:r>
            <a:r>
              <a:rPr lang="en-US" altLang="ko-KR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임 </a:t>
            </a:r>
            <a:r>
              <a:rPr lang="en-US" altLang="ko-KR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 </a:t>
            </a:r>
            <a:r>
              <a:rPr lang="en-US" altLang="ko-KR" sz="1600"/>
              <a:t>B </a:t>
            </a:r>
            <a:r>
              <a:rPr lang="ko-KR" altLang="en-US" sz="1600"/>
              <a:t>객체인 </a:t>
            </a:r>
            <a:r>
              <a:rPr lang="en-US" altLang="ko-KR" sz="1600"/>
              <a:t>b</a:t>
            </a:r>
            <a:r>
              <a:rPr lang="ko-KR" altLang="en-US" sz="1600"/>
              <a:t>를 넘겼지만 </a:t>
            </a:r>
            <a:r>
              <a:rPr lang="en-US" altLang="ko-KR" sz="1600" b="1"/>
              <a:t>A </a:t>
            </a:r>
            <a:r>
              <a:rPr lang="ko-KR" altLang="en-US" sz="1600" b="1"/>
              <a:t>타입 참조</a:t>
            </a:r>
            <a:r>
              <a:rPr lang="ko-KR" altLang="en-US" sz="1600"/>
              <a:t>로 받음 </a:t>
            </a:r>
            <a:endParaRPr lang="en-US" altLang="ko-KR" sz="1600">
              <a:latin typeface="Cambria"/>
              <a:ea typeface="Cambri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큰 차이점은 호출 명령어의 목적지를 볼 수 없다는 점인데</a:t>
            </a:r>
            <a:r>
              <a:rPr lang="en-US" altLang="ko-K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ko-KR" altLang="en-US" sz="2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디스어셈블된</a:t>
            </a:r>
            <a:r>
              <a:rPr lang="ko-KR" alt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C++</a:t>
            </a:r>
            <a:r>
              <a:rPr lang="ko-KR" alt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분석할 때 큰 문제가 될 수 있습니다</a:t>
            </a:r>
            <a:r>
              <a:rPr lang="en-US" altLang="ko-K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왜냐하면 호출 명령어의 목표를 추적해야 하기 때문입니다</a:t>
            </a:r>
            <a:r>
              <a:rPr lang="en-US" altLang="ko-KR" sz="2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2800" dirty="0">
              <a:latin typeface="+mn-ea"/>
            </a:endParaRPr>
          </a:p>
          <a:p>
            <a:pPr lvl="0">
              <a:defRPr/>
            </a:pPr>
            <a:endParaRPr lang="en-US" altLang="ko-KR" sz="2000" dirty="0">
              <a:latin typeface="Cambria"/>
              <a:ea typeface="Cambria"/>
            </a:endParaRPr>
          </a:p>
          <a:p>
            <a:pPr lvl="0">
              <a:defRPr/>
            </a:pPr>
            <a:endParaRPr lang="en-US" altLang="ko-KR" sz="2000" dirty="0">
              <a:latin typeface="Cambria"/>
              <a:ea typeface="Cambria"/>
            </a:endParaRPr>
          </a:p>
          <a:p>
            <a:pPr lvl="0">
              <a:defRPr/>
            </a:pPr>
            <a:r>
              <a:rPr lang="en-US" altLang="ko-KR" sz="2000" dirty="0" err="1">
                <a:latin typeface="Cambria"/>
                <a:ea typeface="Cambria"/>
              </a:rPr>
              <a:t>Vtable</a:t>
            </a:r>
            <a:r>
              <a:rPr lang="en-US" altLang="ko-KR" sz="2000" dirty="0">
                <a:latin typeface="Cambria"/>
                <a:ea typeface="Cambria"/>
              </a:rPr>
              <a:t>: C++ </a:t>
            </a:r>
            <a:r>
              <a:rPr lang="ko-KR" altLang="en-US" sz="2000" dirty="0">
                <a:latin typeface="+mn-ea"/>
              </a:rPr>
              <a:t>컴파일러가 코드를 컴파일 할 때 가상 함수를 지원하기 위해 추가하는 데이터 구조 </a:t>
            </a:r>
          </a:p>
          <a:p>
            <a:pPr lvl="1">
              <a:defRPr/>
            </a:pPr>
            <a:r>
              <a:rPr lang="ko-KR" altLang="en-US" sz="1600" dirty="0">
                <a:latin typeface="+mn-ea"/>
              </a:rPr>
              <a:t>함수 포인터의 배열 </a:t>
            </a:r>
          </a:p>
          <a:p>
            <a:pPr lvl="1">
              <a:defRPr/>
            </a:pPr>
            <a:r>
              <a:rPr lang="ko-KR" altLang="en-US" sz="1600" dirty="0">
                <a:latin typeface="+mn-ea"/>
              </a:rPr>
              <a:t>가상 함수를 사용하는 각 클래스는 자신의 </a:t>
            </a:r>
            <a:r>
              <a:rPr lang="en-US" altLang="ko-KR" sz="1600" dirty="0" err="1">
                <a:latin typeface="+mn-ea"/>
              </a:rPr>
              <a:t>Vtable</a:t>
            </a:r>
            <a:r>
              <a:rPr lang="ko-KR" altLang="en-US" sz="1600" dirty="0">
                <a:latin typeface="+mn-ea"/>
              </a:rPr>
              <a:t>을 가지며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클래스 내의 각 가상 함수는 </a:t>
            </a:r>
            <a:r>
              <a:rPr lang="en-US" altLang="ko-KR" sz="1600" dirty="0" err="1">
                <a:latin typeface="+mn-ea"/>
              </a:rPr>
              <a:t>Vtable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항목을가짐</a:t>
            </a:r>
            <a:r>
              <a:rPr lang="ko-KR" altLang="en-US" sz="1600" dirty="0">
                <a:latin typeface="+mn-ea"/>
              </a:rPr>
              <a:t> </a:t>
            </a:r>
          </a:p>
          <a:p>
            <a:pPr lvl="1">
              <a:defRPr/>
            </a:pPr>
            <a:endParaRPr lang="en-US" altLang="ko-KR" sz="1600" dirty="0">
              <a:latin typeface="+mn-ea"/>
            </a:endParaRPr>
          </a:p>
          <a:p>
            <a:pPr lvl="1">
              <a:defRPr/>
            </a:pPr>
            <a:endParaRPr lang="en-US" altLang="ko-KR" sz="16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1200" dirty="0">
                <a:latin typeface="+mn-ea"/>
              </a:rPr>
              <a:t>코드에서 객체를 인자로 받으면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어셈블리 코드는 이 객체의 시작 위치를 가리키는 포인터에 접근한 뒤 객체의 처음 </a:t>
            </a: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바이트를 읽음 </a:t>
            </a:r>
          </a:p>
          <a:p>
            <a:pPr lvl="0">
              <a:defRPr/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객체의 처음 </a:t>
            </a: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바이트에 들어있는 값은 </a:t>
            </a:r>
            <a:r>
              <a:rPr lang="en-US" altLang="ko-KR" sz="1200" dirty="0" err="1">
                <a:latin typeface="+mn-ea"/>
              </a:rPr>
              <a:t>Vtable</a:t>
            </a:r>
            <a:r>
              <a:rPr lang="ko-KR" altLang="en-US" sz="1200" dirty="0">
                <a:latin typeface="+mn-ea"/>
              </a:rPr>
              <a:t>을 가리키는 포인터</a:t>
            </a:r>
          </a:p>
          <a:p>
            <a:pPr lvl="0">
              <a:defRPr/>
            </a:pPr>
            <a:r>
              <a:rPr lang="en-US" altLang="ko-KR" sz="1200" dirty="0" err="1">
                <a:latin typeface="+mn-ea"/>
              </a:rPr>
              <a:t>Vtable</a:t>
            </a:r>
            <a:r>
              <a:rPr lang="ko-KR" altLang="en-US" sz="1200" dirty="0">
                <a:latin typeface="+mn-ea"/>
              </a:rPr>
              <a:t>은 해당 클래스가 가진 가상 함수들의 실제 실행 코드 위치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주소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를 모아둔 배열 </a:t>
            </a:r>
          </a:p>
          <a:p>
            <a:pPr lvl="0"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함수가 호출되는지 알아내기 위해서는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vtable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접근되는 위치를 찾고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오프셋이 호출되는지 확인</a:t>
            </a:r>
          </a:p>
          <a:p>
            <a:pPr lvl="0"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비가상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비가상 함수 호출의 대상은 컴파일 시점에 고정 </a:t>
            </a:r>
          </a:p>
          <a:p>
            <a:pPr lvl="0"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>
              <a:defRPr/>
            </a:pPr>
            <a:r>
              <a:rPr lang="ko-KR" altLang="en-US" sz="1600" dirty="0"/>
              <a:t>일반적인 함수 호출과 달리</a:t>
            </a:r>
            <a:r>
              <a:rPr lang="en-US" altLang="ko-KR" sz="1600" dirty="0"/>
              <a:t>, </a:t>
            </a:r>
            <a:r>
              <a:rPr lang="ko-KR" altLang="en-US" sz="1600" dirty="0"/>
              <a:t>가상 함수는 어셈블리 코드에 목적지 주소가 명시되어 있지 않음</a:t>
            </a:r>
            <a:r>
              <a:rPr lang="en-US" altLang="ko-KR" sz="1600" dirty="0"/>
              <a:t>. </a:t>
            </a:r>
            <a:r>
              <a:rPr lang="ko-KR" altLang="en-US" sz="1600" dirty="0"/>
              <a:t>따라서 어떤 함수가 호출되는지 알아내려면 </a:t>
            </a:r>
            <a:r>
              <a:rPr lang="en-US" altLang="ko-KR" sz="1600" dirty="0" err="1"/>
              <a:t>Vtable</a:t>
            </a:r>
            <a:r>
              <a:rPr lang="ko-KR" altLang="en-US" sz="1600" dirty="0"/>
              <a:t>이 접근되는 위치와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Vtable</a:t>
            </a:r>
            <a:r>
              <a:rPr lang="en-US" altLang="ko-KR" sz="1600" dirty="0"/>
              <a:t> </a:t>
            </a:r>
            <a:r>
              <a:rPr lang="ko-KR" altLang="en-US" sz="1600" dirty="0"/>
              <a:t>내의 어느 오프셋</a:t>
            </a:r>
            <a:r>
              <a:rPr lang="en-US" altLang="ko-KR" sz="1600" dirty="0"/>
              <a:t>(</a:t>
            </a:r>
            <a:r>
              <a:rPr lang="ko-KR" altLang="en-US" sz="1600" dirty="0"/>
              <a:t>항목</a:t>
            </a:r>
            <a:r>
              <a:rPr lang="en-US" altLang="ko-KR" sz="1600" dirty="0"/>
              <a:t>)</a:t>
            </a:r>
            <a:r>
              <a:rPr lang="ko-KR" altLang="en-US" sz="1600" dirty="0"/>
              <a:t>이 사용되는지 파악필요 </a:t>
            </a:r>
            <a:endParaRPr lang="en-US" altLang="ko-KR" sz="1600" dirty="0"/>
          </a:p>
          <a:p>
            <a:pPr lvl="0">
              <a:defRPr/>
            </a:pPr>
            <a:endParaRPr lang="en-US" altLang="ko-KR" sz="1600" dirty="0">
              <a:latin typeface="+mn-ea"/>
            </a:endParaRPr>
          </a:p>
          <a:p>
            <a:pPr lvl="0">
              <a:defRPr/>
            </a:pPr>
            <a:r>
              <a:rPr lang="ko-KR" altLang="en-US" sz="1600" dirty="0"/>
              <a:t>체의 맨 앞부분</a:t>
            </a:r>
            <a:r>
              <a:rPr lang="en-US" altLang="ko-KR" sz="1600" dirty="0"/>
              <a:t>(4</a:t>
            </a:r>
            <a:r>
              <a:rPr lang="ko-KR" altLang="en-US" sz="1600" dirty="0"/>
              <a:t>바이트</a:t>
            </a:r>
            <a:r>
              <a:rPr lang="en-US" altLang="ko-KR" sz="1600" dirty="0"/>
              <a:t>)</a:t>
            </a:r>
            <a:r>
              <a:rPr lang="ko-KR" altLang="en-US" sz="1600" dirty="0"/>
              <a:t>을 열어서 </a:t>
            </a:r>
            <a:r>
              <a:rPr lang="en-US" altLang="ko-KR" sz="1600" dirty="0" err="1"/>
              <a:t>Vtable</a:t>
            </a:r>
            <a:r>
              <a:rPr lang="ko-KR" altLang="en-US" sz="1600" dirty="0"/>
              <a:t>의 위치를 찾고</a:t>
            </a:r>
            <a:r>
              <a:rPr lang="en-US" altLang="ko-KR" sz="1600" dirty="0"/>
              <a:t>, </a:t>
            </a:r>
            <a:r>
              <a:rPr lang="ko-KR" altLang="en-US" sz="1600" dirty="0"/>
              <a:t>그 표에 적힌 주소로 찾아</a:t>
            </a:r>
            <a:endParaRPr lang="en-US" altLang="ko-KR" sz="16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1200" dirty="0"/>
              <a:t>서로 다른 두 개의 </a:t>
            </a:r>
            <a:r>
              <a:rPr lang="en-US" altLang="ko-KR" sz="1200" dirty="0" err="1"/>
              <a:t>Vtable</a:t>
            </a:r>
            <a:r>
              <a:rPr lang="ko-KR" altLang="en-US" sz="1200" dirty="0"/>
              <a:t>에서 동일한 함수를 가리키는 상호 참조가 발견된다면</a:t>
            </a:r>
            <a:r>
              <a:rPr lang="en-US" altLang="ko-KR" sz="1200" dirty="0"/>
              <a:t>, </a:t>
            </a:r>
            <a:r>
              <a:rPr lang="ko-KR" altLang="en-US" sz="1200" dirty="0"/>
              <a:t>이는 두 클래스 간의 상속 관계를 암시</a:t>
            </a:r>
          </a:p>
          <a:p>
            <a:pPr lvl="0">
              <a:defRPr/>
            </a:pPr>
            <a:r>
              <a:rPr lang="ko-KR" altLang="en-US" sz="1200" dirty="0"/>
              <a:t>자식 클래스는 상위</a:t>
            </a:r>
            <a:r>
              <a:rPr lang="en-US" altLang="ko-KR" sz="1200" dirty="0"/>
              <a:t>(</a:t>
            </a:r>
            <a:r>
              <a:rPr lang="ko-KR" altLang="en-US" sz="1200" dirty="0"/>
              <a:t>부모</a:t>
            </a:r>
            <a:r>
              <a:rPr lang="en-US" altLang="ko-KR" sz="1200" dirty="0"/>
              <a:t>) </a:t>
            </a:r>
            <a:r>
              <a:rPr lang="ko-KR" altLang="en-US" sz="1200" dirty="0"/>
              <a:t>클래스의 함수를 재정의</a:t>
            </a:r>
            <a:r>
              <a:rPr lang="en-US" altLang="ko-KR" sz="1200" dirty="0"/>
              <a:t>(Override)</a:t>
            </a:r>
            <a:r>
              <a:rPr lang="ko-KR" altLang="en-US" sz="1200" dirty="0"/>
              <a:t>하지 않는 이상 자동으로 포함하기 때문</a:t>
            </a:r>
          </a:p>
          <a:p>
            <a:pPr lvl="0">
              <a:defRPr/>
            </a:pPr>
            <a:r>
              <a:rPr lang="ko-KR" altLang="en-US" sz="1200" dirty="0"/>
              <a:t>항상 명확한 구분법은 아니지만</a:t>
            </a:r>
            <a:r>
              <a:rPr lang="en-US" altLang="ko-KR" sz="1200" dirty="0"/>
              <a:t>, </a:t>
            </a:r>
            <a:r>
              <a:rPr lang="ko-KR" altLang="en-US" sz="1200" dirty="0"/>
              <a:t>두 </a:t>
            </a:r>
            <a:r>
              <a:rPr lang="en-US" altLang="ko-KR" sz="1200" dirty="0" err="1"/>
              <a:t>Vtable</a:t>
            </a:r>
            <a:r>
              <a:rPr lang="en-US" altLang="ko-KR" sz="1200" dirty="0"/>
              <a:t> </a:t>
            </a:r>
            <a:r>
              <a:rPr lang="ko-KR" altLang="en-US" sz="1200" dirty="0"/>
              <a:t>중 크기가 더 큰 쪽이 하위</a:t>
            </a:r>
            <a:r>
              <a:rPr lang="en-US" altLang="ko-KR" sz="1200" dirty="0"/>
              <a:t>(</a:t>
            </a:r>
            <a:r>
              <a:rPr lang="ko-KR" altLang="en-US" sz="1200" dirty="0"/>
              <a:t>자식</a:t>
            </a:r>
            <a:r>
              <a:rPr lang="en-US" altLang="ko-KR" sz="1200" dirty="0"/>
              <a:t>) </a:t>
            </a:r>
            <a:r>
              <a:rPr lang="ko-KR" altLang="en-US" sz="1200" dirty="0"/>
              <a:t>클래스일 확률이 높음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1200" dirty="0"/>
              <a:t>Constructor</a:t>
            </a:r>
            <a:r>
              <a:rPr lang="ko-KR" altLang="en-US" sz="1200" dirty="0"/>
              <a:t>은 객체가 생성될 때 생성자가 호출되어 필요한 초기화 작업을 수행하며</a:t>
            </a:r>
            <a:r>
              <a:rPr lang="en-US" altLang="ko-KR" sz="1200" dirty="0"/>
              <a:t>, Destructor</a:t>
            </a:r>
            <a:r>
              <a:rPr lang="ko-KR" altLang="en-US" sz="1200" dirty="0"/>
              <a:t>은 객체가 파괴될 때 소멸자가 호출</a:t>
            </a:r>
          </a:p>
          <a:p>
            <a:pPr lvl="0">
              <a:defRPr/>
            </a:pPr>
            <a:r>
              <a:rPr lang="ko-KR" altLang="en-US" sz="1200" dirty="0" err="1"/>
              <a:t>힙</a:t>
            </a:r>
            <a:r>
              <a:rPr lang="ko-KR" altLang="en-US" sz="1200" dirty="0"/>
              <a:t> 공간에 객체를 저장할 때는 </a:t>
            </a:r>
            <a:r>
              <a:rPr lang="en-US" altLang="ko-KR" sz="1200" dirty="0"/>
              <a:t>new</a:t>
            </a:r>
            <a:r>
              <a:rPr lang="ko-KR" altLang="en-US" sz="1200" dirty="0"/>
              <a:t> 연산자가 호출</a:t>
            </a:r>
            <a:r>
              <a:rPr lang="en-US" altLang="ko-KR" sz="1200" dirty="0"/>
              <a:t>, </a:t>
            </a:r>
            <a:r>
              <a:rPr lang="ko-KR" altLang="en-US" sz="1200" dirty="0"/>
              <a:t>해제할 때는 </a:t>
            </a:r>
            <a:r>
              <a:rPr lang="en-US" altLang="ko-KR" sz="1200" dirty="0"/>
              <a:t>delete </a:t>
            </a:r>
            <a:r>
              <a:rPr lang="ko-KR" altLang="en-US" sz="1200" dirty="0"/>
              <a:t>연산자가 호출됨</a:t>
            </a:r>
            <a:r>
              <a:rPr lang="en-US" altLang="ko-KR" sz="1200" dirty="0"/>
              <a:t>. </a:t>
            </a:r>
          </a:p>
          <a:p>
            <a:pPr lvl="0">
              <a:defRPr/>
            </a:pPr>
            <a:r>
              <a:rPr lang="ko-KR" altLang="en-US" sz="1200" dirty="0" err="1"/>
              <a:t>디스어셈블리에서</a:t>
            </a:r>
            <a:r>
              <a:rPr lang="ko-KR" altLang="en-US" sz="1200" dirty="0"/>
              <a:t> </a:t>
            </a:r>
            <a:r>
              <a:rPr lang="en-US" altLang="ko-KR" sz="1200" dirty="0"/>
              <a:t>new</a:t>
            </a:r>
            <a:r>
              <a:rPr lang="ko-KR" altLang="en-US" sz="1200" dirty="0"/>
              <a:t> 연산자는 주로 </a:t>
            </a:r>
            <a:r>
              <a:rPr lang="ko-KR" altLang="en-US" sz="1200" dirty="0" err="1"/>
              <a:t>임포트된</a:t>
            </a:r>
            <a:r>
              <a:rPr lang="ko-KR" altLang="en-US" sz="1200" dirty="0"/>
              <a:t> 함수</a:t>
            </a:r>
            <a:r>
              <a:rPr lang="en-US" altLang="ko-KR" sz="1200" dirty="0"/>
              <a:t>(Imported function) </a:t>
            </a:r>
            <a:r>
              <a:rPr lang="ko-KR" altLang="en-US" sz="1200" dirty="0"/>
              <a:t>형태로 나타나 쉽게 눈에 띔 </a:t>
            </a:r>
          </a:p>
          <a:p>
            <a:pPr lvl="0">
              <a:defRPr/>
            </a:pPr>
            <a:r>
              <a:rPr lang="en-US" altLang="ko-KR" sz="1200" dirty="0">
                <a:latin typeface="+mn-ea"/>
              </a:rPr>
              <a:t>-&gt; </a:t>
            </a:r>
            <a:r>
              <a:rPr lang="ko-KR" altLang="en-US" dirty="0"/>
              <a:t>일반적인 함수가 아니기 때문에 이름이 특이하게 생겼지만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??2@YAPAXI@Z</a:t>
            </a:r>
            <a:r>
              <a:rPr lang="en-US" altLang="ko-KR" dirty="0"/>
              <a:t>), IDA Pro</a:t>
            </a:r>
            <a:r>
              <a:rPr lang="ko-KR" altLang="en-US" dirty="0"/>
              <a:t>가 이를 올바르게 식별하여 라벨을 </a:t>
            </a:r>
            <a:r>
              <a:rPr lang="ko-KR" altLang="en-US" dirty="0" err="1"/>
              <a:t>달아줌</a:t>
            </a:r>
            <a:r>
              <a:rPr lang="ko-KR" altLang="en-US" dirty="0"/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1200" dirty="0"/>
              <a:t>스택에 객체가 생성되는 어셈블리 코드를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컴파일러가 동일한 위치</a:t>
            </a:r>
            <a:r>
              <a:rPr lang="en-US" altLang="ko-KR" sz="1200" dirty="0"/>
              <a:t>(var_10)</a:t>
            </a:r>
            <a:r>
              <a:rPr lang="ko-KR" altLang="en-US" sz="1200" dirty="0"/>
              <a:t>에 서로 다른 </a:t>
            </a:r>
            <a:r>
              <a:rPr lang="en-US" altLang="ko-KR" sz="1200" dirty="0" err="1"/>
              <a:t>Vtable</a:t>
            </a:r>
            <a:r>
              <a:rPr lang="en-US" altLang="ko-KR" sz="1200" dirty="0"/>
              <a:t> </a:t>
            </a:r>
            <a:r>
              <a:rPr lang="ko-KR" altLang="en-US" sz="1200" dirty="0"/>
              <a:t>오프셋 값을 연속으로 두 번 집어넣음 </a:t>
            </a:r>
          </a:p>
          <a:p>
            <a:pPr lvl="0">
              <a:defRPr/>
            </a:pPr>
            <a:r>
              <a:rPr lang="ko-KR" altLang="en-US" sz="1200" dirty="0">
                <a:latin typeface="+mn-ea"/>
              </a:rPr>
              <a:t>무의미해 보일 수 있으나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/>
              <a:t>오프셋들을 확인해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첫 번째로 들어가는 값은 </a:t>
            </a:r>
            <a:r>
              <a:rPr lang="ko-KR" altLang="en-US" sz="1200" b="1" dirty="0"/>
              <a:t>부모 클래스의 </a:t>
            </a:r>
            <a:r>
              <a:rPr lang="en-US" altLang="ko-KR" sz="1200" b="1" dirty="0" err="1"/>
              <a:t>Vtable</a:t>
            </a:r>
            <a:r>
              <a:rPr lang="ko-KR" altLang="en-US" sz="1200" dirty="0"/>
              <a:t>이고</a:t>
            </a:r>
            <a:r>
              <a:rPr lang="en-US" altLang="ko-KR" sz="1200" dirty="0"/>
              <a:t>, </a:t>
            </a:r>
            <a:r>
              <a:rPr lang="ko-KR" altLang="en-US" sz="1200" dirty="0"/>
              <a:t>두 번째로 덮어쓰는 값은 실제 생성되는 </a:t>
            </a:r>
            <a:r>
              <a:rPr lang="ko-KR" altLang="en-US" sz="1200" b="1" dirty="0"/>
              <a:t>자식 클래스의 </a:t>
            </a:r>
            <a:r>
              <a:rPr lang="en-US" altLang="ko-KR" sz="1200" b="1" dirty="0" err="1"/>
              <a:t>Vtable</a:t>
            </a:r>
            <a:r>
              <a:rPr lang="ko-KR" altLang="en-US" sz="1200" dirty="0"/>
              <a:t>임 </a:t>
            </a:r>
          </a:p>
          <a:p>
            <a:pPr lvl="0">
              <a:defRPr/>
            </a:pP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Ecx</a:t>
            </a:r>
            <a:r>
              <a:rPr lang="ko-KR" altLang="en-US" dirty="0"/>
              <a:t>에는 주소가</a:t>
            </a:r>
            <a:r>
              <a:rPr lang="en-US" altLang="ko-KR" dirty="0"/>
              <a:t>, </a:t>
            </a:r>
            <a:r>
              <a:rPr lang="en-US" altLang="ko-KR" dirty="0" err="1"/>
              <a:t>ecx</a:t>
            </a:r>
            <a:r>
              <a:rPr lang="ko-KR" altLang="en-US" dirty="0"/>
              <a:t>가 가리키는 값에는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주소가 진짜 값이 </a:t>
            </a:r>
            <a:r>
              <a:rPr lang="ko-KR" altLang="en-US" dirty="0" err="1"/>
              <a:t>들어간거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이건 악성 </a:t>
            </a:r>
            <a:r>
              <a:rPr lang="en-US" altLang="ko-KR" dirty="0"/>
              <a:t>URL </a:t>
            </a:r>
            <a:r>
              <a:rPr lang="ko-KR" altLang="en-US" dirty="0"/>
              <a:t>문자열을 담을 수 있는 객체를 하나 생성하고</a:t>
            </a:r>
            <a:r>
              <a:rPr lang="en-US" altLang="ko-KR" dirty="0"/>
              <a:t>, 2) </a:t>
            </a:r>
            <a:r>
              <a:rPr lang="ko-KR" altLang="en-US" dirty="0"/>
              <a:t>그 객체 안에 </a:t>
            </a:r>
            <a:r>
              <a:rPr lang="en-US" altLang="ko-KR" dirty="0"/>
              <a:t>URL </a:t>
            </a:r>
            <a:r>
              <a:rPr lang="ko-KR" altLang="en-US" dirty="0"/>
              <a:t>주소를 저장한 뒤</a:t>
            </a:r>
            <a:r>
              <a:rPr lang="en-US" altLang="ko-KR" dirty="0"/>
              <a:t>, 3) </a:t>
            </a:r>
            <a:r>
              <a:rPr lang="ko-KR" altLang="en-US" dirty="0"/>
              <a:t>그 객체가 가지고 있는 특정 기능</a:t>
            </a:r>
            <a:r>
              <a:rPr lang="en-US" altLang="ko-KR" dirty="0"/>
              <a:t>(sub_401040 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  <a:r>
              <a:rPr lang="ko-KR" altLang="en-US" dirty="0"/>
              <a:t>을 실행하는 구조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645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객체의 주소를 가져오고 저장한다음 그 주소가 가리키는 </a:t>
            </a:r>
            <a:r>
              <a:rPr lang="en-US" altLang="ko-KR" dirty="0"/>
              <a:t>this </a:t>
            </a:r>
            <a:r>
              <a:rPr lang="ko-KR" altLang="en-US" dirty="0"/>
              <a:t>포인터를 쓰는 것</a:t>
            </a:r>
            <a:r>
              <a:rPr lang="en-US" altLang="ko-KR" dirty="0"/>
              <a:t>. </a:t>
            </a:r>
            <a:r>
              <a:rPr lang="ko-KR" altLang="en-US" dirty="0"/>
              <a:t>이외에 </a:t>
            </a:r>
            <a:r>
              <a:rPr lang="en-US" altLang="ko-KR" dirty="0"/>
              <a:t>push </a:t>
            </a:r>
            <a:r>
              <a:rPr lang="ko-KR" altLang="en-US" dirty="0"/>
              <a:t>된 것들도 없음 그래서 다른 파라미터는 사용되지 않음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311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14E2-7310-BF95-9B59-591AF60C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C665BB-24F3-A412-C49E-77A42666D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D5B05F-73E9-3212-8906-0B5594002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Strings </a:t>
            </a:r>
            <a:r>
              <a:rPr lang="ko-KR" altLang="en-US" dirty="0"/>
              <a:t>창으로 검색했고</a:t>
            </a:r>
            <a:r>
              <a:rPr lang="en-US" altLang="ko-KR" dirty="0"/>
              <a:t>, </a:t>
            </a:r>
            <a:r>
              <a:rPr lang="ko-KR" altLang="en-US" dirty="0"/>
              <a:t>그 문자열이 실제로 저장된 위치가 </a:t>
            </a:r>
            <a:r>
              <a:rPr lang="en-US" altLang="ko-KR" dirty="0"/>
              <a:t>.data </a:t>
            </a:r>
            <a:r>
              <a:rPr lang="ko-KR" altLang="en-US" dirty="0"/>
              <a:t>섹션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A45C1-628B-764E-9012-C051E6198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015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2800-9F2C-4EAE-ABCC-6BB4EE20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5F789C-6CEC-0FAE-9D25-6CF5E4087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A1A282-9087-96A3-0686-5E772B08B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Strings </a:t>
            </a:r>
            <a:r>
              <a:rPr lang="ko-KR" altLang="en-US" dirty="0"/>
              <a:t>창으로 검색했고</a:t>
            </a:r>
            <a:r>
              <a:rPr lang="en-US" altLang="ko-KR" dirty="0"/>
              <a:t>, </a:t>
            </a:r>
            <a:r>
              <a:rPr lang="ko-KR" altLang="en-US" dirty="0"/>
              <a:t>그 문자열이 실제로 저장된 위치가 </a:t>
            </a:r>
            <a:r>
              <a:rPr lang="en-US" altLang="ko-KR" dirty="0"/>
              <a:t>.data </a:t>
            </a:r>
            <a:r>
              <a:rPr lang="ko-KR" altLang="en-US" dirty="0"/>
              <a:t>섹션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This program downloads a file from a remote server and stores it as c:\tempdownload.exe on the local system.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A5CC0-B65E-807B-DD2B-9C7A914C2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314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A8DA-6C70-E3B7-9238-0A30DB3D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E0ADF3-D031-8137-82A2-FA2820C339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BA55CF-BBAD-2F30-F08C-4EB3F857E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049EE2-B34E-1E1F-B72F-FAF37B499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6317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D519-D3F6-9A31-43DF-B4FFF54BF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4FDF73-A644-2C6A-2927-DF802C3D44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ACFD69-7250-06D3-18DF-54F7FE74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ESP</a:t>
            </a:r>
            <a:r>
              <a:rPr lang="ko-KR" altLang="en-US" dirty="0"/>
              <a:t>는 현재 스택의 맨 꼭대기</a:t>
            </a:r>
            <a:r>
              <a:rPr lang="en-US" altLang="ko-KR" dirty="0"/>
              <a:t>(</a:t>
            </a:r>
            <a:r>
              <a:rPr lang="ko-KR" altLang="en-US" dirty="0"/>
              <a:t>가장 최근에 데이터가 쌓인 위치</a:t>
            </a:r>
            <a:r>
              <a:rPr lang="en-US" altLang="ko-KR" dirty="0"/>
              <a:t>)</a:t>
            </a:r>
            <a:r>
              <a:rPr lang="ko-KR" altLang="en-US" dirty="0"/>
              <a:t>를 가리키는 </a:t>
            </a:r>
            <a:r>
              <a:rPr lang="ko-KR" altLang="en-US" dirty="0" err="1"/>
              <a:t>지시봉</a:t>
            </a:r>
            <a:r>
              <a:rPr lang="ko-KR" altLang="en-US" dirty="0"/>
              <a:t> 역할 </a:t>
            </a:r>
            <a:endParaRPr lang="en-US" altLang="ko-KR" dirty="0"/>
          </a:p>
          <a:p>
            <a:pPr lvl="0">
              <a:defRPr/>
            </a:pPr>
            <a:r>
              <a:rPr lang="en-US" altLang="ko-KR" dirty="0"/>
              <a:t>x86 </a:t>
            </a:r>
            <a:r>
              <a:rPr lang="ko-KR" altLang="en-US" dirty="0"/>
              <a:t>아키텍처에서 스택은 메모리 주소가 </a:t>
            </a:r>
            <a:r>
              <a:rPr lang="ko-KR" altLang="en-US" b="1" dirty="0"/>
              <a:t>높은 곳에서 낮은 곳으로 거꾸로 자라나는 구조</a:t>
            </a:r>
            <a:endParaRPr lang="en-US" altLang="ko-KR" b="1" dirty="0"/>
          </a:p>
          <a:p>
            <a:pPr lvl="0">
              <a:defRPr/>
            </a:pPr>
            <a:r>
              <a:rPr lang="ko-KR" altLang="en-US" dirty="0"/>
              <a:t>스택에 데이터를 넣을 때</a:t>
            </a:r>
            <a:r>
              <a:rPr lang="en-US" altLang="ko-KR" dirty="0"/>
              <a:t>(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ko-KR" altLang="en-US" dirty="0" err="1"/>
              <a:t>주소값이</a:t>
            </a:r>
            <a:r>
              <a:rPr lang="ko-KR" altLang="en-US" dirty="0"/>
              <a:t> 작아지고</a:t>
            </a:r>
            <a:r>
              <a:rPr lang="en-US" altLang="ko-KR" dirty="0"/>
              <a:t>(</a:t>
            </a:r>
            <a:r>
              <a:rPr lang="ko-KR" altLang="en-US" dirty="0"/>
              <a:t>마이너스</a:t>
            </a:r>
            <a:r>
              <a:rPr lang="en-US" altLang="ko-KR" dirty="0"/>
              <a:t>), </a:t>
            </a:r>
            <a:r>
              <a:rPr lang="ko-KR" altLang="en-US" dirty="0"/>
              <a:t>반대로 데이터를 뺄 때</a:t>
            </a:r>
            <a:r>
              <a:rPr lang="en-US" altLang="ko-KR" dirty="0"/>
              <a:t>(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ko-KR" altLang="en-US" dirty="0" err="1"/>
              <a:t>주소값이</a:t>
            </a:r>
            <a:r>
              <a:rPr lang="ko-KR" altLang="en-US" dirty="0"/>
              <a:t> 커짐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B99E6-4749-BFDF-5F9B-D454C085F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042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FF4EA-BD58-4F2D-E858-963CD82E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447B30-DA0A-6B33-B0D7-64ED24BD6C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B124D-FC58-DA9E-9F46-AA6417039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64</a:t>
            </a:r>
            <a:r>
              <a:rPr lang="ko-KR" altLang="en-US" dirty="0"/>
              <a:t>비트의 예외 처리 구조는 스택 레이아웃이 고정되어야 하므로 함수 실행 중 스택 크기가 변하지 않아야 함 </a:t>
            </a:r>
            <a:endParaRPr lang="en-US" altLang="ko-KR" dirty="0"/>
          </a:p>
          <a:p>
            <a:pPr lvl="0">
              <a:defRPr/>
            </a:pPr>
            <a:r>
              <a:rPr lang="en-US" altLang="ko-KR" dirty="0"/>
              <a:t>32</a:t>
            </a:r>
            <a:r>
              <a:rPr lang="ko-KR" altLang="en-US" dirty="0"/>
              <a:t>비트처럼 스택에 정보를 저장하지 않고 </a:t>
            </a:r>
            <a:r>
              <a:rPr lang="en-US" altLang="ko-KR" dirty="0"/>
              <a:t>PE </a:t>
            </a:r>
            <a:r>
              <a:rPr lang="ko-KR" altLang="en-US" dirty="0"/>
              <a:t>파일 내부에 있는 정적인 예외 정보 테이블을 사용함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333DE-618A-52AC-A6C7-A2400D486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8013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C21A9-199A-A66F-FA75-E7D7F2E8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826C7E-908C-8B32-F2F3-B3A4924D96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4F55B4-E6B7-CE35-0EA6-5D11EE35C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비트 악성코드가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System32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디렉터리에 파일을 쓰려 하면 자동으로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SysWOW64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디렉터리로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리디렉션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비트 프로그램이 소프트웨어 레지스트리 키에 접근하며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Wow6432Node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리디렉션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DC806-BBBF-A29D-E094-AA84BBBD6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791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DDC2-D11F-F006-1E8C-FE16763AE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4A1914-C3B6-0533-5E8F-56FFA1D0EB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9675F1-3F4D-93B9-D468-EB07FD5C2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비트 코드에서는 포인터와 데이터 값을 구분하는 것이 일반적으로 더 쉬움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>
              <a:defRPr/>
            </a:pPr>
            <a:r>
              <a:rPr lang="en-US" altLang="ko-KR" dirty="0"/>
              <a:t>64</a:t>
            </a:r>
            <a:r>
              <a:rPr lang="ko-KR" altLang="en-US" dirty="0"/>
              <a:t>비트 어셈블리에서는 포인터는 </a:t>
            </a:r>
            <a:r>
              <a:rPr lang="en-US" altLang="ko-KR" dirty="0"/>
              <a:t>64</a:t>
            </a:r>
            <a:r>
              <a:rPr lang="ko-KR" altLang="en-US" dirty="0"/>
              <a:t>비트 레지스터를 사용하고 일반 정수는 </a:t>
            </a:r>
            <a:r>
              <a:rPr lang="en-US" altLang="ko-KR" dirty="0"/>
              <a:t>32</a:t>
            </a:r>
            <a:r>
              <a:rPr lang="ko-KR" altLang="en-US" dirty="0"/>
              <a:t>비트 레지스터를 사용하므로 레지스터 크기로 파라미터 타입을 쉽게 구분할 수 있음</a:t>
            </a:r>
            <a:endParaRPr lang="en-US" altLang="ko-KR" sz="1200" dirty="0"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64646-12F0-0834-7FD4-0E5056E88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9894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2D165E-266B-4625-863F-C8655092B92A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9F609-621B-9B68-5FE0-A8679B266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0CDFED-9BD6-2DF6-B2DA-5E8649726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106639-5BEF-AEC5-9159-77D5C6F1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41A9E4-C737-9318-9E05-624E3B95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C8EFCD-6A6D-391F-235E-AC196DCF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845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3E3F0-2006-78E8-BB29-DE68F24B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8AD5A-8E27-4B64-3DF1-138D297AE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970FD-64DA-1AF5-7C36-922674A1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14B7DD-4AD5-EA6C-E26D-94DDBCAA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209C0-390E-72F4-B4E1-3C3F676D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997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4BA3E-312B-0C14-23C7-87562652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20AEC3-D998-118D-5D95-371FD5BA0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44C95-4804-DA4A-98FC-5ED1B249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17816-FEDF-E4A0-75CF-E8C0AC04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D91047-55EE-FF0D-A6DE-5D08387F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22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1258D-E6C7-454F-9227-B91F9B28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9C45F-1108-0149-FAE4-B93D2C220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1FDD84-4AAA-F580-EBB7-EA6C413A6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DAF3DB-C84A-4111-F956-8D6E50BA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F0CCF3-1528-7D6A-9124-C22C1A43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B00E7B-C8E6-637E-80A0-7998D7C6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60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E2DBE-A28B-BF2B-2F1F-69C3D5D8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48F579-735B-1148-EAC4-5390955BF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08B849-363A-FDC3-92E8-D46E9CD5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70D61E-0BFB-8DB0-E71E-EBD4EA79E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80C477-B9F7-DE1E-9E89-DB65A03C7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0CE965-DFCE-C679-4BD5-24BAA08C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716086-5071-29F3-8F0B-D6A2BB2E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1F074D-9981-6B37-C435-1C424FA1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73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5B3F0-396C-B829-0B1D-E5CB581B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7D1C4F-BDC7-9D11-2C19-D0AB7630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C8D9D6-E4CD-77B8-BA3D-879274AF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0F5F91-2413-2187-2810-A3354B7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5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5B216C-A241-21D3-995B-1B90BF056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253474-8F55-ED8F-0745-511961A3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20189-849C-ACED-CA43-79F066D2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09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4FF20-49A4-D7F4-88BC-BD050D19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084FD-0B12-328D-BEB8-4ACE991CE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6464EA-33B5-616C-EB4A-11FC6F8E0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A65B78-01AF-6EA9-5A6E-7ED3BC74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45CFD1-28DB-5A2C-A0D3-56FEDE37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7F8C35-4F86-A37F-45C8-905FCA9F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96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AF916-E0FD-1F22-3B47-FA40A214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2A94D36-AA03-1EE4-0EAA-D1E5C280E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A0180E-C13A-EBB0-C3BF-AEF5A8160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4491BA-D3D2-7F23-A5A3-F93591ECC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FBA94E-388F-02E3-39A9-EA873CF0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46DA65-2D44-E99D-D99E-655E35F5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7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00358-4F67-2C2C-B22C-637759F4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A84D1C-9779-B9A0-A21D-174FFB921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8F101E-49F8-BB39-B5F9-8DCA39A1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A246F-C8D8-9F54-F23E-D865BFE2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67D578-A858-122D-218F-ADF86D3B1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50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C61A85-7E76-806A-6ADA-6787A2683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B2CDF-1161-B589-DDA1-519D157B1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24B81-7DE5-D492-57BE-031EDDAB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CBCC9-8AC5-95D1-899E-BA7599C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C8BA39-5AA1-7E98-B028-F4AB7198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93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8A250A-1F4A-250D-CFAD-9019F429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0FA025-18ED-3498-4891-139AFE6D1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FA02E-CD93-FC41-4796-CAE7CB46E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D5E7D-BB21-4295-B349-DFDD0A2C690F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90B3F-367A-6E42-BE4A-847188914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82BA17-0706-7D49-2643-B3D59F73E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AD166-3F32-47D1-A40C-FD17864136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84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0728F-7B51-E241-8274-2261FC2E2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684" y="1844258"/>
            <a:ext cx="9654073" cy="2387600"/>
          </a:xfrm>
        </p:spPr>
        <p:txBody>
          <a:bodyPr anchor="ctr">
            <a:normAutofit/>
          </a:bodyPr>
          <a:lstStyle/>
          <a:p>
            <a:r>
              <a:rPr lang="en-US" altLang="ko-KR" sz="4000" b="1" dirty="0">
                <a:latin typeface="Cambria" panose="02040503050406030204" pitchFamily="18" charset="0"/>
                <a:ea typeface="Cambria" panose="02040503050406030204" pitchFamily="18" charset="0"/>
              </a:rPr>
              <a:t>Part 20 : C++ Analysis</a:t>
            </a:r>
            <a:br>
              <a:rPr lang="en-US" altLang="ko-KR" sz="4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4000" dirty="0">
                <a:latin typeface="Cambria" panose="02040503050406030204" pitchFamily="18" charset="0"/>
                <a:ea typeface="Cambria" panose="02040503050406030204" pitchFamily="18" charset="0"/>
              </a:rPr>
              <a:t>Part 21 : 64-bit Malware  </a:t>
            </a:r>
            <a:endParaRPr lang="ko-KR" altLang="en-US" sz="4000" dirty="0">
              <a:latin typeface="Cambria" panose="020405030504060302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817398-B582-2340-E8FC-2AAEAA6A4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1584"/>
            <a:ext cx="8991600" cy="621521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sz="2700" dirty="0">
                <a:latin typeface="Cambria" panose="02040503050406030204" pitchFamily="18" charset="0"/>
                <a:ea typeface="Cambria" panose="02040503050406030204" pitchFamily="18" charset="0"/>
              </a:rPr>
              <a:t>Book Seminar</a:t>
            </a:r>
          </a:p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Presenter</a:t>
            </a:r>
            <a:r>
              <a:rPr lang="ko-KR" altLang="en-US" dirty="0">
                <a:latin typeface="Cambria" panose="02040503050406030204" pitchFamily="18" charset="0"/>
              </a:rPr>
              <a:t> 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ko-KR" altLang="en-US" dirty="0">
                <a:latin typeface="Cambria" panose="02040503050406030204" pitchFamily="18" charset="0"/>
              </a:rPr>
              <a:t> 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Daeun Song </a:t>
            </a:r>
            <a:endParaRPr lang="ko-KR" alt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87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latin typeface="Cambria"/>
                <a:ea typeface="Cambria"/>
              </a:rPr>
              <a:t>Object-Oriented Programming </a:t>
            </a:r>
            <a:endParaRPr lang="ko-KR" altLang="en-US">
              <a:latin typeface="Cambri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half" idx="2"/>
          </p:nvPr>
        </p:nvSpPr>
        <p:spPr>
          <a:xfrm>
            <a:off x="627648" y="1690688"/>
            <a:ext cx="10936704" cy="1016417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2000" dirty="0">
                <a:latin typeface="Cambria"/>
                <a:ea typeface="Cambria"/>
              </a:rPr>
              <a:t>C++ is an object-oriented language that groups data and the functions that manipulate that data into a single object.</a:t>
            </a:r>
          </a:p>
          <a:p>
            <a:pPr lvl="1">
              <a:defRPr/>
            </a:pPr>
            <a:r>
              <a:rPr lang="en-US" altLang="ko-KR" sz="2000" dirty="0">
                <a:latin typeface="Cambria"/>
                <a:ea typeface="Cambria"/>
              </a:rPr>
              <a:t>Class : </a:t>
            </a:r>
            <a:r>
              <a:rPr lang="ko-KR" altLang="en-US" sz="2000" dirty="0" err="1">
                <a:latin typeface="Cambria"/>
              </a:rPr>
              <a:t>A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user-defined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type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similar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to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a</a:t>
            </a:r>
            <a:r>
              <a:rPr lang="ko-KR" altLang="en-US" sz="2000" dirty="0">
                <a:latin typeface="Cambria"/>
              </a:rPr>
              <a:t> C </a:t>
            </a:r>
            <a:r>
              <a:rPr lang="ko-KR" altLang="en-US" sz="2000" dirty="0" err="1">
                <a:latin typeface="Cambria"/>
              </a:rPr>
              <a:t>struct</a:t>
            </a:r>
            <a:r>
              <a:rPr lang="ko-KR" altLang="en-US" sz="2000" dirty="0">
                <a:latin typeface="Cambria"/>
              </a:rPr>
              <a:t>, </a:t>
            </a:r>
            <a:r>
              <a:rPr lang="ko-KR" altLang="en-US" sz="2000" dirty="0" err="1">
                <a:latin typeface="Cambria"/>
              </a:rPr>
              <a:t>but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it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can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also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contain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functions</a:t>
            </a:r>
            <a:r>
              <a:rPr lang="ko-KR" altLang="en-US" sz="2000" dirty="0">
                <a:latin typeface="Cambria"/>
              </a:rPr>
              <a:t>.</a:t>
            </a:r>
          </a:p>
          <a:p>
            <a:pPr lvl="1">
              <a:defRPr/>
            </a:pPr>
            <a:r>
              <a:rPr lang="en-US" altLang="ko-KR" sz="2000" dirty="0">
                <a:latin typeface="Cambria"/>
                <a:ea typeface="Cambria"/>
              </a:rPr>
              <a:t>Instance : </a:t>
            </a:r>
            <a:r>
              <a:rPr lang="ko-KR" altLang="en-US" sz="2000" dirty="0" err="1">
                <a:latin typeface="Cambria"/>
              </a:rPr>
              <a:t>An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actual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object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created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based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on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a</a:t>
            </a:r>
            <a:r>
              <a:rPr lang="ko-KR" altLang="en-US" sz="2000" dirty="0">
                <a:latin typeface="Cambria"/>
              </a:rPr>
              <a:t> </a:t>
            </a:r>
            <a:r>
              <a:rPr lang="ko-KR" altLang="en-US" sz="2000" dirty="0" err="1">
                <a:latin typeface="Cambria"/>
              </a:rPr>
              <a:t>class</a:t>
            </a:r>
            <a:r>
              <a:rPr lang="ko-KR" altLang="en-US" sz="2000" dirty="0">
                <a:latin typeface="Cambria"/>
              </a:rPr>
              <a:t>.</a:t>
            </a:r>
          </a:p>
        </p:txBody>
      </p:sp>
      <p:pic>
        <p:nvPicPr>
          <p:cNvPr id="4" name="그림 3" descr="텍스트, 스크린샷, 폰트, 라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3"/>
          <a:srcRect r="44180"/>
          <a:stretch>
            <a:fillRect/>
          </a:stretch>
        </p:blipFill>
        <p:spPr>
          <a:xfrm>
            <a:off x="1203158" y="3116179"/>
            <a:ext cx="3844341" cy="2943225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>
          <a:xfrm>
            <a:off x="5483267" y="3589910"/>
            <a:ext cx="5870533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SimpleClass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 is a class that contains data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 and the function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HelloWorld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myObject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 is an instance of </a:t>
            </a:r>
            <a:r>
              <a:rPr lang="en-US" altLang="ko-K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SimpleClass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03158" y="3200400"/>
            <a:ext cx="1624263" cy="228600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53268" y="5292976"/>
            <a:ext cx="1868905" cy="228600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05179-5EAA-A308-11F2-B35D596C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24BF-2F8E-FDB1-EE11-F5B60F26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</a:rPr>
              <a:t>This Pointer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1CAEDB8-C73E-4944-1E40-C13E5C5DA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648" y="1690688"/>
            <a:ext cx="10936704" cy="1016417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Member functions must know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which object instance invoked them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To identify the object instance, C++ uses the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this pointer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B231D-1E1D-FD65-D9C3-D03E03CE9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79" y="2799682"/>
            <a:ext cx="4491789" cy="347662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7DBA241-436F-CFF7-07A0-7A785DD6DF9D}"/>
              </a:ext>
            </a:extLst>
          </p:cNvPr>
          <p:cNvSpPr/>
          <p:nvPr/>
        </p:nvSpPr>
        <p:spPr>
          <a:xfrm>
            <a:off x="867457" y="5212451"/>
            <a:ext cx="2020230" cy="203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02C9A3-9231-54C8-FC64-5614E5044705}"/>
              </a:ext>
            </a:extLst>
          </p:cNvPr>
          <p:cNvSpPr/>
          <p:nvPr/>
        </p:nvSpPr>
        <p:spPr>
          <a:xfrm>
            <a:off x="1003572" y="5744379"/>
            <a:ext cx="2163509" cy="203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FE6BD2F9-8238-B7C8-F8E1-64B4D53A5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604" y="3513386"/>
            <a:ext cx="6596438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myObject.HelloWorld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b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→ x refers to the address of </a:t>
            </a: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myObject.x</a:t>
            </a:r>
            <a:b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myOtherObject.HelloWorld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b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→ x refers to the address of </a:t>
            </a: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myOtherObject.x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2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C47B3-DC6A-A4FA-9922-776D717C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AD33D-1992-08B7-8FD2-E836F713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</a:rPr>
              <a:t>This Pointer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CA10A9-40E0-1A65-6428-37013C69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8380"/>
            <a:ext cx="5795424" cy="486226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E79E198-C4E4-DED9-F535-AFE147F4EB08}"/>
              </a:ext>
            </a:extLst>
          </p:cNvPr>
          <p:cNvSpPr/>
          <p:nvPr/>
        </p:nvSpPr>
        <p:spPr>
          <a:xfrm>
            <a:off x="2502569" y="2298031"/>
            <a:ext cx="3128210" cy="566190"/>
          </a:xfrm>
          <a:prstGeom prst="rect">
            <a:avLst/>
          </a:prstGeom>
          <a:solidFill>
            <a:srgbClr val="00B0F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222EA6-F9BC-A8D5-B884-638259D61F4B}"/>
              </a:ext>
            </a:extLst>
          </p:cNvPr>
          <p:cNvSpPr/>
          <p:nvPr/>
        </p:nvSpPr>
        <p:spPr>
          <a:xfrm>
            <a:off x="2502569" y="5125453"/>
            <a:ext cx="3128210" cy="1118937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99E099-6DB2-5898-66BF-DCA6CBFED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298" y="1478380"/>
            <a:ext cx="4491789" cy="347662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151214-AB21-1D00-6442-699A845B70E0}"/>
              </a:ext>
            </a:extLst>
          </p:cNvPr>
          <p:cNvSpPr/>
          <p:nvPr/>
        </p:nvSpPr>
        <p:spPr>
          <a:xfrm>
            <a:off x="2502569" y="2985961"/>
            <a:ext cx="3128210" cy="566190"/>
          </a:xfrm>
          <a:prstGeom prst="rect">
            <a:avLst/>
          </a:prstGeom>
          <a:solidFill>
            <a:srgbClr val="FFC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4BCCBBC-03DB-9FFF-54C5-A618C0840D0A}"/>
              </a:ext>
            </a:extLst>
          </p:cNvPr>
          <p:cNvCxnSpPr>
            <a:cxnSpLocks/>
          </p:cNvCxnSpPr>
          <p:nvPr/>
        </p:nvCxnSpPr>
        <p:spPr>
          <a:xfrm flipH="1" flipV="1">
            <a:off x="5666873" y="2526923"/>
            <a:ext cx="1687503" cy="1242180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5F2E159-3393-8FD0-FBB4-89524B082C01}"/>
              </a:ext>
            </a:extLst>
          </p:cNvPr>
          <p:cNvCxnSpPr>
            <a:cxnSpLocks/>
          </p:cNvCxnSpPr>
          <p:nvPr/>
        </p:nvCxnSpPr>
        <p:spPr>
          <a:xfrm flipH="1" flipV="1">
            <a:off x="5663201" y="3256952"/>
            <a:ext cx="1859712" cy="1005372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49515DE-99EA-2FC3-5B16-EB5E918D82C7}"/>
              </a:ext>
            </a:extLst>
          </p:cNvPr>
          <p:cNvSpPr/>
          <p:nvPr/>
        </p:nvSpPr>
        <p:spPr>
          <a:xfrm>
            <a:off x="7354376" y="3552151"/>
            <a:ext cx="1827290" cy="334049"/>
          </a:xfrm>
          <a:prstGeom prst="rect">
            <a:avLst/>
          </a:prstGeom>
          <a:solidFill>
            <a:srgbClr val="00B0F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DC8026-0A58-5921-5150-A7CADA8C033C}"/>
              </a:ext>
            </a:extLst>
          </p:cNvPr>
          <p:cNvSpPr/>
          <p:nvPr/>
        </p:nvSpPr>
        <p:spPr>
          <a:xfrm>
            <a:off x="7522913" y="4104046"/>
            <a:ext cx="2067860" cy="316556"/>
          </a:xfrm>
          <a:prstGeom prst="rect">
            <a:avLst/>
          </a:prstGeom>
          <a:solidFill>
            <a:srgbClr val="FFC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D526D09-8534-A90C-A762-83513009D9BC}"/>
              </a:ext>
            </a:extLst>
          </p:cNvPr>
          <p:cNvSpPr/>
          <p:nvPr/>
        </p:nvSpPr>
        <p:spPr>
          <a:xfrm>
            <a:off x="7522913" y="2129589"/>
            <a:ext cx="3245350" cy="570736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03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F60E-8B55-9217-E168-4EEA5288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41659-805E-6AF6-FBE8-9368BABD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</a:rPr>
              <a:t>Overloading and Mangling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0491118-8FB1-7BB1-A625-E6F753EFE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648" y="1690688"/>
            <a:ext cx="10936704" cy="1016417"/>
          </a:xfrm>
        </p:spPr>
        <p:txBody>
          <a:bodyPr>
            <a:noAutofit/>
          </a:bodyPr>
          <a:lstStyle/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Method Overloading: Defining multiple functions with the same name but different parameters. </a:t>
            </a:r>
          </a:p>
          <a:p>
            <a:pPr lvl="1"/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The compiler determines which function to call based on the </a:t>
            </a: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number and types of parameters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20" name="그림 1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EE4CBF-D766-707C-2CFF-8CAEC25E7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443" y="3429000"/>
            <a:ext cx="68580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66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2686-A1B7-82ED-C071-2D92AB95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3410B-4F4E-F03D-68B6-5F989875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</a:rPr>
              <a:t>Overloading and Mangling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BC4FF98-B10C-ADEE-91C3-4A1F672F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648" y="1690688"/>
            <a:ext cx="10936704" cy="1325563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Name Mangling</a:t>
            </a:r>
          </a:p>
          <a:p>
            <a:pPr lvl="1"/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In PE files, only function names are stored without parameter information.</a:t>
            </a:r>
          </a:p>
          <a:p>
            <a:pPr lvl="1"/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To support function overloading, the compiler encodes parameter information into the function name.</a:t>
            </a:r>
          </a:p>
          <a:p>
            <a:pPr lvl="1"/>
            <a:r>
              <a:rPr lang="en-US" altLang="ko-K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TestFunction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(int, int) → ?</a:t>
            </a:r>
            <a:r>
              <a:rPr lang="en-US" altLang="ko-KR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TestFunction@SimpleClass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@@QAEXHH@Z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816EA5C-A82C-9F52-8828-BDCAEAC78945}"/>
              </a:ext>
            </a:extLst>
          </p:cNvPr>
          <p:cNvGrpSpPr/>
          <p:nvPr/>
        </p:nvGrpSpPr>
        <p:grpSpPr>
          <a:xfrm>
            <a:off x="2162175" y="3505349"/>
            <a:ext cx="7867650" cy="2724150"/>
            <a:chOff x="2330116" y="2536156"/>
            <a:chExt cx="7867650" cy="2724150"/>
          </a:xfrm>
        </p:grpSpPr>
        <p:pic>
          <p:nvPicPr>
            <p:cNvPr id="4" name="그림 3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7DB6E6C-8E4D-F673-EFAE-F90A9A905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0116" y="2536156"/>
              <a:ext cx="7867650" cy="272415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C0810D-9B95-E1E6-2F67-06B2B74373E0}"/>
                </a:ext>
              </a:extLst>
            </p:cNvPr>
            <p:cNvSpPr/>
            <p:nvPr/>
          </p:nvSpPr>
          <p:spPr>
            <a:xfrm>
              <a:off x="6379913" y="2992187"/>
              <a:ext cx="2944561" cy="208212"/>
            </a:xfrm>
            <a:prstGeom prst="rect">
              <a:avLst/>
            </a:prstGeom>
            <a:solidFill>
              <a:srgbClr val="FFFF00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8639260-16AC-8D5E-F0D1-A005BA4BB07F}"/>
                </a:ext>
              </a:extLst>
            </p:cNvPr>
            <p:cNvSpPr/>
            <p:nvPr/>
          </p:nvSpPr>
          <p:spPr>
            <a:xfrm>
              <a:off x="4339807" y="3164303"/>
              <a:ext cx="2944561" cy="208212"/>
            </a:xfrm>
            <a:prstGeom prst="rect">
              <a:avLst/>
            </a:prstGeom>
            <a:solidFill>
              <a:srgbClr val="FFFF00">
                <a:alpha val="1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490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6102-6AE3-1BAC-822E-756BF5ED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55809-A771-1145-C432-F52A7E82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Inheritance and Function Overriding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91C6064-E7B6-2502-6FAC-468DD2DA1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648" y="1690688"/>
            <a:ext cx="10936704" cy="1325563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Inheritance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: Inheritance allows a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child class to automatically inherit the functions and data of a parent class.</a:t>
            </a:r>
          </a:p>
          <a:p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Inheritance usually does not require special runtime structures. Therefore, it is often not clearly visible in assembly code.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A82495-72B0-DF14-436E-929BCA04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24" y="3151583"/>
            <a:ext cx="6285749" cy="351372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5EB5D54-5766-2E3E-D9E4-329DAC4C2D06}"/>
              </a:ext>
            </a:extLst>
          </p:cNvPr>
          <p:cNvSpPr/>
          <p:nvPr/>
        </p:nvSpPr>
        <p:spPr>
          <a:xfrm>
            <a:off x="3331348" y="4990355"/>
            <a:ext cx="2045369" cy="206575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79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58E4-A28F-0534-FCAB-617C8874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8B950-04B6-5147-EB63-C2606E4A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Virtual vs. Nonvirtual Function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E8EAC86-E04B-AE9E-E98E-6294756F8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648" y="1690688"/>
            <a:ext cx="10936704" cy="1076575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Non-virtual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: The function to be called is determined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at compile time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: The function to be called is determined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at runtime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, and the called function may change depending on the </a:t>
            </a: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actual object type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4FAD71-7105-59A7-9B48-D28AF7251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096" y="2778376"/>
            <a:ext cx="4957010" cy="393424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746F118-8995-E1AC-D2C7-EE21CCBC9429}"/>
              </a:ext>
            </a:extLst>
          </p:cNvPr>
          <p:cNvSpPr/>
          <p:nvPr/>
        </p:nvSpPr>
        <p:spPr>
          <a:xfrm>
            <a:off x="3994565" y="3388109"/>
            <a:ext cx="541418" cy="174207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5DAC59-8024-8C7E-F2E0-61F0AB550918}"/>
              </a:ext>
            </a:extLst>
          </p:cNvPr>
          <p:cNvSpPr/>
          <p:nvPr/>
        </p:nvSpPr>
        <p:spPr>
          <a:xfrm>
            <a:off x="3994565" y="4351004"/>
            <a:ext cx="541418" cy="174207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46284DC-7BE0-8CD4-BDD6-87C76BCE0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480" y="3919976"/>
            <a:ext cx="480260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Nonvirtual : </a:t>
            </a: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Class A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 is printed</a:t>
            </a: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 eaLnBrk="0" fontAlgn="base" latinLnBrk="0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Virtual : </a:t>
            </a: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Class B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 is printed.</a:t>
            </a:r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BE52F0-00FD-319C-2FB7-0C3F0511CB83}"/>
              </a:ext>
            </a:extLst>
          </p:cNvPr>
          <p:cNvSpPr/>
          <p:nvPr/>
        </p:nvSpPr>
        <p:spPr>
          <a:xfrm>
            <a:off x="1305941" y="5041497"/>
            <a:ext cx="768838" cy="195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A439209-48A7-0D2B-853F-7980D8D7B249}"/>
              </a:ext>
            </a:extLst>
          </p:cNvPr>
          <p:cNvSpPr/>
          <p:nvPr/>
        </p:nvSpPr>
        <p:spPr>
          <a:xfrm>
            <a:off x="3767145" y="5016097"/>
            <a:ext cx="768838" cy="195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043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E8FF-12CB-D2C9-F027-1A50A211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5F839-6C94-CE70-4C79-EEE3E362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Virtual vs. Nonvirtual Function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47BEBB-B2DD-4380-11A0-C77A8D4DF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105" y="1690688"/>
            <a:ext cx="4724400" cy="4305300"/>
          </a:xfrm>
          <a:prstGeom prst="rect">
            <a:avLst/>
          </a:prstGeom>
        </p:spPr>
      </p:pic>
      <p:pic>
        <p:nvPicPr>
          <p:cNvPr id="13" name="그림 12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DE6165-8DC3-DD5C-7992-B74C79621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949" y="2648869"/>
            <a:ext cx="3994484" cy="1919272"/>
          </a:xfrm>
          <a:prstGeom prst="rect">
            <a:avLst/>
          </a:prstGeom>
        </p:spPr>
      </p:pic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52BBA8B9-0D6D-B187-BFD5-7908207BB612}"/>
              </a:ext>
            </a:extLst>
          </p:cNvPr>
          <p:cNvSpPr/>
          <p:nvPr/>
        </p:nvSpPr>
        <p:spPr>
          <a:xfrm rot="5400000">
            <a:off x="6316579" y="3429000"/>
            <a:ext cx="661737" cy="204537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4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14CC-4812-0052-A6BA-4A1E670C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04D1F-DCAC-8011-2695-CEF714C0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8B70F631-7BAB-D066-EE1B-5E8002995062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: A special data structure added by the C++ compiler to support virtual functions.</a:t>
            </a:r>
          </a:p>
          <a:p>
            <a:pPr lvl="1"/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An array of function pointers.</a:t>
            </a:r>
          </a:p>
          <a:p>
            <a:pPr lvl="1"/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Each class using virtual functions has its own </a:t>
            </a: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2ED1C9-BDE9-077C-45B6-F6131826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61" y="3198276"/>
            <a:ext cx="8220075" cy="29051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9DD3B39-9E07-F45D-CD51-B22B367E8D4C}"/>
              </a:ext>
            </a:extLst>
          </p:cNvPr>
          <p:cNvSpPr/>
          <p:nvPr/>
        </p:nvSpPr>
        <p:spPr>
          <a:xfrm>
            <a:off x="6095999" y="5276446"/>
            <a:ext cx="2245896" cy="209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E7C6E7-AADD-ECF5-C64C-4DE7D03EEF07}"/>
              </a:ext>
            </a:extLst>
          </p:cNvPr>
          <p:cNvSpPr/>
          <p:nvPr/>
        </p:nvSpPr>
        <p:spPr>
          <a:xfrm>
            <a:off x="2157662" y="4486373"/>
            <a:ext cx="2783306" cy="278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33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202B-17C5-8B83-72CA-8232ED05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11020-1598-487C-A3B3-7B13C1FF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54C73A5A-F3B2-63C9-E3D7-D7CF4ADDDDB3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Assembly code reads the first 4 bytes of an object's pointer.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These first 4 bytes contain the pointer to the </a:t>
            </a:r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An array storing the actual memory addresses of the class's virtual functions.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0E3ADA-FAA6-69E0-A167-A001DF652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3308350"/>
            <a:ext cx="83248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6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71220-7570-C489-0EC3-6F0F93E6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3A58B-7E83-46A8-D6B8-3EC02E3CA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0CD703A5-2ED2-0813-5730-E10588535D39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Cross-references to the same function from two different </a:t>
            </a:r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Vtables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 imply an inheritance relationship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Child classes automatically include the parent class's functions unless overridden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 with the larger size is highly likely to belong to the child class.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D96E81-5C27-75DC-3D3B-212E85618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492" y="3749675"/>
            <a:ext cx="6867525" cy="27432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3798C77-9E8E-F2B6-9BC7-7647ED90A059}"/>
              </a:ext>
            </a:extLst>
          </p:cNvPr>
          <p:cNvSpPr/>
          <p:nvPr/>
        </p:nvSpPr>
        <p:spPr>
          <a:xfrm>
            <a:off x="5260139" y="4477198"/>
            <a:ext cx="2783306" cy="278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7D380C-A73F-4A39-CDD3-B65AA48E08BB}"/>
              </a:ext>
            </a:extLst>
          </p:cNvPr>
          <p:cNvSpPr/>
          <p:nvPr/>
        </p:nvSpPr>
        <p:spPr>
          <a:xfrm>
            <a:off x="5260139" y="5996537"/>
            <a:ext cx="2783306" cy="2781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대괄호 10">
            <a:extLst>
              <a:ext uri="{FF2B5EF4-FFF2-40B4-BE49-F238E27FC236}">
                <a16:creationId xmlns:a16="http://schemas.microsoft.com/office/drawing/2014/main" id="{47E0C2E8-0FC9-4877-07F8-47FE5A9E4DB0}"/>
              </a:ext>
            </a:extLst>
          </p:cNvPr>
          <p:cNvSpPr/>
          <p:nvPr/>
        </p:nvSpPr>
        <p:spPr>
          <a:xfrm>
            <a:off x="8118891" y="4949790"/>
            <a:ext cx="216569" cy="1185813"/>
          </a:xfrm>
          <a:prstGeom prst="rightBracke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대괄호 11">
            <a:extLst>
              <a:ext uri="{FF2B5EF4-FFF2-40B4-BE49-F238E27FC236}">
                <a16:creationId xmlns:a16="http://schemas.microsoft.com/office/drawing/2014/main" id="{ECE15362-E534-6B44-6162-7A6C0A056B77}"/>
              </a:ext>
            </a:extLst>
          </p:cNvPr>
          <p:cNvSpPr/>
          <p:nvPr/>
        </p:nvSpPr>
        <p:spPr>
          <a:xfrm>
            <a:off x="8118892" y="4023358"/>
            <a:ext cx="216569" cy="669589"/>
          </a:xfrm>
          <a:prstGeom prst="rightBracke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8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E3D5-C0EC-BC0D-663A-77E3DAA2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A88F7-CF62-B81A-6988-8B13A813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</a:rPr>
              <a:t>Constructor &amp; Destructor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8A695E65-EEF2-DFB3-CB61-A8C1562BBCFB}"/>
              </a:ext>
            </a:extLst>
          </p:cNvPr>
          <p:cNvSpPr txBox="1">
            <a:spLocks/>
          </p:cNvSpPr>
          <p:nvPr/>
        </p:nvSpPr>
        <p:spPr>
          <a:xfrm>
            <a:off x="627648" y="1762876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The constructor is called when an object is created, and the destructor is called when the object is destroyed.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When allocating an object on the heap, the new operator is called, and the delete operator is used to free it.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F4646B-D75B-C516-3357-13516B6F0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169" y="3592915"/>
            <a:ext cx="7026470" cy="263492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EB606EF-74FD-BDFA-9033-2C6B57B93EB4}"/>
              </a:ext>
            </a:extLst>
          </p:cNvPr>
          <p:cNvSpPr/>
          <p:nvPr/>
        </p:nvSpPr>
        <p:spPr>
          <a:xfrm>
            <a:off x="3772567" y="5736472"/>
            <a:ext cx="5630779" cy="391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580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E6E35-3AB7-0AE9-1CBA-AE83CBBCD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A6CA1-1935-2AAB-C535-BD63130A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</a:rPr>
              <a:t>Constructor &amp; Destructor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C6664AC7-47BD-05EE-8EBF-5D2D58F48AFB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For stack objects, the compiler sequentially inserts two </a:t>
            </a:r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 offsets into the same location.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It first inserts the parent class's </a:t>
            </a:r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, then overwrites it with the actual child class's </a:t>
            </a:r>
            <a:r>
              <a:rPr lang="en-US" altLang="ko-K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Vtable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FEADE2-9392-5383-C402-0184F4D6A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521" y="3314700"/>
            <a:ext cx="8915400" cy="33432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41ECFA7-F33A-3C52-4A49-3FF579AFA229}"/>
              </a:ext>
            </a:extLst>
          </p:cNvPr>
          <p:cNvSpPr/>
          <p:nvPr/>
        </p:nvSpPr>
        <p:spPr>
          <a:xfrm>
            <a:off x="4096752" y="4622882"/>
            <a:ext cx="5630779" cy="726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283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Lab 20-1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A1ADD418-94A5-ADB1-B89F-72508E6C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Questions </a:t>
            </a: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1. Does the function at 0x401040 take any parameters? </a:t>
            </a: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2. Which URL is used in the call to </a:t>
            </a: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URLDownloadToFile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? </a:t>
            </a: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3. What does this program do?</a:t>
            </a:r>
            <a:endParaRPr lang="ko-KR" altLang="en-US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5FF3-0FE4-E70A-4065-D67C1392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C6DB3-F7A5-B4E0-40CD-F1654F4C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Lab 20-1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7F9609-A273-6066-5524-45F91E514ECD}"/>
              </a:ext>
            </a:extLst>
          </p:cNvPr>
          <p:cNvPicPr/>
          <p:nvPr/>
        </p:nvPicPr>
        <p:blipFill rotWithShape="1">
          <a:blip r:embed="rId3"/>
          <a:srcRect r="10532" b="14865"/>
          <a:stretch>
            <a:fillRect/>
          </a:stretch>
        </p:blipFill>
        <p:spPr>
          <a:xfrm>
            <a:off x="208548" y="1890691"/>
            <a:ext cx="6855994" cy="3848371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CDBC787A-0F7C-B2C6-EBFB-B3C938043173}"/>
              </a:ext>
            </a:extLst>
          </p:cNvPr>
          <p:cNvGrpSpPr/>
          <p:nvPr/>
        </p:nvGrpSpPr>
        <p:grpSpPr>
          <a:xfrm>
            <a:off x="6968290" y="1902722"/>
            <a:ext cx="5015162" cy="3682520"/>
            <a:chOff x="627648" y="2878327"/>
            <a:chExt cx="5015162" cy="368252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6934931-50CA-A192-3E9C-13C8439115DD}"/>
                </a:ext>
              </a:extLst>
            </p:cNvPr>
            <p:cNvPicPr/>
            <p:nvPr/>
          </p:nvPicPr>
          <p:blipFill rotWithShape="1">
            <a:blip r:embed="rId4"/>
            <a:srcRect l="40439" t="12402" r="11024" b="6859"/>
            <a:stretch>
              <a:fillRect/>
            </a:stretch>
          </p:blipFill>
          <p:spPr>
            <a:xfrm>
              <a:off x="627648" y="2878327"/>
              <a:ext cx="5015162" cy="368252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1EBD151-C348-4A7D-527B-D58CA67E6832}"/>
                </a:ext>
              </a:extLst>
            </p:cNvPr>
            <p:cNvSpPr/>
            <p:nvPr/>
          </p:nvSpPr>
          <p:spPr>
            <a:xfrm>
              <a:off x="1719019" y="4417960"/>
              <a:ext cx="1416210" cy="3016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CB2D9E-3CE1-592D-12E6-74F478BF0F79}"/>
              </a:ext>
            </a:extLst>
          </p:cNvPr>
          <p:cNvSpPr/>
          <p:nvPr/>
        </p:nvSpPr>
        <p:spPr>
          <a:xfrm>
            <a:off x="7458082" y="4100194"/>
            <a:ext cx="2114041" cy="7004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B817DC-47C7-3C23-C0CC-D9C50B5D1852}"/>
              </a:ext>
            </a:extLst>
          </p:cNvPr>
          <p:cNvSpPr/>
          <p:nvPr/>
        </p:nvSpPr>
        <p:spPr>
          <a:xfrm>
            <a:off x="2049380" y="3278186"/>
            <a:ext cx="2411329" cy="301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8A976B-1C9A-7606-0F31-1BFB307052E5}"/>
              </a:ext>
            </a:extLst>
          </p:cNvPr>
          <p:cNvSpPr/>
          <p:nvPr/>
        </p:nvSpPr>
        <p:spPr>
          <a:xfrm>
            <a:off x="2049379" y="4165601"/>
            <a:ext cx="4918911" cy="634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5274E7-8DCB-B69D-6541-B33F79CDD4AF}"/>
              </a:ext>
            </a:extLst>
          </p:cNvPr>
          <p:cNvCxnSpPr>
            <a:cxnSpLocks/>
          </p:cNvCxnSpPr>
          <p:nvPr/>
        </p:nvCxnSpPr>
        <p:spPr>
          <a:xfrm flipH="1">
            <a:off x="6968290" y="2743200"/>
            <a:ext cx="455458" cy="1422401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27623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013E-FD78-E0DC-ED36-B03C009D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B0E31-5BCB-0F09-CF26-1DD05CEE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Lab 20-1 </a:t>
            </a:r>
          </a:p>
        </p:txBody>
      </p:sp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BDAA1816-52AE-00AE-3C94-68996912678D}"/>
              </a:ext>
            </a:extLst>
          </p:cNvPr>
          <p:cNvSpPr txBox="1">
            <a:spLocks/>
          </p:cNvSpPr>
          <p:nvPr/>
        </p:nvSpPr>
        <p:spPr>
          <a:xfrm>
            <a:off x="627648" y="1540733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Does the function at 0x401040 take any parameters?</a:t>
            </a: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: No stack parameters are used. The function only receives the this pointer through </a:t>
            </a:r>
            <a:r>
              <a:rPr lang="en-US" altLang="ko-KR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ECX. 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08FEE7-2472-5A0B-9DBA-37E02A76E6C3}"/>
              </a:ext>
            </a:extLst>
          </p:cNvPr>
          <p:cNvGrpSpPr/>
          <p:nvPr/>
        </p:nvGrpSpPr>
        <p:grpSpPr>
          <a:xfrm>
            <a:off x="627648" y="2866296"/>
            <a:ext cx="5015162" cy="3682520"/>
            <a:chOff x="627648" y="2866296"/>
            <a:chExt cx="5015162" cy="368252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8608C73-D628-7FD2-D49C-A24E3376E19D}"/>
                </a:ext>
              </a:extLst>
            </p:cNvPr>
            <p:cNvPicPr/>
            <p:nvPr/>
          </p:nvPicPr>
          <p:blipFill rotWithShape="1">
            <a:blip r:embed="rId3"/>
            <a:srcRect l="40439" t="12402" r="11024" b="6859"/>
            <a:stretch>
              <a:fillRect/>
            </a:stretch>
          </p:blipFill>
          <p:spPr>
            <a:xfrm>
              <a:off x="627648" y="2866296"/>
              <a:ext cx="5015162" cy="368252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AA61A6-C506-089B-0DB2-45C5789DCF8B}"/>
                </a:ext>
              </a:extLst>
            </p:cNvPr>
            <p:cNvSpPr/>
            <p:nvPr/>
          </p:nvSpPr>
          <p:spPr>
            <a:xfrm>
              <a:off x="1719019" y="4417960"/>
              <a:ext cx="1416210" cy="3016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3826EE-765C-28F9-6D7F-119A63D5BC20}"/>
              </a:ext>
            </a:extLst>
          </p:cNvPr>
          <p:cNvSpPr/>
          <p:nvPr/>
        </p:nvSpPr>
        <p:spPr>
          <a:xfrm>
            <a:off x="1083106" y="5075799"/>
            <a:ext cx="2114041" cy="301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ECCB2-FBC5-ADBD-ECF4-11119A18ABDA}"/>
              </a:ext>
            </a:extLst>
          </p:cNvPr>
          <p:cNvSpPr txBox="1"/>
          <p:nvPr/>
        </p:nvSpPr>
        <p:spPr>
          <a:xfrm>
            <a:off x="8098750" y="4245607"/>
            <a:ext cx="2358189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Cambria" panose="02040503050406030204" pitchFamily="18" charset="0"/>
              </a:rPr>
              <a:t>mov</a:t>
            </a:r>
            <a:r>
              <a:rPr lang="ko-KR" altLang="en-US" dirty="0">
                <a:latin typeface="Cambria" panose="02040503050406030204" pitchFamily="18" charset="0"/>
              </a:rPr>
              <a:t> </a:t>
            </a:r>
            <a:r>
              <a:rPr lang="ko-KR" altLang="en-US" dirty="0" err="1">
                <a:latin typeface="Cambria" panose="02040503050406030204" pitchFamily="18" charset="0"/>
              </a:rPr>
              <a:t>eax</a:t>
            </a:r>
            <a:r>
              <a:rPr lang="ko-KR" altLang="en-US" dirty="0">
                <a:latin typeface="Cambria" panose="02040503050406030204" pitchFamily="18" charset="0"/>
              </a:rPr>
              <a:t>, [ebp+8] </a:t>
            </a:r>
            <a:endParaRPr lang="en-US" altLang="ko-K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ko-KR" altLang="en-US" dirty="0" err="1">
                <a:latin typeface="Cambria" panose="02040503050406030204" pitchFamily="18" charset="0"/>
              </a:rPr>
              <a:t>mov</a:t>
            </a:r>
            <a:r>
              <a:rPr lang="ko-KR" altLang="en-US" dirty="0">
                <a:latin typeface="Cambria" panose="02040503050406030204" pitchFamily="18" charset="0"/>
              </a:rPr>
              <a:t> </a:t>
            </a:r>
            <a:r>
              <a:rPr lang="ko-KR" altLang="en-US" dirty="0" err="1">
                <a:latin typeface="Cambria" panose="02040503050406030204" pitchFamily="18" charset="0"/>
              </a:rPr>
              <a:t>ecx</a:t>
            </a:r>
            <a:r>
              <a:rPr lang="ko-KR" altLang="en-US" dirty="0">
                <a:latin typeface="Cambria" panose="02040503050406030204" pitchFamily="18" charset="0"/>
              </a:rPr>
              <a:t>, [ebp+0Ch]</a:t>
            </a:r>
          </a:p>
        </p:txBody>
      </p:sp>
    </p:spTree>
    <p:extLst>
      <p:ext uri="{BB962C8B-B14F-4D97-AF65-F5344CB8AC3E}">
        <p14:creationId xmlns:p14="http://schemas.microsoft.com/office/powerpoint/2010/main" val="19539270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80A6-F638-4863-CEC2-DCCF0077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6BE97-0338-ECEE-BEA5-A2A1DB0E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Lab 20-1 </a:t>
            </a:r>
          </a:p>
        </p:txBody>
      </p:sp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5B95B696-554E-A964-D679-FD8870751CE3}"/>
              </a:ext>
            </a:extLst>
          </p:cNvPr>
          <p:cNvSpPr txBox="1">
            <a:spLocks/>
          </p:cNvSpPr>
          <p:nvPr/>
        </p:nvSpPr>
        <p:spPr>
          <a:xfrm>
            <a:off x="627648" y="1540733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2. Which URL is used in the call to </a:t>
            </a:r>
            <a:r>
              <a:rPr lang="en-US" altLang="ko-KR" b="1" dirty="0" err="1">
                <a:latin typeface="Cambria" panose="02040503050406030204" pitchFamily="18" charset="0"/>
                <a:ea typeface="Cambria" panose="02040503050406030204" pitchFamily="18" charset="0"/>
              </a:rPr>
              <a:t>URLDownloadToFile</a:t>
            </a: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?</a:t>
            </a: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: The call to </a:t>
            </a:r>
            <a:r>
              <a:rPr lang="en-US" altLang="ko-KR" dirty="0" err="1">
                <a:latin typeface="Cambria" panose="02040503050406030204" pitchFamily="18" charset="0"/>
                <a:ea typeface="Cambria" panose="02040503050406030204" pitchFamily="18" charset="0"/>
              </a:rPr>
              <a:t>URLDownloadToFile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 uses </a:t>
            </a:r>
            <a:r>
              <a:rPr lang="en-US" altLang="ko-KR" u="sng" dirty="0">
                <a:latin typeface="Cambria" panose="02040503050406030204" pitchFamily="18" charset="0"/>
                <a:ea typeface="Cambria" panose="02040503050406030204" pitchFamily="18" charset="0"/>
              </a:rPr>
              <a:t>http://www.practicalmalwareanalysis.com/ cpp.html 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as the URL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14AF93-D1D2-7DF2-86CC-D2A79233C4FD}"/>
              </a:ext>
            </a:extLst>
          </p:cNvPr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6096000" y="3009629"/>
            <a:ext cx="5841195" cy="34152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34D5B9-B5B1-3553-1F36-7CF48F495BEE}"/>
              </a:ext>
            </a:extLst>
          </p:cNvPr>
          <p:cNvPicPr/>
          <p:nvPr/>
        </p:nvPicPr>
        <p:blipFill rotWithShape="1">
          <a:blip r:embed="rId4"/>
          <a:srcRect l="23610" r="10532" b="14865"/>
          <a:stretch>
            <a:fillRect/>
          </a:stretch>
        </p:blipFill>
        <p:spPr>
          <a:xfrm>
            <a:off x="242501" y="3009629"/>
            <a:ext cx="4620126" cy="384837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4D8559-B996-DF0B-8971-AB3557D0C562}"/>
              </a:ext>
            </a:extLst>
          </p:cNvPr>
          <p:cNvSpPr/>
          <p:nvPr/>
        </p:nvSpPr>
        <p:spPr>
          <a:xfrm>
            <a:off x="242501" y="5284539"/>
            <a:ext cx="4503127" cy="634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1DB1206-ED8A-EB73-9AFC-CD2010AA33E5}"/>
              </a:ext>
            </a:extLst>
          </p:cNvPr>
          <p:cNvSpPr/>
          <p:nvPr/>
        </p:nvSpPr>
        <p:spPr>
          <a:xfrm>
            <a:off x="5232078" y="4529184"/>
            <a:ext cx="553453" cy="421105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0B04D1-A5AB-D43D-A6EE-AEEC0C22C399}"/>
              </a:ext>
            </a:extLst>
          </p:cNvPr>
          <p:cNvSpPr/>
          <p:nvPr/>
        </p:nvSpPr>
        <p:spPr>
          <a:xfrm>
            <a:off x="6028515" y="5414613"/>
            <a:ext cx="1736931" cy="163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A7D283-4CA8-4DA5-FA3F-6FEE1C0D51C7}"/>
              </a:ext>
            </a:extLst>
          </p:cNvPr>
          <p:cNvSpPr/>
          <p:nvPr/>
        </p:nvSpPr>
        <p:spPr>
          <a:xfrm>
            <a:off x="10044255" y="3714275"/>
            <a:ext cx="1892940" cy="150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40108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8D8DD-40F5-8E01-B93E-A08723F5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4B6B6-5EB3-FC57-0649-9C7ED45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Lab 20-1 </a:t>
            </a:r>
          </a:p>
        </p:txBody>
      </p:sp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86542FCE-E651-641C-A574-C217F0129378}"/>
              </a:ext>
            </a:extLst>
          </p:cNvPr>
          <p:cNvSpPr txBox="1">
            <a:spLocks/>
          </p:cNvSpPr>
          <p:nvPr/>
        </p:nvSpPr>
        <p:spPr>
          <a:xfrm>
            <a:off x="627648" y="1540733"/>
            <a:ext cx="10936704" cy="1325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latin typeface="Cambria" panose="02040503050406030204" pitchFamily="18" charset="0"/>
                <a:ea typeface="Cambria" panose="02040503050406030204" pitchFamily="18" charset="0"/>
              </a:rPr>
              <a:t>3. What does this program do?</a:t>
            </a:r>
            <a:endParaRPr lang="ko-KR" altLang="en-US" b="1" dirty="0"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: This program downloads a file and stores it as c:\tempdownload.exe on the local system.</a:t>
            </a:r>
          </a:p>
          <a:p>
            <a:pPr marL="0" indent="0">
              <a:buNone/>
            </a:pPr>
            <a:endParaRPr lang="en-US" altLang="ko-K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765089C-E5DB-2A9C-595B-712544824500}"/>
              </a:ext>
            </a:extLst>
          </p:cNvPr>
          <p:cNvPicPr/>
          <p:nvPr/>
        </p:nvPicPr>
        <p:blipFill rotWithShape="1">
          <a:blip r:embed="rId3"/>
          <a:srcRect r="10532" b="14865"/>
          <a:stretch>
            <a:fillRect/>
          </a:stretch>
        </p:blipFill>
        <p:spPr>
          <a:xfrm>
            <a:off x="208548" y="2853217"/>
            <a:ext cx="6855994" cy="3848371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9E3CE975-45BF-C4E6-F1C1-8532D5FA01D9}"/>
              </a:ext>
            </a:extLst>
          </p:cNvPr>
          <p:cNvGrpSpPr/>
          <p:nvPr/>
        </p:nvGrpSpPr>
        <p:grpSpPr>
          <a:xfrm>
            <a:off x="6968290" y="2865248"/>
            <a:ext cx="5015162" cy="3682520"/>
            <a:chOff x="627648" y="2878327"/>
            <a:chExt cx="5015162" cy="3682520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ECF9280-254F-C00D-55A2-A24A8BBE21B1}"/>
                </a:ext>
              </a:extLst>
            </p:cNvPr>
            <p:cNvPicPr/>
            <p:nvPr/>
          </p:nvPicPr>
          <p:blipFill rotWithShape="1">
            <a:blip r:embed="rId4"/>
            <a:srcRect l="40439" t="12402" r="11024" b="6859"/>
            <a:stretch>
              <a:fillRect/>
            </a:stretch>
          </p:blipFill>
          <p:spPr>
            <a:xfrm>
              <a:off x="627648" y="2878327"/>
              <a:ext cx="5015162" cy="3682520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B9298EA-D5A4-9E57-34C5-7D1A0364EFB6}"/>
                </a:ext>
              </a:extLst>
            </p:cNvPr>
            <p:cNvSpPr/>
            <p:nvPr/>
          </p:nvSpPr>
          <p:spPr>
            <a:xfrm>
              <a:off x="1719019" y="4417960"/>
              <a:ext cx="1416210" cy="3016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EC22A4-0797-ECB2-F69D-1CB7DC223587}"/>
              </a:ext>
            </a:extLst>
          </p:cNvPr>
          <p:cNvSpPr/>
          <p:nvPr/>
        </p:nvSpPr>
        <p:spPr>
          <a:xfrm>
            <a:off x="7423748" y="4920916"/>
            <a:ext cx="4463453" cy="842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DC71A81-2B35-8FBA-62B4-DBAFF365D94E}"/>
              </a:ext>
            </a:extLst>
          </p:cNvPr>
          <p:cNvSpPr/>
          <p:nvPr/>
        </p:nvSpPr>
        <p:spPr>
          <a:xfrm>
            <a:off x="2049380" y="4240712"/>
            <a:ext cx="2411329" cy="301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4E145C-2D1F-D68E-3FB5-97064AE755F9}"/>
              </a:ext>
            </a:extLst>
          </p:cNvPr>
          <p:cNvSpPr/>
          <p:nvPr/>
        </p:nvSpPr>
        <p:spPr>
          <a:xfrm>
            <a:off x="2049379" y="5128127"/>
            <a:ext cx="4918911" cy="634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7A060F2-6BE0-33FD-2DB2-7743DBE1DEC9}"/>
              </a:ext>
            </a:extLst>
          </p:cNvPr>
          <p:cNvCxnSpPr>
            <a:cxnSpLocks/>
          </p:cNvCxnSpPr>
          <p:nvPr/>
        </p:nvCxnSpPr>
        <p:spPr>
          <a:xfrm flipH="1">
            <a:off x="6968290" y="3705726"/>
            <a:ext cx="455458" cy="1422401"/>
          </a:xfrm>
          <a:prstGeom prst="line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08705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F1E8-50E4-4A74-9CA5-69AFA050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5D74B1-B5CA-566B-D104-8884F0CFC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684" y="1844258"/>
            <a:ext cx="9654073" cy="2387600"/>
          </a:xfrm>
        </p:spPr>
        <p:txBody>
          <a:bodyPr anchor="ctr">
            <a:normAutofit/>
          </a:bodyPr>
          <a:lstStyle/>
          <a:p>
            <a:r>
              <a:rPr lang="en-US" altLang="ko-KR" sz="4000" dirty="0">
                <a:latin typeface="Cambria" panose="02040503050406030204" pitchFamily="18" charset="0"/>
                <a:ea typeface="Cambria" panose="02040503050406030204" pitchFamily="18" charset="0"/>
              </a:rPr>
              <a:t>Part 20 : C++ Analysis</a:t>
            </a:r>
            <a:br>
              <a:rPr lang="en-US" altLang="ko-KR" sz="4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ko-KR" sz="4000" b="1" dirty="0">
                <a:latin typeface="Cambria" panose="02040503050406030204" pitchFamily="18" charset="0"/>
                <a:ea typeface="Cambria" panose="02040503050406030204" pitchFamily="18" charset="0"/>
              </a:rPr>
              <a:t>Part 21 : 64-bit Malware  </a:t>
            </a:r>
            <a:endParaRPr lang="ko-KR" altLang="en-US" sz="40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38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0DEAF-DA55-09BA-7F8F-B275B298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2C393-36C4-E990-1AE9-155EBF1F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64-bit</a:t>
            </a:r>
            <a:r>
              <a:rPr lang="ko-KR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Malware 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321E2208-8ADE-B0A0-722A-98151E7D41FF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4445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Most malware is 32-bit, but 64-bit malware is steadily increasing.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The transition to 64-bit brings larger register sizes and an increased number of registers, adding R8 through R15.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Relative addressing allows accessing data using an offset from the current instruction pointer (RIP) instead of an absolute address.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-&gt; This eliminates the need to obtain a pointer to EIP for data access, making shellcode creation much easier.</a:t>
            </a:r>
          </a:p>
        </p:txBody>
      </p:sp>
    </p:spTree>
    <p:extLst>
      <p:ext uri="{BB962C8B-B14F-4D97-AF65-F5344CB8AC3E}">
        <p14:creationId xmlns:p14="http://schemas.microsoft.com/office/powerpoint/2010/main" val="3682568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F54C-F5C9-B53A-E074-43968C2B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15DA9-998C-7BBD-18EF-5292F945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300" dirty="0">
                <a:latin typeface="Cambria" panose="02040503050406030204" pitchFamily="18" charset="0"/>
                <a:ea typeface="Cambria" panose="02040503050406030204" pitchFamily="18" charset="0"/>
              </a:rPr>
              <a:t>Differences in the x64 Calling Convention and Stack Usage</a:t>
            </a:r>
            <a:endParaRPr lang="ko-KR" altLang="en-US" sz="3300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D03FC7CF-7B91-E576-104E-398120DF4B57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4445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In 64-bit Windows, the first four parameters are passed via registers.</a:t>
            </a:r>
          </a:p>
          <a:p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Unlike 32-bit, 64-bit functions cannot change the stack size using push or pop instructions during execution.</a:t>
            </a:r>
          </a:p>
          <a:p>
            <a:pPr marL="0" indent="0">
              <a:buNone/>
            </a:pP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-&gt; The lack of stack manipulation mid-function makes it difficult to determine whether a specific memory address is a local stack variable or a parameter.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>
              <a:buFont typeface="Wingdings" panose="05000000000000000000" pitchFamily="2" charset="2"/>
              <a:buChar char="è"/>
            </a:pPr>
            <a:endParaRPr lang="en-US" altLang="ko-KR" sz="1600" dirty="0"/>
          </a:p>
          <a:p>
            <a:pPr marL="457200" lvl="1" indent="0">
              <a:buNone/>
            </a:pPr>
            <a:endParaRPr lang="en-US" altLang="ko-KR" sz="14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13158E-E000-1FCA-DD8F-9072A6A55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88"/>
          <a:stretch>
            <a:fillRect/>
          </a:stretch>
        </p:blipFill>
        <p:spPr>
          <a:xfrm>
            <a:off x="802370" y="3405128"/>
            <a:ext cx="3929190" cy="30877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6216DD-BE3D-FF7E-2805-124FA138F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128" y="3432052"/>
            <a:ext cx="6397224" cy="2693097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4AD4BF0E-364E-7EF8-C7E2-5887337286F5}"/>
              </a:ext>
            </a:extLst>
          </p:cNvPr>
          <p:cNvSpPr txBox="1">
            <a:spLocks/>
          </p:cNvSpPr>
          <p:nvPr/>
        </p:nvSpPr>
        <p:spPr>
          <a:xfrm>
            <a:off x="1772625" y="6401378"/>
            <a:ext cx="1328803" cy="621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dirty="0">
                <a:latin typeface="Cambria" panose="02040503050406030204" pitchFamily="18" charset="0"/>
              </a:rPr>
              <a:t>[32-Bit]</a:t>
            </a:r>
            <a:endParaRPr lang="ko-KR" altLang="en-US" sz="2000" dirty="0">
              <a:latin typeface="Cambria" panose="02040503050406030204" pitchFamily="18" charset="0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2F4B4CAF-9E7C-5BAA-F7ED-9258B747F7D5}"/>
              </a:ext>
            </a:extLst>
          </p:cNvPr>
          <p:cNvSpPr txBox="1">
            <a:spLocks/>
          </p:cNvSpPr>
          <p:nvPr/>
        </p:nvSpPr>
        <p:spPr>
          <a:xfrm>
            <a:off x="7901755" y="6264527"/>
            <a:ext cx="1328803" cy="621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dirty="0">
                <a:latin typeface="Cambria" panose="02040503050406030204" pitchFamily="18" charset="0"/>
              </a:rPr>
              <a:t>[64-Bit]</a:t>
            </a:r>
            <a:endParaRPr lang="ko-KR" altLang="en-US" sz="2000" dirty="0">
              <a:latin typeface="Cambria" panose="020405030504060302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7CAFDB-DF1A-FBD8-E664-A5BF39972DDD}"/>
              </a:ext>
            </a:extLst>
          </p:cNvPr>
          <p:cNvSpPr/>
          <p:nvPr/>
        </p:nvSpPr>
        <p:spPr>
          <a:xfrm>
            <a:off x="1772625" y="3812464"/>
            <a:ext cx="892624" cy="239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364DF9-92FE-0877-B30B-9C938A977D66}"/>
              </a:ext>
            </a:extLst>
          </p:cNvPr>
          <p:cNvSpPr/>
          <p:nvPr/>
        </p:nvSpPr>
        <p:spPr>
          <a:xfrm>
            <a:off x="1763698" y="4280718"/>
            <a:ext cx="892624" cy="239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4D2F3D-1DB3-7863-7FAD-4D63C2772F64}"/>
              </a:ext>
            </a:extLst>
          </p:cNvPr>
          <p:cNvSpPr/>
          <p:nvPr/>
        </p:nvSpPr>
        <p:spPr>
          <a:xfrm>
            <a:off x="1772625" y="4793883"/>
            <a:ext cx="892624" cy="239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751638-5BD7-C8C8-D285-AB8C5A6B7935}"/>
              </a:ext>
            </a:extLst>
          </p:cNvPr>
          <p:cNvSpPr/>
          <p:nvPr/>
        </p:nvSpPr>
        <p:spPr>
          <a:xfrm>
            <a:off x="1766143" y="5321998"/>
            <a:ext cx="892624" cy="239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4A08CB-1E31-7C81-5640-0A3C6372CB07}"/>
              </a:ext>
            </a:extLst>
          </p:cNvPr>
          <p:cNvSpPr/>
          <p:nvPr/>
        </p:nvSpPr>
        <p:spPr>
          <a:xfrm>
            <a:off x="7583576" y="4149880"/>
            <a:ext cx="3561210" cy="14437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3908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7F87-2D22-65B4-7153-18894472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A5B7B4F6-B761-1AF4-D75C-F961C08AB61F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4445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The 64-bit exception handling mechanism requires a fixed stack layout, meaning the stack size must remain unchanged during function execution.</a:t>
            </a:r>
          </a:p>
          <a:p>
            <a:pPr marL="0" indent="0">
              <a:buNone/>
            </a:pPr>
            <a:r>
              <a:rPr lang="en-US" altLang="ko-KR" sz="2000" b="1" dirty="0">
                <a:latin typeface="Cambria" panose="02040503050406030204" pitchFamily="18" charset="0"/>
                <a:ea typeface="Cambria" panose="02040503050406030204" pitchFamily="18" charset="0"/>
              </a:rPr>
              <a:t>-&gt; </a:t>
            </a:r>
            <a:r>
              <a:rPr lang="en-US" altLang="ko-KR" sz="2000" dirty="0">
                <a:latin typeface="Cambria" panose="02040503050406030204" pitchFamily="18" charset="0"/>
                <a:ea typeface="Cambria" panose="02040503050406030204" pitchFamily="18" charset="0"/>
              </a:rPr>
              <a:t>Instead of using the stack like in 32-bit systems, it relies on static exception information tables located within the PE file.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è"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è"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è"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è"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1" indent="0">
              <a:buNone/>
            </a:pPr>
            <a:endParaRPr lang="en-US" altLang="ko-K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379CB4-6809-56D2-EE70-3A24D2DDB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39" y="3429000"/>
            <a:ext cx="11532122" cy="2941471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2A40116C-9768-172B-AA69-FB5CC489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300" dirty="0">
                <a:latin typeface="Cambria" panose="02040503050406030204" pitchFamily="18" charset="0"/>
                <a:ea typeface="Cambria" panose="02040503050406030204" pitchFamily="18" charset="0"/>
              </a:rPr>
              <a:t>Differences in the x64 Calling Convention and Stack Usage</a:t>
            </a:r>
            <a:endParaRPr lang="ko-KR" altLang="en-US" sz="33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60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640E-2A54-59FE-230C-8FD169EF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FFBD7-AD80-E509-47F7-C36F4198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Windows 32-Bit on Windows 64-Bit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83EB053E-56C4-9C3D-FF4C-97E0D5C80130}"/>
              </a:ext>
            </a:extLst>
          </p:cNvPr>
          <p:cNvSpPr txBox="1">
            <a:spLocks/>
          </p:cNvSpPr>
          <p:nvPr/>
        </p:nvSpPr>
        <p:spPr>
          <a:xfrm>
            <a:off x="627648" y="1690688"/>
            <a:ext cx="10936704" cy="4445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WOW64 is a subsystem that allows 32-bit applications to run seamlessly on 64-bit systems. 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If 32-bit malware attempts to write a file to the System32 directory, it is automatically redirected to the SysWOW64 directory.</a:t>
            </a:r>
          </a:p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Similarly, when a 32-bit program accesses the Software registry key, the path is redirected to Wow6432Node.</a:t>
            </a:r>
          </a:p>
        </p:txBody>
      </p:sp>
    </p:spTree>
    <p:extLst>
      <p:ext uri="{BB962C8B-B14F-4D97-AF65-F5344CB8AC3E}">
        <p14:creationId xmlns:p14="http://schemas.microsoft.com/office/powerpoint/2010/main" val="850719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563C-6104-E701-9053-0232DE525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C76D2-E248-E869-9D00-E63F74B2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ambria" panose="02040503050406030204" pitchFamily="18" charset="0"/>
                <a:ea typeface="Cambria" panose="02040503050406030204" pitchFamily="18" charset="0"/>
              </a:rPr>
              <a:t>64-Bit Hints at Malware Functionality</a:t>
            </a:r>
            <a:endParaRPr lang="ko-KR" altLang="en-US" dirty="0">
              <a:latin typeface="Cambria" panose="02040503050406030204" pitchFamily="18" charset="0"/>
            </a:endParaRPr>
          </a:p>
        </p:txBody>
      </p:sp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D6273846-FAAA-A766-31D9-46BE2B292796}"/>
              </a:ext>
            </a:extLst>
          </p:cNvPr>
          <p:cNvSpPr txBox="1">
            <a:spLocks/>
          </p:cNvSpPr>
          <p:nvPr/>
        </p:nvSpPr>
        <p:spPr>
          <a:xfrm>
            <a:off x="627648" y="1931988"/>
            <a:ext cx="10936704" cy="4445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In 64-bit assembly, parameter types can be easily distinguished by register size, such as using the </a:t>
            </a:r>
            <a:r>
              <a:rPr lang="en-US" altLang="ko-KR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64-bit RDX 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for pointers and the </a:t>
            </a:r>
            <a:r>
              <a:rPr lang="en-US" altLang="ko-KR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32-bit ECX</a:t>
            </a:r>
            <a:r>
              <a:rPr lang="en-US" altLang="ko-KR" sz="2400" dirty="0">
                <a:latin typeface="Cambria" panose="02040503050406030204" pitchFamily="18" charset="0"/>
                <a:ea typeface="Cambria" panose="02040503050406030204" pitchFamily="18" charset="0"/>
              </a:rPr>
              <a:t> for regular integers.</a:t>
            </a: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ko-K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947529-E04A-9AD9-5779-69B0D474A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102489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01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1C516-72EF-3BB4-CB8B-37DFC62B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9C062-2339-A775-6215-3D9B7A17A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ko-KR" altLang="en-US" sz="40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95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2042</Words>
  <Application>Microsoft Office PowerPoint</Application>
  <PresentationFormat>와이드스크린</PresentationFormat>
  <Paragraphs>211</Paragraphs>
  <Slides>26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Cambria</vt:lpstr>
      <vt:lpstr>Wingdings</vt:lpstr>
      <vt:lpstr>Office 테마</vt:lpstr>
      <vt:lpstr>Part 20 : C++ Analysis Part 21 : 64-bit Malware  </vt:lpstr>
      <vt:lpstr>Object-Oriented Programming </vt:lpstr>
      <vt:lpstr>This Pointer </vt:lpstr>
      <vt:lpstr>This Pointer </vt:lpstr>
      <vt:lpstr>Overloading and Mangling </vt:lpstr>
      <vt:lpstr>Overloading and Mangling </vt:lpstr>
      <vt:lpstr>Inheritance and Function Overriding</vt:lpstr>
      <vt:lpstr>Virtual vs. Nonvirtual Function</vt:lpstr>
      <vt:lpstr>Virtual vs. Nonvirtual Function</vt:lpstr>
      <vt:lpstr>Vtable</vt:lpstr>
      <vt:lpstr>Vtable</vt:lpstr>
      <vt:lpstr>Vtable</vt:lpstr>
      <vt:lpstr>Constructor &amp; Destructor </vt:lpstr>
      <vt:lpstr>Constructor &amp; Destructor </vt:lpstr>
      <vt:lpstr>Lab 20-1 </vt:lpstr>
      <vt:lpstr>Lab 20-1 </vt:lpstr>
      <vt:lpstr>Lab 20-1 </vt:lpstr>
      <vt:lpstr>Lab 20-1 </vt:lpstr>
      <vt:lpstr>Lab 20-1 </vt:lpstr>
      <vt:lpstr>Part 20 : C++ Analysis Part 21 : 64-bit Malware  </vt:lpstr>
      <vt:lpstr>64-bit Malware </vt:lpstr>
      <vt:lpstr>Differences in the x64 Calling Convention and Stack Usage</vt:lpstr>
      <vt:lpstr>Differences in the x64 Calling Convention and Stack Usage</vt:lpstr>
      <vt:lpstr>Windows 32-Bit on Windows 64-Bit</vt:lpstr>
      <vt:lpstr>64-Bit Hints at Malware Functionality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송다은</dc:creator>
  <cp:lastModifiedBy>thdekdms03</cp:lastModifiedBy>
  <cp:revision>81</cp:revision>
  <dcterms:created xsi:type="dcterms:W3CDTF">2025-12-02T04:28:44Z</dcterms:created>
  <dcterms:modified xsi:type="dcterms:W3CDTF">2026-03-16T06:46:10Z</dcterms:modified>
  <cp:version/>
</cp:coreProperties>
</file>