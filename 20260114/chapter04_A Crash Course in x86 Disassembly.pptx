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6" r:id="rId2"/>
    <p:sldId id="273" r:id="rId3"/>
    <p:sldId id="275" r:id="rId4"/>
    <p:sldId id="276" r:id="rId5"/>
    <p:sldId id="277" r:id="rId6"/>
    <p:sldId id="278" r:id="rId7"/>
    <p:sldId id="279" r:id="rId8"/>
    <p:sldId id="282" r:id="rId9"/>
    <p:sldId id="280" r:id="rId10"/>
    <p:sldId id="281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2F"/>
    <a:srgbClr val="F1F1F1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3853" autoAdjust="0"/>
  </p:normalViewPr>
  <p:slideViewPr>
    <p:cSldViewPr snapToGrid="0">
      <p:cViewPr varScale="1">
        <p:scale>
          <a:sx n="103" d="100"/>
          <a:sy n="103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2895-9608-44C3-9387-9EEF13D6AF50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9612A-72BA-45E9-AF19-64A7F87A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56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6FA4-FF10-27DE-6E5A-82A950A0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165D7E-0AF9-1764-2ECC-4D9F7D59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089B0A-E479-CF46-29DC-E655E9536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AFD8C-801A-B7B8-E986-9A8E5AF31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37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1CB48-6716-1A6A-CBCF-F0DA032A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508ED7-DECB-E280-E23E-B693E48FD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594E7-ED10-FC68-8A7F-C2F3C4706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D13A6-1613-5641-1FDD-60D7E704D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06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F0B8-2E12-05D6-14D1-C95489EB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9B05B-0C59-DCBF-9F9B-F5ECC774F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C73A87-ADCD-8B28-0E18-28D6496FB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0E764-CE82-8F5D-E016-4769D4253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242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4B12-5D3B-16CF-D7A5-950DAB2B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5A48E-C0BE-DB23-7E8C-3857BB24D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709670-245B-7013-41D4-63F653317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0D95F-8C32-5042-C2B5-E6125D264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347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2DA3-BCD6-2AD0-1B59-C6B15593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A5725B-F644-D72B-3E48-522C3576D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8C2A82-FF5E-274E-DCB9-9FBE90AC9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93E9B-3094-6D0F-6212-1C414E3CD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38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6104-8F5D-508B-2811-71D82AF6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7D52EA-50EF-5E58-0989-5BD4D1898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EF0EBF-6EE2-E08B-7F11-91B6D6F6D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A3A776-6B33-E164-2AD5-C14424775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892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CBB7-D095-54FC-2BC9-383DB4A3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74C09A-0AF0-A22E-6AAF-A800F4C62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230064-DAB1-5DCC-057E-BE8A4E45C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0A317-4F9D-072B-B81A-51D0A2E83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462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DDE7-61E0-E61F-E5D9-B2CD770A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E7C910-FB13-D2A8-7694-87177F128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5CB855-2991-19B6-84D3-0CFF9C01D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E58E8C-3CC8-3529-53C2-1986EBC85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87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A44D-E4B3-8374-C084-F96F2A69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F6FFDF-2418-74FA-3C35-10A2E4DD0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7BC1ED-C652-4B5A-7463-3AD7C7855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84951-1D72-1B86-272A-12A81D467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20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2C38-5CB9-9904-4D66-4F1899F2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67CA7-927D-5C0E-4629-95668173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26A39B-7C61-F04C-3AE0-4B9B6F43C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DB555-3882-E1B3-D6A4-41D65C69A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578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2F67-F4A9-0351-6D74-924BCBB2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09C255-9A23-32D2-6016-C9C102AFC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1F7746-D36A-403D-2FA3-8CF4914B9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74FC12-2398-D0B9-3A2A-9266BDE80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523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B99E0-35F1-65EC-5A39-0B54CC96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7CC9F6-22AE-1220-F028-692F4017F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9E9897-8BE7-DCFF-6D94-BE0B5AD1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BB2F90-4C25-C00A-E1BC-D7F8FACFE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466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A029-3C2D-7CF4-6203-926366473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AE1E5E-544F-34CF-38CB-5C8DFA751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63145B-92B2-00E2-6B35-A28152394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7EA39-ED5B-D223-7F26-68405A78C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08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EF70-CCF8-0080-8869-92B32B31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A954A-4964-4639-5A30-6BA8FC8E0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BCA5F2-6723-E0E8-2B14-26FF7B10B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D0F325-C3AD-6C6C-6985-5707C6C26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578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4B6C-6940-C6B5-716D-ACD23D7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F004A2-EF2C-AC7E-8F59-F2CECB86E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A6161-597F-357A-4C24-77A7D495C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DBE004-B586-2842-BCE9-5601ABE7A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84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065F-C51D-38EA-640E-E9AECAF6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89AF36-81B9-BD27-F975-FD5B06ED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7F0A91-F2C9-968E-075C-3C9119FD8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D03E95-877F-C89B-15AE-722C4DC18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327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48CD4-EE11-E42D-EFB4-42966768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7EA659-B1BF-69AE-739B-E70247619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716ED7-CFE8-9E18-B71E-F8B6272F8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A80252-C7E1-F9BF-791F-601B4BD4E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3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0D3E7-4ED9-1C12-0B2F-5C85490BF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A2C528-A3D3-7572-E289-C42FFDF7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B8EE3-BF3B-A2BB-7993-4781D6BE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6C492-B8AB-6904-63AC-44FCFD26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D74731-6B06-4089-393C-FDBA4E71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29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30899-C8EC-07F2-0619-FD851A41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7A523-E01B-BC36-0F49-EF4FD450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171A7-D70D-37BC-AE82-FEC78CD9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E5360-2FBC-20D9-ADB4-5BA4938C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FECEB-3975-7407-6086-15DBF15A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0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EF83B-6884-501E-B117-71B41717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254D1-091A-D45B-404E-5080368E7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373A6-2EF4-E6A0-892A-0053CC65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CD282E-5E78-560C-2070-76B4AB14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0C5C5-3167-EFD2-1A0C-DD7B71AF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13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53A4E-D656-6742-08D2-32DA0A8C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BCBDE-A37C-4033-FECD-FD2131633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620CFA-EFFB-97B6-3402-B493742FE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EED1F1-5A7D-2B9D-B843-3E45CAA5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E727B-CC57-9E81-C796-F42A2D99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2BB428-E4DF-50AC-36E1-BA1D5D93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11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B2908-9A9C-B5F3-7633-3E23286F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64D78B-BDD2-9949-17B8-5D69DBBA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33AFB7-2A3D-950E-7724-CC0190185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8905B7-03CB-9244-F3F0-345E62CC0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EF9CD4-0E8C-3CEF-D2D0-29290E426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1C4486-AAD1-A341-0178-6146E64F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58494A-A2FB-10DA-1CDD-DF5C3620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DB0C6-454E-122E-7FAB-91DBF8F8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3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D62CF-DB11-DD43-A6FE-78811983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BCDAF5-A27F-A035-83BD-E18383B3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CFF3E-A3E8-C6B2-2CC8-A6978078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8DBD36-324B-1D60-1B27-B19F7B1E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7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A11734-2774-3230-2568-C2CDE85E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AD0CAE-A852-7F7B-963A-99960156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66D82-E2FA-456F-0ED2-E7C80DB5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4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E606A-DFD7-35A6-05C5-233C3099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C8A34F-67F6-0BBC-FA42-11D6E5182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02AA83-8D3F-4ED5-B0D8-576B3EE2A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43F2F7-DB41-2233-65E4-DDECEE30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236C1A-9487-8A51-7963-6F5BC586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811BE3-305C-FF2C-2DAF-ECAF6C2C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9E761-36BF-9334-A435-2D20E47E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055E0D-47FE-260C-7CE0-6427DA0D0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3E9597-2CAA-5D3B-D0FD-AC2889A80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DAF19D-2B38-296A-5568-BEA156BB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57ED3-54C2-9D3D-EC0E-B5FE6375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7313F-AAC7-683E-5CAC-531B5F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8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A1340-A197-700A-B2DB-CC0192B47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AE24D-6364-DA78-1E3B-2F409B77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51CD76-1CC3-F049-BF94-02924003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F6732-EE8E-5053-63CD-F16635A6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24FF9-DED8-8340-1A00-429B6410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47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361447-9E8F-2AB5-6DD8-FA5D34764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6C1431-7B92-BBEF-F849-F5944E193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F9702-1367-B5D5-2926-651E294D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38796-90D4-6CBB-5CFC-23E2EA00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7111F-B087-60A3-8207-8F1D4FE4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0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8E3D05-900F-0B16-80B3-C82B20598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1B6BD7-0F60-4D06-D2B6-27C902B4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5D68D2-E078-0145-96D2-FBA717BE1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36509-D2EB-44C9-A4D7-5047D8E1136E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28D11-9118-8658-231C-74502D40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28E19-D6F1-02BE-E6B1-C758126F3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61DBB-7B99-4B1D-BE8B-528E91977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5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1AA5CB-1C2B-7ED7-B2A1-C3CA9394A18A}"/>
              </a:ext>
            </a:extLst>
          </p:cNvPr>
          <p:cNvSpPr txBox="1">
            <a:spLocks/>
          </p:cNvSpPr>
          <p:nvPr/>
        </p:nvSpPr>
        <p:spPr>
          <a:xfrm>
            <a:off x="211118" y="2460901"/>
            <a:ext cx="11769755" cy="7664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ko-KR" alt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Malware</a:t>
            </a:r>
            <a:r>
              <a:rPr lang="ko-KR" alt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en-AU" sz="19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45468-E3B0-3051-B02A-BDA0AB464006}"/>
              </a:ext>
            </a:extLst>
          </p:cNvPr>
          <p:cNvSpPr txBox="1"/>
          <p:nvPr/>
        </p:nvSpPr>
        <p:spPr>
          <a:xfrm>
            <a:off x="5052755" y="5344466"/>
            <a:ext cx="2086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2026.01.14</a:t>
            </a:r>
          </a:p>
          <a:p>
            <a:pPr algn="ctr"/>
            <a:r>
              <a:rPr lang="en-US" altLang="ko-K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Presenter : Yena Cho</a:t>
            </a:r>
            <a:endParaRPr lang="ko-KR" alt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A3CD5-FD8C-609E-46D9-D185F7CD255F}"/>
              </a:ext>
            </a:extLst>
          </p:cNvPr>
          <p:cNvSpPr txBox="1"/>
          <p:nvPr/>
        </p:nvSpPr>
        <p:spPr>
          <a:xfrm>
            <a:off x="3112282" y="3344956"/>
            <a:ext cx="596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Chapter 4: A Crash Course in x86 Disassembly</a:t>
            </a:r>
            <a:endParaRPr lang="ko-KR" altLang="en-US" sz="24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DA9151-BD5D-29A3-2019-FF3C25D1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60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D455-6823-3E05-2ABB-AB17B679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210D0-2606-FFFC-6636-B767A696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0000763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Why Do We Need to Understand Disassembly?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93225A-47ED-E3E2-2A33-4D54D88CCD7E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980745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3A03B-5543-6D28-A162-7F012B6A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48FAE-6C67-8D3C-AC79-0767DD743EBB}"/>
              </a:ext>
            </a:extLst>
          </p:cNvPr>
          <p:cNvSpPr txBox="1"/>
          <p:nvPr/>
        </p:nvSpPr>
        <p:spPr>
          <a:xfrm>
            <a:off x="328060" y="1069952"/>
            <a:ext cx="11183126" cy="2507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analysis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infer what a program might do, but it cannot determine whether the code actually executes.</a:t>
            </a: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analysis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only the behaviors that appear during execution.</a:t>
            </a: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to understand the true intent of malware, we must </a:t>
            </a:r>
            <a:r>
              <a:rPr lang="en-US" altLang="ko-KR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disassemble CPU machine code into human-readable low-level instructions</a:t>
            </a:r>
            <a:r>
              <a:rPr lang="en-US" altLang="ko-KR" sz="20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1" name="그림 10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C91271-EEB8-5719-1B3D-A7325907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663" y="3595468"/>
            <a:ext cx="4209920" cy="3126007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70EF0D34-C322-14C2-4949-096DB383D4E7}"/>
              </a:ext>
            </a:extLst>
          </p:cNvPr>
          <p:cNvSpPr/>
          <p:nvPr/>
        </p:nvSpPr>
        <p:spPr>
          <a:xfrm>
            <a:off x="6977743" y="5158471"/>
            <a:ext cx="1208314" cy="4789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3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8224-24D6-CEDC-7BFD-502DDEAA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8F4F6-D217-A17D-C424-E4699653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Level of Abstraction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25714F8-0727-4037-2F35-FB752BC7E0A7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453038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6C541-EFFD-05E2-C6A9-FC9D46C3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13FF3-5384-CE0A-C92E-4848F60928C9}"/>
              </a:ext>
            </a:extLst>
          </p:cNvPr>
          <p:cNvSpPr txBox="1"/>
          <p:nvPr/>
        </p:nvSpPr>
        <p:spPr>
          <a:xfrm>
            <a:off x="328059" y="1053476"/>
            <a:ext cx="11183126" cy="484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level made of electrical logic circuits (e.g., AND, OR, XOR).</a:t>
            </a: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Microcode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 machine instructions into hardware action.</a:t>
            </a: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code</a:t>
            </a: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Bytecode executed by the CPU.</a:t>
            </a: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language (Assembly)</a:t>
            </a: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human-readable version of a computer architecture’s instruction set.</a:t>
            </a: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High-level languages (C, C++..)</a:t>
            </a: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computer program language.</a:t>
            </a: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Interpreted languages (C#, Java..)</a:t>
            </a:r>
          </a:p>
          <a:p>
            <a:pPr lvl="1">
              <a:lnSpc>
                <a:spcPct val="113000"/>
              </a:lnSpc>
              <a:spcAft>
                <a:spcPts val="600"/>
              </a:spcAft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Translated into bytecode and executed within an interpreter that converts it into machine code.</a:t>
            </a:r>
            <a:endParaRPr lang="ko-KR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4A780B-F76D-5181-E441-0114318AF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420" y="2051255"/>
            <a:ext cx="4209920" cy="3126007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753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3CF3-BB38-6C3A-2234-3F4AF238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1F94F-2D9B-8211-0CC4-6D1D9A51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x86 Architecture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1EAAC5E-84B1-E423-D1D5-F57DE7AB9AC3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3730233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2DA80-325B-6239-A1F3-2132324F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5" name="그림 4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3C8FD8-2863-435E-CDC0-09ED3883E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53" y="1438167"/>
            <a:ext cx="6203368" cy="4798678"/>
          </a:xfrm>
          <a:prstGeom prst="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0" name="그림 9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9A1BAF-DED2-7CD3-20E8-BF24A79395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93"/>
          <a:stretch>
            <a:fillRect/>
          </a:stretch>
        </p:blipFill>
        <p:spPr>
          <a:xfrm>
            <a:off x="8414960" y="2083737"/>
            <a:ext cx="2466858" cy="3507134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4802411-8EF8-77B1-0353-681CF5F8D9B7}"/>
              </a:ext>
            </a:extLst>
          </p:cNvPr>
          <p:cNvCxnSpPr>
            <a:cxnSpLocks/>
          </p:cNvCxnSpPr>
          <p:nvPr/>
        </p:nvCxnSpPr>
        <p:spPr>
          <a:xfrm>
            <a:off x="7306565" y="1595005"/>
            <a:ext cx="1215264" cy="60267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DC9D6E1-113A-4C42-5E3B-C523C14AA941}"/>
              </a:ext>
            </a:extLst>
          </p:cNvPr>
          <p:cNvCxnSpPr>
            <a:cxnSpLocks/>
          </p:cNvCxnSpPr>
          <p:nvPr/>
        </p:nvCxnSpPr>
        <p:spPr>
          <a:xfrm flipV="1">
            <a:off x="7306565" y="5517573"/>
            <a:ext cx="1215264" cy="56203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01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3376-43C4-2FEF-F023-2E5EA911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97A23-0F55-A13E-EB12-15247184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Instructions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1632A1E-2B3F-1C2E-7A71-FC3FE997C8B6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754188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BFF273-7C45-5C6B-0E03-BE2B3416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E64A7-5044-DA8A-5F15-ACB221991592}"/>
              </a:ext>
            </a:extLst>
          </p:cNvPr>
          <p:cNvSpPr txBox="1"/>
          <p:nvPr/>
        </p:nvSpPr>
        <p:spPr>
          <a:xfrm>
            <a:off x="2022799" y="1207486"/>
            <a:ext cx="1973850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x86 Assembly</a:t>
            </a:r>
            <a:endParaRPr lang="ko-KR" alt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F4166-3991-8BAC-365C-27C6D7CF9977}"/>
              </a:ext>
            </a:extLst>
          </p:cNvPr>
          <p:cNvSpPr txBox="1"/>
          <p:nvPr/>
        </p:nvSpPr>
        <p:spPr>
          <a:xfrm>
            <a:off x="7835327" y="1207486"/>
            <a:ext cx="2037085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code</a:t>
            </a:r>
            <a:endParaRPr lang="ko-KR" alt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그림 1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9C365C-CC20-1BB6-E66F-A7FCAFE2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2747678"/>
            <a:ext cx="5319053" cy="998913"/>
          </a:xfrm>
          <a:prstGeom prst="rect">
            <a:avLst/>
          </a:prstGeom>
        </p:spPr>
      </p:pic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84FB70-5C15-5643-866B-99F2B27CC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014" y="2779702"/>
            <a:ext cx="5433465" cy="10603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8737F8-150D-83DB-00A1-60B92BEFFA36}"/>
              </a:ext>
            </a:extLst>
          </p:cNvPr>
          <p:cNvSpPr txBox="1"/>
          <p:nvPr/>
        </p:nvSpPr>
        <p:spPr>
          <a:xfrm>
            <a:off x="410251" y="1797865"/>
            <a:ext cx="457271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Mnemonic: what action to perform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Operand: values or locations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C7B3A-7E53-C827-D092-7ABED6C00179}"/>
              </a:ext>
            </a:extLst>
          </p:cNvPr>
          <p:cNvSpPr txBox="1"/>
          <p:nvPr/>
        </p:nvSpPr>
        <p:spPr>
          <a:xfrm>
            <a:off x="150623" y="3739560"/>
            <a:ext cx="9965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mov</a:t>
            </a:r>
          </a:p>
          <a:p>
            <a:pPr algn="ctr"/>
            <a:r>
              <a:rPr lang="en-US" altLang="ko-KR" b="1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lea</a:t>
            </a:r>
          </a:p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add </a:t>
            </a:r>
          </a:p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sub</a:t>
            </a:r>
          </a:p>
          <a:p>
            <a:pPr algn="ctr"/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inc</a:t>
            </a:r>
            <a:endParaRPr lang="en-US" altLang="ko-KR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dec</a:t>
            </a:r>
          </a:p>
          <a:p>
            <a:pPr algn="ctr"/>
            <a:r>
              <a:rPr lang="en-US" altLang="ko-KR" dirty="0" err="1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mul</a:t>
            </a:r>
            <a:endParaRPr lang="en-US" altLang="ko-KR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div</a:t>
            </a:r>
          </a:p>
          <a:p>
            <a:pPr algn="ctr"/>
            <a:r>
              <a:rPr lang="en-US" altLang="ko-KR" b="1" dirty="0" err="1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nop</a:t>
            </a:r>
            <a:endParaRPr lang="en-US" altLang="ko-KR" b="1" dirty="0"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algn="ctr"/>
            <a:r>
              <a:rPr lang="en-US" altLang="ko-KR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1859D-7E1A-4181-1080-887A88930C3E}"/>
              </a:ext>
            </a:extLst>
          </p:cNvPr>
          <p:cNvSpPr txBox="1"/>
          <p:nvPr/>
        </p:nvSpPr>
        <p:spPr>
          <a:xfrm>
            <a:off x="1648250" y="4230641"/>
            <a:ext cx="3889521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operand: 0x42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operand: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ecx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address operand: [0x42]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DE323-7F59-A747-4795-A738E575A2F0}"/>
              </a:ext>
            </a:extLst>
          </p:cNvPr>
          <p:cNvSpPr txBox="1"/>
          <p:nvPr/>
        </p:nvSpPr>
        <p:spPr>
          <a:xfrm>
            <a:off x="6439469" y="4099386"/>
            <a:ext cx="20669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 (Instruction Set Architecture)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F9D4F1-68E8-9484-FE8C-CDD93B5A0781}"/>
              </a:ext>
            </a:extLst>
          </p:cNvPr>
          <p:cNvSpPr txBox="1"/>
          <p:nvPr/>
        </p:nvSpPr>
        <p:spPr>
          <a:xfrm>
            <a:off x="8506423" y="3978913"/>
            <a:ext cx="3263545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Little-endian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42 00 00 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Big-endian: 00 00 00 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033DB-6A89-A563-9FD9-218252C30179}"/>
              </a:ext>
            </a:extLst>
          </p:cNvPr>
          <p:cNvSpPr txBox="1"/>
          <p:nvPr/>
        </p:nvSpPr>
        <p:spPr>
          <a:xfrm>
            <a:off x="6157303" y="1796161"/>
            <a:ext cx="457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Opcode: Operation code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0390B5E-F67D-835A-A39B-BB19DC155E9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901218" y="3554829"/>
            <a:ext cx="236978" cy="42408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F6A4F31-C647-ABDF-EBF3-037A817DCB65}"/>
              </a:ext>
            </a:extLst>
          </p:cNvPr>
          <p:cNvCxnSpPr>
            <a:cxnSpLocks/>
          </p:cNvCxnSpPr>
          <p:nvPr/>
        </p:nvCxnSpPr>
        <p:spPr>
          <a:xfrm flipH="1">
            <a:off x="7472947" y="3595256"/>
            <a:ext cx="451388" cy="5041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오른쪽 중괄호 32">
            <a:extLst>
              <a:ext uri="{FF2B5EF4-FFF2-40B4-BE49-F238E27FC236}">
                <a16:creationId xmlns:a16="http://schemas.microsoft.com/office/drawing/2014/main" id="{1E0FB0E0-62E7-633F-DB12-2FAF0E6D16F3}"/>
              </a:ext>
            </a:extLst>
          </p:cNvPr>
          <p:cNvSpPr/>
          <p:nvPr/>
        </p:nvSpPr>
        <p:spPr>
          <a:xfrm rot="5400000">
            <a:off x="3379032" y="1967070"/>
            <a:ext cx="344541" cy="3889522"/>
          </a:xfrm>
          <a:prstGeom prst="rightBrace">
            <a:avLst>
              <a:gd name="adj1" fmla="val 8333"/>
              <a:gd name="adj2" fmla="val 49208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22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5FA0-61CE-B744-C84A-712263EF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E1498-4C86-BD8E-52B8-CC7672D8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Instructions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FD0F27-6C32-071C-A4C6-2B1B7751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4F5F1-C23F-3981-7C3B-58E087E50B2D}"/>
              </a:ext>
            </a:extLst>
          </p:cNvPr>
          <p:cNvSpPr txBox="1"/>
          <p:nvPr/>
        </p:nvSpPr>
        <p:spPr>
          <a:xfrm>
            <a:off x="328059" y="1075359"/>
            <a:ext cx="11183126" cy="1262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 vs. lea</a:t>
            </a:r>
          </a:p>
          <a:p>
            <a:pPr marL="742950" lvl="1" indent="-285750">
              <a:lnSpc>
                <a:spcPct val="113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1F1F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(move):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data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destination.</a:t>
            </a:r>
          </a:p>
          <a:p>
            <a:pPr marL="742950" lvl="1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highlight>
                  <a:srgbClr val="F1F1F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(load effective address):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memory address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destination.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250B426-CB00-7A22-602E-1697883E0774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359666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D0BDD3-B244-3BA2-81CE-42E433F83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15" y="2314528"/>
            <a:ext cx="6744621" cy="18013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1D4629-06CD-4E5B-EA80-3AC0230520FF}"/>
              </a:ext>
            </a:extLst>
          </p:cNvPr>
          <p:cNvSpPr txBox="1"/>
          <p:nvPr/>
        </p:nvSpPr>
        <p:spPr>
          <a:xfrm>
            <a:off x="7581835" y="2403733"/>
            <a:ext cx="3929349" cy="1637949"/>
          </a:xfrm>
          <a:prstGeom prst="rect">
            <a:avLst/>
          </a:prstGeom>
          <a:solidFill>
            <a:srgbClr val="DCEAF7">
              <a:alpha val="60000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[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</a:t>
            </a:r>
            <a:r>
              <a:rPr lang="ko-KR" altLang="en-US" b="1" dirty="0"/>
              <a:t>→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0x00000000</a:t>
            </a:r>
          </a:p>
          <a:p>
            <a:pPr>
              <a:lnSpc>
                <a:spcPct val="113000"/>
              </a:lnSpc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[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</a:t>
            </a:r>
            <a:r>
              <a:rPr lang="ko-KR" altLang="en-US" b="1" dirty="0"/>
              <a:t>→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0x00B30040</a:t>
            </a:r>
          </a:p>
          <a:p>
            <a:pPr>
              <a:lnSpc>
                <a:spcPct val="113000"/>
              </a:lnSpc>
            </a:pP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3000"/>
              </a:lnSpc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[ebx+8] </a:t>
            </a:r>
            <a:r>
              <a:rPr lang="ko-KR" altLang="en-US" b="1" dirty="0"/>
              <a:t>→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</a:t>
            </a:r>
            <a:r>
              <a:rPr lang="en-US" altLang="ko-KR" b="1" dirty="0"/>
              <a:t>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0x00000020</a:t>
            </a:r>
          </a:p>
          <a:p>
            <a:pPr>
              <a:lnSpc>
                <a:spcPct val="113000"/>
              </a:lnSpc>
            </a:pP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[ebx+8] </a:t>
            </a:r>
            <a:r>
              <a:rPr lang="ko-KR" altLang="en-US" b="1" dirty="0"/>
              <a:t>→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0x00B30048</a:t>
            </a:r>
            <a:endParaRPr lang="ko-KR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A673A3-B7A3-C10B-270D-DA466878AE0F}"/>
              </a:ext>
            </a:extLst>
          </p:cNvPr>
          <p:cNvSpPr txBox="1"/>
          <p:nvPr/>
        </p:nvSpPr>
        <p:spPr>
          <a:xfrm>
            <a:off x="328059" y="4252662"/>
            <a:ext cx="11183126" cy="202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altLang="ko-K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nop</a:t>
            </a: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 operation)</a:t>
            </a:r>
          </a:p>
          <a:p>
            <a:pPr marL="800100" lvl="1" indent="-342900">
              <a:lnSpc>
                <a:spcPct val="113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 moves to the next instruction.</a:t>
            </a:r>
          </a:p>
          <a:p>
            <a:pPr marL="800100" lvl="1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execution padding (NOP sled) to reach the shellcode</a:t>
            </a:r>
            <a:b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when the exact address is unknown.</a:t>
            </a:r>
          </a:p>
          <a:p>
            <a:pPr marL="800100" lvl="1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그림 2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41F63B-56BA-F646-E3CD-534954AEB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786" y="4164566"/>
            <a:ext cx="2096828" cy="255690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5C5E1BB-685D-4C48-EFD2-C4CC880FE08E}"/>
              </a:ext>
            </a:extLst>
          </p:cNvPr>
          <p:cNvSpPr txBox="1"/>
          <p:nvPr/>
        </p:nvSpPr>
        <p:spPr>
          <a:xfrm>
            <a:off x="8024727" y="5042910"/>
            <a:ext cx="1171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NOP sled</a:t>
            </a:r>
            <a:endParaRPr lang="ko-KR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25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4AE2-8EA8-B916-BD53-2817D213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FD738-59AD-8D60-F67F-992718CC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Registers </a:t>
            </a:r>
            <a:r>
              <a:rPr lang="en-US" altLang="ko-KR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small amount of data storage in CPU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01D9DA9-887A-56F2-579E-E1386C522ED5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7531671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A228CE-670C-9576-8D70-789FA6C5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597E1-34C3-B963-6EAB-52680EEA6382}"/>
              </a:ext>
            </a:extLst>
          </p:cNvPr>
          <p:cNvSpPr txBox="1"/>
          <p:nvPr/>
        </p:nvSpPr>
        <p:spPr>
          <a:xfrm>
            <a:off x="328059" y="1053477"/>
            <a:ext cx="11183126" cy="571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lang="ko-KR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Flexible, but some have special roles defined by instructions.</a:t>
            </a: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</a:t>
            </a:r>
          </a:p>
          <a:p>
            <a:pPr marL="457200" indent="-457200">
              <a:lnSpc>
                <a:spcPct val="113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Registers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Store base addresses for memory segments.</a:t>
            </a:r>
            <a:b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Flags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Displays the status of arithmetic operation results.</a:t>
            </a: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 Pointers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Keep track of the next instruction to execute (EIP)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043705-DF56-EB4C-FB29-71CA192CC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397034"/>
              </p:ext>
            </p:extLst>
          </p:nvPr>
        </p:nvGraphicFramePr>
        <p:xfrm>
          <a:off x="2426984" y="1558680"/>
          <a:ext cx="731748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3436">
                  <a:extLst>
                    <a:ext uri="{9D8B030D-6E8A-4147-A177-3AD203B41FA5}">
                      <a16:colId xmlns:a16="http://schemas.microsoft.com/office/drawing/2014/main" val="3250298519"/>
                    </a:ext>
                  </a:extLst>
                </a:gridCol>
                <a:gridCol w="4984047">
                  <a:extLst>
                    <a:ext uri="{9D8B030D-6E8A-4147-A177-3AD203B41FA5}">
                      <a16:colId xmlns:a16="http://schemas.microsoft.com/office/drawing/2014/main" val="1610915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EAX (Accumulator)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Function return value, Arithmetic operation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99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EBX (Base Register)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Memory address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82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ECX (Count Register)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Loop counter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8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EDX (Data Register)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EAX extension (</a:t>
                      </a:r>
                      <a:r>
                        <a:rPr lang="en-US" altLang="ko-KR" dirty="0" err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mul</a:t>
                      </a:r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/div)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18630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C9222A7-04C1-CDBA-C341-B821D73E5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939169"/>
              </p:ext>
            </p:extLst>
          </p:nvPr>
        </p:nvGraphicFramePr>
        <p:xfrm>
          <a:off x="3327622" y="4344512"/>
          <a:ext cx="518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250298519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1610915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When Flag = 1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8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ZF (Zero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Result == 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99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CF (Carry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Unsigned overflow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82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SF (Sign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Result &lt; 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8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TF (Trap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Execute only one instruction at a time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186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01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4169-EA96-75D5-2763-BD58560E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979EA-9A4B-9CDD-FC93-58B069DF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Conditionals &amp; Branching </a:t>
            </a:r>
            <a:r>
              <a:rPr lang="en-US" altLang="ko-KR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– changing execution flow based on flag values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A76816-4700-B9D6-A942-7AC8F78A460E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11446125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12233F-4152-AAD3-E64A-4698370F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F01F2-A3DD-67B5-93CF-B310468361B7}"/>
              </a:ext>
            </a:extLst>
          </p:cNvPr>
          <p:cNvSpPr txBox="1"/>
          <p:nvPr/>
        </p:nvSpPr>
        <p:spPr>
          <a:xfrm>
            <a:off x="328058" y="1053477"/>
            <a:ext cx="11446125" cy="1812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Comparison instruction without modifying the operands.</a:t>
            </a:r>
          </a:p>
          <a:p>
            <a:pPr marL="800100" lvl="1" indent="-34290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highlight>
                  <a:srgbClr val="F1F1F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an AND operation to set CPU flags (especially ZF).</a:t>
            </a:r>
            <a:b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If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== 0, then ZF = 1.</a:t>
            </a:r>
          </a:p>
          <a:p>
            <a:pPr marL="800100" lvl="1" indent="-34290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 err="1">
                <a:highlight>
                  <a:srgbClr val="F1F1F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cmp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performs a subtraction to set flags (such as ZF and CF).</a:t>
            </a:r>
          </a:p>
          <a:p>
            <a:pPr lvl="2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0B37F5B-F004-B201-9E2B-955ABEECEA32}"/>
              </a:ext>
            </a:extLst>
          </p:cNvPr>
          <p:cNvGrpSpPr/>
          <p:nvPr/>
        </p:nvGrpSpPr>
        <p:grpSpPr>
          <a:xfrm>
            <a:off x="3319046" y="2547294"/>
            <a:ext cx="5553909" cy="1445195"/>
            <a:chOff x="2788706" y="2547294"/>
            <a:chExt cx="5553909" cy="1445195"/>
          </a:xfrm>
        </p:grpSpPr>
        <p:pic>
          <p:nvPicPr>
            <p:cNvPr id="13" name="그림 12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365011F-C0DD-D91A-2FC1-CD3BA22E6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8706" y="2547294"/>
              <a:ext cx="3090555" cy="144519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220203-0FBA-06A4-4C44-AB49489ACBEE}"/>
                </a:ext>
              </a:extLst>
            </p:cNvPr>
            <p:cNvSpPr txBox="1"/>
            <p:nvPr/>
          </p:nvSpPr>
          <p:spPr>
            <a:xfrm>
              <a:off x="6061752" y="3059668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cmp</a:t>
              </a:r>
              <a:r>
                <a:rPr lang="en-US" altLang="ko-KR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ko-KR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dst</a:t>
              </a:r>
              <a:r>
                <a:rPr lang="en-US" altLang="ko-KR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altLang="ko-KR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src</a:t>
              </a:r>
              <a:r>
                <a:rPr lang="en-US" altLang="ko-KR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= </a:t>
              </a:r>
              <a:r>
                <a:rPr lang="en-US" altLang="ko-KR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dst</a:t>
              </a:r>
              <a:r>
                <a:rPr lang="en-US" altLang="ko-KR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- </a:t>
              </a:r>
              <a:r>
                <a:rPr lang="en-US" altLang="ko-KR" i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src</a:t>
              </a:r>
              <a:endParaRPr lang="ko-KR" altLang="en-US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A1E2015-48B7-59D2-FE61-DE9799CF682C}"/>
              </a:ext>
            </a:extLst>
          </p:cNvPr>
          <p:cNvSpPr txBox="1"/>
          <p:nvPr/>
        </p:nvSpPr>
        <p:spPr>
          <a:xfrm>
            <a:off x="328057" y="4031554"/>
            <a:ext cx="11446125" cy="1464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Branching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Change execution flow by jumping to a different instruction address based on a condition.</a:t>
            </a:r>
          </a:p>
          <a:p>
            <a:pPr marL="800100" lvl="1" indent="-34290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Unconditional Jump</a:t>
            </a:r>
          </a:p>
          <a:p>
            <a:pPr marL="800100" lvl="1" indent="-34290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Jump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jz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jnz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…)</a:t>
            </a:r>
          </a:p>
          <a:p>
            <a:pPr lvl="2">
              <a:lnSpc>
                <a:spcPct val="113000"/>
              </a:lnSpc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48BE2AA-9CB5-CB0D-4850-C23D36255E25}"/>
              </a:ext>
            </a:extLst>
          </p:cNvPr>
          <p:cNvGrpSpPr/>
          <p:nvPr/>
        </p:nvGrpSpPr>
        <p:grpSpPr>
          <a:xfrm>
            <a:off x="3116496" y="5246293"/>
            <a:ext cx="5959009" cy="1116459"/>
            <a:chOff x="3184983" y="5246293"/>
            <a:chExt cx="5959009" cy="111645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8B40B8-0DF6-4E78-CAFE-F45DFA0A02AC}"/>
                </a:ext>
              </a:extLst>
            </p:cNvPr>
            <p:cNvSpPr txBox="1"/>
            <p:nvPr/>
          </p:nvSpPr>
          <p:spPr>
            <a:xfrm>
              <a:off x="3184983" y="5246293"/>
              <a:ext cx="5959009" cy="1116459"/>
            </a:xfrm>
            <a:prstGeom prst="rect">
              <a:avLst/>
            </a:prstGeom>
            <a:solidFill>
              <a:schemeClr val="bg2">
                <a:alpha val="6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mov </a:t>
              </a:r>
              <a:r>
                <a:rPr lang="en-US" altLang="ko-KR" sz="2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eax</a:t>
              </a:r>
              <a:r>
                <a: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0     </a:t>
              </a:r>
            </a:p>
            <a:p>
              <a:pPr>
                <a:lnSpc>
                  <a:spcPct val="113000"/>
                </a:lnSpc>
              </a:pPr>
              <a:r>
                <a: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test </a:t>
              </a:r>
              <a:r>
                <a:rPr lang="en-US" altLang="ko-KR" sz="2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eax</a:t>
              </a:r>
              <a:r>
                <a: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altLang="ko-KR" sz="2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eax</a:t>
              </a:r>
              <a:endPara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113000"/>
                </a:lnSpc>
              </a:pPr>
              <a:r>
                <a:rPr lang="en-US" altLang="ko-KR" sz="2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jz</a:t>
              </a:r>
              <a:r>
                <a: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0x12345678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A01D86-886B-FC26-3EB9-805442E7C978}"/>
                </a:ext>
              </a:extLst>
            </p:cNvPr>
            <p:cNvSpPr txBox="1"/>
            <p:nvPr/>
          </p:nvSpPr>
          <p:spPr>
            <a:xfrm>
              <a:off x="5640508" y="5256567"/>
              <a:ext cx="839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eax</a:t>
              </a:r>
              <a:r>
                <a:rPr lang="en-US" altLang="ko-KR" dirty="0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0</a:t>
              </a:r>
              <a:endParaRPr lang="ko-KR" altLang="en-US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425E00-5953-4260-48DE-4CCBE531BD8E}"/>
                </a:ext>
              </a:extLst>
            </p:cNvPr>
            <p:cNvSpPr txBox="1"/>
            <p:nvPr/>
          </p:nvSpPr>
          <p:spPr>
            <a:xfrm>
              <a:off x="5640508" y="5588677"/>
              <a:ext cx="2393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eax</a:t>
              </a:r>
              <a:r>
                <a:rPr lang="en-US" altLang="ko-KR" dirty="0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&amp; </a:t>
              </a:r>
              <a:r>
                <a:rPr lang="en-US" altLang="ko-KR" dirty="0" err="1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eax</a:t>
              </a:r>
              <a:r>
                <a:rPr lang="en-US" altLang="ko-KR" dirty="0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== 0 </a:t>
              </a:r>
              <a:r>
                <a:rPr lang="ko-KR" altLang="en-US" b="1" dirty="0">
                  <a:solidFill>
                    <a:srgbClr val="C00000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→</a:t>
              </a:r>
              <a:r>
                <a:rPr lang="en-US" altLang="ko-KR" dirty="0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ZF = 1</a:t>
              </a:r>
              <a:endParaRPr lang="ko-KR" altLang="en-US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A0AAF8-CE97-FE62-32F8-9FD4A9323F55}"/>
                </a:ext>
              </a:extLst>
            </p:cNvPr>
            <p:cNvSpPr txBox="1"/>
            <p:nvPr/>
          </p:nvSpPr>
          <p:spPr>
            <a:xfrm>
              <a:off x="5640508" y="5940887"/>
              <a:ext cx="3438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C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Since ZF = 1, jump to 0x12345678 !</a:t>
              </a:r>
              <a:endParaRPr lang="ko-KR" altLang="en-US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98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BEC7-DDCD-236E-EDE2-DA3E5786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1952-CBB2-6DCF-566B-D07E16D73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</a:t>
            </a:r>
            <a:r>
              <a:rPr lang="en-US" altLang="ko-KR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data structure in RAM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8D1208F-F9E9-020D-BB4B-6A70D0250F05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4829568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5BFBB3-3146-3103-D477-244FDBFE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D697E-2475-C3E8-F910-EFC696859505}"/>
              </a:ext>
            </a:extLst>
          </p:cNvPr>
          <p:cNvSpPr txBox="1"/>
          <p:nvPr/>
        </p:nvSpPr>
        <p:spPr>
          <a:xfrm>
            <a:off x="328059" y="1053477"/>
            <a:ext cx="11183126" cy="111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 stores function-related data and is allocated on function calls and freed when return.</a:t>
            </a: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 in, First out (LIFO) structure.</a:t>
            </a:r>
          </a:p>
          <a:p>
            <a:pPr marL="342900" indent="-3429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Top-down format in memory.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FA98051-BDA7-E834-075E-78B374387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906010"/>
              </p:ext>
            </p:extLst>
          </p:nvPr>
        </p:nvGraphicFramePr>
        <p:xfrm>
          <a:off x="838200" y="3452812"/>
          <a:ext cx="871025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562A97-5107-B7A6-17F2-0C39D23C9354}"/>
              </a:ext>
            </a:extLst>
          </p:cNvPr>
          <p:cNvSpPr/>
          <p:nvPr/>
        </p:nvSpPr>
        <p:spPr>
          <a:xfrm>
            <a:off x="1709225" y="608302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8399B0-6151-88AB-3903-6E5A02F7C3DD}"/>
              </a:ext>
            </a:extLst>
          </p:cNvPr>
          <p:cNvSpPr/>
          <p:nvPr/>
        </p:nvSpPr>
        <p:spPr>
          <a:xfrm>
            <a:off x="1709225" y="5761418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581254-FBCC-A526-8008-3076A48E0E71}"/>
              </a:ext>
            </a:extLst>
          </p:cNvPr>
          <p:cNvSpPr/>
          <p:nvPr/>
        </p:nvSpPr>
        <p:spPr>
          <a:xfrm>
            <a:off x="1709225" y="543981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C0FF1A-FB25-43ED-C569-79FC4F95121E}"/>
              </a:ext>
            </a:extLst>
          </p:cNvPr>
          <p:cNvSpPr/>
          <p:nvPr/>
        </p:nvSpPr>
        <p:spPr>
          <a:xfrm>
            <a:off x="1709225" y="5118206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EAD9B-F8F6-2C4B-0027-5E66579965A8}"/>
              </a:ext>
            </a:extLst>
          </p:cNvPr>
          <p:cNvSpPr/>
          <p:nvPr/>
        </p:nvSpPr>
        <p:spPr>
          <a:xfrm>
            <a:off x="1709225" y="4796600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96DAF8-6745-9BE6-62F9-369D6827ADBE}"/>
              </a:ext>
            </a:extLst>
          </p:cNvPr>
          <p:cNvSpPr/>
          <p:nvPr/>
        </p:nvSpPr>
        <p:spPr>
          <a:xfrm>
            <a:off x="1709225" y="4474994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71E938-F923-B43F-DEBF-F0ABA2291785}"/>
              </a:ext>
            </a:extLst>
          </p:cNvPr>
          <p:cNvSpPr/>
          <p:nvPr/>
        </p:nvSpPr>
        <p:spPr>
          <a:xfrm>
            <a:off x="1709225" y="4153388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F908B3-A65A-45BD-9E5E-307889CB278E}"/>
              </a:ext>
            </a:extLst>
          </p:cNvPr>
          <p:cNvSpPr/>
          <p:nvPr/>
        </p:nvSpPr>
        <p:spPr>
          <a:xfrm>
            <a:off x="1709225" y="383178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A86A84-D12D-28E8-948D-578F5FD14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963" y="2919392"/>
            <a:ext cx="3110425" cy="345359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3" name="오른쪽 대괄호 32">
            <a:extLst>
              <a:ext uri="{FF2B5EF4-FFF2-40B4-BE49-F238E27FC236}">
                <a16:creationId xmlns:a16="http://schemas.microsoft.com/office/drawing/2014/main" id="{AC106968-6A23-A5E2-11A2-86C52EB7B795}"/>
              </a:ext>
            </a:extLst>
          </p:cNvPr>
          <p:cNvSpPr/>
          <p:nvPr/>
        </p:nvSpPr>
        <p:spPr>
          <a:xfrm>
            <a:off x="3632302" y="3924300"/>
            <a:ext cx="358674" cy="2330712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BC32FC-CA14-EA4F-1DA3-C7B815613200}"/>
              </a:ext>
            </a:extLst>
          </p:cNvPr>
          <p:cNvSpPr txBox="1"/>
          <p:nvPr/>
        </p:nvSpPr>
        <p:spPr>
          <a:xfrm>
            <a:off x="4030226" y="4658380"/>
            <a:ext cx="132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Stack Frame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B95FED-53D2-7709-5290-2A3F65D93CF0}"/>
              </a:ext>
            </a:extLst>
          </p:cNvPr>
          <p:cNvSpPr txBox="1"/>
          <p:nvPr/>
        </p:nvSpPr>
        <p:spPr>
          <a:xfrm>
            <a:off x="795935" y="2572236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0xFFF8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0xFFFF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332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8027-69D0-A2DE-9EA0-0A1D0B7E5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4C287-E86C-9D69-1B3C-8001C517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32FF5F-1D31-3652-DB75-596F45E88185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AD1EAE-87D3-F40B-F1D4-6587C0EF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10</a:t>
            </a:fld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4A037B7-EA22-E849-16CE-06658AFA5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914869"/>
              </p:ext>
            </p:extLst>
          </p:nvPr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9E4D9E2-F217-7EF1-7934-13F1E8244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003629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C9B2502-5CF5-06B4-9038-18A9CCD8E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506265"/>
              </p:ext>
            </p:extLst>
          </p:nvPr>
        </p:nvGraphicFramePr>
        <p:xfrm>
          <a:off x="523875" y="3524483"/>
          <a:ext cx="871025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F12646-21F9-F064-95D8-7C1C00824E78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B09E4EB-F405-5B36-2201-84CD0BB24FBB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B6FE6-AE1A-EA29-AEBB-31AB52ADA7DA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CBE56FB-900B-44D8-A394-8215867F2B35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2C83A1-E039-E00B-9A29-E36774B47C6C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8AA107-9A69-83F1-F9C1-C094D261A502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B0D79B-F567-008C-EA43-2C53156CB8F1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0B643C-B5DA-5FBA-15B6-B2ECCB5F9B00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대괄호 34">
            <a:extLst>
              <a:ext uri="{FF2B5EF4-FFF2-40B4-BE49-F238E27FC236}">
                <a16:creationId xmlns:a16="http://schemas.microsoft.com/office/drawing/2014/main" id="{CA6FA741-7503-202C-4795-6216762A58A4}"/>
              </a:ext>
            </a:extLst>
          </p:cNvPr>
          <p:cNvSpPr/>
          <p:nvPr/>
        </p:nvSpPr>
        <p:spPr>
          <a:xfrm>
            <a:off x="3317977" y="3995971"/>
            <a:ext cx="358674" cy="2330712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5B6B7D-C9EE-06D6-5DEE-1BC08E84C0E0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0xFFF8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0xFFFF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9" name="그림 3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CAADDF-D6B3-2F49-3C52-BC1C9C51D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B69DB9A-4D2A-2AAB-44BF-AC7877C8C71F}"/>
              </a:ext>
            </a:extLst>
          </p:cNvPr>
          <p:cNvSpPr txBox="1"/>
          <p:nvPr/>
        </p:nvSpPr>
        <p:spPr>
          <a:xfrm flipH="1">
            <a:off x="7829550" y="1331112"/>
            <a:ext cx="1762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3 in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42988B-65EE-7617-CCBC-6747CAD8507E}"/>
              </a:ext>
            </a:extLst>
          </p:cNvPr>
          <p:cNvSpPr txBox="1"/>
          <p:nvPr/>
        </p:nvSpPr>
        <p:spPr>
          <a:xfrm flipH="1">
            <a:off x="7829550" y="1662271"/>
            <a:ext cx="1762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4 in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esi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19E4288-3B1D-B602-1346-5EECA7AC8876}"/>
              </a:ext>
            </a:extLst>
          </p:cNvPr>
          <p:cNvSpPr/>
          <p:nvPr/>
        </p:nvSpPr>
        <p:spPr>
          <a:xfrm>
            <a:off x="11544300" y="4371975"/>
            <a:ext cx="447675" cy="17469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87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000A-638D-3E82-8856-9CFC869F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2C575-C470-B280-37D3-36C0606D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C57550-EFC1-2F3C-845B-02AE774335F2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9E5591-F1D6-D52B-4E57-503FC78C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A63BCC-6BD2-51F3-5F03-A91975655294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0x0013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46B9E-62B9-E155-C1AC-3D6A34DB6F23}"/>
              </a:ext>
            </a:extLst>
          </p:cNvPr>
          <p:cNvSpPr txBox="1"/>
          <p:nvPr/>
        </p:nvSpPr>
        <p:spPr>
          <a:xfrm flipH="1">
            <a:off x="7924799" y="2308637"/>
            <a:ext cx="176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return 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in result (0x1234)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A81409-9F04-A82A-00E4-FBC06D202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D90875-6565-90F2-D714-64F7772165BF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</a:t>
            </a:r>
            <a:r>
              <a:rPr lang="en-US" altLang="ko-KR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0xFFF7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0xFFFF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65FC3B2-39A5-4522-1B24-8079F7939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21109"/>
              </p:ext>
            </p:extLst>
          </p:nvPr>
        </p:nvGraphicFramePr>
        <p:xfrm>
          <a:off x="523875" y="3524483"/>
          <a:ext cx="871025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9E87611F-F76C-829E-1E4D-096F25578AB7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625DB0C-EBBC-4941-6A66-0E2CC291BC51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81BC55-A1F8-F6C2-1F9B-FAF59829CAFF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AA73EE-5185-8067-7448-2723F041340C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723AC45-28D4-A149-7239-8F662913D967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7073533-A54E-5AFC-B366-C0EF52EB863A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CA3D09-B937-9FE7-6A1F-A776FD47A82C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EDF6922-EA9F-5A4C-FD12-08CE6DB5E372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9597EB7D-112A-4E71-CFE0-C5133EC69BE2}"/>
              </a:ext>
            </a:extLst>
          </p:cNvPr>
          <p:cNvSpPr/>
          <p:nvPr/>
        </p:nvSpPr>
        <p:spPr>
          <a:xfrm>
            <a:off x="3317977" y="3667125"/>
            <a:ext cx="358674" cy="2659558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54D975EF-6A09-E1A4-3DA4-58EC55CF9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64662"/>
              </p:ext>
            </p:extLst>
          </p:nvPr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7A233D4-AD98-EC15-DE24-599F3D16A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110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4917ADEF-602D-F526-61A0-FA201164F898}"/>
              </a:ext>
            </a:extLst>
          </p:cNvPr>
          <p:cNvSpPr/>
          <p:nvPr/>
        </p:nvSpPr>
        <p:spPr>
          <a:xfrm>
            <a:off x="10429875" y="4340615"/>
            <a:ext cx="1688332" cy="2790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55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2E20-F0F1-BC51-18D4-CDFA84C9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9609B-81FF-4F0D-5521-22E1D9EB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7BF3DC-F612-3269-5DD2-ED9059944513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B294EB-C044-CF05-1C73-1712D0C8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FDF843-F73F-10F5-EB83-72EC35CADFCA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0x0013</a:t>
            </a:r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E68DC0-F69B-CA5B-5DD0-6D5C8FE4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3F15553-FA9F-F0FA-391B-07E9BB2BA3F7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0xFFF6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</a:t>
            </a:r>
            <a:r>
              <a:rPr lang="en-US" altLang="ko-KR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0xFFF6</a:t>
            </a:r>
            <a:endParaRPr lang="ko-KR" altLang="en-US" dirty="0">
              <a:solidFill>
                <a:srgbClr val="C000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CA52384-4265-D651-10C9-9211FB2A9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786637"/>
              </p:ext>
            </p:extLst>
          </p:nvPr>
        </p:nvGraphicFramePr>
        <p:xfrm>
          <a:off x="523875" y="3181583"/>
          <a:ext cx="871025" cy="32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3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3C8257-99CA-B531-3DD8-E194CFD5D70B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C4EBBB0-B511-38A2-96A6-2A158A630713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3E7EE5A-5D16-232B-E9F6-BD2A4E0ED51E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D3ECBFB-49AC-C3EE-1997-7D64E8F8E0B9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BE45CDA-4CA5-C4CE-5563-BB1901E5D7E9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BAF674-D210-0BA4-ACFC-3684C90A8329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934B23D-2891-43DA-38AA-715F523701A9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0EF73F-21E2-B0BB-C1B4-68DBF8B1E0A8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5764ACCC-8654-F6D5-1489-0AA48ED39E43}"/>
              </a:ext>
            </a:extLst>
          </p:cNvPr>
          <p:cNvSpPr/>
          <p:nvPr/>
        </p:nvSpPr>
        <p:spPr>
          <a:xfrm>
            <a:off x="3317977" y="3352800"/>
            <a:ext cx="358674" cy="2973883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19B194E5-6651-7DF9-8BE6-3892D2AE2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56657"/>
              </p:ext>
            </p:extLst>
          </p:nvPr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513D715-D734-EBA9-F923-E7B678963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854853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493D2811-A891-70D1-70C8-BE12F4BF402F}"/>
              </a:ext>
            </a:extLst>
          </p:cNvPr>
          <p:cNvSpPr/>
          <p:nvPr/>
        </p:nvSpPr>
        <p:spPr>
          <a:xfrm>
            <a:off x="1390534" y="326024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0xFFFF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AFD31-DE6C-B7A2-5EA2-BB028B98FA3E}"/>
              </a:ext>
            </a:extLst>
          </p:cNvPr>
          <p:cNvSpPr txBox="1"/>
          <p:nvPr/>
        </p:nvSpPr>
        <p:spPr>
          <a:xfrm flipH="1">
            <a:off x="2817339" y="2797111"/>
            <a:ext cx="1876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base pointer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225B721-219C-D14E-286B-7DE040602586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2403720" y="2966388"/>
            <a:ext cx="413619" cy="25549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301E1A4-6909-747A-3785-49FB2A4A2D4D}"/>
              </a:ext>
            </a:extLst>
          </p:cNvPr>
          <p:cNvCxnSpPr>
            <a:cxnSpLocks/>
          </p:cNvCxnSpPr>
          <p:nvPr/>
        </p:nvCxnSpPr>
        <p:spPr>
          <a:xfrm flipV="1">
            <a:off x="886124" y="1769194"/>
            <a:ext cx="1398210" cy="14455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34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527-42E5-EEED-6A03-42CA7240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4AFD8-A0A9-62A9-117A-3C8CAB27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7D72B-A14B-5307-AAC6-5B6C62825BA8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BBDB7-5E01-4066-6586-9EBD63D4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84F748-28FE-1582-3333-7C7AF1B17025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F03196-9125-3B88-D40D-B9382DE6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34098A3-545D-2B93-10EF-AB1DCB6A1C0D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0xFFF2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0xFFF6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F2732EC-791B-12B1-8DDE-73FA79BA2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46320"/>
              </p:ext>
            </p:extLst>
          </p:nvPr>
        </p:nvGraphicFramePr>
        <p:xfrm>
          <a:off x="523875" y="1886183"/>
          <a:ext cx="871025" cy="453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5262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0xFFF3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47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71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0xFFF5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914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3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EF8DA0-7726-51B4-EDD8-8C4029FCF828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9D72ABA-9016-A8B2-3A67-B708750AD13F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03271AF-E3C5-5360-8FA5-D1CF47EBCA7C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4F8F579-12FC-A921-458B-1406531605F6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2D9570-5310-8718-ED12-69D8B24F8364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2B5109-1CD1-AE11-3435-718C70019A40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1DA688B-B6C0-83DA-DC11-4DB7D288FB6B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E717E2-1FF3-B76A-5657-1023C4026B3E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E6F49D98-E062-C0FB-4BF5-48ACB300C44E}"/>
              </a:ext>
            </a:extLst>
          </p:cNvPr>
          <p:cNvSpPr/>
          <p:nvPr/>
        </p:nvSpPr>
        <p:spPr>
          <a:xfrm>
            <a:off x="3317977" y="3352800"/>
            <a:ext cx="358674" cy="2973883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131F5368-D561-4959-8330-BD49BD416E9E}"/>
              </a:ext>
            </a:extLst>
          </p:cNvPr>
          <p:cNvGraphicFramePr>
            <a:graphicFrameLocks noGrp="1"/>
          </p:cNvGraphicFramePr>
          <p:nvPr/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94352ADF-BF49-9202-D11C-4658B8323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50949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36FC3D3-AF31-E612-3D63-C66553607FA5}"/>
              </a:ext>
            </a:extLst>
          </p:cNvPr>
          <p:cNvSpPr/>
          <p:nvPr/>
        </p:nvSpPr>
        <p:spPr>
          <a:xfrm>
            <a:off x="1390534" y="326024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DD20D5-8A32-5950-4EF8-103C2982F157}"/>
              </a:ext>
            </a:extLst>
          </p:cNvPr>
          <p:cNvSpPr/>
          <p:nvPr/>
        </p:nvSpPr>
        <p:spPr>
          <a:xfrm>
            <a:off x="1386168" y="229542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A3F7CB-F44F-C89F-4976-D1DDC6FC3274}"/>
              </a:ext>
            </a:extLst>
          </p:cNvPr>
          <p:cNvSpPr/>
          <p:nvPr/>
        </p:nvSpPr>
        <p:spPr>
          <a:xfrm>
            <a:off x="1390534" y="293863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164CC7-0463-B07A-8FDA-44703BB4B2CA}"/>
              </a:ext>
            </a:extLst>
          </p:cNvPr>
          <p:cNvSpPr/>
          <p:nvPr/>
        </p:nvSpPr>
        <p:spPr>
          <a:xfrm>
            <a:off x="1390534" y="261702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14BE02-3CB0-CEB6-041E-1F94183C2A1F}"/>
              </a:ext>
            </a:extLst>
          </p:cNvPr>
          <p:cNvSpPr/>
          <p:nvPr/>
        </p:nvSpPr>
        <p:spPr>
          <a:xfrm>
            <a:off x="1386168" y="197381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오른쪽 대괄호 13">
            <a:extLst>
              <a:ext uri="{FF2B5EF4-FFF2-40B4-BE49-F238E27FC236}">
                <a16:creationId xmlns:a16="http://schemas.microsoft.com/office/drawing/2014/main" id="{ED73CD15-CC35-4928-0C9B-2799ED5DD53E}"/>
              </a:ext>
            </a:extLst>
          </p:cNvPr>
          <p:cNvSpPr/>
          <p:nvPr/>
        </p:nvSpPr>
        <p:spPr>
          <a:xfrm>
            <a:off x="3315427" y="2037541"/>
            <a:ext cx="358674" cy="1315259"/>
          </a:xfrm>
          <a:prstGeom prst="rightBracke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08E555-29DB-1CF7-69BD-022F2BCB86FF}"/>
              </a:ext>
            </a:extLst>
          </p:cNvPr>
          <p:cNvSpPr txBox="1"/>
          <p:nvPr/>
        </p:nvSpPr>
        <p:spPr>
          <a:xfrm rot="16200000">
            <a:off x="2797355" y="4626079"/>
            <a:ext cx="131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5291B-A48F-0EFC-1B3A-231E44CBAE3A}"/>
              </a:ext>
            </a:extLst>
          </p:cNvPr>
          <p:cNvSpPr txBox="1"/>
          <p:nvPr/>
        </p:nvSpPr>
        <p:spPr>
          <a:xfrm rot="16200000">
            <a:off x="2816185" y="2507064"/>
            <a:ext cx="127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D4BC8A-7468-7EB2-D9A7-205A67CCBF9D}"/>
              </a:ext>
            </a:extLst>
          </p:cNvPr>
          <p:cNvSpPr/>
          <p:nvPr/>
        </p:nvSpPr>
        <p:spPr>
          <a:xfrm>
            <a:off x="10106025" y="2634604"/>
            <a:ext cx="1924050" cy="108014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E7585-1399-96FA-6DB3-4ADDF4062D72}"/>
              </a:ext>
            </a:extLst>
          </p:cNvPr>
          <p:cNvSpPr txBox="1"/>
          <p:nvPr/>
        </p:nvSpPr>
        <p:spPr>
          <a:xfrm flipH="1">
            <a:off x="7858124" y="3623710"/>
            <a:ext cx="1762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Allocate 4 bytes 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50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BB09-F539-5F8F-B2D0-789E2317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768F9-F412-48E0-AD4D-9B37E798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7880977-57C0-8ED9-3FF4-483CC139659D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F1C862-F4E9-7047-B463-47A91B00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B06FF3-34EE-F64F-3493-09D782FDFF97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7287F0-0EBF-0495-FCED-97898BD7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3D6B3BE-D3E3-D3EF-9815-8D0C207042CC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0xFFF2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0xFFF6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EFED34BE-2C39-8DD3-B6AD-4557FA019050}"/>
              </a:ext>
            </a:extLst>
          </p:cNvPr>
          <p:cNvGraphicFramePr>
            <a:graphicFrameLocks noGrp="1"/>
          </p:cNvGraphicFramePr>
          <p:nvPr/>
        </p:nvGraphicFramePr>
        <p:xfrm>
          <a:off x="523875" y="1886183"/>
          <a:ext cx="871025" cy="453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5262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0xFFF3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47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71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0xFFF5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914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3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DC08A2B4-F06F-FFA8-7513-EB93BDE0BFBC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258ABCF-EC55-C76C-DB3A-9F8BDF852507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48F1193-ECE0-575F-8EBA-D20C37D62087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E0253E4-4230-2347-C254-297F773E0E3A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11B43E8-8147-5B5C-EF9B-4B8227B051D9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9034A09-4DF2-B574-27EB-6005189F0BE8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ABDE36D-C2DD-56CF-DF77-57B2BE8FC05C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8FBEC14-3FF3-13BE-F65B-3B75F0573F26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140315FC-C5FD-241B-5293-F87A73004322}"/>
              </a:ext>
            </a:extLst>
          </p:cNvPr>
          <p:cNvSpPr/>
          <p:nvPr/>
        </p:nvSpPr>
        <p:spPr>
          <a:xfrm>
            <a:off x="3317977" y="3352800"/>
            <a:ext cx="358674" cy="2973883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BA5A497B-5496-0E27-AD90-5986F25C84B8}"/>
              </a:ext>
            </a:extLst>
          </p:cNvPr>
          <p:cNvGraphicFramePr>
            <a:graphicFrameLocks noGrp="1"/>
          </p:cNvGraphicFramePr>
          <p:nvPr/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5784D56-38FD-875B-AAEB-7687AE46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922190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75C2FEA-CEDB-8C09-E0BC-FA30D25F1C5F}"/>
              </a:ext>
            </a:extLst>
          </p:cNvPr>
          <p:cNvSpPr/>
          <p:nvPr/>
        </p:nvSpPr>
        <p:spPr>
          <a:xfrm>
            <a:off x="1390534" y="326024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CB10B6-B6A9-2249-0FD0-ABB6C0049501}"/>
              </a:ext>
            </a:extLst>
          </p:cNvPr>
          <p:cNvSpPr/>
          <p:nvPr/>
        </p:nvSpPr>
        <p:spPr>
          <a:xfrm>
            <a:off x="1386168" y="229542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0x00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9A426-EF16-D59E-4F60-6E7767DF2E88}"/>
              </a:ext>
            </a:extLst>
          </p:cNvPr>
          <p:cNvSpPr/>
          <p:nvPr/>
        </p:nvSpPr>
        <p:spPr>
          <a:xfrm>
            <a:off x="1390534" y="293863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0x07</a:t>
            </a:r>
            <a:endParaRPr lang="ko-KR" altLang="en-US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0F1836-DAFA-9DAE-A087-42923CB01785}"/>
              </a:ext>
            </a:extLst>
          </p:cNvPr>
          <p:cNvSpPr/>
          <p:nvPr/>
        </p:nvSpPr>
        <p:spPr>
          <a:xfrm>
            <a:off x="1390534" y="261702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0x00</a:t>
            </a:r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38761C-F6E1-0D42-62B4-6911AC6B4D0B}"/>
              </a:ext>
            </a:extLst>
          </p:cNvPr>
          <p:cNvSpPr/>
          <p:nvPr/>
        </p:nvSpPr>
        <p:spPr>
          <a:xfrm>
            <a:off x="1386168" y="197381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0x00</a:t>
            </a:r>
            <a:endParaRPr lang="ko-KR" altLang="en-US" b="1" dirty="0"/>
          </a:p>
        </p:txBody>
      </p:sp>
      <p:sp>
        <p:nvSpPr>
          <p:cNvPr id="14" name="오른쪽 대괄호 13">
            <a:extLst>
              <a:ext uri="{FF2B5EF4-FFF2-40B4-BE49-F238E27FC236}">
                <a16:creationId xmlns:a16="http://schemas.microsoft.com/office/drawing/2014/main" id="{5CFF6DB3-50BD-C43D-1160-0C9C83B494AE}"/>
              </a:ext>
            </a:extLst>
          </p:cNvPr>
          <p:cNvSpPr/>
          <p:nvPr/>
        </p:nvSpPr>
        <p:spPr>
          <a:xfrm>
            <a:off x="3315427" y="2037541"/>
            <a:ext cx="358674" cy="1315259"/>
          </a:xfrm>
          <a:prstGeom prst="rightBracke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E566A-8A01-67C6-0285-E444376BD31C}"/>
              </a:ext>
            </a:extLst>
          </p:cNvPr>
          <p:cNvSpPr txBox="1"/>
          <p:nvPr/>
        </p:nvSpPr>
        <p:spPr>
          <a:xfrm rot="16200000">
            <a:off x="2797355" y="4626079"/>
            <a:ext cx="131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A0DDE9-6FEA-32BD-5DE1-DFEFCE7DC255}"/>
              </a:ext>
            </a:extLst>
          </p:cNvPr>
          <p:cNvSpPr txBox="1"/>
          <p:nvPr/>
        </p:nvSpPr>
        <p:spPr>
          <a:xfrm rot="16200000">
            <a:off x="2816185" y="2507064"/>
            <a:ext cx="127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84B822-CC1D-0A75-DDAB-46F3E03E94E5}"/>
              </a:ext>
            </a:extLst>
          </p:cNvPr>
          <p:cNvSpPr/>
          <p:nvPr/>
        </p:nvSpPr>
        <p:spPr>
          <a:xfrm>
            <a:off x="10106025" y="2634604"/>
            <a:ext cx="1924050" cy="108014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FBB88-74C0-F29C-2820-F5C3B9732055}"/>
              </a:ext>
            </a:extLst>
          </p:cNvPr>
          <p:cNvSpPr txBox="1"/>
          <p:nvPr/>
        </p:nvSpPr>
        <p:spPr>
          <a:xfrm flipH="1">
            <a:off x="7829550" y="4345051"/>
            <a:ext cx="176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 operation</a:t>
            </a:r>
          </a:p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 + 4 = 7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32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53CD-C800-A9F7-553E-0EF2CDA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DC548-C70F-33F9-258F-053204AA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2834E0-D153-8A1D-98CE-639CC1BE1300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194EB3-AB7A-EB5F-80A8-09A9C90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5EE1FB-5F33-5615-A5A0-1F90F1693A77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E73F90-3238-4991-0235-285E5012C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401766F-4328-84F9-556E-A25531ABEBB3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0xFFF6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0xFFF6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5ADC29A-0736-E225-8961-442206B71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785393"/>
              </p:ext>
            </p:extLst>
          </p:nvPr>
        </p:nvGraphicFramePr>
        <p:xfrm>
          <a:off x="523875" y="3181583"/>
          <a:ext cx="871025" cy="32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3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4EF5C5-41FA-8355-700E-E6A5888A8B83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1E594B9-5840-A466-1714-B993AF83C3BC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8A68218-4045-E1C2-6254-6D72F35A3EA1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E5B61A0-C195-4376-C2E3-AA61720DE38D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A8948DC-B56B-54F5-F19C-F8BB6A318757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6F21680-F5E1-2494-C567-B9C13053BE26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2094F9-50E1-0DD9-76BF-D5F671F92916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1F6D23-F618-10D0-028A-3804F7E6685B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C72AD75C-CA13-DFED-3CAD-CDBB9D66456C}"/>
              </a:ext>
            </a:extLst>
          </p:cNvPr>
          <p:cNvSpPr/>
          <p:nvPr/>
        </p:nvSpPr>
        <p:spPr>
          <a:xfrm>
            <a:off x="3317977" y="3352800"/>
            <a:ext cx="358674" cy="2973883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2956F307-5EB7-E78E-BEB2-CB7835867796}"/>
              </a:ext>
            </a:extLst>
          </p:cNvPr>
          <p:cNvGraphicFramePr>
            <a:graphicFrameLocks noGrp="1"/>
          </p:cNvGraphicFramePr>
          <p:nvPr/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69790CF8-018C-BBC7-873B-812876DCF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24868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9B2E629-81D5-7F1E-FE73-1018860FE6AB}"/>
              </a:ext>
            </a:extLst>
          </p:cNvPr>
          <p:cNvSpPr/>
          <p:nvPr/>
        </p:nvSpPr>
        <p:spPr>
          <a:xfrm>
            <a:off x="1390534" y="326024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FBC27C-771F-998B-FF2D-DC357DF3FAC4}"/>
              </a:ext>
            </a:extLst>
          </p:cNvPr>
          <p:cNvSpPr txBox="1"/>
          <p:nvPr/>
        </p:nvSpPr>
        <p:spPr>
          <a:xfrm rot="16200000">
            <a:off x="2797355" y="4626079"/>
            <a:ext cx="131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77F73-6962-4EB5-B59D-615C1BDDB9ED}"/>
              </a:ext>
            </a:extLst>
          </p:cNvPr>
          <p:cNvSpPr txBox="1"/>
          <p:nvPr/>
        </p:nvSpPr>
        <p:spPr>
          <a:xfrm flipH="1">
            <a:off x="7798590" y="5236281"/>
            <a:ext cx="1909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Deallocate stack frame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98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F7168-8F75-E49A-F336-F8FFB1E2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9CBCE-8761-363F-D8D4-6F52FAD5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0F4C658-0366-FE46-4863-3D477451135A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DF20F-08F1-3FC4-00B3-92FA491B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79078D-F6F5-FE3D-BCA4-B67031FCE6B0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528F13-9E08-7E9F-0DA3-8A1AFE346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7257AC-4F9B-7748-D228-B83C353776D4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0xFFF6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</a:t>
            </a:r>
            <a:r>
              <a:rPr lang="en-US" altLang="ko-KR" dirty="0">
                <a:solidFill>
                  <a:srgbClr val="C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0xFFFF</a:t>
            </a:r>
            <a:endParaRPr lang="ko-KR" altLang="en-US" dirty="0">
              <a:solidFill>
                <a:srgbClr val="C000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B2D5A44-8B02-4A54-C8E9-EA0502BCB51C}"/>
              </a:ext>
            </a:extLst>
          </p:cNvPr>
          <p:cNvGraphicFramePr>
            <a:graphicFrameLocks noGrp="1"/>
          </p:cNvGraphicFramePr>
          <p:nvPr/>
        </p:nvGraphicFramePr>
        <p:xfrm>
          <a:off x="523875" y="3181583"/>
          <a:ext cx="871025" cy="32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3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8B6A66-4947-B369-3E9A-CB2FCF29FE85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7CEC45C-CC01-EB2E-D75C-BBD829DE7E2D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2F99FF8-62CF-DCDC-17B6-0B94E0233C6C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0E0BC38-5AC0-40A5-6F88-C3AA73C37158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76FEAF6-C7E1-30F1-1475-059016104BD3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41B85F6-9C67-F0CE-9E6C-88E5E03ED386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263674-E09E-62B3-6E73-67A176258958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8A64E26-7488-5872-9FBF-0D9E5F1BE6AC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9505A27F-8592-6E27-BCB8-D11FCC5FA247}"/>
              </a:ext>
            </a:extLst>
          </p:cNvPr>
          <p:cNvSpPr/>
          <p:nvPr/>
        </p:nvSpPr>
        <p:spPr>
          <a:xfrm>
            <a:off x="3317977" y="3352800"/>
            <a:ext cx="358674" cy="2973883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CDB237E3-CD60-99ED-E3D3-A2C956D5874A}"/>
              </a:ext>
            </a:extLst>
          </p:cNvPr>
          <p:cNvGraphicFramePr>
            <a:graphicFrameLocks noGrp="1"/>
          </p:cNvGraphicFramePr>
          <p:nvPr/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9730A023-198E-D047-EABC-8BA82A55E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59877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4C51C3C7-5F08-2A64-07E1-382F37670EF9}"/>
              </a:ext>
            </a:extLst>
          </p:cNvPr>
          <p:cNvSpPr/>
          <p:nvPr/>
        </p:nvSpPr>
        <p:spPr>
          <a:xfrm>
            <a:off x="1390534" y="326024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0xFFFF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3BA22B-E1AA-6C6D-A057-BF2851B22932}"/>
              </a:ext>
            </a:extLst>
          </p:cNvPr>
          <p:cNvSpPr txBox="1"/>
          <p:nvPr/>
        </p:nvSpPr>
        <p:spPr>
          <a:xfrm rot="16200000">
            <a:off x="2797355" y="4626079"/>
            <a:ext cx="131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FC56C2C-41E8-B4F0-FD86-85D9DA39A1F4}"/>
              </a:ext>
            </a:extLst>
          </p:cNvPr>
          <p:cNvCxnSpPr>
            <a:cxnSpLocks/>
          </p:cNvCxnSpPr>
          <p:nvPr/>
        </p:nvCxnSpPr>
        <p:spPr>
          <a:xfrm flipV="1">
            <a:off x="2284334" y="1783394"/>
            <a:ext cx="0" cy="13981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952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955F-CECA-7133-E072-BFE915E5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05687-42D2-396F-4152-F5E2CD8C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cs typeface="Calibri" panose="020F0502020204030204" pitchFamily="34" charset="0"/>
              </a:rPr>
              <a:t> Stack Frame</a:t>
            </a:r>
            <a:endParaRPr lang="ko-KR" altLang="en-US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75535AF-D1DD-C5FB-4DC7-E28D8E60B099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856930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1B89A4-ADE7-7F76-D632-0A49CE32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D79DC8-4C98-54BB-CD0A-9610747ECE69}"/>
              </a:ext>
            </a:extLst>
          </p:cNvPr>
          <p:cNvSpPr/>
          <p:nvPr/>
        </p:nvSpPr>
        <p:spPr>
          <a:xfrm>
            <a:off x="1390534" y="358184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0x0013</a:t>
            </a:r>
            <a:endParaRPr lang="ko-KR" altLang="en-US" b="1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8897D-3E56-CD2C-01D7-ED2B851F8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75" y="2227601"/>
            <a:ext cx="2336032" cy="259376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49DF033-9F73-D15D-1C3D-D5FFCA6EA0E6}"/>
              </a:ext>
            </a:extLst>
          </p:cNvPr>
          <p:cNvSpPr txBox="1"/>
          <p:nvPr/>
        </p:nvSpPr>
        <p:spPr>
          <a:xfrm>
            <a:off x="405410" y="1163504"/>
            <a:ext cx="2700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Stack Pointer: 0xFFF7</a:t>
            </a:r>
          </a:p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 Pointer: 0xFFFF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09AE282-236D-7859-4FF6-C11AA5220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52092"/>
              </p:ext>
            </p:extLst>
          </p:nvPr>
        </p:nvGraphicFramePr>
        <p:xfrm>
          <a:off x="523875" y="3505433"/>
          <a:ext cx="871025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025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0xFFFB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0xFFFD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0xFFFF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9CE5FC1E-26D7-F070-1429-186D8EF86621}"/>
              </a:ext>
            </a:extLst>
          </p:cNvPr>
          <p:cNvSpPr/>
          <p:nvPr/>
        </p:nvSpPr>
        <p:spPr>
          <a:xfrm>
            <a:off x="1394900" y="6154692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5E252D8-5325-D031-86DE-C6EFA2B2F3D1}"/>
              </a:ext>
            </a:extLst>
          </p:cNvPr>
          <p:cNvSpPr/>
          <p:nvPr/>
        </p:nvSpPr>
        <p:spPr>
          <a:xfrm>
            <a:off x="1394900" y="583308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666B5FE-63E2-575E-752E-BD6493665577}"/>
              </a:ext>
            </a:extLst>
          </p:cNvPr>
          <p:cNvSpPr/>
          <p:nvPr/>
        </p:nvSpPr>
        <p:spPr>
          <a:xfrm>
            <a:off x="1394900" y="551148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0C0881F-E9C8-9531-D81B-5E48FEADB3F6}"/>
              </a:ext>
            </a:extLst>
          </p:cNvPr>
          <p:cNvSpPr/>
          <p:nvPr/>
        </p:nvSpPr>
        <p:spPr>
          <a:xfrm>
            <a:off x="1394900" y="5189877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4929B9E-D718-3D52-86F2-03B4CAE6FD15}"/>
              </a:ext>
            </a:extLst>
          </p:cNvPr>
          <p:cNvSpPr/>
          <p:nvPr/>
        </p:nvSpPr>
        <p:spPr>
          <a:xfrm>
            <a:off x="1394900" y="4868271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FEAEE47-4322-ADBB-4B72-5BF7832D502C}"/>
              </a:ext>
            </a:extLst>
          </p:cNvPr>
          <p:cNvSpPr/>
          <p:nvPr/>
        </p:nvSpPr>
        <p:spPr>
          <a:xfrm>
            <a:off x="1394900" y="4546665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CFB985F-9831-3F8F-EAD8-710CED56C0A7}"/>
              </a:ext>
            </a:extLst>
          </p:cNvPr>
          <p:cNvSpPr/>
          <p:nvPr/>
        </p:nvSpPr>
        <p:spPr>
          <a:xfrm>
            <a:off x="1394900" y="4225059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5FF64F9-9385-E638-BB9D-E5A61AB5A7E5}"/>
              </a:ext>
            </a:extLst>
          </p:cNvPr>
          <p:cNvSpPr/>
          <p:nvPr/>
        </p:nvSpPr>
        <p:spPr>
          <a:xfrm>
            <a:off x="1394900" y="3903453"/>
            <a:ext cx="1787601" cy="231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대괄호 47">
            <a:extLst>
              <a:ext uri="{FF2B5EF4-FFF2-40B4-BE49-F238E27FC236}">
                <a16:creationId xmlns:a16="http://schemas.microsoft.com/office/drawing/2014/main" id="{4BCEEC9C-677F-8B4D-6A8C-99AF200AB9EE}"/>
              </a:ext>
            </a:extLst>
          </p:cNvPr>
          <p:cNvSpPr/>
          <p:nvPr/>
        </p:nvSpPr>
        <p:spPr>
          <a:xfrm>
            <a:off x="3317977" y="3581847"/>
            <a:ext cx="358674" cy="2744836"/>
          </a:xfrm>
          <a:prstGeom prst="rightBracket">
            <a:avLst/>
          </a:prstGeom>
          <a:noFill/>
          <a:ln w="57150">
            <a:solidFill>
              <a:srgbClr val="FFE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19D9F5BC-8486-0A83-CE81-5D3229FC6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315847"/>
              </p:ext>
            </p:extLst>
          </p:nvPr>
        </p:nvGraphicFramePr>
        <p:xfrm>
          <a:off x="4600574" y="1337713"/>
          <a:ext cx="3228976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3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0x0009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0x000E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call add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0x0013</a:t>
                      </a:r>
                      <a:endParaRPr lang="ko-KR" altLang="en-US" sz="15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[0x1234], </a:t>
                      </a:r>
                      <a:r>
                        <a:rPr lang="en-US" altLang="ko-KR" sz="15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06D70472-B1C5-327E-822B-0E8AA74B2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05367"/>
              </p:ext>
            </p:extLst>
          </p:nvPr>
        </p:nvGraphicFramePr>
        <p:xfrm>
          <a:off x="4600574" y="2966388"/>
          <a:ext cx="3228976" cy="32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10815045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push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rbp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0x0021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endParaRPr lang="ko-KR" altLang="en-US" sz="15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sub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4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edi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0x002A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esi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8270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[rbp-4],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494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0x002F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mov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eax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[rbp-4]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944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0x0032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add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rsp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, 4 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87156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0x0036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pop </a:t>
                      </a:r>
                      <a:r>
                        <a:rPr lang="en-US" altLang="ko-KR" sz="1500" b="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rbp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endParaRPr lang="ko-KR" altLang="en-US" sz="15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1643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0x0037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cs typeface="Calibri" panose="020F0502020204030204" pitchFamily="34" charset="0"/>
                        </a:rPr>
                        <a:t>ret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719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C939432-0D4A-2774-EAAE-E37FAAA6AD9E}"/>
              </a:ext>
            </a:extLst>
          </p:cNvPr>
          <p:cNvSpPr txBox="1"/>
          <p:nvPr/>
        </p:nvSpPr>
        <p:spPr>
          <a:xfrm rot="16200000">
            <a:off x="2797355" y="4626079"/>
            <a:ext cx="131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Main’s Frame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21CBE6-0377-739C-F5B3-C26ED1B866FF}"/>
              </a:ext>
            </a:extLst>
          </p:cNvPr>
          <p:cNvSpPr/>
          <p:nvPr/>
        </p:nvSpPr>
        <p:spPr>
          <a:xfrm>
            <a:off x="10429875" y="4340615"/>
            <a:ext cx="1688332" cy="27901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A813FAF-FE0B-809F-09F0-1FCBA273919F}"/>
              </a:ext>
            </a:extLst>
          </p:cNvPr>
          <p:cNvCxnSpPr>
            <a:cxnSpLocks/>
          </p:cNvCxnSpPr>
          <p:nvPr/>
        </p:nvCxnSpPr>
        <p:spPr>
          <a:xfrm flipV="1">
            <a:off x="2274809" y="2533650"/>
            <a:ext cx="2201941" cy="9717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9433F2-7579-D220-B93A-34736FC6DC0E}"/>
              </a:ext>
            </a:extLst>
          </p:cNvPr>
          <p:cNvSpPr txBox="1"/>
          <p:nvPr/>
        </p:nvSpPr>
        <p:spPr>
          <a:xfrm rot="20178181" flipH="1">
            <a:off x="2967302" y="2686969"/>
            <a:ext cx="658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Jump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424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4613-493E-27E2-BE35-E690E638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BFABC-17CD-C0D8-6BBC-ACA70023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</a:t>
            </a:r>
            <a:endParaRPr lang="ko-KR" alt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8597DF-6C90-3BC5-8B5B-7EDA36EF812E}"/>
              </a:ext>
            </a:extLst>
          </p:cNvPr>
          <p:cNvCxnSpPr>
            <a:cxnSpLocks/>
          </p:cNvCxnSpPr>
          <p:nvPr/>
        </p:nvCxnSpPr>
        <p:spPr>
          <a:xfrm>
            <a:off x="328059" y="958209"/>
            <a:ext cx="2910441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640FA9-9D54-CFC5-C9C0-8578C476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738D4-874A-40C5-B2E1-E01AD62A48A5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166FB-94CF-CBF4-1692-E2927052868D}"/>
              </a:ext>
            </a:extLst>
          </p:cNvPr>
          <p:cNvSpPr txBox="1"/>
          <p:nvPr/>
        </p:nvSpPr>
        <p:spPr>
          <a:xfrm>
            <a:off x="328059" y="1053476"/>
            <a:ext cx="11183126" cy="4907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3000"/>
              </a:lnSpc>
              <a:buFont typeface="Wingdings" panose="05000000000000000000" pitchFamily="2" charset="2"/>
              <a:buChar char="v"/>
            </a:pPr>
            <a:r>
              <a:rPr lang="en-US" altLang="ko-KR" sz="2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x86 executes a program in assembly</a:t>
            </a:r>
          </a:p>
          <a:p>
            <a:pPr>
              <a:lnSpc>
                <a:spcPct val="113000"/>
              </a:lnSpc>
            </a:pP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x86 architecture</a:t>
            </a:r>
          </a:p>
          <a:p>
            <a:pPr marL="342900" indent="-342900">
              <a:lnSpc>
                <a:spcPct val="113000"/>
              </a:lnSpc>
              <a:buFont typeface="+mj-lt"/>
              <a:buAutoNum type="arabicPeriod"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+mj-lt"/>
              <a:buAutoNum type="arabicPeriod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mov, lea,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nop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conditionals, branching..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+mj-lt"/>
              <a:buAutoNum type="arabicPeriod" startAt="3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Registers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storage for values, addresses, counters, and return values.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3000"/>
              </a:lnSpc>
              <a:buFont typeface="+mj-lt"/>
              <a:buAutoNum type="arabicPeriod" startAt="4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assembly functions work using stack.</a:t>
            </a:r>
          </a:p>
          <a:p>
            <a:pPr marL="742950" lvl="1" indent="-285750">
              <a:lnSpc>
                <a:spcPct val="113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functions are executed by storing data in the stack and running instructions step by step.</a:t>
            </a:r>
          </a:p>
        </p:txBody>
      </p:sp>
    </p:spTree>
    <p:extLst>
      <p:ext uri="{BB962C8B-B14F-4D97-AF65-F5344CB8AC3E}">
        <p14:creationId xmlns:p14="http://schemas.microsoft.com/office/powerpoint/2010/main" val="148540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</TotalTime>
  <Words>1518</Words>
  <Application>Microsoft Office PowerPoint</Application>
  <PresentationFormat>와이드스크린</PresentationFormat>
  <Paragraphs>530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Noto Sans KR Medium</vt:lpstr>
      <vt:lpstr>맑은 고딕</vt:lpstr>
      <vt:lpstr>Arial</vt:lpstr>
      <vt:lpstr>Calibri</vt:lpstr>
      <vt:lpstr>Calibri Light</vt:lpstr>
      <vt:lpstr>Cambria</vt:lpstr>
      <vt:lpstr>Cambria Math</vt:lpstr>
      <vt:lpstr>Wingdings</vt:lpstr>
      <vt:lpstr>Office 테마</vt:lpstr>
      <vt:lpstr>PowerPoint 프레젠테이션</vt:lpstr>
      <vt:lpstr> Why Do We Need to Understand Disassembly?</vt:lpstr>
      <vt:lpstr> Level of Abstraction</vt:lpstr>
      <vt:lpstr> x86 Architecture</vt:lpstr>
      <vt:lpstr> Instructions</vt:lpstr>
      <vt:lpstr> Key Instructions</vt:lpstr>
      <vt:lpstr> Registers - small amount of data storage in CPU</vt:lpstr>
      <vt:lpstr> Conditionals &amp; Branching – changing execution flow based on flag values</vt:lpstr>
      <vt:lpstr> Stack - data structure in RAM</vt:lpstr>
      <vt:lpstr> Stack Frame</vt:lpstr>
      <vt:lpstr> Stack Frame</vt:lpstr>
      <vt:lpstr> Stack Frame</vt:lpstr>
      <vt:lpstr> Stack Frame</vt:lpstr>
      <vt:lpstr> Stack Frame</vt:lpstr>
      <vt:lpstr> Stack Frame</vt:lpstr>
      <vt:lpstr> Stack Frame</vt:lpstr>
      <vt:lpstr> Stack Frame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Yena Cho</dc:creator>
  <cp:lastModifiedBy>Yena Cho</cp:lastModifiedBy>
  <cp:revision>315</cp:revision>
  <dcterms:created xsi:type="dcterms:W3CDTF">2026-01-12T08:37:21Z</dcterms:created>
  <dcterms:modified xsi:type="dcterms:W3CDTF">2026-01-19T06:25:47Z</dcterms:modified>
</cp:coreProperties>
</file>