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1971" r:id="rId2"/>
    <p:sldId id="2035" r:id="rId3"/>
    <p:sldId id="2024" r:id="rId4"/>
    <p:sldId id="2027" r:id="rId5"/>
    <p:sldId id="2039" r:id="rId6"/>
    <p:sldId id="2042" r:id="rId7"/>
    <p:sldId id="2043" r:id="rId8"/>
    <p:sldId id="2040" r:id="rId9"/>
    <p:sldId id="2041" r:id="rId10"/>
    <p:sldId id="2059" r:id="rId11"/>
    <p:sldId id="2028" r:id="rId12"/>
    <p:sldId id="2047" r:id="rId13"/>
    <p:sldId id="2048" r:id="rId14"/>
    <p:sldId id="2049" r:id="rId15"/>
    <p:sldId id="2030" r:id="rId16"/>
    <p:sldId id="2061" r:id="rId17"/>
    <p:sldId id="2062" r:id="rId18"/>
    <p:sldId id="2053" r:id="rId19"/>
    <p:sldId id="2054" r:id="rId20"/>
    <p:sldId id="2050" r:id="rId21"/>
    <p:sldId id="2051" r:id="rId22"/>
    <p:sldId id="2052" r:id="rId23"/>
    <p:sldId id="2031" r:id="rId24"/>
    <p:sldId id="2056" r:id="rId25"/>
    <p:sldId id="2057" r:id="rId26"/>
    <p:sldId id="2055" r:id="rId27"/>
    <p:sldId id="2032" r:id="rId28"/>
    <p:sldId id="2036" r:id="rId29"/>
    <p:sldId id="2033" r:id="rId30"/>
    <p:sldId id="2060" r:id="rId31"/>
    <p:sldId id="2037" r:id="rId32"/>
  </p:sldIdLst>
  <p:sldSz cx="12192000" cy="6858000"/>
  <p:notesSz cx="9939338" cy="6805613"/>
  <p:custDataLst>
    <p:tags r:id="rId3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5" userDrawn="1">
          <p15:clr>
            <a:srgbClr val="A4A3A4"/>
          </p15:clr>
        </p15:guide>
        <p15:guide id="2" orient="horz" pos="3058" userDrawn="1">
          <p15:clr>
            <a:srgbClr val="A4A3A4"/>
          </p15:clr>
        </p15:guide>
        <p15:guide id="3" orient="horz" pos="4032" userDrawn="1">
          <p15:clr>
            <a:srgbClr val="A4A3A4"/>
          </p15:clr>
        </p15:guide>
        <p15:guide id="4" orient="horz" pos="3611" userDrawn="1">
          <p15:clr>
            <a:srgbClr val="A4A3A4"/>
          </p15:clr>
        </p15:guide>
        <p15:guide id="5" orient="horz" pos="1025" userDrawn="1">
          <p15:clr>
            <a:srgbClr val="A4A3A4"/>
          </p15:clr>
        </p15:guide>
        <p15:guide id="6" pos="1601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C8080"/>
    <a:srgbClr val="FF0000"/>
    <a:srgbClr val="FFFFFF"/>
    <a:srgbClr val="404040"/>
    <a:srgbClr val="C00000"/>
    <a:srgbClr val="F57A17"/>
    <a:srgbClr val="F2F2F2"/>
    <a:srgbClr val="F2DCDB"/>
    <a:srgbClr val="FFF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1" autoAdjust="0"/>
    <p:restoredTop sz="87831" autoAdjust="0"/>
  </p:normalViewPr>
  <p:slideViewPr>
    <p:cSldViewPr snapToGrid="0" showGuides="1">
      <p:cViewPr varScale="1">
        <p:scale>
          <a:sx n="64" d="100"/>
          <a:sy n="64" d="100"/>
        </p:scale>
        <p:origin x="192" y="72"/>
      </p:cViewPr>
      <p:guideLst>
        <p:guide orient="horz" pos="1845"/>
        <p:guide orient="horz" pos="3058"/>
        <p:guide orient="horz" pos="4032"/>
        <p:guide orient="horz" pos="3611"/>
        <p:guide orient="horz" pos="1025"/>
        <p:guide pos="160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10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9993" y="1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/>
          <a:lstStyle>
            <a:lvl1pPr algn="r">
              <a:defRPr sz="1300"/>
            </a:lvl1pPr>
          </a:lstStyle>
          <a:p>
            <a:fld id="{CA9481DB-C454-F848-85FD-7531C4681FA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64152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9993" y="6464152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 anchor="b"/>
          <a:lstStyle>
            <a:lvl1pPr algn="r">
              <a:defRPr sz="1300"/>
            </a:lvl1pPr>
          </a:lstStyle>
          <a:p>
            <a:fld id="{A2B6CA0A-0570-CA48-872A-06252E209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43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993" y="1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/>
          <a:lstStyle>
            <a:lvl1pPr algn="r">
              <a:defRPr sz="1300"/>
            </a:lvl1pPr>
          </a:lstStyle>
          <a:p>
            <a:fld id="{4915021A-BD82-6549-B6F0-C141B99A757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03513" y="511175"/>
            <a:ext cx="4532312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0" tIns="47840" rIns="95680" bIns="4784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935" y="3232666"/>
            <a:ext cx="7951470" cy="3062526"/>
          </a:xfrm>
          <a:prstGeom prst="rect">
            <a:avLst/>
          </a:prstGeom>
        </p:spPr>
        <p:txBody>
          <a:bodyPr vert="horz" lIns="95680" tIns="47840" rIns="95680" bIns="4784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4152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993" y="6464152"/>
            <a:ext cx="4307047" cy="340281"/>
          </a:xfrm>
          <a:prstGeom prst="rect">
            <a:avLst/>
          </a:prstGeom>
        </p:spPr>
        <p:txBody>
          <a:bodyPr vert="horz" lIns="95680" tIns="47840" rIns="95680" bIns="47840" rtlCol="0" anchor="b"/>
          <a:lstStyle>
            <a:lvl1pPr algn="r">
              <a:defRPr sz="1300"/>
            </a:lvl1pPr>
          </a:lstStyle>
          <a:p>
            <a:fld id="{B98F8F32-8FB8-B84B-82B3-E896E2106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60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6C01-C8FA-7A69-BFA4-69390721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3A2D60-8538-1792-3C25-9D4894430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03513" y="511175"/>
            <a:ext cx="4532312" cy="25511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0E2616-5057-E7C0-62A7-888887864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1277AB-720C-F4E9-E6F3-01C0D2C66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F8F32-8FB8-B84B-82B3-E896E2106C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02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Processor type = </a:t>
            </a:r>
            <a:r>
              <a:rPr lang="ko-KR" altLang="en-US" dirty="0"/>
              <a:t>이 파일의 기계어를 어떤 </a:t>
            </a:r>
            <a:r>
              <a:rPr lang="en-US" altLang="ko-KR" dirty="0"/>
              <a:t>CPU </a:t>
            </a:r>
            <a:r>
              <a:rPr lang="ko-KR" altLang="en-US" dirty="0"/>
              <a:t>아키텍처의 명령어로 해석할 것인가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F8F32-8FB8-B84B-82B3-E896E2106C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4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F8F32-8FB8-B84B-82B3-E896E2106C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5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(w/ 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23903"/>
            <a:ext cx="10363200" cy="1470025"/>
          </a:xfrm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anchor="ctr">
            <a:noAutofit/>
          </a:bodyPr>
          <a:lstStyle>
            <a:lvl1pPr marL="0" marR="0" indent="0" algn="ctr" defTabSz="4572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ＭＳ Ｐゴシック" pitchFamily="-112" charset="-128"/>
                <a:cs typeface="ＭＳ Ｐゴシック" pitchFamily="-112" charset="-128"/>
              </a:rPr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419008"/>
            <a:ext cx="8534400" cy="65366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kumimoji="0" lang="en-US" sz="22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ＭＳ Ｐゴシック" pitchFamily="-112" charset="-128"/>
                <a:cs typeface="ＭＳ Ｐゴシック" pitchFamily="-112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 err="1"/>
              <a:t>Clck</a:t>
            </a:r>
            <a:r>
              <a:rPr lang="en-US" dirty="0"/>
              <a:t> to add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787681" y="3638826"/>
            <a:ext cx="8605243" cy="117417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rgbClr val="999999"/>
                </a:solidFill>
              </a:defRPr>
            </a:lvl1pPr>
            <a:lvl2pPr marL="45720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200150" indent="0">
              <a:buFontTx/>
              <a:buNone/>
              <a:defRPr/>
            </a:lvl4pPr>
            <a:lvl5pPr marL="16002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BC161D79-2A43-46BF-AF13-907362A1D2A7}"/>
              </a:ext>
            </a:extLst>
          </p:cNvPr>
          <p:cNvSpPr txBox="1">
            <a:spLocks/>
          </p:cNvSpPr>
          <p:nvPr userDrawn="1"/>
        </p:nvSpPr>
        <p:spPr>
          <a:xfrm>
            <a:off x="914400" y="2130428"/>
            <a:ext cx="10363200" cy="1470025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Click to edit Master title style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36591FCE-977E-4E91-B1B8-6BD9706C6747}"/>
              </a:ext>
            </a:extLst>
          </p:cNvPr>
          <p:cNvSpPr txBox="1">
            <a:spLocks/>
          </p:cNvSpPr>
          <p:nvPr userDrawn="1"/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/>
              <a:t>Click to edit Master subtitle style</a:t>
            </a:r>
          </a:p>
        </p:txBody>
      </p:sp>
      <p:grpSp>
        <p:nvGrpSpPr>
          <p:cNvPr id="44" name="Group 12">
            <a:extLst>
              <a:ext uri="{FF2B5EF4-FFF2-40B4-BE49-F238E27FC236}">
                <a16:creationId xmlns:a16="http://schemas.microsoft.com/office/drawing/2014/main" id="{B96E34D5-8E92-4F58-B234-D2C45DC9918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479119" y="333378"/>
            <a:ext cx="3024716" cy="504825"/>
            <a:chOff x="3833" y="2010"/>
            <a:chExt cx="1860" cy="422"/>
          </a:xfrm>
        </p:grpSpPr>
        <p:sp>
          <p:nvSpPr>
            <p:cNvPr id="45" name="AutoShape 13">
              <a:extLst>
                <a:ext uri="{FF2B5EF4-FFF2-40B4-BE49-F238E27FC236}">
                  <a16:creationId xmlns:a16="http://schemas.microsoft.com/office/drawing/2014/main" id="{50316062-CF69-4849-95F6-EC6D378E2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016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6" name="AutoShape 14">
              <a:extLst>
                <a:ext uri="{FF2B5EF4-FFF2-40B4-BE49-F238E27FC236}">
                  <a16:creationId xmlns:a16="http://schemas.microsoft.com/office/drawing/2014/main" id="{20E1D986-B2C6-4CB7-9C37-CE0830B2B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2014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7" name="AutoShape 15">
              <a:extLst>
                <a:ext uri="{FF2B5EF4-FFF2-40B4-BE49-F238E27FC236}">
                  <a16:creationId xmlns:a16="http://schemas.microsoft.com/office/drawing/2014/main" id="{1C8C6B30-6B64-4EFC-B126-907C4F5F1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" y="2018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8" name="AutoShape 16">
              <a:extLst>
                <a:ext uri="{FF2B5EF4-FFF2-40B4-BE49-F238E27FC236}">
                  <a16:creationId xmlns:a16="http://schemas.microsoft.com/office/drawing/2014/main" id="{16ECA4A3-A377-4D80-9082-DBB3068D8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" y="2016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9" name="AutoShape 17">
              <a:extLst>
                <a:ext uri="{FF2B5EF4-FFF2-40B4-BE49-F238E27FC236}">
                  <a16:creationId xmlns:a16="http://schemas.microsoft.com/office/drawing/2014/main" id="{DC4A5C43-BFB8-4DF9-8FEA-97C118033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014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50" name="AutoShape 18">
              <a:extLst>
                <a:ext uri="{FF2B5EF4-FFF2-40B4-BE49-F238E27FC236}">
                  <a16:creationId xmlns:a16="http://schemas.microsoft.com/office/drawing/2014/main" id="{E7890FF2-C1D4-492B-975E-A2E6E0DF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" y="2012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51" name="AutoShape 19">
              <a:extLst>
                <a:ext uri="{FF2B5EF4-FFF2-40B4-BE49-F238E27FC236}">
                  <a16:creationId xmlns:a16="http://schemas.microsoft.com/office/drawing/2014/main" id="{8F378980-0056-4EA6-B616-1F0E400F0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5" y="2010"/>
              <a:ext cx="288" cy="414"/>
            </a:xfrm>
            <a:prstGeom prst="chevron">
              <a:avLst>
                <a:gd name="adj" fmla="val 25000"/>
              </a:avLst>
            </a:prstGeom>
            <a:solidFill>
              <a:srgbClr val="FFFFFF">
                <a:alpha val="100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</p:grpSp>
      <p:sp>
        <p:nvSpPr>
          <p:cNvPr id="52" name="Line 21">
            <a:extLst>
              <a:ext uri="{FF2B5EF4-FFF2-40B4-BE49-F238E27FC236}">
                <a16:creationId xmlns:a16="http://schemas.microsoft.com/office/drawing/2014/main" id="{9E6787FC-7093-4056-B4C4-959B85D64F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08050"/>
            <a:ext cx="121920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27783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23903"/>
            <a:ext cx="10363200" cy="1470025"/>
          </a:xfrm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anchor="ctr">
            <a:noAutofit/>
          </a:bodyPr>
          <a:lstStyle>
            <a:lvl1pPr marL="0" marR="0" indent="0" algn="ctr" defTabSz="4572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ts val="4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ＭＳ Ｐゴシック" pitchFamily="-112" charset="-128"/>
                <a:cs typeface="ＭＳ Ｐゴシック" pitchFamily="-112" charset="-128"/>
              </a:rPr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419008"/>
            <a:ext cx="8534400" cy="6536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kumimoji="0" lang="en-US" sz="22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ＭＳ Ｐゴシック" pitchFamily="-112" charset="-128"/>
                <a:cs typeface="ＭＳ Ｐゴシック" pitchFamily="-112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59265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line 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80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E67105-FD8F-CF8B-3913-6F8DE53CD7FE}"/>
              </a:ext>
            </a:extLst>
          </p:cNvPr>
          <p:cNvCxnSpPr>
            <a:cxnSpLocks/>
          </p:cNvCxnSpPr>
          <p:nvPr userDrawn="1"/>
        </p:nvCxnSpPr>
        <p:spPr>
          <a:xfrm>
            <a:off x="448971" y="885631"/>
            <a:ext cx="5424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98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, no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052163"/>
            <a:ext cx="10972800" cy="542852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  <a:lvl2pPr marL="339725" indent="-227013">
              <a:spcBef>
                <a:spcPts val="800"/>
              </a:spcBef>
              <a:buFont typeface="Arial"/>
              <a:buChar char="•"/>
              <a:defRPr>
                <a:solidFill>
                  <a:srgbClr val="404040"/>
                </a:solidFill>
              </a:defRPr>
            </a:lvl2pPr>
            <a:lvl3pPr marL="687388" indent="-227013">
              <a:buFont typeface="Lucida Grande"/>
              <a:buChar char="−"/>
              <a:defRPr>
                <a:solidFill>
                  <a:srgbClr val="404040"/>
                </a:solidFill>
              </a:defRPr>
            </a:lvl3pPr>
            <a:lvl4pPr marL="974725" indent="-174625">
              <a:buFont typeface="Arial"/>
              <a:buChar char="•"/>
              <a:defRPr>
                <a:solidFill>
                  <a:srgbClr val="404040"/>
                </a:solidFill>
              </a:defRPr>
            </a:lvl4pPr>
            <a:lvl5pPr marL="1539875" indent="-165100">
              <a:defRPr>
                <a:solidFill>
                  <a:srgbClr val="40404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852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s 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54520" y="-5291"/>
            <a:ext cx="11880849" cy="1601072"/>
          </a:xfrm>
        </p:spPr>
        <p:txBody>
          <a:bodyPr/>
          <a:lstStyle>
            <a:lvl1pPr>
              <a:lnSpc>
                <a:spcPts val="4400"/>
              </a:lnSpc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7151"/>
            <a:ext cx="10972800" cy="4813809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0512" y="6582709"/>
            <a:ext cx="2844800" cy="266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3D679-57E1-CE45-BC1C-B0838CBB0D09}" type="slidenum">
              <a:rPr lang="en-US" smtClean="0"/>
              <a:t>‹#›</a:t>
            </a:fld>
            <a:r>
              <a:rPr lang="en-US" dirty="0"/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6503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s, no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8189"/>
            <a:ext cx="10972800" cy="48138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  <a:lvl2pPr marL="339725" indent="-227013">
              <a:spcBef>
                <a:spcPts val="800"/>
              </a:spcBef>
              <a:buFont typeface="Arial"/>
              <a:buChar char="•"/>
              <a:defRPr>
                <a:solidFill>
                  <a:srgbClr val="404040"/>
                </a:solidFill>
              </a:defRPr>
            </a:lvl2pPr>
            <a:lvl3pPr marL="687388" indent="-227013">
              <a:buFont typeface="Lucida Grande"/>
              <a:buChar char="−"/>
              <a:defRPr>
                <a:solidFill>
                  <a:srgbClr val="404040"/>
                </a:solidFill>
              </a:defRPr>
            </a:lvl3pPr>
            <a:lvl4pPr marL="974725" indent="-174625">
              <a:buFont typeface="Arial"/>
              <a:buChar char="•"/>
              <a:defRPr>
                <a:solidFill>
                  <a:srgbClr val="404040"/>
                </a:solidFill>
              </a:defRPr>
            </a:lvl4pPr>
            <a:lvl5pPr marL="1539875" indent="-165100">
              <a:defRPr>
                <a:solidFill>
                  <a:srgbClr val="40404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54520" y="-5291"/>
            <a:ext cx="11880849" cy="1601072"/>
          </a:xfrm>
        </p:spPr>
        <p:txBody>
          <a:bodyPr/>
          <a:lstStyle>
            <a:lvl1pPr>
              <a:lnSpc>
                <a:spcPts val="4400"/>
              </a:lnSpc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0512" y="6590903"/>
            <a:ext cx="2844800" cy="266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3D679-57E1-CE45-BC1C-B0838CBB0D09}" type="slidenum">
              <a:rPr lang="en-US" smtClean="0"/>
              <a:t>‹#›</a:t>
            </a:fld>
            <a:r>
              <a:rPr lang="en-US" dirty="0"/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239967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872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650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4826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0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24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8971" y="3"/>
            <a:ext cx="11586396" cy="987425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5216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697179" y="6591960"/>
            <a:ext cx="2844800" cy="266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83D679-57E1-CE45-BC1C-B0838CBB0D09}" type="slidenum">
              <a:rPr lang="en-US" sz="1200" smtClean="0"/>
              <a:pPr/>
              <a:t>‹#›</a:t>
            </a:fld>
            <a:endParaRPr lang="en-US" sz="1200" dirty="0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6092C91-F473-2CB0-376C-905BF5B7AC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0" t="27475" r="33250" b="54482"/>
          <a:stretch/>
        </p:blipFill>
        <p:spPr>
          <a:xfrm>
            <a:off x="95339" y="6601008"/>
            <a:ext cx="1074420" cy="247943"/>
          </a:xfrm>
          <a:prstGeom prst="rect">
            <a:avLst/>
          </a:prstGeom>
        </p:spPr>
      </p:pic>
      <p:pic>
        <p:nvPicPr>
          <p:cNvPr id="7" name="그림 6" descr="텍스트, 폰트, 그래픽, 포스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D01178-9CEB-695D-CD6B-A8C28468F6A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431323" y="6200951"/>
            <a:ext cx="745563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9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8" r:id="rId4"/>
    <p:sldLayoutId id="2147483657" r:id="rId5"/>
    <p:sldLayoutId id="2147483659" r:id="rId6"/>
    <p:sldLayoutId id="2147483651" r:id="rId7"/>
    <p:sldLayoutId id="2147483652" r:id="rId8"/>
    <p:sldLayoutId id="2147483653" r:id="rId9"/>
    <p:sldLayoutId id="2147483654" r:id="rId10"/>
    <p:sldLayoutId id="2147483655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30188" algn="just" defTabSz="457200" rtl="0" eaLnBrk="1" latinLnBrk="0" hangingPunct="1">
        <a:spcBef>
          <a:spcPts val="600"/>
        </a:spcBef>
        <a:buFont typeface="Arial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0188" algn="just" defTabSz="457200" rtl="0" eaLnBrk="1" latinLnBrk="0" hangingPunct="1">
        <a:spcBef>
          <a:spcPts val="600"/>
        </a:spcBef>
        <a:buFont typeface="Arial"/>
        <a:buChar char="–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974725" indent="-174625" algn="just" defTabSz="457200" rtl="0" eaLnBrk="1" latinLnBrk="0" hangingPunct="1">
        <a:spcBef>
          <a:spcPts val="600"/>
        </a:spcBef>
        <a:buFont typeface="Arial"/>
        <a:buChar char="•"/>
        <a:defRPr sz="1800" kern="1200">
          <a:solidFill>
            <a:srgbClr val="404040"/>
          </a:solidFill>
          <a:latin typeface="+mn-lt"/>
          <a:ea typeface="+mn-ea"/>
          <a:cs typeface="+mn-cs"/>
        </a:defRPr>
      </a:lvl3pPr>
      <a:lvl4pPr marL="1374775" indent="-174625" algn="just" defTabSz="457200" rtl="0" eaLnBrk="1" latinLnBrk="0" hangingPunct="1">
        <a:spcBef>
          <a:spcPts val="600"/>
        </a:spcBef>
        <a:buFont typeface="Arial"/>
        <a:buChar char="–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774825" indent="-174625" algn="just" defTabSz="457200" rtl="0" eaLnBrk="1" latinLnBrk="0" hangingPunct="1">
        <a:spcBef>
          <a:spcPts val="600"/>
        </a:spcBef>
        <a:buFont typeface="Arial"/>
        <a:buChar char="»"/>
        <a:defRPr sz="16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F17E-9F01-C614-F08D-7E38820F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387500-027C-AF60-22AF-AE801993A352}"/>
              </a:ext>
            </a:extLst>
          </p:cNvPr>
          <p:cNvSpPr/>
          <p:nvPr/>
        </p:nvSpPr>
        <p:spPr>
          <a:xfrm>
            <a:off x="2424724" y="3530600"/>
            <a:ext cx="7342553" cy="965701"/>
          </a:xfrm>
          <a:prstGeom prst="rect">
            <a:avLst/>
          </a:prstGeom>
          <a:solidFill>
            <a:srgbClr val="F0F0F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2651A0-1F7A-5F85-4338-97C786165A61}"/>
              </a:ext>
            </a:extLst>
          </p:cNvPr>
          <p:cNvSpPr/>
          <p:nvPr/>
        </p:nvSpPr>
        <p:spPr>
          <a:xfrm>
            <a:off x="245824" y="840763"/>
            <a:ext cx="11700353" cy="2152031"/>
          </a:xfrm>
          <a:prstGeom prst="rect">
            <a:avLst/>
          </a:prstGeom>
          <a:solidFill>
            <a:srgbClr val="F0F0F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0D2F951B-0E28-6B59-92A5-C17F843E9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555" y="3430719"/>
            <a:ext cx="8378890" cy="1204351"/>
          </a:xfrm>
        </p:spPr>
        <p:txBody>
          <a:bodyPr anchor="ctr">
            <a:no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</a:rPr>
              <a:t>Chapter 5: IDA Pro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A1972C-DBFD-1D33-C4D0-38B112102EA2}"/>
              </a:ext>
            </a:extLst>
          </p:cNvPr>
          <p:cNvSpPr txBox="1">
            <a:spLocks/>
          </p:cNvSpPr>
          <p:nvPr/>
        </p:nvSpPr>
        <p:spPr>
          <a:xfrm>
            <a:off x="443523" y="840764"/>
            <a:ext cx="11304954" cy="215203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800" b="1" kern="0" dirty="0">
                <a:solidFill>
                  <a:srgbClr val="000000"/>
                </a:solidFill>
                <a:latin typeface="+mn-ea"/>
              </a:rPr>
              <a:t>Practical</a:t>
            </a:r>
            <a:r>
              <a:rPr lang="ko-KR" altLang="en-US" sz="4800" b="1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4800" b="1" kern="0" dirty="0">
                <a:solidFill>
                  <a:srgbClr val="000000"/>
                </a:solidFill>
                <a:latin typeface="+mn-ea"/>
              </a:rPr>
              <a:t>Malware</a:t>
            </a:r>
            <a:r>
              <a:rPr lang="ko-KR" altLang="en-US" sz="4800" b="1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4800" b="1" kern="0" dirty="0">
                <a:solidFill>
                  <a:srgbClr val="000000"/>
                </a:solidFill>
                <a:latin typeface="+mn-ea"/>
              </a:rPr>
              <a:t>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617524-93D0-221C-CFAF-BF159C9A7533}"/>
              </a:ext>
            </a:extLst>
          </p:cNvPr>
          <p:cNvSpPr txBox="1">
            <a:spLocks/>
          </p:cNvSpPr>
          <p:nvPr/>
        </p:nvSpPr>
        <p:spPr>
          <a:xfrm>
            <a:off x="1906555" y="5320305"/>
            <a:ext cx="8378890" cy="5607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spcBef>
                <a:spcPts val="600"/>
              </a:spcBef>
              <a:buFont typeface="Arial"/>
              <a:buNone/>
              <a:defRPr kumimoji="0" lang="en-US" sz="22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>
                    <a:tint val="75000"/>
                  </a:sysClr>
                </a:solidFill>
                <a:effectLst/>
                <a:uLnTx/>
                <a:uFillTx/>
                <a:latin typeface="Calibri"/>
                <a:ea typeface="ＭＳ Ｐゴシック" pitchFamily="-112" charset="-128"/>
                <a:cs typeface="ＭＳ Ｐゴシック" pitchFamily="-112" charset="-128"/>
              </a:defRPr>
            </a:lvl1pPr>
            <a:lvl2pPr marL="4572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6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i="1" dirty="0">
                <a:solidFill>
                  <a:srgbClr val="000090"/>
                </a:solidFill>
              </a:rPr>
              <a:t>2026/01/14</a:t>
            </a:r>
          </a:p>
          <a:p>
            <a:r>
              <a:rPr lang="en-US" altLang="ko-KR" sz="2400" b="1" i="1" dirty="0">
                <a:solidFill>
                  <a:srgbClr val="000090"/>
                </a:solidFill>
              </a:rPr>
              <a:t>Woojin Jeon</a:t>
            </a:r>
            <a:endParaRPr lang="en-US" altLang="ko-KR" sz="1400" b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12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CE48E-5DA4-C7AA-E417-F1345DCC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Interactive Disassembler Professional (IDA Pro)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C4F5E1-260A-B467-65E8-37C188EF9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Powerful disassembler and reverse engineering platform developed by Hex-Rays</a:t>
            </a:r>
          </a:p>
          <a:p>
            <a:pPr lvl="1"/>
            <a:r>
              <a:rPr lang="en-US" altLang="ko-KR" dirty="0"/>
              <a:t>Malware analysis, vulnerability research, reverse engineering, firmware analysis</a:t>
            </a:r>
          </a:p>
          <a:p>
            <a:endParaRPr lang="en-US" altLang="ko-KR" dirty="0"/>
          </a:p>
          <a:p>
            <a:r>
              <a:rPr lang="en-US" altLang="ko-KR" dirty="0"/>
              <a:t>Interactive disassembler</a:t>
            </a:r>
          </a:p>
          <a:p>
            <a:pPr lvl="1"/>
            <a:r>
              <a:rPr lang="en-US" altLang="ko-KR" dirty="0"/>
              <a:t>Can add comments, label data, name functions, and save your analysis work</a:t>
            </a:r>
          </a:p>
          <a:p>
            <a:endParaRPr lang="en-US" altLang="ko-KR" dirty="0"/>
          </a:p>
          <a:p>
            <a:r>
              <a:rPr lang="en-US" altLang="ko-KR" dirty="0"/>
              <a:t>IDA Pro, IDA Home, IDA Free</a:t>
            </a:r>
            <a:endParaRPr lang="ko-KR" altLang="en-US" dirty="0"/>
          </a:p>
        </p:txBody>
      </p:sp>
      <p:pic>
        <p:nvPicPr>
          <p:cNvPr id="5" name="그림 4" descr="텍스트, 전자제품, 인간의 얼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55FF6-5624-9BF3-3E49-35479EB1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488" y="3439486"/>
            <a:ext cx="4341145" cy="325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9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131FC-4614-96F2-A7A4-0DC8F13C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Loading an Executable</a:t>
            </a:r>
            <a:endParaRPr lang="ko-KR" altLang="en-US" dirty="0"/>
          </a:p>
        </p:txBody>
      </p:sp>
      <p:pic>
        <p:nvPicPr>
          <p:cNvPr id="5" name="그림 4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1A4B21-2F3A-E1B2-2AE3-7CE043E6A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58" y="1240746"/>
            <a:ext cx="5768884" cy="49150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B8E430-32CC-FF99-BDF8-627A27554A95}"/>
              </a:ext>
            </a:extLst>
          </p:cNvPr>
          <p:cNvSpPr txBox="1"/>
          <p:nvPr/>
        </p:nvSpPr>
        <p:spPr>
          <a:xfrm>
            <a:off x="1274164" y="1813811"/>
            <a:ext cx="1304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File</a:t>
            </a:r>
            <a:r>
              <a:rPr lang="ko-KR" altLang="en-US" b="1" dirty="0"/>
              <a:t> </a:t>
            </a:r>
            <a:r>
              <a:rPr lang="en-US" altLang="ko-KR" b="1" dirty="0"/>
              <a:t>format:</a:t>
            </a:r>
            <a:r>
              <a:rPr lang="ko-KR" altLang="en-US" b="1" dirty="0"/>
              <a:t> </a:t>
            </a:r>
            <a:r>
              <a:rPr lang="en-US" altLang="ko-KR" dirty="0"/>
              <a:t>PE</a:t>
            </a:r>
            <a:r>
              <a:rPr lang="ko-KR" altLang="en-US" dirty="0"/>
              <a:t> </a:t>
            </a:r>
            <a:r>
              <a:rPr lang="en-US" altLang="ko-KR" dirty="0"/>
              <a:t>format</a:t>
            </a:r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483F5B3-5EEA-6802-3188-45536FCB0637}"/>
              </a:ext>
            </a:extLst>
          </p:cNvPr>
          <p:cNvCxnSpPr>
            <a:cxnSpLocks/>
          </p:cNvCxnSpPr>
          <p:nvPr/>
        </p:nvCxnSpPr>
        <p:spPr>
          <a:xfrm flipV="1">
            <a:off x="2497693" y="2008683"/>
            <a:ext cx="79448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20F043-C1E0-ADE0-2C5B-E8CE07FC88AA}"/>
              </a:ext>
            </a:extLst>
          </p:cNvPr>
          <p:cNvSpPr txBox="1"/>
          <p:nvPr/>
        </p:nvSpPr>
        <p:spPr>
          <a:xfrm>
            <a:off x="1318132" y="3436427"/>
            <a:ext cx="1619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Recommended processor type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2011B58-033F-FB15-E146-BBD21BF6E6E2}"/>
              </a:ext>
            </a:extLst>
          </p:cNvPr>
          <p:cNvCxnSpPr>
            <a:cxnSpLocks/>
          </p:cNvCxnSpPr>
          <p:nvPr/>
        </p:nvCxnSpPr>
        <p:spPr>
          <a:xfrm flipV="1">
            <a:off x="2947398" y="3627620"/>
            <a:ext cx="79448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A446D4-182F-DD36-0F7B-A2E978951BEC}"/>
              </a:ext>
            </a:extLst>
          </p:cNvPr>
          <p:cNvSpPr txBox="1"/>
          <p:nvPr/>
        </p:nvSpPr>
        <p:spPr>
          <a:xfrm>
            <a:off x="8995432" y="2013467"/>
            <a:ext cx="3196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Choose if you want disassemble the file as a raw binary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1B855E2-8EFF-ACA4-8404-3911B5052B64}"/>
              </a:ext>
            </a:extLst>
          </p:cNvPr>
          <p:cNvCxnSpPr>
            <a:cxnSpLocks/>
          </p:cNvCxnSpPr>
          <p:nvPr/>
        </p:nvCxnSpPr>
        <p:spPr>
          <a:xfrm flipH="1">
            <a:off x="4197246" y="2220300"/>
            <a:ext cx="478319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188AE4-ED0B-659A-37BA-C827443ED023}"/>
              </a:ext>
            </a:extLst>
          </p:cNvPr>
          <p:cNvSpPr/>
          <p:nvPr/>
        </p:nvSpPr>
        <p:spPr>
          <a:xfrm>
            <a:off x="7982172" y="1642671"/>
            <a:ext cx="756000" cy="21020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21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B208-1F42-55EB-AE59-4E3FE3E0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A0979-1E7D-167B-CD0A-4C178978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IDA Pro Interface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61BCF4B-1DC4-6D70-ADD1-0F6B6509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Switch mode with space bar</a:t>
            </a:r>
            <a:endParaRPr lang="ko-KR" altLang="en-US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8EC7D0-8425-4ED8-3AEA-18AB9B93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069" y="1690145"/>
            <a:ext cx="8062312" cy="4833922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57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F9CD0-EDA2-82E7-5CC9-BDC43D09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2D71D-9F06-7189-2C7C-2B70330F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IDA Pro Interface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70F5CBC-2EEE-90E8-226E-581F2260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Switch mode with space bar</a:t>
            </a:r>
            <a:endParaRPr lang="ko-KR" altLang="en-US" dirty="0"/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4CA07F-A46E-E359-D270-D8E132C05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51" y="2741388"/>
            <a:ext cx="5582015" cy="2145401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 descr="텍스트, 소프트웨어, 디스플레이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55EC0C-A85D-1B92-33B9-AD48B88B9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34" y="2444634"/>
            <a:ext cx="5244662" cy="2587891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0FC8B1C-A023-D959-A278-2287AC9AEA4C}"/>
              </a:ext>
            </a:extLst>
          </p:cNvPr>
          <p:cNvSpPr/>
          <p:nvPr/>
        </p:nvSpPr>
        <p:spPr>
          <a:xfrm>
            <a:off x="5522187" y="3228325"/>
            <a:ext cx="810272" cy="401350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60CA7AA-2083-7BA7-CEAE-DB8DE1F5208F}"/>
              </a:ext>
            </a:extLst>
          </p:cNvPr>
          <p:cNvSpPr/>
          <p:nvPr/>
        </p:nvSpPr>
        <p:spPr>
          <a:xfrm rot="10800000">
            <a:off x="5522187" y="3738579"/>
            <a:ext cx="810272" cy="401350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17F00-AF0F-4083-0FAC-6B50609ED968}"/>
              </a:ext>
            </a:extLst>
          </p:cNvPr>
          <p:cNvSpPr txBox="1"/>
          <p:nvPr/>
        </p:nvSpPr>
        <p:spPr>
          <a:xfrm>
            <a:off x="1979823" y="5049730"/>
            <a:ext cx="1598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Graph Mode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C2786-D4B8-B5C3-240A-9A972810477E}"/>
              </a:ext>
            </a:extLst>
          </p:cNvPr>
          <p:cNvSpPr txBox="1"/>
          <p:nvPr/>
        </p:nvSpPr>
        <p:spPr>
          <a:xfrm>
            <a:off x="8445216" y="4906596"/>
            <a:ext cx="1598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Text Mode</a:t>
            </a:r>
          </a:p>
        </p:txBody>
      </p:sp>
    </p:spTree>
    <p:extLst>
      <p:ext uri="{BB962C8B-B14F-4D97-AF65-F5344CB8AC3E}">
        <p14:creationId xmlns:p14="http://schemas.microsoft.com/office/powerpoint/2010/main" val="87959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727D-E093-04AD-0828-BC4EB588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DBF43-E774-3547-7E5D-6148ED9D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IDA Pro Interface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5BA17EC-906C-BA5F-24C6-F36DFE14D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Graph Mode</a:t>
            </a:r>
          </a:p>
          <a:p>
            <a:pPr lvl="1"/>
            <a:r>
              <a:rPr lang="en-US" altLang="ko-KR" b="1" dirty="0"/>
              <a:t>Arrow</a:t>
            </a:r>
          </a:p>
          <a:p>
            <a:pPr lvl="2"/>
            <a:r>
              <a:rPr lang="en-US" altLang="ko-KR" b="1" dirty="0"/>
              <a:t>Red: </a:t>
            </a:r>
            <a:r>
              <a:rPr lang="en-US" altLang="ko-KR" dirty="0"/>
              <a:t>Conditional jump – False branch</a:t>
            </a:r>
          </a:p>
          <a:p>
            <a:pPr lvl="2"/>
            <a:r>
              <a:rPr lang="en-US" altLang="ko-KR" b="1" dirty="0"/>
              <a:t>Green: </a:t>
            </a:r>
            <a:r>
              <a:rPr lang="en-US" altLang="ko-KR" dirty="0"/>
              <a:t>Conditional jump – True branch </a:t>
            </a:r>
          </a:p>
          <a:p>
            <a:pPr lvl="2"/>
            <a:r>
              <a:rPr lang="en-US" altLang="ko-KR" b="1" dirty="0"/>
              <a:t>Blue: </a:t>
            </a:r>
            <a:r>
              <a:rPr lang="en-US" altLang="ko-KR" dirty="0"/>
              <a:t>Unconditional jump</a:t>
            </a:r>
          </a:p>
          <a:p>
            <a:pPr lvl="2"/>
            <a:r>
              <a:rPr lang="en-US" altLang="ko-KR" b="1" dirty="0"/>
              <a:t>Up: </a:t>
            </a:r>
            <a:r>
              <a:rPr lang="en-US" altLang="ko-KR" dirty="0"/>
              <a:t>Loop</a:t>
            </a:r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D6EC44-4C84-054E-52C4-5B785C18D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3" y="2754295"/>
            <a:ext cx="6002694" cy="3726392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324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8065-D1EE-8022-D429-1214D57B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4458C-740D-00DC-260F-7C048331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IDA Pro Interface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1478721-6C7B-C499-9685-600042988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Text Mode</a:t>
            </a:r>
          </a:p>
        </p:txBody>
      </p:sp>
      <p:pic>
        <p:nvPicPr>
          <p:cNvPr id="4" name="그림 3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BA6EA4-4A97-3C21-8516-C1B1FC24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06" y="2006234"/>
            <a:ext cx="7200900" cy="460057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BB0328-8882-16EB-8078-B3D600D4B571}"/>
              </a:ext>
            </a:extLst>
          </p:cNvPr>
          <p:cNvSpPr txBox="1"/>
          <p:nvPr/>
        </p:nvSpPr>
        <p:spPr>
          <a:xfrm>
            <a:off x="329698" y="3798691"/>
            <a:ext cx="35275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Solid: </a:t>
            </a:r>
            <a:r>
              <a:rPr lang="en-US" altLang="ko-KR" sz="2000" dirty="0"/>
              <a:t>Unconditional jump</a:t>
            </a:r>
          </a:p>
          <a:p>
            <a:r>
              <a:rPr lang="en-US" altLang="ko-KR" sz="2000" b="1" dirty="0"/>
              <a:t>Dashed: </a:t>
            </a:r>
            <a:r>
              <a:rPr lang="en-US" altLang="ko-KR" sz="2000" dirty="0"/>
              <a:t>Conditional jump</a:t>
            </a:r>
          </a:p>
          <a:p>
            <a:r>
              <a:rPr lang="en-US" altLang="ko-KR" sz="2000" b="1" dirty="0"/>
              <a:t>Up:</a:t>
            </a:r>
            <a:r>
              <a:rPr lang="en-US" altLang="ko-KR" sz="2000" dirty="0"/>
              <a:t> Loop 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7D677A3-37F8-16C9-9713-031071FE4FC4}"/>
              </a:ext>
            </a:extLst>
          </p:cNvPr>
          <p:cNvCxnSpPr>
            <a:cxnSpLocks/>
          </p:cNvCxnSpPr>
          <p:nvPr/>
        </p:nvCxnSpPr>
        <p:spPr>
          <a:xfrm>
            <a:off x="3217806" y="4268406"/>
            <a:ext cx="78663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F4C0A77-2206-570D-BC34-0410CBDCCBB5}"/>
              </a:ext>
            </a:extLst>
          </p:cNvPr>
          <p:cNvCxnSpPr>
            <a:cxnSpLocks/>
          </p:cNvCxnSpPr>
          <p:nvPr/>
        </p:nvCxnSpPr>
        <p:spPr>
          <a:xfrm>
            <a:off x="4750675" y="1679208"/>
            <a:ext cx="0" cy="3270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86E646-07BE-24F1-64AA-B34D17A0D13F}"/>
              </a:ext>
            </a:extLst>
          </p:cNvPr>
          <p:cNvSpPr txBox="1"/>
          <p:nvPr/>
        </p:nvSpPr>
        <p:spPr>
          <a:xfrm>
            <a:off x="4026023" y="1314454"/>
            <a:ext cx="1047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Section</a:t>
            </a:r>
            <a:endParaRPr lang="en-US" altLang="ko-KR" sz="2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0C200F7-772B-A70B-BD5B-0B00AAC0DBFB}"/>
              </a:ext>
            </a:extLst>
          </p:cNvPr>
          <p:cNvCxnSpPr>
            <a:cxnSpLocks/>
          </p:cNvCxnSpPr>
          <p:nvPr/>
        </p:nvCxnSpPr>
        <p:spPr>
          <a:xfrm>
            <a:off x="5213130" y="1679208"/>
            <a:ext cx="0" cy="3270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AE05C10-C1F2-D411-A35E-68E3CEED870C}"/>
              </a:ext>
            </a:extLst>
          </p:cNvPr>
          <p:cNvCxnSpPr>
            <a:cxnSpLocks/>
          </p:cNvCxnSpPr>
          <p:nvPr/>
        </p:nvCxnSpPr>
        <p:spPr>
          <a:xfrm>
            <a:off x="9764110" y="1679208"/>
            <a:ext cx="0" cy="7066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4FF8DF-E95F-EA39-BC33-C1637F33D63B}"/>
              </a:ext>
            </a:extLst>
          </p:cNvPr>
          <p:cNvSpPr txBox="1"/>
          <p:nvPr/>
        </p:nvSpPr>
        <p:spPr>
          <a:xfrm>
            <a:off x="5030578" y="1297439"/>
            <a:ext cx="1047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Address</a:t>
            </a:r>
            <a:endParaRPr lang="en-US" altLang="ko-KR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55CE0-08FB-9E7F-1251-33B144CC2DF4}"/>
              </a:ext>
            </a:extLst>
          </p:cNvPr>
          <p:cNvSpPr txBox="1"/>
          <p:nvPr/>
        </p:nvSpPr>
        <p:spPr>
          <a:xfrm>
            <a:off x="7959646" y="1279098"/>
            <a:ext cx="3853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Comment generated by IDA Pro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0460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F32C-7E23-2E2E-005F-023F2CCA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714F2-0B2E-1389-4C04-E64AC92E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IDA Pro Interface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9C89734-8BBA-FE84-0C1A-D94AA761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Options 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→ </a:t>
            </a:r>
            <a:r>
              <a:rPr lang="en-US" altLang="ko-KR" dirty="0"/>
              <a:t>General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082D1-E604-5D00-14C6-65B449181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" y="1692240"/>
            <a:ext cx="5048250" cy="471487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85CA4A-1388-B5C6-2C1F-FB21D97E8DA5}"/>
              </a:ext>
            </a:extLst>
          </p:cNvPr>
          <p:cNvSpPr/>
          <p:nvPr/>
        </p:nvSpPr>
        <p:spPr>
          <a:xfrm>
            <a:off x="2795752" y="2490951"/>
            <a:ext cx="1177159" cy="2102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 descr="텍스트, 소프트웨어, 디스플레이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CE26C-05D9-6A40-DE46-654428FE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63" y="659378"/>
            <a:ext cx="5244662" cy="2587891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5B88E0F-2C8E-0654-033D-A01A37FCAAFB}"/>
              </a:ext>
            </a:extLst>
          </p:cNvPr>
          <p:cNvSpPr/>
          <p:nvPr/>
        </p:nvSpPr>
        <p:spPr>
          <a:xfrm rot="5400000">
            <a:off x="8542123" y="3427101"/>
            <a:ext cx="554424" cy="40135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 descr="텍스트, 소프트웨어, 디스플레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C2B42B-78D9-AE97-FEE2-B4128CB30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004" y="4049677"/>
            <a:ext cx="5244662" cy="221326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279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F32C-7E23-2E2E-005F-023F2CCA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714F2-0B2E-1389-4C04-E64AC92E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IDA Pro Interface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9C89734-8BBA-FE84-0C1A-D94AA761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Options 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→ </a:t>
            </a:r>
            <a:r>
              <a:rPr lang="en-US" altLang="ko-KR" dirty="0"/>
              <a:t>General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082D1-E604-5D00-14C6-65B449181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" y="1692240"/>
            <a:ext cx="5048250" cy="47148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B4F3BB-ADDB-49FD-41F0-290AAFBD4836}"/>
              </a:ext>
            </a:extLst>
          </p:cNvPr>
          <p:cNvSpPr txBox="1"/>
          <p:nvPr/>
        </p:nvSpPr>
        <p:spPr>
          <a:xfrm>
            <a:off x="5309367" y="3460528"/>
            <a:ext cx="6462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586E657-63C9-3BB0-BFBD-6B59DEEB4EDB}"/>
              </a:ext>
            </a:extLst>
          </p:cNvPr>
          <p:cNvCxnSpPr>
            <a:cxnSpLocks/>
          </p:cNvCxnSpPr>
          <p:nvPr/>
        </p:nvCxnSpPr>
        <p:spPr>
          <a:xfrm flipH="1">
            <a:off x="5115076" y="3679826"/>
            <a:ext cx="39398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590946-F5BF-EF63-3572-A088FED87379}"/>
              </a:ext>
            </a:extLst>
          </p:cNvPr>
          <p:cNvSpPr/>
          <p:nvPr/>
        </p:nvSpPr>
        <p:spPr>
          <a:xfrm>
            <a:off x="2795752" y="3544969"/>
            <a:ext cx="2287794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CCAEB-4DB4-EE0C-66A2-F7799EF774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808"/>
          <a:stretch>
            <a:fillRect/>
          </a:stretch>
        </p:blipFill>
        <p:spPr>
          <a:xfrm>
            <a:off x="6859650" y="4200684"/>
            <a:ext cx="5048250" cy="213152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665D5-3AB5-C404-B1F2-927A282AA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521"/>
          <a:stretch>
            <a:fillRect/>
          </a:stretch>
        </p:blipFill>
        <p:spPr>
          <a:xfrm>
            <a:off x="6859650" y="1204688"/>
            <a:ext cx="3934169" cy="2145401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0ECE5CBB-94C5-0437-63FD-35FD64C12779}"/>
              </a:ext>
            </a:extLst>
          </p:cNvPr>
          <p:cNvSpPr/>
          <p:nvPr/>
        </p:nvSpPr>
        <p:spPr>
          <a:xfrm rot="5400000">
            <a:off x="8750197" y="3537065"/>
            <a:ext cx="554424" cy="40135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92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443E-1800-49ED-6246-5642F181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ECC11-FC9D-79B6-E19E-08639F8C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Windows for Analysis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1EF37-7BB7-010E-D779-AB800F6A4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Disassembly window</a:t>
            </a:r>
            <a:endParaRPr lang="ko-KR" altLang="en-US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88A084-1363-5540-32A8-2C282E50E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24" y="1727467"/>
            <a:ext cx="8062312" cy="4833922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46E801D-A7FA-4D60-E9A1-35844A70573A}"/>
              </a:ext>
            </a:extLst>
          </p:cNvPr>
          <p:cNvSpPr/>
          <p:nvPr/>
        </p:nvSpPr>
        <p:spPr>
          <a:xfrm>
            <a:off x="3542200" y="2201360"/>
            <a:ext cx="6471535" cy="343329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994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CA95-4C09-274E-4A4D-BE7E8454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F9BEB-2DC0-F6FB-0B0B-D8D4D07C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Windows for Analysis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D96BA-2A5C-5CD4-7826-D16FCCEEB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</a:rPr>
              <a:t>Functions</a:t>
            </a:r>
            <a:r>
              <a:rPr lang="en-US" altLang="ko-KR" dirty="0"/>
              <a:t>, Names, Strings, Imports, Exports, </a:t>
            </a:r>
            <a:r>
              <a:rPr lang="en-US" altLang="ko-KR" strike="sngStrike" dirty="0"/>
              <a:t>Structures</a:t>
            </a:r>
          </a:p>
          <a:p>
            <a:pPr lvl="1"/>
            <a:r>
              <a:rPr lang="en-US" altLang="ko-KR" dirty="0"/>
              <a:t>All functions, and their segment, length, and associated flags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FA0B30-7D69-8ADD-0B41-FA820FA5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716" y="2765997"/>
            <a:ext cx="9164568" cy="2309856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452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2A95-609E-9693-D104-B0146CCE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87739-6DA2-AFA7-76C8-569EB61A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Windows for Analysis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3FAD5-1948-2573-C2C4-4B9C78FAD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Functions, </a:t>
            </a:r>
            <a:r>
              <a:rPr lang="en-US" altLang="ko-KR" dirty="0">
                <a:solidFill>
                  <a:srgbClr val="C00000"/>
                </a:solidFill>
              </a:rPr>
              <a:t>Names</a:t>
            </a:r>
            <a:r>
              <a:rPr lang="en-US" altLang="ko-KR" dirty="0"/>
              <a:t>, Strings, Imports, Exports, </a:t>
            </a:r>
            <a:r>
              <a:rPr lang="en-US" altLang="ko-KR" strike="sngStrike" dirty="0"/>
              <a:t>Structures</a:t>
            </a:r>
          </a:p>
          <a:p>
            <a:pPr lvl="1"/>
            <a:r>
              <a:rPr lang="en-US" altLang="ko-KR" dirty="0"/>
              <a:t>Every address with a name</a:t>
            </a:r>
          </a:p>
          <a:p>
            <a:pPr lvl="1"/>
            <a:r>
              <a:rPr lang="en-US" altLang="ko-KR" dirty="0"/>
              <a:t>Functions, named code, named data, and strings</a:t>
            </a:r>
          </a:p>
          <a:p>
            <a:pPr lvl="1"/>
            <a:endParaRPr lang="ko-KR" altLang="en-US" dirty="0"/>
          </a:p>
        </p:txBody>
      </p:sp>
      <p:pic>
        <p:nvPicPr>
          <p:cNvPr id="6" name="그림 5" descr="텍스트, 소프트웨어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4D3173-7C3F-BE49-CD06-F904FA3A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972" y="2817505"/>
            <a:ext cx="7320056" cy="3068287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995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771C-146F-2351-53BB-A3D2A1E5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EFCE1-43B6-36FD-D845-266A4AD4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Windows for Analysis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7E0D34-4815-0F29-2471-5C493D740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Functions, Names, </a:t>
            </a:r>
            <a:r>
              <a:rPr lang="en-US" altLang="ko-KR" dirty="0">
                <a:solidFill>
                  <a:srgbClr val="C00000"/>
                </a:solidFill>
              </a:rPr>
              <a:t>Strings</a:t>
            </a:r>
            <a:r>
              <a:rPr lang="en-US" altLang="ko-KR" dirty="0"/>
              <a:t>, Imports, Exports, </a:t>
            </a:r>
            <a:r>
              <a:rPr lang="en-US" altLang="ko-KR" strike="sngStrike" dirty="0"/>
              <a:t>Structures</a:t>
            </a:r>
            <a:endParaRPr lang="ko-KR" altLang="en-US" strike="sngStrike" dirty="0"/>
          </a:p>
        </p:txBody>
      </p:sp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F54E19-6400-7589-C987-6BC889AA5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916" y="2363710"/>
            <a:ext cx="6488167" cy="380572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2448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827C-DE65-3ECD-BEF8-D1AF02F5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AC9A2-E613-CF69-CDD0-85AEBC88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Windows for Analysis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6645D-6FAD-A38F-E64A-5B5B4D732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Functions, Names, Strings, </a:t>
            </a:r>
            <a:r>
              <a:rPr lang="en-US" altLang="ko-KR" dirty="0">
                <a:solidFill>
                  <a:srgbClr val="C00000"/>
                </a:solidFill>
              </a:rPr>
              <a:t>Imports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C00000"/>
                </a:solidFill>
              </a:rPr>
              <a:t>Exports</a:t>
            </a:r>
            <a:r>
              <a:rPr lang="en-US" altLang="ko-KR" dirty="0"/>
              <a:t>, </a:t>
            </a:r>
            <a:r>
              <a:rPr lang="en-US" altLang="ko-KR" strike="sngStrike" dirty="0"/>
              <a:t>Structures</a:t>
            </a:r>
            <a:endParaRPr lang="ko-KR" altLang="en-US" strike="sngStrike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092F0-8560-13BF-14A5-B0C7EEB1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09" y="1830371"/>
            <a:ext cx="5924760" cy="2223096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91B029-C9AF-BC61-33E8-0ADEB2101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573" y="4162097"/>
            <a:ext cx="5728828" cy="2505627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75530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B447-FA3C-7429-0EE7-281B1D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813DC-2D8C-B8F9-F224-E9AC8169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3AB36-EAF6-BAEA-A84D-4942339F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>
            <a:normAutofit/>
          </a:bodyPr>
          <a:lstStyle/>
          <a:p>
            <a:r>
              <a:rPr lang="en-US" altLang="ko-KR" dirty="0"/>
              <a:t>Q1: What is the address of </a:t>
            </a:r>
            <a:r>
              <a:rPr lang="en-US" altLang="ko-KR" dirty="0" err="1">
                <a:solidFill>
                  <a:srgbClr val="C00000"/>
                </a:solidFill>
                <a:latin typeface="Consolas" panose="020B0609020204030204" pitchFamily="49" charset="0"/>
              </a:rPr>
              <a:t>DllMain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C9042D-6E2A-E443-131D-B4D9B3F71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618" y="1804052"/>
            <a:ext cx="7211431" cy="203863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6103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B447-FA3C-7429-0EE7-281B1D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813DC-2D8C-B8F9-F224-E9AC8169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3AB36-EAF6-BAEA-A84D-4942339F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>
            <a:normAutofit/>
          </a:bodyPr>
          <a:lstStyle/>
          <a:p>
            <a:r>
              <a:rPr lang="en-US" altLang="ko-KR" dirty="0"/>
              <a:t>Q2: Use the Imports window to browse to </a:t>
            </a:r>
            <a:r>
              <a:rPr lang="en-US" altLang="ko-KR" dirty="0" err="1">
                <a:solidFill>
                  <a:srgbClr val="C00000"/>
                </a:solidFill>
                <a:latin typeface="Consolas" panose="020B0609020204030204" pitchFamily="49" charset="0"/>
              </a:rPr>
              <a:t>gethostbyname</a:t>
            </a:r>
            <a:r>
              <a:rPr lang="en-US" altLang="ko-KR" dirty="0"/>
              <a:t>. Where is the import located?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FDE5E1-E726-4D45-9C07-1FA0FEB5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73614"/>
            <a:ext cx="5915851" cy="132416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5F4232-AD19-7D3E-55E6-BAC7E32BF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84" y="4851652"/>
            <a:ext cx="8176304" cy="1090909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F2E86F3-771C-A7A1-B883-4ACD6C2897BF}"/>
              </a:ext>
            </a:extLst>
          </p:cNvPr>
          <p:cNvCxnSpPr/>
          <p:nvPr/>
        </p:nvCxnSpPr>
        <p:spPr>
          <a:xfrm>
            <a:off x="3567525" y="3750906"/>
            <a:ext cx="1004475" cy="1004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9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B447-FA3C-7429-0EE7-281B1D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813DC-2D8C-B8F9-F224-E9AC8169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3AB36-EAF6-BAEA-A84D-4942339F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>
            <a:normAutofit/>
          </a:bodyPr>
          <a:lstStyle/>
          <a:p>
            <a:r>
              <a:rPr lang="en-US" altLang="ko-KR" dirty="0"/>
              <a:t>Q3: How many functions call </a:t>
            </a:r>
            <a:r>
              <a:rPr lang="en-US" altLang="ko-KR" dirty="0" err="1">
                <a:solidFill>
                  <a:srgbClr val="C00000"/>
                </a:solidFill>
                <a:latin typeface="Consolas" panose="020B0609020204030204" pitchFamily="49" charset="0"/>
              </a:rPr>
              <a:t>gethostbyname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9 times by 5 different functions</a:t>
            </a:r>
          </a:p>
          <a:p>
            <a:pPr lvl="2"/>
            <a:r>
              <a:rPr lang="en-US" altLang="ko-KR" dirty="0"/>
              <a:t>Some versions of IDA Pro double-count cross-references (p: reference because it is being called, r: read reference)</a:t>
            </a:r>
          </a:p>
        </p:txBody>
      </p:sp>
      <p:pic>
        <p:nvPicPr>
          <p:cNvPr id="7" name="그림 6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E306C1-C611-352B-8A1A-A46872EF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478" y="2471156"/>
            <a:ext cx="5323015" cy="432000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947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A894-7C2E-0C52-0D11-8E3BAF94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7772D-EE30-D8A9-71FF-8F159B44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Navigating IDA Pro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CBB8B-C60D-EF39-5122-54DCB7312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Links</a:t>
            </a:r>
          </a:p>
          <a:p>
            <a:pPr lvl="1"/>
            <a:r>
              <a:rPr lang="en-US" altLang="ko-KR" dirty="0"/>
              <a:t>Double-click the links in the disassembly window to display that location</a:t>
            </a:r>
          </a:p>
          <a:p>
            <a:pPr marL="457200" lvl="1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Sub links</a:t>
            </a:r>
            <a:r>
              <a:rPr lang="en-US" altLang="ko-KR" b="1" dirty="0"/>
              <a:t>:</a:t>
            </a:r>
            <a:r>
              <a:rPr lang="en-US" altLang="ko-KR" dirty="0"/>
              <a:t> the start of function </a:t>
            </a:r>
          </a:p>
          <a:p>
            <a:pPr marL="457200" lvl="1" indent="0"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Loc links</a:t>
            </a:r>
            <a:r>
              <a:rPr lang="en-US" altLang="ko-KR" b="1" dirty="0"/>
              <a:t>: </a:t>
            </a:r>
            <a:r>
              <a:rPr lang="en-US" altLang="ko-KR" dirty="0"/>
              <a:t>jump destinations</a:t>
            </a:r>
          </a:p>
          <a:p>
            <a:pPr marL="457200" lvl="1" indent="0">
              <a:buNone/>
            </a:pPr>
            <a:r>
              <a:rPr lang="en-US" altLang="ko-KR" b="1" dirty="0">
                <a:solidFill>
                  <a:srgbClr val="0C8080"/>
                </a:solidFill>
              </a:rPr>
              <a:t>Offset link</a:t>
            </a:r>
            <a:r>
              <a:rPr lang="en-US" altLang="ko-KR" b="1" dirty="0"/>
              <a:t>: </a:t>
            </a:r>
            <a:r>
              <a:rPr lang="en-US" altLang="ko-KR" dirty="0"/>
              <a:t>an offset in memory</a:t>
            </a:r>
          </a:p>
          <a:p>
            <a:pPr lvl="1"/>
            <a:endParaRPr lang="en-US" altLang="ko-KR" dirty="0"/>
          </a:p>
        </p:txBody>
      </p:sp>
      <p:pic>
        <p:nvPicPr>
          <p:cNvPr id="5" name="그림 4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11FA2E-253B-58B0-84D6-E678AC3F0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85" y="3624891"/>
            <a:ext cx="10219029" cy="285579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E2150F9-03B2-2869-B28A-C56BFCFC11AC}"/>
              </a:ext>
            </a:extLst>
          </p:cNvPr>
          <p:cNvSpPr/>
          <p:nvPr/>
        </p:nvSpPr>
        <p:spPr>
          <a:xfrm>
            <a:off x="3579524" y="5823712"/>
            <a:ext cx="684000" cy="252000"/>
          </a:xfrm>
          <a:prstGeom prst="rect">
            <a:avLst/>
          </a:prstGeom>
          <a:solidFill>
            <a:srgbClr val="FF0000">
              <a:alpha val="14902"/>
            </a:srgbClr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ACA337-AECE-D865-3582-BD7D132FB674}"/>
              </a:ext>
            </a:extLst>
          </p:cNvPr>
          <p:cNvSpPr/>
          <p:nvPr/>
        </p:nvSpPr>
        <p:spPr>
          <a:xfrm>
            <a:off x="3579524" y="6084514"/>
            <a:ext cx="1116000" cy="252000"/>
          </a:xfrm>
          <a:prstGeom prst="rect">
            <a:avLst/>
          </a:prstGeom>
          <a:solidFill>
            <a:srgbClr val="FF0000">
              <a:alpha val="14902"/>
            </a:srgbClr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B701C2-126A-A846-D29C-B6A12E5BD838}"/>
              </a:ext>
            </a:extLst>
          </p:cNvPr>
          <p:cNvSpPr/>
          <p:nvPr/>
        </p:nvSpPr>
        <p:spPr>
          <a:xfrm>
            <a:off x="4397066" y="3736384"/>
            <a:ext cx="1116000" cy="252000"/>
          </a:xfrm>
          <a:prstGeom prst="rect">
            <a:avLst/>
          </a:prstGeom>
          <a:solidFill>
            <a:srgbClr val="0000FF">
              <a:alpha val="14902"/>
            </a:srgbClr>
          </a:solidFill>
          <a:ln w="285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92C81B-7561-C312-08CA-CE2CE2F5DD38}"/>
              </a:ext>
            </a:extLst>
          </p:cNvPr>
          <p:cNvSpPr/>
          <p:nvPr/>
        </p:nvSpPr>
        <p:spPr>
          <a:xfrm>
            <a:off x="4397066" y="4786759"/>
            <a:ext cx="1116000" cy="252000"/>
          </a:xfrm>
          <a:prstGeom prst="rect">
            <a:avLst/>
          </a:prstGeom>
          <a:solidFill>
            <a:srgbClr val="0000FF">
              <a:alpha val="14902"/>
            </a:srgbClr>
          </a:solidFill>
          <a:ln w="285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A02EB1-FAB1-8B44-8327-063A60E53B9F}"/>
              </a:ext>
            </a:extLst>
          </p:cNvPr>
          <p:cNvSpPr/>
          <p:nvPr/>
        </p:nvSpPr>
        <p:spPr>
          <a:xfrm>
            <a:off x="6385524" y="5566228"/>
            <a:ext cx="1440000" cy="252000"/>
          </a:xfrm>
          <a:prstGeom prst="rect">
            <a:avLst/>
          </a:prstGeom>
          <a:solidFill>
            <a:schemeClr val="accent3">
              <a:lumMod val="75000"/>
              <a:alpha val="14902"/>
            </a:schemeClr>
          </a:solidFill>
          <a:ln w="28575">
            <a:solidFill>
              <a:srgbClr val="0C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145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D6CF-874C-3FC4-402B-3DB12822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86569-F157-F55E-CCA4-60A81B00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Navigating IDA Pro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A7B33-5E00-6482-0A41-E34CF3C8E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Exploring Your History</a:t>
            </a:r>
          </a:p>
          <a:p>
            <a:pPr lvl="1"/>
            <a:endParaRPr lang="en-US" altLang="ko-KR" dirty="0"/>
          </a:p>
        </p:txBody>
      </p:sp>
      <p:pic>
        <p:nvPicPr>
          <p:cNvPr id="9" name="그림 8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CF3F17-AE57-2DCB-3DD8-A25101651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798" y="2268311"/>
            <a:ext cx="5518081" cy="208915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8FC3FF-3BE8-250E-C34F-CD049F9C8AB1}"/>
              </a:ext>
            </a:extLst>
          </p:cNvPr>
          <p:cNvSpPr/>
          <p:nvPr/>
        </p:nvSpPr>
        <p:spPr>
          <a:xfrm>
            <a:off x="4833257" y="3207782"/>
            <a:ext cx="1524000" cy="536904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697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41A5-3B20-640F-0637-CC2F24E0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18BDD-63C1-DD43-217E-C96E4EC0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Navigating IDA Pro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284F36-EFE6-9C63-E821-E8E963042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Navigation Band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Library function</a:t>
            </a:r>
          </a:p>
          <a:p>
            <a:pPr lvl="1"/>
            <a:r>
              <a:rPr lang="en-US" altLang="ko-KR" dirty="0">
                <a:solidFill>
                  <a:srgbClr val="C00000"/>
                </a:solidFill>
              </a:rPr>
              <a:t>Regular function</a:t>
            </a:r>
          </a:p>
          <a:p>
            <a:pPr lvl="2"/>
            <a:r>
              <a:rPr lang="en-US" altLang="ko-KR" dirty="0"/>
              <a:t>User-written code</a:t>
            </a:r>
          </a:p>
          <a:p>
            <a:pPr lvl="2"/>
            <a:r>
              <a:rPr lang="en-US" altLang="ko-KR" dirty="0"/>
              <a:t>Should perform malware analysis in this region</a:t>
            </a:r>
          </a:p>
          <a:p>
            <a:pPr lvl="1"/>
            <a:r>
              <a:rPr lang="en-US" altLang="ko-KR" dirty="0"/>
              <a:t>Data</a:t>
            </a:r>
          </a:p>
          <a:p>
            <a:pPr lvl="1"/>
            <a:r>
              <a:rPr lang="en-US" altLang="ko-KR" dirty="0"/>
              <a:t>External symbol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E259CB-5DD5-FBD5-6C3B-83ED16CC8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1" y="1797816"/>
            <a:ext cx="1140598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25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A959C-F8E7-A096-55FF-0F0D8DB0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5CBEA-43F9-ECE0-6171-1E240B0E3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Navigating IDA Pro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FE389-D768-6D90-FC65-40202F463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Jump to Location</a:t>
            </a:r>
          </a:p>
          <a:p>
            <a:pPr lvl="1"/>
            <a:r>
              <a:rPr lang="en-US" altLang="ko-KR" dirty="0"/>
              <a:t>Press </a:t>
            </a:r>
            <a:r>
              <a:rPr lang="en-US" altLang="ko-KR" b="1" dirty="0"/>
              <a:t>G </a:t>
            </a:r>
            <a:r>
              <a:rPr lang="en-US" altLang="ko-KR" dirty="0"/>
              <a:t>and type address or named location 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B46258-4249-6F0F-7E94-932F9DB8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88" y="2329931"/>
            <a:ext cx="7784768" cy="397347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2767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DC7AC-0034-76DF-E8E2-02B0F1A0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C9FC0-78D7-8546-D5D2-FCBF0CD1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Navigating IDA Pro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DBBA9-E0AD-51C6-B5EE-64DBB8185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r>
              <a:rPr lang="en-US" altLang="ko-KR" dirty="0"/>
              <a:t>Searching</a:t>
            </a:r>
          </a:p>
          <a:p>
            <a:pPr lvl="1"/>
            <a:r>
              <a:rPr lang="en-US" altLang="ko-KR" b="1" dirty="0"/>
              <a:t>Search </a:t>
            </a:r>
            <a:r>
              <a:rPr lang="en-US" altLang="ko-KR" b="1" dirty="0">
                <a:latin typeface="Batang" panose="02030600000101010101" pitchFamily="18" charset="-127"/>
                <a:ea typeface="Batang" panose="02030600000101010101" pitchFamily="18" charset="-127"/>
              </a:rPr>
              <a:t>→ </a:t>
            </a:r>
            <a:r>
              <a:rPr lang="en-US" altLang="ko-KR" b="1" dirty="0"/>
              <a:t>Next Code</a:t>
            </a:r>
          </a:p>
          <a:p>
            <a:pPr lvl="2"/>
            <a:r>
              <a:rPr lang="en-US" altLang="ko-KR" dirty="0"/>
              <a:t>Move to the next location containing an instruction</a:t>
            </a:r>
          </a:p>
          <a:p>
            <a:pPr lvl="2"/>
            <a:r>
              <a:rPr lang="en-US" altLang="ko-KR" dirty="0"/>
              <a:t>In IDA Free, cannot specify target code</a:t>
            </a:r>
          </a:p>
          <a:p>
            <a:pPr lvl="1"/>
            <a:r>
              <a:rPr lang="en-US" altLang="ko-KR" b="1" dirty="0"/>
              <a:t>Search </a:t>
            </a:r>
            <a:r>
              <a:rPr lang="en-US" altLang="ko-KR" b="1" dirty="0">
                <a:latin typeface="Batang" panose="02030600000101010101" pitchFamily="18" charset="-127"/>
                <a:ea typeface="Batang" panose="02030600000101010101" pitchFamily="18" charset="-127"/>
              </a:rPr>
              <a:t>→ </a:t>
            </a:r>
            <a:r>
              <a:rPr lang="en-US" altLang="ko-KR" b="1" dirty="0"/>
              <a:t>Text</a:t>
            </a:r>
          </a:p>
          <a:p>
            <a:pPr lvl="2"/>
            <a:r>
              <a:rPr lang="en-US" altLang="ko-KR" dirty="0"/>
              <a:t>Search the entire disassembly window for a specific string</a:t>
            </a:r>
          </a:p>
          <a:p>
            <a:pPr lvl="1"/>
            <a:r>
              <a:rPr lang="en-US" altLang="ko-KR" b="1" dirty="0"/>
              <a:t>Search </a:t>
            </a:r>
            <a:r>
              <a:rPr lang="en-US" altLang="ko-KR" b="1" dirty="0">
                <a:latin typeface="Batang" panose="02030600000101010101" pitchFamily="18" charset="-127"/>
                <a:ea typeface="Batang" panose="02030600000101010101" pitchFamily="18" charset="-127"/>
              </a:rPr>
              <a:t>→ </a:t>
            </a:r>
            <a:r>
              <a:rPr lang="en-US" altLang="ko-KR" b="1" dirty="0"/>
              <a:t>Sequence of Bytes</a:t>
            </a:r>
          </a:p>
          <a:p>
            <a:pPr lvl="2"/>
            <a:r>
              <a:rPr lang="en-US" altLang="ko-KR" dirty="0"/>
              <a:t>Perform a binary search in the hex view window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488DEC-BD5E-D79B-1A94-97726EFC49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347"/>
          <a:stretch>
            <a:fillRect/>
          </a:stretch>
        </p:blipFill>
        <p:spPr>
          <a:xfrm>
            <a:off x="8606650" y="916213"/>
            <a:ext cx="3428717" cy="2933446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B658E9-595F-8DE3-7C90-B0B5D9CA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310" y="4340363"/>
            <a:ext cx="7799380" cy="2225367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088C5DE-92D7-8FB7-25AD-7C2B6C1CCB34}"/>
              </a:ext>
            </a:extLst>
          </p:cNvPr>
          <p:cNvSpPr/>
          <p:nvPr/>
        </p:nvSpPr>
        <p:spPr>
          <a:xfrm>
            <a:off x="8890430" y="1169620"/>
            <a:ext cx="788276" cy="214207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476B49-1A0A-8648-ABFF-971B7BC748A9}"/>
              </a:ext>
            </a:extLst>
          </p:cNvPr>
          <p:cNvSpPr/>
          <p:nvPr/>
        </p:nvSpPr>
        <p:spPr>
          <a:xfrm>
            <a:off x="8942980" y="2693620"/>
            <a:ext cx="483478" cy="214207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078FE7-7877-942A-C8CA-3E8747CB91E9}"/>
              </a:ext>
            </a:extLst>
          </p:cNvPr>
          <p:cNvSpPr/>
          <p:nvPr/>
        </p:nvSpPr>
        <p:spPr>
          <a:xfrm>
            <a:off x="8932472" y="3221764"/>
            <a:ext cx="1292772" cy="214207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55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77AE-554D-3E27-16F1-A862CCE0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B9E4-DF22-B6C3-0011-0D07E273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4DCBF5-D5B2-2A4C-B687-7566B1D2E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pPr marL="112712" indent="0">
              <a:buNone/>
            </a:pPr>
            <a:r>
              <a:rPr lang="en-US" altLang="ko-KR" dirty="0"/>
              <a:t>Where a function is called or where a string is used</a:t>
            </a:r>
          </a:p>
          <a:p>
            <a:pPr marL="112712" indent="0">
              <a:buNone/>
            </a:pPr>
            <a:endParaRPr lang="en-US" altLang="ko-KR" sz="1000" dirty="0"/>
          </a:p>
          <a:p>
            <a:r>
              <a:rPr lang="en-US" altLang="ko-KR" dirty="0"/>
              <a:t>Code Cross-References</a:t>
            </a:r>
          </a:p>
          <a:p>
            <a:pPr lvl="1"/>
            <a:r>
              <a:rPr lang="en-US" altLang="ko-KR" dirty="0"/>
              <a:t>❶: The function </a:t>
            </a:r>
            <a:r>
              <a:rPr lang="en-US" altLang="ko-KR" i="1" dirty="0"/>
              <a:t>sub_401000</a:t>
            </a:r>
            <a:r>
              <a:rPr lang="en-US" altLang="ko-KR" dirty="0"/>
              <a:t> is called at offset 0x3 into the main function</a:t>
            </a:r>
          </a:p>
          <a:p>
            <a:pPr lvl="1"/>
            <a:r>
              <a:rPr lang="en-US" altLang="ko-KR" dirty="0"/>
              <a:t>❷: which jump (❸) takes us to this location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84D3BCF-1EF9-E290-FCC1-AA15F1263B63}"/>
              </a:ext>
            </a:extLst>
          </p:cNvPr>
          <p:cNvGrpSpPr/>
          <p:nvPr/>
        </p:nvGrpSpPr>
        <p:grpSpPr>
          <a:xfrm>
            <a:off x="1492970" y="3251139"/>
            <a:ext cx="9206060" cy="3374688"/>
            <a:chOff x="2000250" y="2514739"/>
            <a:chExt cx="9206060" cy="3374688"/>
          </a:xfrm>
        </p:grpSpPr>
        <p:pic>
          <p:nvPicPr>
            <p:cNvPr id="5" name="그림 4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DFDD6A7-0EC7-E97C-3B55-28D33174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9278" y="2514739"/>
              <a:ext cx="9177032" cy="1620000"/>
            </a:xfrm>
            <a:prstGeom prst="rect">
              <a:avLst/>
            </a:prstGeom>
          </p:spPr>
        </p:pic>
        <p:pic>
          <p:nvPicPr>
            <p:cNvPr id="7" name="그림 6" descr="텍스트, 스크린샷, 폰트, 화이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9940A22-4F85-6C47-486C-9A8699349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0250" y="4059947"/>
              <a:ext cx="9000000" cy="1829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3697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77AE-554D-3E27-16F1-A862CCE0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B9E4-DF22-B6C3-0011-0D07E273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4DCBF5-D5B2-2A4C-B687-7566B1D2E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pPr marL="112712" indent="0">
              <a:buNone/>
            </a:pPr>
            <a:r>
              <a:rPr lang="en-US" altLang="ko-KR" dirty="0"/>
              <a:t>Where a function is called or where a string is used</a:t>
            </a:r>
          </a:p>
          <a:p>
            <a:pPr marL="112712" indent="0">
              <a:buNone/>
            </a:pPr>
            <a:endParaRPr lang="en-US" altLang="ko-KR" sz="1000" dirty="0"/>
          </a:p>
          <a:p>
            <a:r>
              <a:rPr lang="en-US" altLang="ko-KR" dirty="0"/>
              <a:t>Code Cross-References</a:t>
            </a:r>
          </a:p>
          <a:p>
            <a:pPr lvl="1"/>
            <a:r>
              <a:rPr lang="en-US" altLang="ko-KR" dirty="0"/>
              <a:t>Show only a couple of cross-references for any given function</a:t>
            </a:r>
          </a:p>
          <a:p>
            <a:pPr lvl="1"/>
            <a:r>
              <a:rPr lang="en-US" altLang="ko-KR" dirty="0"/>
              <a:t>To view all the cross-references for a function, click the function name and press </a:t>
            </a:r>
            <a:r>
              <a:rPr lang="en-US" altLang="ko-KR" b="1" dirty="0"/>
              <a:t>X</a:t>
            </a:r>
          </a:p>
          <a:p>
            <a:pPr lvl="1"/>
            <a:endParaRPr lang="en-US" altLang="ko-KR" dirty="0"/>
          </a:p>
        </p:txBody>
      </p:sp>
      <p:pic>
        <p:nvPicPr>
          <p:cNvPr id="11" name="그림 10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CDBF5D-65B8-DF5E-C580-5354F9F0A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875"/>
          <a:stretch>
            <a:fillRect/>
          </a:stretch>
        </p:blipFill>
        <p:spPr>
          <a:xfrm>
            <a:off x="1312149" y="3384322"/>
            <a:ext cx="10143647" cy="932793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1279BB-D8ED-B366-FFC8-DF29859109EE}"/>
              </a:ext>
            </a:extLst>
          </p:cNvPr>
          <p:cNvSpPr/>
          <p:nvPr/>
        </p:nvSpPr>
        <p:spPr>
          <a:xfrm>
            <a:off x="5330854" y="3374991"/>
            <a:ext cx="2254933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402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0FC5-8959-B03B-1D25-8D14C57C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238A9-1AB1-D4DE-276E-C5AC7195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0977DF-1F96-67F1-6C71-26B32E420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pPr marL="112712" indent="0">
              <a:buNone/>
            </a:pPr>
            <a:r>
              <a:rPr lang="en-US" altLang="ko-KR" dirty="0"/>
              <a:t>Where a function is called or where a string is used</a:t>
            </a:r>
          </a:p>
          <a:p>
            <a:pPr marL="112712" indent="0">
              <a:buNone/>
            </a:pPr>
            <a:endParaRPr lang="en-US" altLang="ko-KR" sz="1000" dirty="0"/>
          </a:p>
          <a:p>
            <a:r>
              <a:rPr lang="en-US" altLang="ko-KR" dirty="0"/>
              <a:t>Code Cross-References</a:t>
            </a:r>
          </a:p>
          <a:p>
            <a:pPr lvl="1"/>
            <a:r>
              <a:rPr lang="en-US" altLang="ko-KR" dirty="0"/>
              <a:t>Show only a couple of cross-references for any given function</a:t>
            </a:r>
          </a:p>
          <a:p>
            <a:pPr lvl="1"/>
            <a:r>
              <a:rPr lang="en-US" altLang="ko-KR" dirty="0"/>
              <a:t>To view all the cross-references for a function, click the function name and press </a:t>
            </a:r>
            <a:r>
              <a:rPr lang="en-US" altLang="ko-KR" b="1" dirty="0"/>
              <a:t>X</a:t>
            </a:r>
          </a:p>
        </p:txBody>
      </p:sp>
      <p:pic>
        <p:nvPicPr>
          <p:cNvPr id="10" name="그림 9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4EE3E7-B3B8-C8C3-9F1D-97B326BB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150" y="3384322"/>
            <a:ext cx="10143647" cy="309636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AF3A5F9-9F07-D0B9-854F-F822B0101090}"/>
              </a:ext>
            </a:extLst>
          </p:cNvPr>
          <p:cNvSpPr/>
          <p:nvPr/>
        </p:nvSpPr>
        <p:spPr>
          <a:xfrm>
            <a:off x="4018338" y="4932503"/>
            <a:ext cx="1244127" cy="563227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524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E9B61-CC1D-1479-070E-7D6AF99B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50F11-43D4-086F-E886-54B29966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46EE4-FDAE-988A-0A9E-FC2EA1CB0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pPr marL="112712" indent="0">
              <a:buNone/>
            </a:pPr>
            <a:r>
              <a:rPr lang="en-US" altLang="ko-KR" dirty="0"/>
              <a:t>Where a function is called or where a string is used</a:t>
            </a:r>
          </a:p>
          <a:p>
            <a:pPr marL="112712" indent="0">
              <a:buNone/>
            </a:pPr>
            <a:endParaRPr lang="en-US" altLang="ko-KR" sz="1000" dirty="0"/>
          </a:p>
          <a:p>
            <a:r>
              <a:rPr lang="en-US" altLang="ko-KR" dirty="0"/>
              <a:t>Data Cross-References</a:t>
            </a:r>
          </a:p>
          <a:p>
            <a:pPr lvl="1"/>
            <a:r>
              <a:rPr lang="en-US" altLang="ko-KR" dirty="0"/>
              <a:t>❶: This data is used in the function located at 0x401020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9A9B93-DE2C-BFC9-0F92-F2D399240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3237350"/>
            <a:ext cx="98964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94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8D45-B724-164E-A6C0-CC5948D7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3F374-D1A4-0E6C-068F-99C5CC12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Analyzing Functions</a:t>
            </a:r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CC2C43-601C-4265-9663-43A8EA825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023" y="3200023"/>
            <a:ext cx="5421436" cy="3280664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AA788E9-BB98-456B-CA6D-D5CF082B4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pPr marL="112712" indent="0">
              <a:buNone/>
            </a:pPr>
            <a:r>
              <a:rPr lang="en-US" altLang="ko-KR" dirty="0"/>
              <a:t>IDA analyzes the stack frame of a function and converts local variables and function arguments into a ‘meaningful form’</a:t>
            </a:r>
          </a:p>
          <a:p>
            <a:pPr lvl="1"/>
            <a:r>
              <a:rPr lang="en-US" altLang="ko-KR" dirty="0"/>
              <a:t>❶: This function manages the stack frame (local variable/parameters) using the EBP as a base</a:t>
            </a:r>
          </a:p>
          <a:p>
            <a:pPr lvl="1"/>
            <a:r>
              <a:rPr lang="en-US" altLang="ko-KR" dirty="0"/>
              <a:t>❷: </a:t>
            </a:r>
            <a:r>
              <a:rPr lang="en-US" altLang="ko-KR" i="1" dirty="0" err="1"/>
              <a:t>var_C</a:t>
            </a:r>
            <a:r>
              <a:rPr lang="en-US" altLang="ko-KR" dirty="0"/>
              <a:t> corresponds to the value </a:t>
            </a:r>
            <a:r>
              <a:rPr lang="en-US" altLang="ko-KR" i="1" dirty="0"/>
              <a:t>-0xCh</a:t>
            </a:r>
          </a:p>
          <a:p>
            <a:pPr lvl="1"/>
            <a:r>
              <a:rPr lang="en-US" altLang="ko-KR" dirty="0"/>
              <a:t>❸: </a:t>
            </a:r>
            <a:r>
              <a:rPr lang="en-US" altLang="ko-KR" i="1" dirty="0"/>
              <a:t>-0xC </a:t>
            </a:r>
            <a:r>
              <a:rPr lang="en-US" altLang="ko-KR" dirty="0"/>
              <a:t>is substituted with </a:t>
            </a:r>
            <a:r>
              <a:rPr lang="en-US" altLang="ko-KR" i="1" dirty="0" err="1"/>
              <a:t>var_C</a:t>
            </a:r>
            <a:endParaRPr lang="ko-KR" altLang="en-US" i="1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8790A3-6889-8F5D-CED2-B0AE787BEFDA}"/>
              </a:ext>
            </a:extLst>
          </p:cNvPr>
          <p:cNvCxnSpPr/>
          <p:nvPr/>
        </p:nvCxnSpPr>
        <p:spPr>
          <a:xfrm>
            <a:off x="3232683" y="3736022"/>
            <a:ext cx="1008000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1E99128-175E-B09E-0A19-1D989779B902}"/>
              </a:ext>
            </a:extLst>
          </p:cNvPr>
          <p:cNvSpPr txBox="1"/>
          <p:nvPr/>
        </p:nvSpPr>
        <p:spPr>
          <a:xfrm>
            <a:off x="3001658" y="3412732"/>
            <a:ext cx="14081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rgbClr val="FF0000"/>
                </a:solidFill>
              </a:rPr>
              <a:t>bp-based frame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A42E79-00A6-9EB2-E025-02946EB49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447" y="3288285"/>
            <a:ext cx="3962953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6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BD13-BF01-1C19-13B6-610DF84E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26D97-23C9-547F-9E72-784B3F1F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45639-7D28-B2BD-F6A8-113C0B63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>
            <a:normAutofit/>
          </a:bodyPr>
          <a:lstStyle/>
          <a:p>
            <a:r>
              <a:rPr lang="en-US" altLang="ko-KR" dirty="0"/>
              <a:t>Q5:How many </a:t>
            </a:r>
            <a:r>
              <a:rPr lang="en-US" altLang="ko-KR" dirty="0">
                <a:solidFill>
                  <a:srgbClr val="C00000"/>
                </a:solidFill>
              </a:rPr>
              <a:t>local variables </a:t>
            </a:r>
            <a:r>
              <a:rPr lang="en-US" altLang="ko-KR" dirty="0"/>
              <a:t>has IDA Pro recognized for the subroutine at </a:t>
            </a:r>
            <a:r>
              <a:rPr lang="en-US" altLang="ko-KR" dirty="0">
                <a:latin typeface="Consolas" panose="020B0609020204030204" pitchFamily="49" charset="0"/>
              </a:rPr>
              <a:t>0x10001656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Q6. How many </a:t>
            </a:r>
            <a:r>
              <a:rPr lang="en-US" altLang="ko-KR" dirty="0">
                <a:solidFill>
                  <a:srgbClr val="C00000"/>
                </a:solidFill>
              </a:rPr>
              <a:t>parameters</a:t>
            </a:r>
            <a:r>
              <a:rPr lang="en-US" altLang="ko-KR" dirty="0"/>
              <a:t> has IDA Pro recognized for the subroutine at </a:t>
            </a:r>
            <a:r>
              <a:rPr lang="en-US" altLang="ko-KR" dirty="0">
                <a:latin typeface="Consolas" panose="020B0609020204030204" pitchFamily="49" charset="0"/>
              </a:rPr>
              <a:t>0x10001656</a:t>
            </a:r>
            <a:r>
              <a:rPr lang="en-US" altLang="ko-KR" dirty="0"/>
              <a:t>?</a:t>
            </a:r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571220-E506-BA2B-1BBA-61958C39F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3" t="20057" r="6921" b="14594"/>
          <a:stretch>
            <a:fillRect/>
          </a:stretch>
        </p:blipFill>
        <p:spPr>
          <a:xfrm>
            <a:off x="448971" y="3303036"/>
            <a:ext cx="3041779" cy="886408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2DD501-ACDA-E19E-9E2F-0DC0904F6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943"/>
          <a:stretch>
            <a:fillRect/>
          </a:stretch>
        </p:blipFill>
        <p:spPr>
          <a:xfrm>
            <a:off x="4059253" y="2676453"/>
            <a:ext cx="3215078" cy="4021494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CAD14744-FE71-8FAE-F155-73B1C784E94C}"/>
              </a:ext>
            </a:extLst>
          </p:cNvPr>
          <p:cNvSpPr/>
          <p:nvPr/>
        </p:nvSpPr>
        <p:spPr>
          <a:xfrm>
            <a:off x="7361853" y="3429000"/>
            <a:ext cx="233265" cy="2934478"/>
          </a:xfrm>
          <a:prstGeom prst="rightBrace">
            <a:avLst>
              <a:gd name="adj1" fmla="val 32333"/>
              <a:gd name="adj2" fmla="val 50000"/>
            </a:avLst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CFA15-FBBD-5BBB-F56E-1345A997BDA1}"/>
              </a:ext>
            </a:extLst>
          </p:cNvPr>
          <p:cNvSpPr txBox="1"/>
          <p:nvPr/>
        </p:nvSpPr>
        <p:spPr>
          <a:xfrm>
            <a:off x="7526351" y="4702243"/>
            <a:ext cx="531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23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2FEB4-8CF8-82E1-538A-A3B1E84E9385}"/>
              </a:ext>
            </a:extLst>
          </p:cNvPr>
          <p:cNvSpPr txBox="1"/>
          <p:nvPr/>
        </p:nvSpPr>
        <p:spPr>
          <a:xfrm>
            <a:off x="7526351" y="6310505"/>
            <a:ext cx="531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1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3F79BB9-22CE-56FB-87A3-52CFE2BB161F}"/>
              </a:ext>
            </a:extLst>
          </p:cNvPr>
          <p:cNvCxnSpPr>
            <a:cxnSpLocks/>
          </p:cNvCxnSpPr>
          <p:nvPr/>
        </p:nvCxnSpPr>
        <p:spPr>
          <a:xfrm>
            <a:off x="6929095" y="6510581"/>
            <a:ext cx="720887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F9F010-3A4D-2D1A-6BF7-B919011B97F0}"/>
              </a:ext>
            </a:extLst>
          </p:cNvPr>
          <p:cNvSpPr txBox="1"/>
          <p:nvPr/>
        </p:nvSpPr>
        <p:spPr>
          <a:xfrm>
            <a:off x="8057980" y="4711573"/>
            <a:ext cx="3171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 negative offset relative to EBP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621651-5A1B-FDD7-5E0A-29860DF59924}"/>
              </a:ext>
            </a:extLst>
          </p:cNvPr>
          <p:cNvSpPr txBox="1"/>
          <p:nvPr/>
        </p:nvSpPr>
        <p:spPr>
          <a:xfrm>
            <a:off x="8057980" y="6309758"/>
            <a:ext cx="3171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 positive offset relative to EBP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666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6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A045-42B8-DCF5-0D1D-E280781D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8F398-7A11-9648-8D39-9FB64DEA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Enhancing Disassembly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51C72E8-22C7-04EB-B834-A66FF60D9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2712" indent="0">
              <a:buNone/>
            </a:pPr>
            <a:r>
              <a:rPr lang="en-US" altLang="ko-KR" sz="2000" dirty="0"/>
              <a:t>IDA</a:t>
            </a:r>
            <a:r>
              <a:rPr lang="ko-KR" altLang="en-US" sz="2000" dirty="0"/>
              <a:t> </a:t>
            </a:r>
            <a:r>
              <a:rPr lang="en-US" altLang="ko-KR" sz="2000" dirty="0"/>
              <a:t>Pro allows you to modify its disassembly to suit your goals</a:t>
            </a:r>
          </a:p>
          <a:p>
            <a:pPr marL="112712" indent="0" algn="ctr">
              <a:buNone/>
            </a:pPr>
            <a:r>
              <a:rPr lang="en-US" altLang="ko-KR" sz="1800" b="0" i="1" dirty="0">
                <a:solidFill>
                  <a:srgbClr val="FF0000"/>
                </a:solidFill>
              </a:rPr>
              <a:t>“IDA Pro has no undo feature, so be careful when you make changes”</a:t>
            </a:r>
          </a:p>
          <a:p>
            <a:endParaRPr lang="en-US" altLang="ko-KR" sz="300" dirty="0"/>
          </a:p>
          <a:p>
            <a:r>
              <a:rPr lang="en-US" altLang="ko-KR" sz="2000" dirty="0"/>
              <a:t>Renaming Auto-generated Names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500" dirty="0"/>
          </a:p>
          <a:p>
            <a:r>
              <a:rPr lang="en-US" altLang="ko-KR" sz="2000" dirty="0"/>
              <a:t>Comments</a:t>
            </a:r>
          </a:p>
          <a:p>
            <a:pPr lvl="1"/>
            <a:r>
              <a:rPr lang="en-US" altLang="ko-KR" sz="1800" dirty="0"/>
              <a:t>Press colon (:) to add a single comment</a:t>
            </a:r>
          </a:p>
          <a:p>
            <a:pPr lvl="1"/>
            <a:r>
              <a:rPr lang="en-US" altLang="ko-KR" sz="1800" dirty="0"/>
              <a:t>Press semicolon (;) to echo this comment to all XREFs</a:t>
            </a:r>
          </a:p>
          <a:p>
            <a:pPr lvl="1"/>
            <a:endParaRPr lang="en-US" altLang="ko-KR" sz="500" dirty="0"/>
          </a:p>
          <a:p>
            <a:r>
              <a:rPr lang="en-US" altLang="ko-KR" sz="2000" dirty="0"/>
              <a:t>Formatting Operands</a:t>
            </a:r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6BF056-1A31-3E02-6EED-2B933DCB4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84" y="2539709"/>
            <a:ext cx="6361040" cy="576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B833C13-B880-B055-D925-DCD2DEE17D1A}"/>
              </a:ext>
            </a:extLst>
          </p:cNvPr>
          <p:cNvSpPr/>
          <p:nvPr/>
        </p:nvSpPr>
        <p:spPr>
          <a:xfrm>
            <a:off x="2953776" y="2904179"/>
            <a:ext cx="360000" cy="180000"/>
          </a:xfrm>
          <a:prstGeom prst="rect">
            <a:avLst/>
          </a:prstGeom>
          <a:solidFill>
            <a:srgbClr val="FF0000">
              <a:alpha val="14902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DDF9DA-FB87-F831-43D4-6DF5EAF9779B}"/>
              </a:ext>
            </a:extLst>
          </p:cNvPr>
          <p:cNvSpPr/>
          <p:nvPr/>
        </p:nvSpPr>
        <p:spPr>
          <a:xfrm>
            <a:off x="5833613" y="2904179"/>
            <a:ext cx="900000" cy="180000"/>
          </a:xfrm>
          <a:prstGeom prst="rect">
            <a:avLst/>
          </a:prstGeom>
          <a:solidFill>
            <a:srgbClr val="0000FF">
              <a:alpha val="14902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7688DCF-97FC-1279-30E3-732255FC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4995752"/>
            <a:ext cx="1323529" cy="18000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AB2CEA-0579-2475-09FF-5595F2AAED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39" b="88263"/>
          <a:stretch>
            <a:fillRect/>
          </a:stretch>
        </p:blipFill>
        <p:spPr>
          <a:xfrm>
            <a:off x="2873131" y="5041900"/>
            <a:ext cx="3384000" cy="247844"/>
          </a:xfrm>
          <a:prstGeom prst="rect">
            <a:avLst/>
          </a:prstGeom>
          <a:ln w="28575">
            <a:noFill/>
          </a:ln>
        </p:spPr>
      </p:pic>
      <p:pic>
        <p:nvPicPr>
          <p:cNvPr id="13" name="그림 1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36BBA7-1376-B7FB-A064-2248F5F31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026"/>
          <a:stretch>
            <a:fillRect/>
          </a:stretch>
        </p:blipFill>
        <p:spPr>
          <a:xfrm>
            <a:off x="2873131" y="5290929"/>
            <a:ext cx="3384000" cy="1307734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158314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C07E-20F7-7032-DFB7-C01525A3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7B945-77B0-C0F1-10FE-23EEC71B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Enhancing Disassembly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AC2E138-750A-E9A0-81CD-FA0C6279D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Named Constants</a:t>
            </a:r>
          </a:p>
          <a:p>
            <a:pPr lvl="1"/>
            <a:r>
              <a:rPr lang="en-US" altLang="ko-KR" sz="1800" dirty="0"/>
              <a:t>Malware authors often use </a:t>
            </a:r>
            <a:r>
              <a:rPr lang="en-US" altLang="ko-KR" sz="1800" i="1" dirty="0">
                <a:solidFill>
                  <a:srgbClr val="C00000"/>
                </a:solidFill>
              </a:rPr>
              <a:t>named constants </a:t>
            </a:r>
            <a:r>
              <a:rPr lang="en-US" altLang="ko-KR" sz="1800" dirty="0"/>
              <a:t>such as GENERIC_READ in their source code</a:t>
            </a:r>
          </a:p>
          <a:p>
            <a:pPr lvl="1"/>
            <a:r>
              <a:rPr lang="en-US" altLang="ko-KR" sz="1800" dirty="0"/>
              <a:t>Once compiled, it is no longer possible to determine whether the source used a symbolic constant or a literal</a:t>
            </a:r>
          </a:p>
          <a:p>
            <a:pPr lvl="1"/>
            <a:r>
              <a:rPr lang="en-US" altLang="ko-KR" sz="1800" dirty="0"/>
              <a:t>IDA Pro provides a large catalog of named constants for the Windows API and the C standard library</a:t>
            </a:r>
          </a:p>
          <a:p>
            <a:pPr lvl="1"/>
            <a:endParaRPr lang="en-US" altLang="ko-KR" sz="1800" dirty="0"/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DAD668-1CE3-197E-F1CD-3612D6EB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1" y="3651473"/>
            <a:ext cx="4334480" cy="1448002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89FD879-98DA-5E58-33F0-5A37272A50BB}"/>
              </a:ext>
            </a:extLst>
          </p:cNvPr>
          <p:cNvSpPr/>
          <p:nvPr/>
        </p:nvSpPr>
        <p:spPr>
          <a:xfrm>
            <a:off x="1612143" y="4855837"/>
            <a:ext cx="2061343" cy="18638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4A9F6-22AA-E675-E530-735F25242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637" y="4855837"/>
            <a:ext cx="7786439" cy="1694378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12ADAB-AC05-9BBA-BB25-F2303967D97F}"/>
              </a:ext>
            </a:extLst>
          </p:cNvPr>
          <p:cNvSpPr txBox="1"/>
          <p:nvPr/>
        </p:nvSpPr>
        <p:spPr>
          <a:xfrm>
            <a:off x="5081144" y="3930490"/>
            <a:ext cx="6406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 determine which value to choose from the extensive list, we need to go to the MSDN page for the Windows API call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3FB75A-8C3D-9D5B-42A9-48FD48D6C24A}"/>
              </a:ext>
            </a:extLst>
          </p:cNvPr>
          <p:cNvSpPr txBox="1"/>
          <p:nvPr/>
        </p:nvSpPr>
        <p:spPr>
          <a:xfrm>
            <a:off x="3943185" y="2799430"/>
            <a:ext cx="389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“Number”             “Meaning” </a:t>
            </a:r>
            <a:endParaRPr lang="ko-KR" altLang="en-US" sz="2400" b="1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29A3ED03-936E-DF9C-7FA1-6BE510279459}"/>
              </a:ext>
            </a:extLst>
          </p:cNvPr>
          <p:cNvSpPr/>
          <p:nvPr/>
        </p:nvSpPr>
        <p:spPr>
          <a:xfrm>
            <a:off x="5470570" y="2876128"/>
            <a:ext cx="597437" cy="318633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33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789E-2B9E-0AF1-6615-145F4355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9B200-1E9E-EAA5-B242-D61F6F3B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Extending IDA with Plug-ins</a:t>
            </a:r>
            <a:endParaRPr lang="ko-KR" altLang="en-US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3025162A-49A0-621F-1549-8CA77C466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4688"/>
            <a:ext cx="10972800" cy="5275999"/>
          </a:xfrm>
        </p:spPr>
        <p:txBody>
          <a:bodyPr/>
          <a:lstStyle/>
          <a:p>
            <a:pPr marL="112712" indent="0">
              <a:buNone/>
            </a:pPr>
            <a:r>
              <a:rPr lang="en-US" altLang="ko-KR" dirty="0"/>
              <a:t>Can extend the functionality of IDA Pro via its scripting facilities</a:t>
            </a:r>
          </a:p>
          <a:p>
            <a:endParaRPr lang="en-US" altLang="ko-KR" sz="500" dirty="0"/>
          </a:p>
          <a:p>
            <a:r>
              <a:rPr lang="en-US" altLang="ko-KR" dirty="0"/>
              <a:t>IDC Scripts &amp; </a:t>
            </a:r>
            <a:r>
              <a:rPr lang="en-US" altLang="ko-KR" dirty="0" err="1"/>
              <a:t>IDAPython</a:t>
            </a:r>
            <a:endParaRPr lang="en-US" altLang="ko-KR" dirty="0"/>
          </a:p>
          <a:p>
            <a:pPr lvl="1"/>
            <a:r>
              <a:rPr lang="en-US" altLang="ko-KR" dirty="0"/>
              <a:t>Manipulate the internals of IDA with code</a:t>
            </a:r>
          </a:p>
          <a:p>
            <a:pPr lvl="1"/>
            <a:r>
              <a:rPr lang="en-US" altLang="ko-KR" dirty="0"/>
              <a:t>Automate repetitive tasks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Commercial Plug-ins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2AB409-8925-1289-93A7-1408D5C28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89" y="2109153"/>
            <a:ext cx="2144037" cy="32372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606E34B-290B-B81E-4011-1C3075243D6A}"/>
              </a:ext>
            </a:extLst>
          </p:cNvPr>
          <p:cNvSpPr/>
          <p:nvPr/>
        </p:nvSpPr>
        <p:spPr>
          <a:xfrm>
            <a:off x="9032383" y="4055693"/>
            <a:ext cx="1779870" cy="49060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CA191-7CCD-E9C3-8A5D-8EF7888E5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602" y="3130419"/>
            <a:ext cx="4644000" cy="1492930"/>
          </a:xfrm>
          <a:prstGeom prst="rect">
            <a:avLst/>
          </a:prstGeom>
        </p:spPr>
      </p:pic>
      <p:pic>
        <p:nvPicPr>
          <p:cNvPr id="10" name="그림 9" descr="텍스트, 폰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D863A3-439E-4E15-D420-8EE463C2D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602" y="4623349"/>
            <a:ext cx="4644000" cy="9141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34C095-74F9-1FF4-3DFC-9D2827EEEBE2}"/>
              </a:ext>
            </a:extLst>
          </p:cNvPr>
          <p:cNvSpPr txBox="1"/>
          <p:nvPr/>
        </p:nvSpPr>
        <p:spPr>
          <a:xfrm>
            <a:off x="8784399" y="5346435"/>
            <a:ext cx="24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Cannot use in IDA Free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1027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JEMIN@W89100Y57WZT3PP7" val="4142"/>
</p:tagLst>
</file>

<file path=ppt/theme/theme1.xml><?xml version="1.0" encoding="utf-8"?>
<a:theme xmlns:a="http://schemas.openxmlformats.org/drawingml/2006/main" name="wgroup-release-04-2011-12-1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145876</TotalTime>
  <Words>903</Words>
  <Application>Microsoft Office PowerPoint</Application>
  <PresentationFormat>와이드스크린</PresentationFormat>
  <Paragraphs>171</Paragraphs>
  <Slides>31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Lucida Grande</vt:lpstr>
      <vt:lpstr>Batang</vt:lpstr>
      <vt:lpstr>Arial</vt:lpstr>
      <vt:lpstr>Calibri</vt:lpstr>
      <vt:lpstr>Consolas</vt:lpstr>
      <vt:lpstr>wgroup-release-04-2011-12-14</vt:lpstr>
      <vt:lpstr>PowerPoint 프레젠테이션</vt:lpstr>
      <vt:lpstr>Interactive Disassembler Professional (IDA Pro)</vt:lpstr>
      <vt:lpstr>Loading an Executable</vt:lpstr>
      <vt:lpstr>IDA Pro Interface</vt:lpstr>
      <vt:lpstr>IDA Pro Interface</vt:lpstr>
      <vt:lpstr>IDA Pro Interface</vt:lpstr>
      <vt:lpstr>IDA Pro Interface</vt:lpstr>
      <vt:lpstr>IDA Pro Interface</vt:lpstr>
      <vt:lpstr>IDA Pro Interface</vt:lpstr>
      <vt:lpstr>Useful Windows for Analysis</vt:lpstr>
      <vt:lpstr>Useful Windows for Analysis</vt:lpstr>
      <vt:lpstr>Useful Windows for Analysis</vt:lpstr>
      <vt:lpstr>Useful Windows for Analysis</vt:lpstr>
      <vt:lpstr>Useful Windows for Analysis</vt:lpstr>
      <vt:lpstr>Lab</vt:lpstr>
      <vt:lpstr>Lab</vt:lpstr>
      <vt:lpstr>Lab</vt:lpstr>
      <vt:lpstr>Navigating IDA Pro</vt:lpstr>
      <vt:lpstr>Navigating IDA Pro</vt:lpstr>
      <vt:lpstr>Navigating IDA Pro</vt:lpstr>
      <vt:lpstr>Navigating IDA Pro</vt:lpstr>
      <vt:lpstr>Navigating IDA Pro</vt:lpstr>
      <vt:lpstr>Cross-References</vt:lpstr>
      <vt:lpstr>Cross-References</vt:lpstr>
      <vt:lpstr>Cross-References</vt:lpstr>
      <vt:lpstr>Cross-References</vt:lpstr>
      <vt:lpstr>Analyzing Functions</vt:lpstr>
      <vt:lpstr>Lab</vt:lpstr>
      <vt:lpstr>Enhancing Disassembly</vt:lpstr>
      <vt:lpstr>Enhancing Disassembly</vt:lpstr>
      <vt:lpstr>Extending IDA with Plug-ins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meeting</dc:title>
  <dc:creator>Dgist</dc:creator>
  <cp:lastModifiedBy>전우진</cp:lastModifiedBy>
  <cp:revision>3013</cp:revision>
  <dcterms:created xsi:type="dcterms:W3CDTF">2020-09-10T04:22:20Z</dcterms:created>
  <dcterms:modified xsi:type="dcterms:W3CDTF">2026-01-14T07:06:38Z</dcterms:modified>
</cp:coreProperties>
</file>