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66" r:id="rId2"/>
    <p:sldId id="339" r:id="rId3"/>
    <p:sldId id="344" r:id="rId4"/>
    <p:sldId id="346" r:id="rId5"/>
    <p:sldId id="347" r:id="rId6"/>
    <p:sldId id="364" r:id="rId7"/>
    <p:sldId id="354" r:id="rId8"/>
    <p:sldId id="356" r:id="rId9"/>
    <p:sldId id="355" r:id="rId10"/>
    <p:sldId id="366" r:id="rId11"/>
    <p:sldId id="340" r:id="rId12"/>
    <p:sldId id="367" r:id="rId13"/>
    <p:sldId id="368" r:id="rId14"/>
    <p:sldId id="350" r:id="rId15"/>
    <p:sldId id="359" r:id="rId16"/>
    <p:sldId id="360" r:id="rId17"/>
    <p:sldId id="361" r:id="rId18"/>
    <p:sldId id="362" r:id="rId19"/>
    <p:sldId id="363" r:id="rId20"/>
    <p:sldId id="268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1D9F2C-BF09-2635-7A3D-8D0B6CDFB06C}" name="진세영" initials="진소" userId="S::22sysy@o365.skku.edu::51a5422c-6394-4b29-9db1-202723d475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155"/>
    <a:srgbClr val="F0F0F0"/>
    <a:srgbClr val="2568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0" autoAdjust="0"/>
    <p:restoredTop sz="82528" autoAdjust="0"/>
  </p:normalViewPr>
  <p:slideViewPr>
    <p:cSldViewPr snapToGrid="0">
      <p:cViewPr>
        <p:scale>
          <a:sx n="75" d="100"/>
          <a:sy n="75" d="100"/>
        </p:scale>
        <p:origin x="1758" y="444"/>
      </p:cViewPr>
      <p:guideLst>
        <p:guide orient="horz" pos="2137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74C3D-7F12-4BAE-B093-0E6AF529DF7F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58C49-CD7F-4DA8-93B0-4AEC17D64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33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89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1B24-A38E-988A-4AB5-8F5C84D29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7848BE-8F1F-1F33-D484-431F924E8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410F7E-FD57-D8DE-82B2-8BEC02BB5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F5231C-E249-A84D-2B3B-0095AC7E1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762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4753E-C96F-AF73-2092-C061847F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41E6C5-7E8D-8823-BADA-7A0B16924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49C610-27B5-1E2F-EFD5-F8DC34838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A70AA3-4280-8B2E-E1C5-74FCC35AF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976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747AE-895F-DDA7-51EA-5D280863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013435-B6FF-54CA-438B-5D7B5800B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6AE7F8-E612-8283-8E4C-6D995C3F6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93328-F8BF-6242-5E1A-C92D79F8E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631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D7513-2DBC-4C9F-616B-1E0913E3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EE0A2A-2FC1-0FB7-BA40-06043B93A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C4A5-7011-2867-697E-0DDDE4833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E98637-B12A-B75A-55DF-7B3104423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50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B7FE1-83F8-8103-163C-6517C30B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8B00B3-C671-6E02-BE47-F6617032F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AF9120-9693-1358-AEDB-13BDB38EC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  <a:defRPr/>
            </a:pPr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3CC8C-732C-810A-2048-84831FD3C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037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39BF-57F6-EBB7-3B52-705CA56E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31DF9C-3059-4E04-4F6E-BE2F0F322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FA97B8-D93F-80E9-6CE2-3AB36AC65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0E7E7C-4B89-44DD-AA26-A475FF72F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957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8E3E-C30E-4090-0A36-755EE0C6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1F98ED-3CC6-968D-1A02-DA9296ECF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9FBF8B-2517-9A68-9440-5B813DD93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41D7C9-6A71-3FF6-7B7F-E8CD8ADDF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799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BDC4E-2095-EF25-9991-15F696A7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59E384-664A-BB58-2DCC-CBFE881A3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C94BE0-2A45-4299-9891-866393BBB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E23791-E141-937B-2B10-661B7129A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559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003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E3379-17DA-0032-5043-907F93752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6095E-5D38-7C86-4321-D5C08FE24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788ED2-EDD4-F2AD-9E74-238C2566A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A31C25-5127-942B-E6E3-7C4ABA3AA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105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4D5D-EB91-F6B3-9E90-291BEA3D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9FE058-13FC-4AF2-F446-CA46EBB90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19BF0A-5B45-71BE-7CE9-EB1BA8124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E207-8B09-05F9-D13F-CF87C85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914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187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8ECD9-789E-F59D-41B8-5CB0F218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ACE590-5995-A190-255E-3BFB86E0A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AEE7A5-6BA4-F8C1-F6C8-043D2E0F7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0C142D-51C2-4A8D-E6D4-FC2F6C4C3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166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6447C-56DF-79D6-A8E7-50E61E731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057587-9BD1-157D-5CE9-6E45609C0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232289-80F2-4CC5-F552-2AC822B72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8BB18-A882-5849-F710-F923015D7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710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4395-194F-62C1-384D-4D875F7A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0AB64D-557D-2EFD-BCEB-90F8D7A08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6D3BBF-D7B0-F6C9-CBAF-F7B88B5CE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F3164B-7D1A-90CE-FB57-31CCD8D24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720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36797-685B-0FD1-9BC9-6D4045DDC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DD3B8C-338F-05D2-ADB3-18DECBAAC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7E8C6A-1C5D-0BD3-7AEF-657201941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A5C132-66E6-DF28-4050-F16D113FD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722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F5A0D-8D79-3EF0-6428-1459E322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CD64C5-237D-AEBA-93B8-63B211410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F768A6-133A-F36F-A02A-1191157FD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148877-1298-8667-3620-BF1466F6C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524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C49-CD7F-4DA8-93B0-4AEC17D643A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035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174A8-D85E-01A3-55FF-F3A45A305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090741-AAF2-A151-0638-63518E3CA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30B249-60AA-07DE-2BB0-24021F50E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09800-F1B3-E64E-A12D-8778CCE7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682349-9DC2-08ED-5BF3-E4448089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6883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7EFA7-0A84-B4C3-FA60-8243E1BA5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74FC50-43FE-B27C-B14A-00A0E7ADCF2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 altLang="ko-KR" dirty="0"/>
              <a:t>text</a:t>
            </a:r>
            <a:endParaRPr lang="ko-KR" altLang="en-US" dirty="0"/>
          </a:p>
          <a:p>
            <a:pPr lvl="1"/>
            <a:r>
              <a:rPr lang="en-US" altLang="ko-KR" dirty="0"/>
              <a:t>…</a:t>
            </a:r>
            <a:endParaRPr lang="ko-KR" altLang="en-US" dirty="0"/>
          </a:p>
          <a:p>
            <a:pPr lvl="2"/>
            <a:r>
              <a:rPr lang="en-US" altLang="ko-KR" dirty="0"/>
              <a:t>…</a:t>
            </a:r>
            <a:endParaRPr lang="ko-KR" altLang="en-US" dirty="0"/>
          </a:p>
          <a:p>
            <a:pPr lvl="3"/>
            <a:r>
              <a:rPr lang="en-US" altLang="ko-KR" dirty="0"/>
              <a:t>…</a:t>
            </a:r>
            <a:endParaRPr lang="ko-KR" altLang="en-US" dirty="0"/>
          </a:p>
          <a:p>
            <a:pPr lvl="4"/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DA87DF-C655-7C11-98B8-54701FDC7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4224" y="6356350"/>
            <a:ext cx="373551" cy="365125"/>
          </a:xfrm>
        </p:spPr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fld id="{932D6D68-7F83-48A2-9982-030C68BCD11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0729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F3D6CE5-4F44-4CB5-D168-7A964DF0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66132-FDB4-AE4A-9D88-F01C5804A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7F2CE-EA4A-2C19-2C21-D985597B2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225" y="6356350"/>
            <a:ext cx="3735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D6D68-7F83-48A2-9982-030C68BCD11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487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A4D088AA-3056-65D2-E755-C6564A634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5388" y="5506642"/>
            <a:ext cx="2161219" cy="662473"/>
          </a:xfrm>
        </p:spPr>
        <p:txBody>
          <a:bodyPr anchor="ctr">
            <a:noAutofit/>
          </a:bodyPr>
          <a:lstStyle/>
          <a:p>
            <a:r>
              <a:rPr lang="en-US" altLang="ko-KR" sz="1800" dirty="0">
                <a:latin typeface="+mj-lt"/>
              </a:rPr>
              <a:t>2026.02.13</a:t>
            </a:r>
          </a:p>
          <a:p>
            <a:r>
              <a:rPr lang="en-US" altLang="ko-KR" sz="1800" dirty="0">
                <a:latin typeface="+mj-lt"/>
              </a:rPr>
              <a:t>Seyoung Jin</a:t>
            </a:r>
            <a:endParaRPr lang="ko-KR" altLang="en-US" sz="1800" dirty="0">
              <a:latin typeface="+mj-lt"/>
            </a:endParaRPr>
          </a:p>
        </p:txBody>
      </p:sp>
      <p:sp>
        <p:nvSpPr>
          <p:cNvPr id="12" name="부제목 2">
            <a:extLst>
              <a:ext uri="{FF2B5EF4-FFF2-40B4-BE49-F238E27FC236}">
                <a16:creationId xmlns:a16="http://schemas.microsoft.com/office/drawing/2014/main" id="{98E113D9-4ADB-F684-D36D-390CF925A401}"/>
              </a:ext>
            </a:extLst>
          </p:cNvPr>
          <p:cNvSpPr txBox="1">
            <a:spLocks/>
          </p:cNvSpPr>
          <p:nvPr/>
        </p:nvSpPr>
        <p:spPr>
          <a:xfrm>
            <a:off x="2928934" y="3429000"/>
            <a:ext cx="6334125" cy="10471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17: Anti-Virtual Machine Techniques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DEDA4B-CD2C-623E-E01B-09BF4DC60AF0}"/>
              </a:ext>
            </a:extLst>
          </p:cNvPr>
          <p:cNvSpPr txBox="1"/>
          <p:nvPr/>
        </p:nvSpPr>
        <p:spPr>
          <a:xfrm>
            <a:off x="2187635" y="2352675"/>
            <a:ext cx="7816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latin typeface="+mj-lt"/>
                <a:ea typeface="+mj-ea"/>
              </a:rPr>
              <a:t>Practical Malware Analysis</a:t>
            </a:r>
            <a:endParaRPr lang="ko-KR" altLang="en-US" sz="4800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5178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5EA8-D1FB-8696-8E10-7EAF3342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2012E-B6E7-0B41-BAD1-4CD68B474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Anti-Debugging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34D1C0-EA99-D1AC-229B-3C332019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D17903-53E2-1ABD-C44A-24EAAFD4A138}"/>
              </a:ext>
            </a:extLst>
          </p:cNvPr>
          <p:cNvSpPr txBox="1"/>
          <p:nvPr/>
        </p:nvSpPr>
        <p:spPr>
          <a:xfrm>
            <a:off x="225724" y="134292"/>
            <a:ext cx="3138578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28F9D0-A876-C591-6BAC-5614FC873245}"/>
              </a:ext>
            </a:extLst>
          </p:cNvPr>
          <p:cNvSpPr txBox="1"/>
          <p:nvPr/>
        </p:nvSpPr>
        <p:spPr>
          <a:xfrm>
            <a:off x="736659" y="1576575"/>
            <a:ext cx="10515600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600" dirty="0"/>
              <a:t>Its primary goal is to </a:t>
            </a:r>
            <a:r>
              <a:rPr lang="en" altLang="ko-KR" sz="1600" dirty="0">
                <a:solidFill>
                  <a:srgbClr val="FF0000"/>
                </a:solidFill>
              </a:rPr>
              <a:t>delay analysis and increase the analyst’s workload</a:t>
            </a:r>
            <a:r>
              <a:rPr lang="en" altLang="ko-KR" sz="1600" dirty="0"/>
              <a:t>, making </a:t>
            </a:r>
            <a:r>
              <a:rPr lang="en-US" altLang="ko-KR" sz="1600" dirty="0"/>
              <a:t>debugging</a:t>
            </a:r>
            <a:r>
              <a:rPr lang="en" altLang="ko-KR" sz="1600" dirty="0"/>
              <a:t> difficult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600" dirty="0"/>
              <a:t>Anti-debugging is a technique used by malware to </a:t>
            </a:r>
            <a:r>
              <a:rPr lang="en" altLang="ko-KR" sz="1600" dirty="0">
                <a:solidFill>
                  <a:srgbClr val="FF0000"/>
                </a:solidFill>
              </a:rPr>
              <a:t>detect whether it is being analyzed </a:t>
            </a:r>
            <a:r>
              <a:rPr lang="en" altLang="ko-KR" sz="1600" dirty="0"/>
              <a:t>under a debugger or </a:t>
            </a:r>
            <a:r>
              <a:rPr lang="en" altLang="ko-KR" sz="1600" dirty="0">
                <a:solidFill>
                  <a:srgbClr val="FF0000"/>
                </a:solidFill>
              </a:rPr>
              <a:t>to disrupt</a:t>
            </a:r>
            <a:r>
              <a:rPr lang="en" altLang="ko-KR" sz="1600" dirty="0"/>
              <a:t> the debugger’s normal operation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505757B-E9C0-7E04-CB73-1C2C846DF4A3}"/>
              </a:ext>
            </a:extLst>
          </p:cNvPr>
          <p:cNvSpPr txBox="1">
            <a:spLocks/>
          </p:cNvSpPr>
          <p:nvPr/>
        </p:nvSpPr>
        <p:spPr>
          <a:xfrm>
            <a:off x="752753" y="4351017"/>
            <a:ext cx="9852548" cy="1612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/>
              <a:t>Main mechanisms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ko-KR" sz="1600" dirty="0"/>
              <a:t>Windows Debugger Detection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ko-KR" sz="1600" dirty="0"/>
              <a:t>Identifying Debugger Behavior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ko-KR" sz="1600" dirty="0"/>
              <a:t>Interfering with Debugger Functionality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ko-KR" sz="1600" dirty="0"/>
              <a:t>Debugger Vulnerabilities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8703844-AE07-94A3-E9DC-D3734E81E93D}"/>
              </a:ext>
            </a:extLst>
          </p:cNvPr>
          <p:cNvGrpSpPr/>
          <p:nvPr/>
        </p:nvGrpSpPr>
        <p:grpSpPr>
          <a:xfrm>
            <a:off x="1795013" y="2987564"/>
            <a:ext cx="8085257" cy="1470265"/>
            <a:chOff x="2110446" y="3855006"/>
            <a:chExt cx="8085257" cy="14702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4CF278-F7C9-FEF1-C239-04E8D0362481}"/>
                </a:ext>
              </a:extLst>
            </p:cNvPr>
            <p:cNvSpPr txBox="1"/>
            <p:nvPr/>
          </p:nvSpPr>
          <p:spPr>
            <a:xfrm>
              <a:off x="2110446" y="4431426"/>
              <a:ext cx="2879066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If a debugger is detected?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FED22D-4DAA-6F67-663F-518E8C050328}"/>
                </a:ext>
              </a:extLst>
            </p:cNvPr>
            <p:cNvSpPr txBox="1"/>
            <p:nvPr/>
          </p:nvSpPr>
          <p:spPr>
            <a:xfrm>
              <a:off x="6352509" y="4593670"/>
              <a:ext cx="3386422" cy="646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dirty="0"/>
                <a:t>Change the execution flow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dirty="0"/>
                <a:t>Terminate itself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639D14-B13B-98CC-806A-DC0F92F1EAC9}"/>
                </a:ext>
              </a:extLst>
            </p:cNvPr>
            <p:cNvSpPr txBox="1"/>
            <p:nvPr/>
          </p:nvSpPr>
          <p:spPr>
            <a:xfrm>
              <a:off x="6352508" y="4039672"/>
              <a:ext cx="3843195" cy="369332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dirty="0"/>
                <a:t>Execute a malicious payload</a:t>
              </a:r>
            </a:p>
          </p:txBody>
        </p:sp>
        <p:cxnSp>
          <p:nvCxnSpPr>
            <p:cNvPr id="5" name="연결선: 꺾임 4">
              <a:extLst>
                <a:ext uri="{FF2B5EF4-FFF2-40B4-BE49-F238E27FC236}">
                  <a16:creationId xmlns:a16="http://schemas.microsoft.com/office/drawing/2014/main" id="{B238AB4D-6764-BC40-FC41-5C227D7ECE48}"/>
                </a:ext>
              </a:extLst>
            </p:cNvPr>
            <p:cNvCxnSpPr>
              <a:cxnSpLocks/>
              <a:stCxn id="17" idx="3"/>
              <a:endCxn id="18" idx="1"/>
            </p:cNvCxnSpPr>
            <p:nvPr/>
          </p:nvCxnSpPr>
          <p:spPr>
            <a:xfrm>
              <a:off x="4989512" y="4616092"/>
              <a:ext cx="1362997" cy="30074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연결선: 꺾임 7">
              <a:extLst>
                <a:ext uri="{FF2B5EF4-FFF2-40B4-BE49-F238E27FC236}">
                  <a16:creationId xmlns:a16="http://schemas.microsoft.com/office/drawing/2014/main" id="{6B011864-6D28-FC5A-D8D5-59280AD44364}"/>
                </a:ext>
              </a:extLst>
            </p:cNvPr>
            <p:cNvCxnSpPr>
              <a:cxnSpLocks/>
              <a:stCxn id="17" idx="3"/>
              <a:endCxn id="19" idx="1"/>
            </p:cNvCxnSpPr>
            <p:nvPr/>
          </p:nvCxnSpPr>
          <p:spPr>
            <a:xfrm flipV="1">
              <a:off x="4989512" y="4224338"/>
              <a:ext cx="1362996" cy="39175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8CAAEC8-8696-508B-1B17-EE1DE8FF2635}"/>
                </a:ext>
              </a:extLst>
            </p:cNvPr>
            <p:cNvSpPr txBox="1"/>
            <p:nvPr/>
          </p:nvSpPr>
          <p:spPr>
            <a:xfrm>
              <a:off x="5753849" y="3855006"/>
              <a:ext cx="481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No</a:t>
              </a:r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3ACDDD-B8EA-9ACA-5324-16B6A752E26E}"/>
                </a:ext>
              </a:extLst>
            </p:cNvPr>
            <p:cNvSpPr txBox="1"/>
            <p:nvPr/>
          </p:nvSpPr>
          <p:spPr>
            <a:xfrm>
              <a:off x="5753849" y="4955939"/>
              <a:ext cx="572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Yes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7671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6DAD-FD1D-46CC-D4AD-CD51779E4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3FBFA-6532-3940-A566-FE91B98C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4400" dirty="0"/>
              <a:t>Using the Windows API</a:t>
            </a:r>
            <a:endParaRPr lang="en-US" altLang="ko-KR" sz="440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99C6C0-6F48-0C22-DC41-DE0971FA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23ED9-C5D6-8B2F-6EC6-AFA55D228689}"/>
              </a:ext>
            </a:extLst>
          </p:cNvPr>
          <p:cNvSpPr txBox="1"/>
          <p:nvPr/>
        </p:nvSpPr>
        <p:spPr>
          <a:xfrm>
            <a:off x="953477" y="4843283"/>
            <a:ext cx="10515600" cy="118254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180000" tIns="108000" bIns="108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/>
              <a:t>Analyst's Bypass Strategy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Modify the malware during execution </a:t>
            </a:r>
            <a:r>
              <a:rPr lang="en-US" altLang="ko-KR" b="1" dirty="0"/>
              <a:t>to prevent calls to the anti-debugging API</a:t>
            </a: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b="1" dirty="0"/>
              <a:t>Adjust the return value or flags </a:t>
            </a:r>
            <a:r>
              <a:rPr lang="en-US" altLang="ko-KR" dirty="0"/>
              <a:t>after the API call to ensure the desired execution path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A3AE0A4-3791-9A55-B9CA-FD7A8CEA4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676254"/>
              </p:ext>
            </p:extLst>
          </p:nvPr>
        </p:nvGraphicFramePr>
        <p:xfrm>
          <a:off x="953477" y="2144456"/>
          <a:ext cx="10515600" cy="219917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55385">
                  <a:extLst>
                    <a:ext uri="{9D8B030D-6E8A-4147-A177-3AD203B41FA5}">
                      <a16:colId xmlns:a16="http://schemas.microsoft.com/office/drawing/2014/main" val="478551235"/>
                    </a:ext>
                  </a:extLst>
                </a:gridCol>
                <a:gridCol w="7360215">
                  <a:extLst>
                    <a:ext uri="{9D8B030D-6E8A-4147-A177-3AD203B41FA5}">
                      <a16:colId xmlns:a16="http://schemas.microsoft.com/office/drawing/2014/main" val="686411101"/>
                    </a:ext>
                  </a:extLst>
                </a:gridCol>
              </a:tblGrid>
              <a:tr h="538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>
                          <a:latin typeface="Consolas" panose="020B0609020204030204" pitchFamily="49" charset="0"/>
                        </a:rPr>
                        <a:t>IsDebuggerPresent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A function to check if the current process is being debugged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/>
                        <a:t>Check the </a:t>
                      </a:r>
                      <a:r>
                        <a:rPr lang="en-US" altLang="ko-KR" sz="1500" dirty="0" err="1">
                          <a:highlight>
                            <a:srgbClr val="F0F0F0"/>
                          </a:highlight>
                          <a:latin typeface="Consolas" panose="020B0609020204030204" pitchFamily="49" charset="0"/>
                        </a:rPr>
                        <a:t>BeingDebugged</a:t>
                      </a:r>
                      <a:r>
                        <a:rPr lang="en-US" altLang="ko-KR" sz="1500" dirty="0"/>
                        <a:t> </a:t>
                      </a:r>
                      <a:r>
                        <a:rPr lang="en-US" sz="1500" dirty="0"/>
                        <a:t> flag in the Process Environment Block (</a:t>
                      </a:r>
                      <a:r>
                        <a:rPr lang="en-US" altLang="ko-KR" sz="1500" dirty="0"/>
                        <a:t>PEB)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835415"/>
                  </a:ext>
                </a:extLst>
              </a:tr>
              <a:tr h="538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>
                          <a:latin typeface="Consolas" panose="020B0609020204030204" pitchFamily="49" charset="0"/>
                        </a:rPr>
                        <a:t>CheckRemoteDebuggerPresent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500" dirty="0"/>
                        <a:t>Checks </a:t>
                      </a:r>
                      <a:r>
                        <a:rPr lang="en-US" altLang="ko-KR" sz="1500" u="none" dirty="0"/>
                        <a:t>if a debugger is attached </a:t>
                      </a:r>
                      <a:r>
                        <a:rPr lang="en-US" altLang="ko-KR" sz="1500" dirty="0"/>
                        <a:t>to a specific process on the local machine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505659"/>
                  </a:ext>
                </a:extLst>
              </a:tr>
              <a:tr h="44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>
                          <a:latin typeface="Consolas" panose="020B0609020204030204" pitchFamily="49" charset="0"/>
                        </a:rPr>
                        <a:t>NtQueryInformationProcess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Retrieves the </a:t>
                      </a:r>
                      <a:r>
                        <a:rPr lang="en-US" altLang="ko-KR" sz="15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0F0F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ProcessDebugPort</a:t>
                      </a:r>
                      <a:r>
                        <a:rPr lang="en-US" altLang="ko-KR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information of a specified process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500" dirty="0"/>
                        <a:t>Returns the </a:t>
                      </a:r>
                      <a:r>
                        <a:rPr lang="en-US" altLang="ko-KR" sz="1500" u="none" dirty="0"/>
                        <a:t>debug port number </a:t>
                      </a:r>
                      <a:r>
                        <a:rPr lang="en-US" altLang="ko-KR" sz="1500" dirty="0"/>
                        <a:t>if debugged attached; </a:t>
                      </a:r>
                      <a:r>
                        <a:rPr lang="en" altLang="ko-KR" sz="1600" dirty="0"/>
                        <a:t>otherwise, it returns 0</a:t>
                      </a:r>
                      <a:endParaRPr lang="en-US" altLang="ko-KR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499494"/>
                  </a:ext>
                </a:extLst>
              </a:tr>
              <a:tr h="538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>
                          <a:latin typeface="Consolas" panose="020B0609020204030204" pitchFamily="49" charset="0"/>
                        </a:rPr>
                        <a:t>OutputDebugString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/>
                        <a:t>Sends string to debugger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/>
                        <a:t>Error code differs depending on the presence of the debugger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385371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964E08F9-1E44-141D-1ED7-B23C6273F019}"/>
              </a:ext>
            </a:extLst>
          </p:cNvPr>
          <p:cNvGrpSpPr/>
          <p:nvPr/>
        </p:nvGrpSpPr>
        <p:grpSpPr>
          <a:xfrm>
            <a:off x="7779238" y="19499"/>
            <a:ext cx="4949675" cy="1733916"/>
            <a:chOff x="126085" y="3966034"/>
            <a:chExt cx="4949675" cy="173391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3DB776-3C6B-2823-A7A5-B1567CD0F66F}"/>
                </a:ext>
              </a:extLst>
            </p:cNvPr>
            <p:cNvSpPr txBox="1"/>
            <p:nvPr/>
          </p:nvSpPr>
          <p:spPr>
            <a:xfrm>
              <a:off x="126085" y="3966034"/>
              <a:ext cx="4949675" cy="5292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>
                <a:lnSpc>
                  <a:spcPct val="150000"/>
                </a:lnSpc>
              </a:pPr>
              <a:r>
                <a:rPr lang="en-US" altLang="ko-KR" sz="1400" dirty="0"/>
                <a:t>Process Environment Block (PEB) structure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48FE568-E8B5-AE16-25D3-A0B251204460}"/>
                </a:ext>
              </a:extLst>
            </p:cNvPr>
            <p:cNvGrpSpPr/>
            <p:nvPr/>
          </p:nvGrpSpPr>
          <p:grpSpPr>
            <a:xfrm>
              <a:off x="504660" y="4348593"/>
              <a:ext cx="4160925" cy="1351357"/>
              <a:chOff x="4931257" y="365125"/>
              <a:chExt cx="4160925" cy="1351357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82D29179-890E-9F88-69C8-1B6B42A1C62A}"/>
                  </a:ext>
                </a:extLst>
              </p:cNvPr>
              <p:cNvGrpSpPr/>
              <p:nvPr/>
            </p:nvGrpSpPr>
            <p:grpSpPr>
              <a:xfrm>
                <a:off x="4931257" y="365125"/>
                <a:ext cx="4160925" cy="1351357"/>
                <a:chOff x="4077268" y="327972"/>
                <a:chExt cx="4160925" cy="1351357"/>
              </a:xfrm>
            </p:grpSpPr>
            <p:pic>
              <p:nvPicPr>
                <p:cNvPr id="31" name="그림 30" descr="텍스트, 스크린샷, 폰트, 영수증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4774D0B9-8E29-362B-4DDB-551292FAAE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22504" b="33874"/>
                <a:stretch>
                  <a:fillRect/>
                </a:stretch>
              </p:blipFill>
              <p:spPr>
                <a:xfrm>
                  <a:off x="4077268" y="327972"/>
                  <a:ext cx="3788731" cy="849023"/>
                </a:xfrm>
                <a:prstGeom prst="rect">
                  <a:avLst/>
                </a:prstGeom>
              </p:spPr>
            </p:pic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1AC7FC-5FCB-8334-581D-DF4DC6FB4AAD}"/>
                    </a:ext>
                  </a:extLst>
                </p:cNvPr>
                <p:cNvSpPr txBox="1"/>
                <p:nvPr/>
              </p:nvSpPr>
              <p:spPr>
                <a:xfrm>
                  <a:off x="5367621" y="1217664"/>
                  <a:ext cx="287057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0 = No debugger 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1 = Debugger attached</a:t>
                  </a:r>
                </a:p>
              </p:txBody>
            </p:sp>
          </p:grp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233C4A5B-751D-444D-E23D-813E80140DEF}"/>
                  </a:ext>
                </a:extLst>
              </p:cNvPr>
              <p:cNvSpPr/>
              <p:nvPr/>
            </p:nvSpPr>
            <p:spPr>
              <a:xfrm>
                <a:off x="7448533" y="967671"/>
                <a:ext cx="1166674" cy="2226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C7F9646-DC05-DE1F-696A-EFF6ABCDFD47}"/>
              </a:ext>
            </a:extLst>
          </p:cNvPr>
          <p:cNvSpPr txBox="1"/>
          <p:nvPr/>
        </p:nvSpPr>
        <p:spPr>
          <a:xfrm>
            <a:off x="225724" y="134292"/>
            <a:ext cx="7495876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- </a:t>
            </a:r>
            <a:r>
              <a:rPr lang="en-US" altLang="ko-KR" dirty="0"/>
              <a:t>① Windows Debugger Detection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8D345-C9F1-14E7-8FD9-62F16C6F2700}"/>
              </a:ext>
            </a:extLst>
          </p:cNvPr>
          <p:cNvSpPr txBox="1"/>
          <p:nvPr/>
        </p:nvSpPr>
        <p:spPr>
          <a:xfrm>
            <a:off x="895838" y="1517677"/>
            <a:ext cx="10630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/>
              <a:t>Leverage the official API to check if a process is being debugged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209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E994-1468-1492-BD8A-0397F56A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4F1C9-5C62-B034-E2CE-EAB3C89F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4000" dirty="0"/>
              <a:t>Manually Checking Structures</a:t>
            </a:r>
            <a:endParaRPr lang="en-US" altLang="ko-KR" sz="400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F61128-9FEA-1963-3174-337F2645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16" name="그림 1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86A24C-A6E0-0550-E11D-779E305F7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76" y="4573958"/>
            <a:ext cx="4265497" cy="1532727"/>
          </a:xfrm>
          <a:prstGeom prst="rect">
            <a:avLst/>
          </a:prstGeom>
        </p:spPr>
      </p:pic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55978E5F-C9C1-C776-79EC-5588F36CD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891360"/>
              </p:ext>
            </p:extLst>
          </p:nvPr>
        </p:nvGraphicFramePr>
        <p:xfrm>
          <a:off x="953476" y="2337096"/>
          <a:ext cx="10713935" cy="1798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79041">
                  <a:extLst>
                    <a:ext uri="{9D8B030D-6E8A-4147-A177-3AD203B41FA5}">
                      <a16:colId xmlns:a16="http://schemas.microsoft.com/office/drawing/2014/main" val="3085262019"/>
                    </a:ext>
                  </a:extLst>
                </a:gridCol>
                <a:gridCol w="988358">
                  <a:extLst>
                    <a:ext uri="{9D8B030D-6E8A-4147-A177-3AD203B41FA5}">
                      <a16:colId xmlns:a16="http://schemas.microsoft.com/office/drawing/2014/main" val="3861091623"/>
                    </a:ext>
                  </a:extLst>
                </a:gridCol>
                <a:gridCol w="7246536">
                  <a:extLst>
                    <a:ext uri="{9D8B030D-6E8A-4147-A177-3AD203B41FA5}">
                      <a16:colId xmlns:a16="http://schemas.microsoft.com/office/drawing/2014/main" val="1380727467"/>
                    </a:ext>
                  </a:extLst>
                </a:gridCol>
              </a:tblGrid>
              <a:tr h="3199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/>
                        <a:t>PEB Fields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/>
                        <a:t>Offset</a:t>
                      </a:r>
                      <a:endParaRPr lang="ko-KR" altLang="en-US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212545"/>
                  </a:ext>
                </a:extLst>
              </a:tr>
              <a:tr h="3199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 err="1">
                          <a:latin typeface="Consolas" panose="020B0609020204030204" pitchFamily="49" charset="0"/>
                        </a:rPr>
                        <a:t>BeingDebugged</a:t>
                      </a:r>
                      <a:r>
                        <a:rPr lang="en-US" altLang="ko-KR" sz="1500" dirty="0">
                          <a:latin typeface="Consolas" panose="020B0609020204030204" pitchFamily="49" charset="0"/>
                        </a:rPr>
                        <a:t> 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/>
                        <a:t>+0x02</a:t>
                      </a:r>
                      <a:endParaRPr lang="ko-KR" altLang="en-US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Indicates whether a debugger is attached (</a:t>
                      </a:r>
                      <a:r>
                        <a:rPr lang="en-US" altLang="ko-KR" sz="1500" b="0" dirty="0">
                          <a:solidFill>
                            <a:schemeClr val="tx1"/>
                          </a:solidFill>
                        </a:rPr>
                        <a:t>0 = No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</a:rPr>
                        <a:t>1 = Debugger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866921"/>
                  </a:ext>
                </a:extLst>
              </a:tr>
              <a:tr h="5485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 err="1">
                          <a:latin typeface="Consolas" panose="020B0609020204030204" pitchFamily="49" charset="0"/>
                        </a:rPr>
                        <a:t>ProcessHeap</a:t>
                      </a:r>
                      <a:r>
                        <a:rPr lang="en-US" altLang="ko-KR" sz="1500" dirty="0">
                          <a:latin typeface="Consolas" panose="020B0609020204030204" pitchFamily="49" charset="0"/>
                        </a:rPr>
                        <a:t> (pointer)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/>
                        <a:t>+0x18</a:t>
                      </a:r>
                      <a:endParaRPr lang="ko-KR" altLang="en-US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altLang="ko-KR" sz="1600" dirty="0">
                          <a:solidFill>
                            <a:schemeClr val="tx1"/>
                          </a:solidFill>
                        </a:rPr>
                        <a:t>Heap contains </a:t>
                      </a:r>
                      <a:r>
                        <a:rPr lang="en" altLang="ko-KR" sz="1500" kern="1200" dirty="0">
                          <a:solidFill>
                            <a:schemeClr val="tx1"/>
                          </a:solidFill>
                          <a:highlight>
                            <a:srgbClr val="F0F0F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Flags</a:t>
                      </a:r>
                      <a:r>
                        <a:rPr lang="en" altLang="ko-KR" sz="1600" dirty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" altLang="ko-KR" sz="1500" kern="1200" dirty="0" err="1">
                          <a:solidFill>
                            <a:schemeClr val="tx1"/>
                          </a:solidFill>
                          <a:highlight>
                            <a:srgbClr val="F0F0F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ForceFlags</a:t>
                      </a:r>
                      <a:r>
                        <a:rPr lang="en" altLang="ko-KR" sz="1600" dirty="0">
                          <a:solidFill>
                            <a:schemeClr val="tx1"/>
                          </a:solidFill>
                        </a:rPr>
                        <a:t> fields, which have </a:t>
                      </a:r>
                      <a:r>
                        <a:rPr lang="en" altLang="ko-KR" sz="1600" b="1" dirty="0">
                          <a:solidFill>
                            <a:schemeClr val="tx1"/>
                          </a:solidFill>
                        </a:rPr>
                        <a:t>non-zero</a:t>
                      </a:r>
                      <a:r>
                        <a:rPr lang="en" altLang="ko-KR" sz="1600" dirty="0">
                          <a:solidFill>
                            <a:schemeClr val="tx1"/>
                          </a:solidFill>
                        </a:rPr>
                        <a:t> values </a:t>
                      </a:r>
                      <a:br>
                        <a:rPr lang="en" altLang="ko-KR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" altLang="ko-KR" sz="1600" dirty="0">
                          <a:solidFill>
                            <a:schemeClr val="tx1"/>
                          </a:solidFill>
                        </a:rPr>
                        <a:t>​​if the heap was created by a debugger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004930"/>
                  </a:ext>
                </a:extLst>
              </a:tr>
              <a:tr h="3199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 err="1">
                          <a:latin typeface="Consolas" panose="020B0609020204030204" pitchFamily="49" charset="0"/>
                        </a:rPr>
                        <a:t>NTGlobalFlag</a:t>
                      </a:r>
                      <a:endParaRPr lang="en-US" altLang="ko-KR" sz="15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/>
                        <a:t>+0x68</a:t>
                      </a:r>
                      <a:endParaRPr lang="ko-KR" altLang="en-US" sz="15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altLang="ko-KR" sz="1600" dirty="0"/>
                        <a:t>Contains information about how the system creates the heap structure </a:t>
                      </a:r>
                      <a:endParaRPr lang="en-US" altLang="ko-KR" sz="15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altLang="ko-KR" sz="1600" dirty="0"/>
                        <a:t>Set to a </a:t>
                      </a:r>
                      <a:r>
                        <a:rPr lang="en" altLang="ko-KR" sz="1600" b="1" dirty="0"/>
                        <a:t>specific value (0x70) </a:t>
                      </a:r>
                      <a:r>
                        <a:rPr lang="en" altLang="ko-KR" sz="1600" dirty="0"/>
                        <a:t>when debugged</a:t>
                      </a:r>
                      <a:endParaRPr lang="en-US" altLang="ko-KR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0012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3B93228-52CC-58FF-37BC-96EBEFC8056B}"/>
              </a:ext>
            </a:extLst>
          </p:cNvPr>
          <p:cNvSpPr txBox="1"/>
          <p:nvPr/>
        </p:nvSpPr>
        <p:spPr>
          <a:xfrm>
            <a:off x="225724" y="134292"/>
            <a:ext cx="7495876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- </a:t>
            </a:r>
            <a:r>
              <a:rPr lang="en-US" altLang="ko-KR" dirty="0"/>
              <a:t>① Windows Debugger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2D843-BBBD-0EF1-10C9-C3B9C89EFC8B}"/>
              </a:ext>
            </a:extLst>
          </p:cNvPr>
          <p:cNvSpPr txBox="1"/>
          <p:nvPr/>
        </p:nvSpPr>
        <p:spPr>
          <a:xfrm>
            <a:off x="895838" y="1517677"/>
            <a:ext cx="106308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Because</a:t>
            </a:r>
            <a:r>
              <a:rPr lang="ko-KR" altLang="en-US" dirty="0"/>
              <a:t> </a:t>
            </a:r>
            <a:r>
              <a:rPr lang="ko-KR" altLang="en-US" dirty="0" err="1"/>
              <a:t>APIs</a:t>
            </a:r>
            <a:r>
              <a:rPr lang="ko-KR" altLang="en-US" dirty="0"/>
              <a:t> </a:t>
            </a:r>
            <a:r>
              <a:rPr lang="ko-KR" altLang="en-US" dirty="0" err="1"/>
              <a:t>can</a:t>
            </a:r>
            <a:r>
              <a:rPr lang="ko-KR" altLang="en-US" dirty="0"/>
              <a:t> </a:t>
            </a:r>
            <a:r>
              <a:rPr lang="ko-KR" altLang="en-US" dirty="0" err="1"/>
              <a:t>be</a:t>
            </a:r>
            <a:r>
              <a:rPr lang="ko-KR" altLang="en-US" dirty="0"/>
              <a:t> </a:t>
            </a:r>
            <a:r>
              <a:rPr lang="ko-KR" altLang="en-US" dirty="0" err="1"/>
              <a:t>hooked</a:t>
            </a:r>
            <a:r>
              <a:rPr lang="ko-KR" altLang="en-US" dirty="0"/>
              <a:t> and </a:t>
            </a:r>
            <a:r>
              <a:rPr lang="ko-KR" altLang="en-US" dirty="0" err="1"/>
              <a:t>manipulated</a:t>
            </a:r>
            <a:r>
              <a:rPr lang="ko-KR" altLang="en-US" dirty="0"/>
              <a:t> </a:t>
            </a:r>
            <a:r>
              <a:rPr lang="ko-KR" altLang="en-US" dirty="0" err="1"/>
              <a:t>to</a:t>
            </a:r>
            <a:r>
              <a:rPr lang="ko-KR" altLang="en-US" dirty="0"/>
              <a:t> </a:t>
            </a:r>
            <a:r>
              <a:rPr lang="ko-KR" altLang="en-US" dirty="0" err="1"/>
              <a:t>return</a:t>
            </a:r>
            <a:r>
              <a:rPr lang="ko-KR" altLang="en-US" dirty="0"/>
              <a:t> </a:t>
            </a:r>
            <a:r>
              <a:rPr lang="ko-KR" altLang="en-US" dirty="0" err="1"/>
              <a:t>incorrect</a:t>
            </a:r>
            <a:r>
              <a:rPr lang="ko-KR" altLang="en-US" dirty="0"/>
              <a:t> </a:t>
            </a:r>
            <a:r>
              <a:rPr lang="ko-KR" altLang="en-US" dirty="0" err="1"/>
              <a:t>results</a:t>
            </a:r>
            <a:r>
              <a:rPr lang="ko-KR" altLang="en-US" dirty="0"/>
              <a:t>, </a:t>
            </a:r>
            <a:br>
              <a:rPr lang="en-US" altLang="ko-KR" dirty="0"/>
            </a:br>
            <a:r>
              <a:rPr lang="ko-KR" altLang="en-US" dirty="0" err="1"/>
              <a:t>malware</a:t>
            </a:r>
            <a:r>
              <a:rPr lang="ko-KR" altLang="en-US" dirty="0"/>
              <a:t> </a:t>
            </a:r>
            <a:r>
              <a:rPr lang="ko-KR" altLang="en-US" dirty="0" err="1"/>
              <a:t>often</a:t>
            </a:r>
            <a:r>
              <a:rPr lang="ko-KR" altLang="en-US" dirty="0"/>
              <a:t> </a:t>
            </a:r>
            <a:r>
              <a:rPr lang="ko-KR" altLang="en-US" dirty="0" err="1"/>
              <a:t>manually</a:t>
            </a:r>
            <a:r>
              <a:rPr lang="ko-KR" altLang="en-US" dirty="0"/>
              <a:t> </a:t>
            </a:r>
            <a:r>
              <a:rPr lang="ko-KR" altLang="en-US" dirty="0" err="1"/>
              <a:t>checks</a:t>
            </a:r>
            <a:r>
              <a:rPr lang="ko-KR" altLang="en-US" dirty="0"/>
              <a:t> </a:t>
            </a:r>
            <a:r>
              <a:rPr lang="en-US" altLang="ko-KR" dirty="0"/>
              <a:t>PEB fields used in anti-debugging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D3528AA-8068-271C-53CE-DE1D3EDEB86E}"/>
              </a:ext>
            </a:extLst>
          </p:cNvPr>
          <p:cNvGrpSpPr/>
          <p:nvPr/>
        </p:nvGrpSpPr>
        <p:grpSpPr>
          <a:xfrm>
            <a:off x="7779238" y="19499"/>
            <a:ext cx="4949675" cy="1733916"/>
            <a:chOff x="126085" y="3966034"/>
            <a:chExt cx="4949675" cy="173391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DE644F-2569-EA28-42F4-7E1F2AFEB8A7}"/>
                </a:ext>
              </a:extLst>
            </p:cNvPr>
            <p:cNvSpPr txBox="1"/>
            <p:nvPr/>
          </p:nvSpPr>
          <p:spPr>
            <a:xfrm>
              <a:off x="126085" y="3966034"/>
              <a:ext cx="4949675" cy="5292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>
                <a:lnSpc>
                  <a:spcPct val="150000"/>
                </a:lnSpc>
              </a:pPr>
              <a:r>
                <a:rPr lang="en-US" altLang="ko-KR" sz="1400" dirty="0"/>
                <a:t>Process Environment Block (PEB) structure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083002-D049-1F6F-BD68-093DE6960A52}"/>
                </a:ext>
              </a:extLst>
            </p:cNvPr>
            <p:cNvGrpSpPr/>
            <p:nvPr/>
          </p:nvGrpSpPr>
          <p:grpSpPr>
            <a:xfrm>
              <a:off x="504660" y="4348593"/>
              <a:ext cx="4160925" cy="1351357"/>
              <a:chOff x="4931257" y="365125"/>
              <a:chExt cx="4160925" cy="1351357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D46314C6-9E90-726B-8C36-D29870B62E19}"/>
                  </a:ext>
                </a:extLst>
              </p:cNvPr>
              <p:cNvGrpSpPr/>
              <p:nvPr/>
            </p:nvGrpSpPr>
            <p:grpSpPr>
              <a:xfrm>
                <a:off x="4931257" y="365125"/>
                <a:ext cx="4160925" cy="1351357"/>
                <a:chOff x="4077268" y="327972"/>
                <a:chExt cx="4160925" cy="1351357"/>
              </a:xfrm>
            </p:grpSpPr>
            <p:pic>
              <p:nvPicPr>
                <p:cNvPr id="12" name="그림 11" descr="텍스트, 스크린샷, 폰트, 영수증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446DB244-E1AA-8FF9-C238-BAEEB99949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r="22504" b="33874"/>
                <a:stretch>
                  <a:fillRect/>
                </a:stretch>
              </p:blipFill>
              <p:spPr>
                <a:xfrm>
                  <a:off x="4077268" y="327972"/>
                  <a:ext cx="3788731" cy="849023"/>
                </a:xfrm>
                <a:prstGeom prst="rect">
                  <a:avLst/>
                </a:prstGeom>
              </p:spPr>
            </p:pic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E8534BF-551F-C376-63BA-1BF285E5846C}"/>
                    </a:ext>
                  </a:extLst>
                </p:cNvPr>
                <p:cNvSpPr txBox="1"/>
                <p:nvPr/>
              </p:nvSpPr>
              <p:spPr>
                <a:xfrm>
                  <a:off x="5367621" y="1217664"/>
                  <a:ext cx="287057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0 = No debugger 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1 = Debugger attached</a:t>
                  </a:r>
                </a:p>
              </p:txBody>
            </p:sp>
          </p:grp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C0E3643B-4615-838A-61C9-4A576F4172C9}"/>
                  </a:ext>
                </a:extLst>
              </p:cNvPr>
              <p:cNvSpPr/>
              <p:nvPr/>
            </p:nvSpPr>
            <p:spPr>
              <a:xfrm>
                <a:off x="7448533" y="967671"/>
                <a:ext cx="1166674" cy="2226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09F881-9CF9-3EE4-45D3-2D308AAAC581}"/>
              </a:ext>
            </a:extLst>
          </p:cNvPr>
          <p:cNvGrpSpPr/>
          <p:nvPr/>
        </p:nvGrpSpPr>
        <p:grpSpPr>
          <a:xfrm>
            <a:off x="4572092" y="4599666"/>
            <a:ext cx="2805704" cy="1030509"/>
            <a:chOff x="4572092" y="4599666"/>
            <a:chExt cx="2805704" cy="103050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9A1EE1-80EC-D9B3-CBFD-88BE36AB6A0E}"/>
                </a:ext>
              </a:extLst>
            </p:cNvPr>
            <p:cNvSpPr txBox="1"/>
            <p:nvPr/>
          </p:nvSpPr>
          <p:spPr>
            <a:xfrm>
              <a:off x="4572092" y="4599666"/>
              <a:ext cx="2266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// PEB start address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59643D-04B2-5901-01C2-864C3D461A0D}"/>
                </a:ext>
              </a:extLst>
            </p:cNvPr>
            <p:cNvSpPr txBox="1"/>
            <p:nvPr/>
          </p:nvSpPr>
          <p:spPr>
            <a:xfrm>
              <a:off x="4572092" y="4983843"/>
              <a:ext cx="20842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  <a:latin typeface="Consolas" panose="020B0609020204030204" pitchFamily="49" charset="0"/>
                </a:rPr>
                <a:t>//</a:t>
              </a:r>
              <a:r>
                <a:rPr lang="en-US" altLang="ko-KR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BeingDebugged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4784E7-5C51-DC82-A98D-3A6201D55826}"/>
                </a:ext>
              </a:extLst>
            </p:cNvPr>
            <p:cNvSpPr txBox="1"/>
            <p:nvPr/>
          </p:nvSpPr>
          <p:spPr>
            <a:xfrm>
              <a:off x="4572092" y="5260843"/>
              <a:ext cx="2805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rgbClr val="FF0000"/>
                  </a:solidFill>
                </a:rPr>
                <a:t>// </a:t>
              </a:r>
              <a:r>
                <a:rPr kumimoji="1" lang="en-US" altLang="ko-KR" dirty="0" err="1">
                  <a:solidFill>
                    <a:srgbClr val="FF0000"/>
                  </a:solidFill>
                </a:rPr>
                <a:t>ebx</a:t>
              </a:r>
              <a:r>
                <a:rPr kumimoji="1" lang="en-US" altLang="ko-KR" dirty="0">
                  <a:solidFill>
                    <a:srgbClr val="FF0000"/>
                  </a:solidFill>
                </a:rPr>
                <a:t>=0 (Zero flag = 1) </a:t>
              </a:r>
              <a:endParaRPr kumimoji="1"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1055B4E-2D76-8BE9-87F9-66775F4F9283}"/>
              </a:ext>
            </a:extLst>
          </p:cNvPr>
          <p:cNvSpPr txBox="1"/>
          <p:nvPr/>
        </p:nvSpPr>
        <p:spPr>
          <a:xfrm>
            <a:off x="5316582" y="4719097"/>
            <a:ext cx="6350829" cy="9787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/>
              <a:t>Analyst's Bypass Strategy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" altLang="ko-KR" dirty="0"/>
              <a:t>Modify the </a:t>
            </a:r>
            <a:r>
              <a:rPr lang="en" altLang="ko-KR" b="1" dirty="0"/>
              <a:t>Zero Flag (ZF)</a:t>
            </a:r>
            <a:r>
              <a:rPr lang="en" altLang="ko-KR" dirty="0"/>
              <a:t> before the conditional jump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" altLang="ko-KR" dirty="0"/>
              <a:t>Manually change the </a:t>
            </a:r>
            <a:r>
              <a:rPr lang="en" altLang="ko-KR" b="1" dirty="0" err="1"/>
              <a:t>BeingDebugged</a:t>
            </a:r>
            <a:r>
              <a:rPr lang="en" altLang="ko-KR" dirty="0"/>
              <a:t> </a:t>
            </a:r>
            <a:r>
              <a:rPr lang="en" altLang="ko-KR" b="1" dirty="0"/>
              <a:t>flag to 0</a:t>
            </a:r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356925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38ADA-004E-236B-10A2-015BFDC7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BDF27-F764-CBA8-2932-71B585F6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4400" dirty="0"/>
              <a:t>Checking for System Residue</a:t>
            </a:r>
            <a:endParaRPr lang="en-US" altLang="ko-KR" sz="440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D0FCBC-5AA6-FD66-570F-BC18ABC7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6A0F9DA-5E3F-7CC7-3866-950E7DA81D7E}"/>
              </a:ext>
            </a:extLst>
          </p:cNvPr>
          <p:cNvGrpSpPr/>
          <p:nvPr/>
        </p:nvGrpSpPr>
        <p:grpSpPr>
          <a:xfrm>
            <a:off x="838200" y="2021892"/>
            <a:ext cx="10857524" cy="2116285"/>
            <a:chOff x="838200" y="2021892"/>
            <a:chExt cx="10857524" cy="211628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C7BE19-5126-E2CC-5881-D21C2B6A66AE}"/>
                </a:ext>
              </a:extLst>
            </p:cNvPr>
            <p:cNvSpPr txBox="1"/>
            <p:nvPr/>
          </p:nvSpPr>
          <p:spPr>
            <a:xfrm>
              <a:off x="838200" y="2021892"/>
              <a:ext cx="10857524" cy="21162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b="1" dirty="0"/>
                <a:t>Registry keys check</a:t>
              </a:r>
            </a:p>
            <a:p>
              <a:pPr lvl="1">
                <a:lnSpc>
                  <a:spcPct val="150000"/>
                </a:lnSpc>
              </a:pPr>
              <a:r>
                <a:rPr lang="en-US" altLang="ko-KR" dirty="0"/>
                <a:t>- </a:t>
              </a:r>
              <a:r>
                <a:rPr lang="en" altLang="ko-KR" dirty="0"/>
                <a:t>This registry key specifies the debugger activated when an application error occurs</a:t>
              </a:r>
            </a:p>
            <a:p>
              <a:pPr lvl="1">
                <a:lnSpc>
                  <a:spcPct val="150000"/>
                </a:lnSpc>
              </a:pPr>
              <a:r>
                <a:rPr lang="en-US" altLang="ko-KR" dirty="0"/>
                <a:t>- </a:t>
              </a:r>
              <a:r>
                <a:rPr lang="en" altLang="ko-KR" dirty="0"/>
                <a:t>Check whether the default debugger (e.g., Dr. Watson) has been changed to </a:t>
              </a:r>
              <a:r>
                <a:rPr lang="en" altLang="ko-KR" dirty="0" err="1"/>
                <a:t>OllyDbg</a:t>
              </a:r>
              <a:endParaRPr lang="en" altLang="ko-KR" dirty="0"/>
            </a:p>
            <a:p>
              <a:pPr>
                <a:lnSpc>
                  <a:spcPct val="150000"/>
                </a:lnSpc>
              </a:pPr>
              <a:endParaRPr lang="en-US" altLang="ko-KR" dirty="0"/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dirty="0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B6F5219-F8ED-7D40-679C-F776AB28C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5229" y="3208178"/>
              <a:ext cx="8797959" cy="7029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0E8B042-4B35-BFF7-400C-6D4E1E27A674}"/>
              </a:ext>
            </a:extLst>
          </p:cNvPr>
          <p:cNvSpPr txBox="1"/>
          <p:nvPr/>
        </p:nvSpPr>
        <p:spPr>
          <a:xfrm>
            <a:off x="894101" y="4138177"/>
            <a:ext cx="10285048" cy="170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File &amp; Directory Scanning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- Search for the debugger executable name or debugger-related files/directory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Memory &amp; Process Inspection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- Scans running processes for debugger names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latin typeface="Consolas" panose="020B0609020204030204" pitchFamily="49" charset="0"/>
              </a:rPr>
              <a:t>FindWindow</a:t>
            </a:r>
            <a:r>
              <a:rPr lang="en-US" altLang="ko-KR" dirty="0">
                <a:latin typeface="Consolas" panose="020B0609020204030204" pitchFamily="49" charset="0"/>
              </a:rPr>
              <a:t>("OLLYDBG")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BF210-9491-CD47-DA92-1646BB51622B}"/>
              </a:ext>
            </a:extLst>
          </p:cNvPr>
          <p:cNvSpPr txBox="1"/>
          <p:nvPr/>
        </p:nvSpPr>
        <p:spPr>
          <a:xfrm>
            <a:off x="225724" y="134292"/>
            <a:ext cx="7495876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- </a:t>
            </a:r>
            <a:r>
              <a:rPr lang="en-US" altLang="ko-KR" dirty="0"/>
              <a:t>① Windows Debugger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77391-885C-6BAD-D63B-962E430E19C9}"/>
              </a:ext>
            </a:extLst>
          </p:cNvPr>
          <p:cNvSpPr txBox="1"/>
          <p:nvPr/>
        </p:nvSpPr>
        <p:spPr>
          <a:xfrm>
            <a:off x="841548" y="1529739"/>
            <a:ext cx="10095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Malware</a:t>
            </a:r>
            <a:r>
              <a:rPr lang="ko-KR" altLang="en-US" dirty="0"/>
              <a:t> </a:t>
            </a:r>
            <a:r>
              <a:rPr lang="ko-KR" altLang="en-US" dirty="0" err="1"/>
              <a:t>detects</a:t>
            </a:r>
            <a:r>
              <a:rPr lang="ko-KR" altLang="en-US" dirty="0"/>
              <a:t> </a:t>
            </a:r>
            <a:r>
              <a:rPr lang="ko-KR" altLang="en-US" dirty="0" err="1"/>
              <a:t>traces</a:t>
            </a:r>
            <a:r>
              <a:rPr lang="ko-KR" altLang="en-US" dirty="0"/>
              <a:t> </a:t>
            </a:r>
            <a:r>
              <a:rPr lang="ko-KR" altLang="en-US" dirty="0" err="1"/>
              <a:t>that</a:t>
            </a:r>
            <a:r>
              <a:rPr lang="ko-KR" altLang="en-US" dirty="0"/>
              <a:t> </a:t>
            </a:r>
            <a:r>
              <a:rPr lang="ko-KR" altLang="en-US" b="1" dirty="0" err="1"/>
              <a:t>debugging</a:t>
            </a:r>
            <a:r>
              <a:rPr lang="ko-KR" altLang="en-US" b="1" dirty="0"/>
              <a:t> </a:t>
            </a:r>
            <a:r>
              <a:rPr lang="ko-KR" altLang="en-US" b="1" dirty="0" err="1"/>
              <a:t>tools</a:t>
            </a:r>
            <a:r>
              <a:rPr lang="ko-KR" altLang="en-US" b="1" dirty="0"/>
              <a:t> </a:t>
            </a:r>
            <a:r>
              <a:rPr lang="ko-KR" altLang="en-US" b="1" dirty="0" err="1"/>
              <a:t>leave</a:t>
            </a:r>
            <a:r>
              <a:rPr lang="ko-KR" altLang="en-US" b="1" dirty="0"/>
              <a:t> </a:t>
            </a:r>
            <a:r>
              <a:rPr lang="ko-KR" altLang="en-US" b="1" dirty="0" err="1"/>
              <a:t>on</a:t>
            </a:r>
            <a:r>
              <a:rPr lang="ko-KR" altLang="en-US" b="1" dirty="0"/>
              <a:t> </a:t>
            </a:r>
            <a:r>
              <a:rPr lang="ko-KR" altLang="en-US" b="1" dirty="0" err="1"/>
              <a:t>the</a:t>
            </a:r>
            <a:r>
              <a:rPr lang="ko-KR" altLang="en-US" b="1" dirty="0"/>
              <a:t> </a:t>
            </a:r>
            <a:r>
              <a:rPr lang="ko-KR" altLang="en-US" b="1" dirty="0" err="1"/>
              <a:t>system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25429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9C19D-F01F-AFEA-97B8-0D51F275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6F3DC-BDF2-2AC3-8CF3-F7F03A13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4400" dirty="0"/>
              <a:t>INT Scanning</a:t>
            </a:r>
            <a:endParaRPr lang="en-US" altLang="ko-KR" sz="440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88FB23-7061-7438-D204-2BDEEB66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EDF3A6-E443-37B2-B3D2-48C50B51844A}"/>
              </a:ext>
            </a:extLst>
          </p:cNvPr>
          <p:cNvSpPr txBox="1"/>
          <p:nvPr/>
        </p:nvSpPr>
        <p:spPr>
          <a:xfrm>
            <a:off x="913441" y="4315244"/>
            <a:ext cx="9844206" cy="17007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Analyst's Bypass Strategy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" altLang="ko-KR" b="1" dirty="0"/>
              <a:t>Use hardware breakpoints </a:t>
            </a:r>
            <a:r>
              <a:rPr lang="en" altLang="ko-KR" dirty="0"/>
              <a:t>to trigger interrupts using CPU-debug registers without modifying the original code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" altLang="ko-KR" b="1" dirty="0" err="1"/>
              <a:t>OllyDbg</a:t>
            </a:r>
            <a:r>
              <a:rPr lang="en" altLang="ko-KR" b="1" dirty="0"/>
              <a:t> (1.x/2.x)</a:t>
            </a:r>
            <a:r>
              <a:rPr lang="en-US" altLang="ko-KR" b="1" dirty="0"/>
              <a:t>: </a:t>
            </a:r>
            <a:r>
              <a:rPr lang="en" altLang="ko-KR" dirty="0"/>
              <a:t>Right-click the target address → Breakpoint → Hardware breakpoint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77993-07D9-0E2A-888D-88AA6C6F235F}"/>
              </a:ext>
            </a:extLst>
          </p:cNvPr>
          <p:cNvSpPr txBox="1"/>
          <p:nvPr/>
        </p:nvSpPr>
        <p:spPr>
          <a:xfrm>
            <a:off x="225724" y="134292"/>
            <a:ext cx="7495876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- </a:t>
            </a:r>
            <a:r>
              <a:rPr lang="en-US" altLang="ko-KR" dirty="0"/>
              <a:t>② Identifying Debugger Behavior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F863E-CC26-1FDE-65B8-D47E35559D7D}"/>
              </a:ext>
            </a:extLst>
          </p:cNvPr>
          <p:cNvSpPr txBox="1"/>
          <p:nvPr/>
        </p:nvSpPr>
        <p:spPr>
          <a:xfrm>
            <a:off x="913442" y="1801315"/>
            <a:ext cx="9844206" cy="21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/>
              <a:t>When the debugger sets a breakpoint, the </a:t>
            </a:r>
            <a:r>
              <a:rPr lang="en" altLang="ko-KR" b="1" dirty="0"/>
              <a:t>original instruction in the malware is replaced with an INT 3 instruction </a:t>
            </a:r>
            <a:r>
              <a:rPr lang="en" altLang="ko-KR" dirty="0"/>
              <a:t>(opcode: 0xCC)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en" altLang="ko-KR" dirty="0"/>
              <a:t>Software breakpoints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Malware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b="1" dirty="0"/>
              <a:t>Scans for 0xCC </a:t>
            </a:r>
            <a:r>
              <a:rPr lang="en" altLang="ko-KR" dirty="0"/>
              <a:t>(INT Scanning)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Performs</a:t>
            </a:r>
            <a:r>
              <a:rPr lang="en" altLang="ko-KR" dirty="0"/>
              <a:t> </a:t>
            </a:r>
            <a:r>
              <a:rPr lang="en" altLang="ko-KR" b="1" dirty="0"/>
              <a:t>CRC/MD5 checksums </a:t>
            </a:r>
            <a:r>
              <a:rPr lang="en" altLang="ko-KR" dirty="0"/>
              <a:t>to identify code modifications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167632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08CC-1A9D-917B-E62C-D54A2B25B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B39B6EAD-1267-4E97-3EE2-DB6539A4D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321" y="3679993"/>
            <a:ext cx="2524684" cy="29946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FF52692-DA63-69D3-D145-1DCB1BEC8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4400" dirty="0"/>
              <a:t>Timing Checks</a:t>
            </a:r>
            <a:endParaRPr lang="en-US" altLang="ko-KR" sz="440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2F9AA-CC4C-C008-5FE7-54E13CA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6DC802-4DE0-6ABB-B38D-843C1CCFBE5D}"/>
              </a:ext>
            </a:extLst>
          </p:cNvPr>
          <p:cNvSpPr txBox="1"/>
          <p:nvPr/>
        </p:nvSpPr>
        <p:spPr>
          <a:xfrm>
            <a:off x="953473" y="1757389"/>
            <a:ext cx="11044301" cy="172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R" dirty="0"/>
              <a:t>A technique for detecting </a:t>
            </a:r>
            <a:r>
              <a:rPr lang="en" altLang="ko-KR" b="1" dirty="0"/>
              <a:t>execution delays </a:t>
            </a:r>
            <a:r>
              <a:rPr lang="en" altLang="ko-KR" dirty="0"/>
              <a:t>caused by single-step execution of a debugger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" altLang="ko-KR" b="1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Malware 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R" b="1" dirty="0"/>
              <a:t>Measure the time required </a:t>
            </a:r>
            <a:r>
              <a:rPr lang="en" altLang="ko-KR" dirty="0"/>
              <a:t>to handle exceptions or execute tasks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Use timing-related functions: </a:t>
            </a:r>
            <a:r>
              <a:rPr lang="en-US" altLang="ko-KR" b="1" dirty="0" err="1">
                <a:latin typeface="Consolas" panose="020B0609020204030204" pitchFamily="49" charset="0"/>
              </a:rPr>
              <a:t>rdtsc</a:t>
            </a:r>
            <a:r>
              <a:rPr lang="en-US" altLang="ko-KR" b="1" dirty="0">
                <a:latin typeface="Consolas" panose="020B0609020204030204" pitchFamily="49" charset="0"/>
              </a:rPr>
              <a:t>, </a:t>
            </a:r>
            <a:r>
              <a:rPr lang="en-US" altLang="ko-KR" b="1" dirty="0" err="1">
                <a:latin typeface="Consolas" panose="020B0609020204030204" pitchFamily="49" charset="0"/>
              </a:rPr>
              <a:t>QueryPerformanceCounter</a:t>
            </a:r>
            <a:r>
              <a:rPr lang="en-US" altLang="ko-KR" b="1" dirty="0">
                <a:latin typeface="Consolas" panose="020B0609020204030204" pitchFamily="49" charset="0"/>
              </a:rPr>
              <a:t>, </a:t>
            </a:r>
            <a:r>
              <a:rPr lang="en-US" altLang="ko-KR" b="1" dirty="0" err="1">
                <a:latin typeface="Consolas" panose="020B0609020204030204" pitchFamily="49" charset="0"/>
              </a:rPr>
              <a:t>GetTickCount</a:t>
            </a:r>
            <a:endParaRPr lang="en-US" altLang="ko-KR" b="1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34D8B-0635-E23D-F06F-F582FE85032E}"/>
              </a:ext>
            </a:extLst>
          </p:cNvPr>
          <p:cNvSpPr txBox="1"/>
          <p:nvPr/>
        </p:nvSpPr>
        <p:spPr>
          <a:xfrm>
            <a:off x="4618426" y="4410954"/>
            <a:ext cx="6845432" cy="153272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/>
              <a:t>Analyst's Bypass Strategy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" altLang="ko-KR" dirty="0"/>
              <a:t>Identify patterns where timing-related functions are called consecutively and compared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" altLang="ko-KR" dirty="0"/>
              <a:t>Run the code at full speed during the timing check, then resume single-stepping afterward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DB05F5-035C-04A7-BD55-DA3BA19A881D}"/>
              </a:ext>
            </a:extLst>
          </p:cNvPr>
          <p:cNvSpPr/>
          <p:nvPr/>
        </p:nvSpPr>
        <p:spPr>
          <a:xfrm>
            <a:off x="1426320" y="3786623"/>
            <a:ext cx="1894395" cy="2603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981C1E-2CF0-7FD5-1C34-849A421040E7}"/>
              </a:ext>
            </a:extLst>
          </p:cNvPr>
          <p:cNvSpPr/>
          <p:nvPr/>
        </p:nvSpPr>
        <p:spPr>
          <a:xfrm>
            <a:off x="1426320" y="4257702"/>
            <a:ext cx="1894395" cy="195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F2A0A-7C66-CA15-DCA5-8591350F9504}"/>
              </a:ext>
            </a:extLst>
          </p:cNvPr>
          <p:cNvSpPr txBox="1"/>
          <p:nvPr/>
        </p:nvSpPr>
        <p:spPr>
          <a:xfrm>
            <a:off x="225724" y="134292"/>
            <a:ext cx="7495876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- </a:t>
            </a:r>
            <a:r>
              <a:rPr lang="en-US" altLang="ko-KR" dirty="0"/>
              <a:t>② Identifying Debugger Behavior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BD6AC0-721E-1A26-C6DC-7237E3F0FC15}"/>
              </a:ext>
            </a:extLst>
          </p:cNvPr>
          <p:cNvSpPr/>
          <p:nvPr/>
        </p:nvSpPr>
        <p:spPr>
          <a:xfrm>
            <a:off x="1426320" y="4626777"/>
            <a:ext cx="1962337" cy="4842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69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E368-27A5-4ED4-1498-B4D131766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346BF6-FD3A-D36A-7A90-B161ED73A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4400" dirty="0"/>
              <a:t>Using Exceptions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B255A9-71A8-6EDF-1ADB-4AEE8C75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8C8127-6156-D803-D2B4-64D5D296A5F4}"/>
              </a:ext>
            </a:extLst>
          </p:cNvPr>
          <p:cNvSpPr txBox="1"/>
          <p:nvPr/>
        </p:nvSpPr>
        <p:spPr>
          <a:xfrm>
            <a:off x="5706373" y="1821112"/>
            <a:ext cx="5917850" cy="2718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Most debuggers intercept exceptions by default and do not pass them to the program until the analyst responds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Options ▶ Debugging Options ▶ Exceptions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To detect debuggers, a malware can </a:t>
            </a:r>
            <a:r>
              <a:rPr lang="en-US" altLang="ko-KR" b="1" dirty="0"/>
              <a:t>intentionally raise an exception</a:t>
            </a:r>
            <a:r>
              <a:rPr lang="en-US" altLang="ko-KR" dirty="0"/>
              <a:t> and verify that its own exception handler executes properly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4CE7E54-D738-FB3F-C420-784141C350FF}"/>
              </a:ext>
            </a:extLst>
          </p:cNvPr>
          <p:cNvGrpSpPr/>
          <p:nvPr/>
        </p:nvGrpSpPr>
        <p:grpSpPr>
          <a:xfrm>
            <a:off x="733775" y="1559586"/>
            <a:ext cx="4972598" cy="3951688"/>
            <a:chOff x="4494209" y="2984500"/>
            <a:chExt cx="7063271" cy="4648878"/>
          </a:xfrm>
        </p:grpSpPr>
        <p:pic>
          <p:nvPicPr>
            <p:cNvPr id="7" name="그림 6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3164575-B2FB-C8E2-307E-7671361E2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94209" y="2984500"/>
              <a:ext cx="7063271" cy="4648878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744A8FB-FEB8-8708-0562-0002126FD201}"/>
                </a:ext>
              </a:extLst>
            </p:cNvPr>
            <p:cNvSpPr/>
            <p:nvPr/>
          </p:nvSpPr>
          <p:spPr>
            <a:xfrm>
              <a:off x="5062941" y="4272019"/>
              <a:ext cx="3299270" cy="175448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2ECE88E-B313-D706-D65B-ECF108E937E9}"/>
              </a:ext>
            </a:extLst>
          </p:cNvPr>
          <p:cNvSpPr txBox="1"/>
          <p:nvPr/>
        </p:nvSpPr>
        <p:spPr>
          <a:xfrm>
            <a:off x="838200" y="5715630"/>
            <a:ext cx="10515600" cy="7017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/>
              <a:t>Analyst's Bypass Strategy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Use debugging options </a:t>
            </a:r>
            <a:r>
              <a:rPr lang="en-US" altLang="ko-KR" dirty="0"/>
              <a:t>to allow all exceptions to pass to the program (check the box)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F7A12-87B4-A68E-068E-272800A3890D}"/>
              </a:ext>
            </a:extLst>
          </p:cNvPr>
          <p:cNvSpPr txBox="1"/>
          <p:nvPr/>
        </p:nvSpPr>
        <p:spPr>
          <a:xfrm>
            <a:off x="225724" y="134292"/>
            <a:ext cx="7546676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– ③</a:t>
            </a:r>
            <a:r>
              <a:rPr lang="en-US" altLang="ko-KR" dirty="0"/>
              <a:t> Interfering with Debugger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563747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F7C80-FFF8-5E34-F932-46985A31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8A4B5-E17F-CA49-A7D7-AB4C645E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4400" dirty="0"/>
              <a:t>Debugger Vulnerabilities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01C0A1-D453-B48C-5A7C-DA0A0DF8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6857C-478F-C591-2AAE-BFA51260A980}"/>
              </a:ext>
            </a:extLst>
          </p:cNvPr>
          <p:cNvSpPr txBox="1"/>
          <p:nvPr/>
        </p:nvSpPr>
        <p:spPr>
          <a:xfrm>
            <a:off x="225724" y="134292"/>
            <a:ext cx="6710654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- ④ </a:t>
            </a:r>
            <a:r>
              <a:rPr lang="en-US" altLang="ko-KR" dirty="0"/>
              <a:t>Debugger Vulnerabilities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79E12-3865-1267-4738-9857552FF505}"/>
              </a:ext>
            </a:extLst>
          </p:cNvPr>
          <p:cNvSpPr txBox="1"/>
          <p:nvPr/>
        </p:nvSpPr>
        <p:spPr>
          <a:xfrm>
            <a:off x="953476" y="1690688"/>
            <a:ext cx="10670747" cy="133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/>
              <a:t>Intentionally setting the </a:t>
            </a:r>
            <a:r>
              <a:rPr lang="en" altLang="ko-KR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SizeOfRawData</a:t>
            </a:r>
            <a:r>
              <a:rPr lang="en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R" dirty="0"/>
              <a:t>field to an excessively large value (e.g., </a:t>
            </a:r>
            <a:r>
              <a:rPr lang="en" altLang="ko-KR" sz="2000" dirty="0"/>
              <a:t>0x77777777</a:t>
            </a:r>
            <a:r>
              <a:rPr lang="en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/>
              <a:t>Malformed arguments (e.g. </a:t>
            </a:r>
            <a:r>
              <a:rPr lang="en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OutputDebugString</a:t>
            </a:r>
            <a:r>
              <a:rPr lang="en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" altLang="ko-KR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" altLang="ko-KR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s%s</a:t>
            </a:r>
            <a:r>
              <a:rPr lang="en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  <a:r>
              <a:rPr lang="en" altLang="ko-KR" dirty="0"/>
              <a:t>) can crash </a:t>
            </a:r>
            <a:r>
              <a:rPr lang="en" altLang="ko-KR" dirty="0" err="1"/>
              <a:t>OllyDbg</a:t>
            </a:r>
            <a:r>
              <a:rPr lang="en" altLang="ko-KR" dirty="0"/>
              <a:t> 1.1.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C1E0D3-A027-BFB6-194B-D18B0BB64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135" y="3079750"/>
            <a:ext cx="70485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081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F7E3-8E25-78F6-06C2-AC7EB307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0FFEC9-E4A3-C896-1330-E4710061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Anti-Virtual Machine Techniques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7C2C5-C384-FCFA-D47F-C594A6C16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ko-KR" sz="2000" b="1" dirty="0"/>
              <a:t>Objective</a:t>
            </a:r>
          </a:p>
          <a:p>
            <a:pPr lvl="1"/>
            <a:r>
              <a:rPr lang="en" altLang="ko-KR" sz="1800" dirty="0"/>
              <a:t>Detect </a:t>
            </a:r>
            <a:r>
              <a:rPr lang="en" altLang="ko-KR" sz="1800" dirty="0">
                <a:solidFill>
                  <a:srgbClr val="FF0000"/>
                </a:solidFill>
              </a:rPr>
              <a:t>whether malware is running inside a Virtual Machine (VM)</a:t>
            </a:r>
            <a:endParaRPr lang="en" altLang="ko-KR" sz="1800" dirty="0"/>
          </a:p>
          <a:p>
            <a:pPr lvl="1"/>
            <a:r>
              <a:rPr lang="en" altLang="ko-KR" sz="1800" dirty="0"/>
              <a:t>Honeypots typically run on virtual machines, but regular user environments do not</a:t>
            </a:r>
          </a:p>
          <a:p>
            <a:pPr lvl="1"/>
            <a:r>
              <a:rPr lang="en" altLang="ko-KR" sz="1800" dirty="0"/>
              <a:t>If a VM is detected, terminate execution or alter behavior</a:t>
            </a:r>
          </a:p>
          <a:p>
            <a:r>
              <a:rPr lang="en" altLang="ko-KR" sz="2000" b="1" dirty="0"/>
              <a:t>Trend</a:t>
            </a:r>
          </a:p>
          <a:p>
            <a:pPr lvl="1"/>
            <a:r>
              <a:rPr lang="en" altLang="ko-KR" sz="1800" dirty="0"/>
              <a:t>Commonly found in widespread malware (e.g., bots, scareware, spyware)</a:t>
            </a:r>
          </a:p>
          <a:p>
            <a:pPr lvl="1"/>
            <a:r>
              <a:rPr lang="en" altLang="ko-KR" sz="1800" dirty="0">
                <a:solidFill>
                  <a:srgbClr val="FF0000"/>
                </a:solidFill>
              </a:rPr>
              <a:t>Recently declining </a:t>
            </a:r>
            <a:r>
              <a:rPr lang="en" altLang="ko-KR" sz="1800" dirty="0"/>
              <a:t>due to widespread virtualization use by administrators and regular users (e.g., snapshots for system recovery)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C98397-801E-6046-6BBF-6B9E5F2D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51645-7A02-72F6-8DEE-8240E7CF2FCE}"/>
              </a:ext>
            </a:extLst>
          </p:cNvPr>
          <p:cNvSpPr txBox="1"/>
          <p:nvPr/>
        </p:nvSpPr>
        <p:spPr>
          <a:xfrm>
            <a:off x="209550" y="180459"/>
            <a:ext cx="491109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17: Anti-Virtual Machine Techniques</a:t>
            </a:r>
          </a:p>
        </p:txBody>
      </p:sp>
    </p:spTree>
    <p:extLst>
      <p:ext uri="{BB962C8B-B14F-4D97-AF65-F5344CB8AC3E}">
        <p14:creationId xmlns:p14="http://schemas.microsoft.com/office/powerpoint/2010/main" val="3916694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3E322-F37E-407D-95E1-5115087A6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VMware </a:t>
            </a:r>
            <a:r>
              <a:rPr lang="en-US" altLang="ko-KR" dirty="0"/>
              <a:t>A</a:t>
            </a:r>
            <a:r>
              <a:rPr lang="en" altLang="ko-KR" dirty="0" err="1"/>
              <a:t>rtifact</a:t>
            </a:r>
            <a:r>
              <a:rPr lang="en" altLang="ko-KR" dirty="0"/>
              <a:t>-based detection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0220DA-88CA-E12E-CEF3-F1F9C985B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445802"/>
            <a:ext cx="5705105" cy="15102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" altLang="ko-KR" sz="1800" dirty="0"/>
              <a:t>VMware leaves its </a:t>
            </a:r>
            <a:r>
              <a:rPr lang="en" altLang="ko-KR" sz="1800" b="1" dirty="0"/>
              <a:t>own unique footprint </a:t>
            </a:r>
            <a:r>
              <a:rPr lang="en" altLang="ko-KR" sz="1800" dirty="0"/>
              <a:t>on the system, especially if </a:t>
            </a:r>
            <a:r>
              <a:rPr lang="en" altLang="ko-KR" sz="1800" b="1" dirty="0"/>
              <a:t>VMware Tools is installed</a:t>
            </a:r>
          </a:p>
          <a:p>
            <a:pPr>
              <a:lnSpc>
                <a:spcPct val="100000"/>
              </a:lnSpc>
            </a:pPr>
            <a:r>
              <a:rPr lang="en" altLang="ko-KR" sz="1800" dirty="0"/>
              <a:t>Check for the string "VMware" in the list of running processes/system services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DD3F3-D855-8209-69DB-C1A222DB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CC8BA-88A1-56CB-7F3B-5301DE16861F}"/>
              </a:ext>
            </a:extLst>
          </p:cNvPr>
          <p:cNvSpPr txBox="1"/>
          <p:nvPr/>
        </p:nvSpPr>
        <p:spPr>
          <a:xfrm>
            <a:off x="209550" y="180459"/>
            <a:ext cx="494157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17: Anti-Virtual Machine Techniques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ECD3B3-DD69-36FC-5598-9AEEE6B40E6F}"/>
              </a:ext>
            </a:extLst>
          </p:cNvPr>
          <p:cNvSpPr txBox="1"/>
          <p:nvPr/>
        </p:nvSpPr>
        <p:spPr>
          <a:xfrm>
            <a:off x="838200" y="1690688"/>
            <a:ext cx="398461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① </a:t>
            </a:r>
            <a:r>
              <a:rPr lang="en" altLang="ko-KR" dirty="0"/>
              <a:t>Processes</a:t>
            </a:r>
            <a:r>
              <a:rPr lang="en-US" altLang="ko-KR" dirty="0"/>
              <a:t>/System service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6DBEDF5-E06F-A5C6-0578-E1AD68F0D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127" y="1516760"/>
            <a:ext cx="4918716" cy="50685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A06446-B953-837C-CE5D-15557B86335A}"/>
              </a:ext>
            </a:extLst>
          </p:cNvPr>
          <p:cNvSpPr txBox="1"/>
          <p:nvPr/>
        </p:nvSpPr>
        <p:spPr>
          <a:xfrm>
            <a:off x="1116271" y="4175107"/>
            <a:ext cx="4796703" cy="9233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ko-KR" dirty="0">
                <a:latin typeface="Consolas" panose="020B0609020204030204" pitchFamily="49" charset="0"/>
              </a:rPr>
              <a:t>C:\&gt; net start | </a:t>
            </a:r>
            <a:r>
              <a:rPr lang="en" altLang="ko-KR" dirty="0" err="1">
                <a:latin typeface="Consolas" panose="020B0609020204030204" pitchFamily="49" charset="0"/>
              </a:rPr>
              <a:t>findstr</a:t>
            </a:r>
            <a:r>
              <a:rPr lang="en" altLang="ko-KR" dirty="0">
                <a:latin typeface="Consolas" panose="020B0609020204030204" pitchFamily="49" charset="0"/>
              </a:rPr>
              <a:t> VMware</a:t>
            </a:r>
          </a:p>
          <a:p>
            <a:pPr>
              <a:buNone/>
            </a:pPr>
            <a:r>
              <a:rPr lang="en" altLang="ko-KR" dirty="0">
                <a:latin typeface="Consolas" panose="020B0609020204030204" pitchFamily="49" charset="0"/>
              </a:rPr>
              <a:t>VMware Physical Disk Helper Service</a:t>
            </a:r>
          </a:p>
          <a:p>
            <a:pPr>
              <a:buNone/>
            </a:pPr>
            <a:r>
              <a:rPr lang="en" altLang="ko-KR" dirty="0">
                <a:latin typeface="Consolas" panose="020B0609020204030204" pitchFamily="49" charset="0"/>
              </a:rPr>
              <a:t>VMware Tools Service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FD7D4A-1AFB-BCD6-A59B-73BAB1DE1ADE}"/>
              </a:ext>
            </a:extLst>
          </p:cNvPr>
          <p:cNvSpPr/>
          <p:nvPr/>
        </p:nvSpPr>
        <p:spPr>
          <a:xfrm>
            <a:off x="6982691" y="4857008"/>
            <a:ext cx="2099794" cy="486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5302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4A47-2647-2A04-67FD-A0C7B5632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25BA2-EE55-63EF-7448-863C12B2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/>
              <a:t>VMware </a:t>
            </a:r>
            <a:r>
              <a:rPr lang="en-US" altLang="ko-KR" dirty="0"/>
              <a:t>A</a:t>
            </a:r>
            <a:r>
              <a:rPr lang="en" altLang="ko-KR" dirty="0" err="1"/>
              <a:t>rtifact</a:t>
            </a:r>
            <a:r>
              <a:rPr lang="en" altLang="ko-KR" dirty="0"/>
              <a:t>-based Detection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D151D2-82AD-1D54-8378-D81C80804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1036C7-EA5E-62DD-DAC3-598A36BBCEED}"/>
              </a:ext>
            </a:extLst>
          </p:cNvPr>
          <p:cNvSpPr txBox="1"/>
          <p:nvPr/>
        </p:nvSpPr>
        <p:spPr>
          <a:xfrm>
            <a:off x="209550" y="180459"/>
            <a:ext cx="494157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17: Anti-Virtual Machine Techniques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A62CD-B0BF-B69E-B1F1-783AB8708739}"/>
              </a:ext>
            </a:extLst>
          </p:cNvPr>
          <p:cNvSpPr txBox="1"/>
          <p:nvPr/>
        </p:nvSpPr>
        <p:spPr>
          <a:xfrm>
            <a:off x="838200" y="1690688"/>
            <a:ext cx="398461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② R</a:t>
            </a:r>
            <a:r>
              <a:rPr lang="en" altLang="ko-KR" dirty="0" err="1"/>
              <a:t>egistry</a:t>
            </a:r>
            <a:r>
              <a:rPr lang="en" altLang="ko-KR" dirty="0"/>
              <a:t>/Hardware information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3DEB63-6EA4-8D26-6318-42C66D70C1F8}"/>
              </a:ext>
            </a:extLst>
          </p:cNvPr>
          <p:cNvSpPr txBox="1"/>
          <p:nvPr/>
        </p:nvSpPr>
        <p:spPr>
          <a:xfrm>
            <a:off x="697675" y="2253918"/>
            <a:ext cx="9978242" cy="2531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b="1" dirty="0"/>
              <a:t>Filesystem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/>
              <a:t>VMware installation directory (e.g., C:\Program Files\VMware\VMware Tools)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b="1" dirty="0"/>
              <a:t>MAC Address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/>
              <a:t>VMware virtual NIC MAC addresses typically begin with </a:t>
            </a:r>
            <a:r>
              <a:rPr lang="en" altLang="ko-KR" b="1" dirty="0"/>
              <a:t>00:0C:29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b="1" dirty="0"/>
              <a:t>Registry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/>
              <a:t>VMware-related registry </a:t>
            </a:r>
            <a:r>
              <a:rPr lang="en-US" altLang="ko-KR" dirty="0"/>
              <a:t>key </a:t>
            </a:r>
            <a:r>
              <a:rPr lang="en" altLang="ko-KR" dirty="0"/>
              <a:t>entries (e.g., Hard Drive, adapter, mouse) 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77AFA08-2C9E-C81A-6E7B-8424D23B387B}"/>
              </a:ext>
            </a:extLst>
          </p:cNvPr>
          <p:cNvGrpSpPr/>
          <p:nvPr/>
        </p:nvGrpSpPr>
        <p:grpSpPr>
          <a:xfrm>
            <a:off x="2830507" y="2253918"/>
            <a:ext cx="8794872" cy="3658243"/>
            <a:chOff x="2830507" y="2253918"/>
            <a:chExt cx="8794872" cy="365824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903036A-EDEE-9D1A-68DE-A1A14C93B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30507" y="2253918"/>
              <a:ext cx="8794872" cy="365824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2BB87A3-A0F6-20E1-8254-93E318E7415D}"/>
                </a:ext>
              </a:extLst>
            </p:cNvPr>
            <p:cNvSpPr/>
            <p:nvPr/>
          </p:nvSpPr>
          <p:spPr>
            <a:xfrm>
              <a:off x="2945080" y="2623250"/>
              <a:ext cx="3871356" cy="20833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8A71002-5F7F-B158-0610-3F89699E17B9}"/>
                </a:ext>
              </a:extLst>
            </p:cNvPr>
            <p:cNvSpPr/>
            <p:nvPr/>
          </p:nvSpPr>
          <p:spPr>
            <a:xfrm>
              <a:off x="4073236" y="3464626"/>
              <a:ext cx="3313214" cy="299144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D4004DE-7358-BDEF-3BF1-204A282C8B7F}"/>
                </a:ext>
              </a:extLst>
            </p:cNvPr>
            <p:cNvSpPr/>
            <p:nvPr/>
          </p:nvSpPr>
          <p:spPr>
            <a:xfrm>
              <a:off x="2945080" y="5244763"/>
              <a:ext cx="2006930" cy="28913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9FDB8E2-DCED-18DD-49A8-0F5239B04C65}"/>
              </a:ext>
            </a:extLst>
          </p:cNvPr>
          <p:cNvSpPr txBox="1"/>
          <p:nvPr/>
        </p:nvSpPr>
        <p:spPr>
          <a:xfrm>
            <a:off x="838200" y="5542885"/>
            <a:ext cx="10515600" cy="88024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 dirty="0"/>
              <a:t>Analyst's Bypass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sz="1600" b="1" dirty="0"/>
              <a:t>Remove VMware Tools </a:t>
            </a:r>
            <a:r>
              <a:rPr lang="en" altLang="ko-KR" sz="1600" dirty="0"/>
              <a:t>or stop related services (e.g., </a:t>
            </a:r>
            <a:r>
              <a:rPr lang="en" altLang="ko-KR" sz="1600" dirty="0">
                <a:latin typeface="Consolas" panose="020B0609020204030204" pitchFamily="49" charset="0"/>
                <a:cs typeface="Consolas" panose="020B0609020204030204" pitchFamily="49" charset="0"/>
              </a:rPr>
              <a:t>net stop "VMware Tools Service"</a:t>
            </a:r>
            <a:r>
              <a:rPr lang="en" altLang="ko-KR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sz="1600" b="1" dirty="0"/>
              <a:t>Modify specific strings </a:t>
            </a:r>
            <a:r>
              <a:rPr lang="en" altLang="ko-KR" sz="1600" dirty="0"/>
              <a:t>to make string comparison checks fail (</a:t>
            </a:r>
            <a:r>
              <a:rPr lang="en-US" altLang="ko-KR" sz="1600" dirty="0"/>
              <a:t>e.g., </a:t>
            </a:r>
            <a:r>
              <a:rPr lang="en" altLang="ko-KR" sz="1600" dirty="0"/>
              <a:t>"</a:t>
            </a:r>
            <a:r>
              <a:rPr lang="en" altLang="ko-KR" sz="1600" dirty="0" err="1"/>
              <a:t>VMwareTray.exe</a:t>
            </a:r>
            <a:r>
              <a:rPr lang="en" altLang="ko-KR" sz="1600" dirty="0"/>
              <a:t>" </a:t>
            </a:r>
            <a:r>
              <a:rPr lang="en" altLang="ko-KR" sz="1600" dirty="0">
                <a:sym typeface="Wingdings" pitchFamily="2" charset="2"/>
              </a:rPr>
              <a:t></a:t>
            </a:r>
            <a:r>
              <a:rPr lang="en" altLang="ko-KR" sz="1600" dirty="0"/>
              <a:t> "</a:t>
            </a:r>
            <a:r>
              <a:rPr lang="en" altLang="ko-KR" sz="1600" dirty="0" err="1"/>
              <a:t>XXXareTray.exe</a:t>
            </a:r>
            <a:r>
              <a:rPr lang="en" altLang="ko-KR" sz="1600" dirty="0"/>
              <a:t>" )</a:t>
            </a:r>
          </a:p>
        </p:txBody>
      </p:sp>
    </p:spTree>
    <p:extLst>
      <p:ext uri="{BB962C8B-B14F-4D97-AF65-F5344CB8AC3E}">
        <p14:creationId xmlns:p14="http://schemas.microsoft.com/office/powerpoint/2010/main" val="159293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C04B-C7FA-CEF7-8372-60DB6A99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6898C-6A05-B8F0-9B46-EB937F8A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ko-KR" sz="4000" dirty="0"/>
              <a:t>Vulnerable </a:t>
            </a:r>
            <a:r>
              <a:rPr lang="en-US" altLang="ko-KR" sz="4000" dirty="0"/>
              <a:t>I</a:t>
            </a:r>
            <a:r>
              <a:rPr lang="en" altLang="ko-KR" sz="4000" dirty="0" err="1"/>
              <a:t>nstructions</a:t>
            </a:r>
            <a:r>
              <a:rPr lang="en" altLang="ko-KR" sz="4000" dirty="0"/>
              <a:t>-based Detection</a:t>
            </a:r>
            <a:endParaRPr lang="ko-KR" altLang="en-US" sz="4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779571-A30E-66E3-9CDF-FEC1CB42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60FCB5-DEC4-8811-15BB-BF8C7D37CF5C}"/>
              </a:ext>
            </a:extLst>
          </p:cNvPr>
          <p:cNvSpPr txBox="1"/>
          <p:nvPr/>
        </p:nvSpPr>
        <p:spPr>
          <a:xfrm>
            <a:off x="209550" y="180459"/>
            <a:ext cx="494157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17: Anti-Virtual Machine Techniques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745556E-B0BB-C588-7C95-589D3FFE4DF3}"/>
              </a:ext>
            </a:extLst>
          </p:cNvPr>
          <p:cNvGrpSpPr/>
          <p:nvPr/>
        </p:nvGrpSpPr>
        <p:grpSpPr>
          <a:xfrm>
            <a:off x="1258353" y="3891605"/>
            <a:ext cx="10365871" cy="1022772"/>
            <a:chOff x="1258353" y="3901176"/>
            <a:chExt cx="10365871" cy="1022772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11799CC3-EB39-0739-7B96-E103A6C6A69A}"/>
                </a:ext>
              </a:extLst>
            </p:cNvPr>
            <p:cNvGrpSpPr/>
            <p:nvPr/>
          </p:nvGrpSpPr>
          <p:grpSpPr>
            <a:xfrm>
              <a:off x="1258353" y="3943313"/>
              <a:ext cx="6530008" cy="980635"/>
              <a:chOff x="838200" y="2938682"/>
              <a:chExt cx="6530008" cy="980635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D35D02FD-5693-0E2B-C052-FCEEF140F152}"/>
                  </a:ext>
                </a:extLst>
              </p:cNvPr>
              <p:cNvSpPr/>
              <p:nvPr/>
            </p:nvSpPr>
            <p:spPr>
              <a:xfrm>
                <a:off x="4346962" y="2952858"/>
                <a:ext cx="3021246" cy="8833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IDT</a:t>
                </a:r>
                <a:r>
                  <a:rPr lang="en" altLang="ko-KR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r>
                  <a:rPr lang="en" altLang="ko-KR" dirty="0">
                    <a:solidFill>
                      <a:schemeClr val="tx1"/>
                    </a:solidFill>
                  </a:rPr>
                  <a:t>(Interrupt Descriptor Table)</a:t>
                </a:r>
                <a:endParaRPr kumimoji="1"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713C06D3-00BB-8E57-585E-DB6418088C4F}"/>
                  </a:ext>
                </a:extLst>
              </p:cNvPr>
              <p:cNvSpPr/>
              <p:nvPr/>
            </p:nvSpPr>
            <p:spPr>
              <a:xfrm>
                <a:off x="838200" y="2938682"/>
                <a:ext cx="2541319" cy="9806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ko-KR" dirty="0">
                    <a:solidFill>
                      <a:schemeClr val="tx1"/>
                    </a:solidFill>
                  </a:rPr>
                  <a:t>CPU</a:t>
                </a:r>
              </a:p>
              <a:p>
                <a:pPr algn="ctr"/>
                <a:endParaRPr kumimoji="1"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kumimoji="1"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34A09F-1282-DBA4-70C1-504D840E3018}"/>
                  </a:ext>
                </a:extLst>
              </p:cNvPr>
              <p:cNvSpPr txBox="1"/>
              <p:nvPr/>
            </p:nvSpPr>
            <p:spPr>
              <a:xfrm>
                <a:off x="1026226" y="3358210"/>
                <a:ext cx="2165268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IDTR </a:t>
                </a:r>
                <a:r>
                  <a:rPr kumimoji="1" lang="en-US" altLang="ko-KR" dirty="0"/>
                  <a:t>(6byte)</a:t>
                </a:r>
                <a:endParaRPr kumimoji="1" lang="ko-KR" altLang="en-US" dirty="0"/>
              </a:p>
            </p:txBody>
          </p:sp>
          <p:cxnSp>
            <p:nvCxnSpPr>
              <p:cNvPr id="17" name="꺾인 연결선[E] 16">
                <a:extLst>
                  <a:ext uri="{FF2B5EF4-FFF2-40B4-BE49-F238E27FC236}">
                    <a16:creationId xmlns:a16="http://schemas.microsoft.com/office/drawing/2014/main" id="{56A6AF63-66F7-B60F-9FB5-BA3153203FE6}"/>
                  </a:ext>
                </a:extLst>
              </p:cNvPr>
              <p:cNvCxnSpPr>
                <a:stCxn id="14" idx="3"/>
              </p:cNvCxnSpPr>
              <p:nvPr/>
            </p:nvCxnSpPr>
            <p:spPr>
              <a:xfrm flipV="1">
                <a:off x="3191494" y="2952858"/>
                <a:ext cx="1155469" cy="590018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BBFC3B-1133-3A4E-2E42-B12EDDBE3CAE}"/>
                </a:ext>
              </a:extLst>
            </p:cNvPr>
            <p:cNvSpPr txBox="1"/>
            <p:nvPr/>
          </p:nvSpPr>
          <p:spPr>
            <a:xfrm>
              <a:off x="8009177" y="3901176"/>
              <a:ext cx="361504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Host  IDT : 0</a:t>
              </a:r>
              <a:r>
                <a:rPr lang="en" altLang="ko-KR" dirty="0"/>
                <a:t>x</a:t>
              </a:r>
              <a:r>
                <a:rPr lang="en" altLang="ko-KR" dirty="0">
                  <a:solidFill>
                    <a:srgbClr val="FF0000"/>
                  </a:solidFill>
                </a:rPr>
                <a:t>80</a:t>
              </a:r>
              <a:r>
                <a:rPr lang="en" altLang="ko-KR" dirty="0"/>
                <a:t>43F400</a:t>
              </a:r>
              <a:r>
                <a:rPr lang="en-US" altLang="ko-KR" dirty="0"/>
                <a:t>1111</a:t>
              </a:r>
              <a:endParaRPr lang="en" altLang="ko-KR" dirty="0"/>
            </a:p>
            <a:p>
              <a:r>
                <a:rPr lang="en" altLang="ko-KR" dirty="0"/>
                <a:t>Guest</a:t>
              </a:r>
              <a:r>
                <a:rPr lang="en-US" altLang="ko-KR" dirty="0"/>
                <a:t> IDT : </a:t>
              </a:r>
              <a:r>
                <a:rPr lang="en" altLang="ko-KR" dirty="0"/>
                <a:t>0x</a:t>
              </a:r>
              <a:r>
                <a:rPr lang="en" altLang="ko-KR" dirty="0">
                  <a:solidFill>
                    <a:srgbClr val="FF0000"/>
                  </a:solidFill>
                </a:rPr>
                <a:t>FF</a:t>
              </a:r>
              <a:r>
                <a:rPr lang="en" altLang="ko-KR" dirty="0"/>
                <a:t>123000</a:t>
              </a:r>
              <a:r>
                <a:rPr lang="en-US" altLang="ko-KR" dirty="0"/>
                <a:t>1111 </a:t>
              </a:r>
            </a:p>
            <a:p>
              <a:r>
                <a:rPr lang="en" altLang="ko-KR" dirty="0"/>
                <a:t>VMware's signature</a:t>
              </a:r>
              <a:endParaRPr lang="ko-KR" altLang="en-US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A5057EC-01AD-30F5-4CA0-29DBC174C8E1}"/>
              </a:ext>
            </a:extLst>
          </p:cNvPr>
          <p:cNvSpPr txBox="1"/>
          <p:nvPr/>
        </p:nvSpPr>
        <p:spPr>
          <a:xfrm>
            <a:off x="785019" y="1721207"/>
            <a:ext cx="109431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/>
              <a:t>A detection technique that exploits the fact that certain </a:t>
            </a:r>
            <a:r>
              <a:rPr lang="en-US" altLang="ko-KR" b="1" dirty="0"/>
              <a:t>user-mode </a:t>
            </a:r>
            <a:r>
              <a:rPr lang="en" altLang="ko-KR" b="1" dirty="0"/>
              <a:t>instructions</a:t>
            </a:r>
            <a:r>
              <a:rPr lang="en" altLang="ko-KR" dirty="0"/>
              <a:t> </a:t>
            </a:r>
            <a:br>
              <a:rPr lang="en" altLang="ko-KR" dirty="0"/>
            </a:br>
            <a:r>
              <a:rPr lang="en" altLang="ko-KR" dirty="0"/>
              <a:t>return different values in a </a:t>
            </a:r>
            <a:r>
              <a:rPr lang="en-US" altLang="ko-KR" dirty="0">
                <a:solidFill>
                  <a:srgbClr val="FF0000"/>
                </a:solidFill>
              </a:rPr>
              <a:t>VMware (</a:t>
            </a:r>
            <a:r>
              <a:rPr lang="en" altLang="ko-KR" dirty="0">
                <a:solidFill>
                  <a:srgbClr val="FF0000"/>
                </a:solidFill>
              </a:rPr>
              <a:t>guest OS) compared to a physical machine (host OS)</a:t>
            </a:r>
            <a:endParaRPr lang="en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Vulnerable instructions: </a:t>
            </a:r>
            <a:r>
              <a:rPr lang="en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sidt</a:t>
            </a:r>
            <a:r>
              <a:rPr lang="en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sgdt</a:t>
            </a:r>
            <a:r>
              <a:rPr lang="en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sldt</a:t>
            </a:r>
            <a:r>
              <a:rPr lang="en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smsw</a:t>
            </a:r>
            <a:r>
              <a:rPr lang="en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, str, in, cupid</a:t>
            </a:r>
          </a:p>
          <a:p>
            <a:pPr lvl="1"/>
            <a:endParaRPr lang="en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b="1" dirty="0"/>
              <a:t>Red Pill anti-VM technique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Use the </a:t>
            </a:r>
            <a:r>
              <a:rPr lang="en" altLang="ko-KR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sidt</a:t>
            </a:r>
            <a:r>
              <a:rPr lang="en" altLang="ko-KR" dirty="0">
                <a:solidFill>
                  <a:srgbClr val="FF0000"/>
                </a:solidFill>
              </a:rPr>
              <a:t> </a:t>
            </a:r>
            <a:r>
              <a:rPr lang="en" altLang="ko-KR" dirty="0"/>
              <a:t>instruction</a:t>
            </a:r>
            <a:r>
              <a:rPr lang="en" altLang="ko-KR" dirty="0">
                <a:solidFill>
                  <a:srgbClr val="FF0000"/>
                </a:solidFill>
              </a:rPr>
              <a:t> </a:t>
            </a:r>
            <a:r>
              <a:rPr lang="en" altLang="ko-KR" dirty="0"/>
              <a:t>to read the IDTR (Interrupt Descriptor Table Register)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Check its fifth byte; if it is </a:t>
            </a:r>
            <a:r>
              <a:rPr lang="en" altLang="ko-KR" dirty="0">
                <a:solidFill>
                  <a:srgbClr val="FF0000"/>
                </a:solidFill>
              </a:rPr>
              <a:t>0xFF</a:t>
            </a:r>
            <a:r>
              <a:rPr lang="en" altLang="ko-KR" dirty="0"/>
              <a:t>, VMware is assumed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7932F1-7BFD-7715-40B9-5F7BD66E033D}"/>
              </a:ext>
            </a:extLst>
          </p:cNvPr>
          <p:cNvSpPr txBox="1"/>
          <p:nvPr/>
        </p:nvSpPr>
        <p:spPr>
          <a:xfrm>
            <a:off x="785019" y="5333905"/>
            <a:ext cx="10515600" cy="9495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 dirty="0"/>
              <a:t>Analyst's Bypass Strategy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R" sz="1600" b="1" dirty="0"/>
              <a:t>Automatically identify anti-VM instructions </a:t>
            </a:r>
            <a:r>
              <a:rPr lang="en" altLang="ko-KR" sz="1600" dirty="0"/>
              <a:t>(e.g., </a:t>
            </a:r>
            <a:r>
              <a:rPr lang="en" altLang="ko-K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sidt</a:t>
            </a:r>
            <a:r>
              <a:rPr lang="en" altLang="ko-KR" sz="1600" dirty="0"/>
              <a:t>) and bypass it by </a:t>
            </a:r>
            <a:r>
              <a:rPr lang="en" altLang="ko-KR" sz="1600" b="1" dirty="0"/>
              <a:t>inserting NOP instructions </a:t>
            </a:r>
            <a:r>
              <a:rPr lang="en" altLang="ko-KR" sz="1600" dirty="0"/>
              <a:t>or modifying conditional jumps</a:t>
            </a:r>
          </a:p>
        </p:txBody>
      </p:sp>
    </p:spTree>
    <p:extLst>
      <p:ext uri="{BB962C8B-B14F-4D97-AF65-F5344CB8AC3E}">
        <p14:creationId xmlns:p14="http://schemas.microsoft.com/office/powerpoint/2010/main" val="378208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797A9-0F1A-C413-2839-1AE63B85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87FCD-927D-E825-F173-A8495389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1A4BB-F29C-DD6D-9CE6-08ADE6C92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5198"/>
            <a:ext cx="11023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Q1. Which </a:t>
            </a:r>
            <a:r>
              <a:rPr lang="en-US" altLang="ko-KR" sz="1800" b="1" dirty="0"/>
              <a:t>anti-debugging</a:t>
            </a:r>
            <a:r>
              <a:rPr lang="en-US" altLang="ko-KR" sz="1800" dirty="0"/>
              <a:t> </a:t>
            </a:r>
            <a:r>
              <a:rPr lang="en-US" altLang="ko-KR" sz="1800" b="1" dirty="0"/>
              <a:t>techniques</a:t>
            </a:r>
            <a:r>
              <a:rPr lang="en-US" altLang="ko-KR" sz="1800" dirty="0"/>
              <a:t> does this malware employ? </a:t>
            </a:r>
          </a:p>
          <a:p>
            <a:pPr marL="0" indent="0">
              <a:buNone/>
            </a:pPr>
            <a:r>
              <a:rPr lang="en-US" altLang="ko-KR" sz="1800" dirty="0"/>
              <a:t>Q2. </a:t>
            </a:r>
            <a:r>
              <a:rPr lang="en-US" altLang="ko-KR" sz="1800" b="1" dirty="0"/>
              <a:t>What happens </a:t>
            </a:r>
            <a:r>
              <a:rPr lang="en-US" altLang="ko-KR" sz="1800" dirty="0"/>
              <a:t>when each anti-debugging technique succeeds? </a:t>
            </a:r>
          </a:p>
          <a:p>
            <a:pPr marL="0" indent="0">
              <a:buNone/>
            </a:pPr>
            <a:r>
              <a:rPr lang="en-US" altLang="ko-KR" sz="1800" dirty="0"/>
              <a:t>Q3. </a:t>
            </a:r>
            <a:r>
              <a:rPr lang="en-US" altLang="ko-KR" sz="1800" b="1" dirty="0"/>
              <a:t>How can you get around </a:t>
            </a:r>
            <a:r>
              <a:rPr lang="en-US" altLang="ko-KR" sz="1800" dirty="0"/>
              <a:t>these anti-debugging techniques? </a:t>
            </a:r>
          </a:p>
          <a:p>
            <a:pPr marL="0" indent="0">
              <a:buNone/>
            </a:pPr>
            <a:r>
              <a:rPr lang="en-US" altLang="ko-KR" sz="1800" dirty="0"/>
              <a:t>Q4. How do you </a:t>
            </a:r>
            <a:r>
              <a:rPr lang="en-US" altLang="ko-KR" sz="1800" b="1" dirty="0"/>
              <a:t>manually change the structures </a:t>
            </a:r>
            <a:r>
              <a:rPr lang="en-US" altLang="ko-KR" sz="1800" dirty="0"/>
              <a:t>checked during runtime? </a:t>
            </a:r>
          </a:p>
          <a:p>
            <a:pPr marL="0" indent="0">
              <a:buNone/>
            </a:pPr>
            <a:r>
              <a:rPr lang="en-US" altLang="ko-KR" sz="1800" dirty="0"/>
              <a:t>Q5. Which </a:t>
            </a:r>
            <a:r>
              <a:rPr lang="en-US" altLang="ko-KR" sz="1800" b="1" dirty="0" err="1"/>
              <a:t>OllyDbg</a:t>
            </a:r>
            <a:r>
              <a:rPr lang="en-US" altLang="ko-KR" sz="1800" b="1" dirty="0"/>
              <a:t> plug-in</a:t>
            </a:r>
            <a:r>
              <a:rPr lang="en-US" altLang="ko-KR" sz="1800" dirty="0"/>
              <a:t> will protect you from the anti-debugging techniques used by this malware?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2ACE17-7D9E-C72B-E244-6A4ED31F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1BB46-AD16-006A-73AE-B16C4AD5E094}"/>
              </a:ext>
            </a:extLst>
          </p:cNvPr>
          <p:cNvSpPr txBox="1"/>
          <p:nvPr/>
        </p:nvSpPr>
        <p:spPr>
          <a:xfrm>
            <a:off x="209550" y="180459"/>
            <a:ext cx="424815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(</a:t>
            </a:r>
            <a:r>
              <a:rPr lang="en-US" altLang="ko-KR" dirty="0"/>
              <a:t>Lab 16-1)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2E754B-C0A8-97E4-0610-AF41326B960A}"/>
              </a:ext>
            </a:extLst>
          </p:cNvPr>
          <p:cNvSpPr txBox="1"/>
          <p:nvPr/>
        </p:nvSpPr>
        <p:spPr>
          <a:xfrm>
            <a:off x="838200" y="1502459"/>
            <a:ext cx="927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Analyze the malware found in Lab16-01.exe using a debugger. </a:t>
            </a:r>
          </a:p>
        </p:txBody>
      </p:sp>
    </p:spTree>
    <p:extLst>
      <p:ext uri="{BB962C8B-B14F-4D97-AF65-F5344CB8AC3E}">
        <p14:creationId xmlns:p14="http://schemas.microsoft.com/office/powerpoint/2010/main" val="1155885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01E67-7421-F77F-922B-13D19B15D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75202-C920-50F6-3699-CE8E68605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Q1. Which anti-debugging techniques does this malware employ?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DD6A31-484B-73B6-91C6-AB47CADE7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798"/>
            <a:ext cx="11023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/>
              <a:t>Windows debugger detection techniques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/>
              <a:t>The malware checks the status of the </a:t>
            </a:r>
            <a:r>
              <a:rPr lang="en-US" altLang="ko-KR" sz="1800" dirty="0" err="1"/>
              <a:t>BeingDebugged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ProcessHeap</a:t>
            </a:r>
            <a:r>
              <a:rPr lang="en-US" altLang="ko-KR" sz="1800" dirty="0"/>
              <a:t>, and </a:t>
            </a:r>
            <a:r>
              <a:rPr lang="en-US" altLang="ko-KR" sz="1800" dirty="0" err="1"/>
              <a:t>NTGlobalFlag</a:t>
            </a:r>
            <a:r>
              <a:rPr lang="en-US" altLang="ko-KR" sz="1800" dirty="0"/>
              <a:t> flags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F360BD-606B-053D-2F6C-E8C6B668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984E2-1E87-D9D1-CD72-EB9E7F8C33B9}"/>
              </a:ext>
            </a:extLst>
          </p:cNvPr>
          <p:cNvSpPr txBox="1"/>
          <p:nvPr/>
        </p:nvSpPr>
        <p:spPr>
          <a:xfrm>
            <a:off x="209550" y="180459"/>
            <a:ext cx="424815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(</a:t>
            </a:r>
            <a:r>
              <a:rPr lang="en-US" altLang="ko-KR" dirty="0"/>
              <a:t>Lab 16-1)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6089A35-E0AD-D531-0CB6-2D4602348B3A}"/>
              </a:ext>
            </a:extLst>
          </p:cNvPr>
          <p:cNvGrpSpPr/>
          <p:nvPr/>
        </p:nvGrpSpPr>
        <p:grpSpPr>
          <a:xfrm>
            <a:off x="1840260" y="2588695"/>
            <a:ext cx="7891140" cy="1233947"/>
            <a:chOff x="838200" y="2906713"/>
            <a:chExt cx="10503107" cy="1642384"/>
          </a:xfrm>
        </p:grpSpPr>
        <p:pic>
          <p:nvPicPr>
            <p:cNvPr id="19" name="그림 18" descr="텍스트, 폰트, 스크린샷, 화이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5FEED4F-1324-BCF6-07F4-79FFA017D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2576" y="3187687"/>
              <a:ext cx="3788731" cy="1361410"/>
            </a:xfrm>
            <a:prstGeom prst="rect">
              <a:avLst/>
            </a:prstGeom>
          </p:spPr>
        </p:pic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8C6A8BFC-EB0A-B15B-86D2-3C6860C5A14F}"/>
                </a:ext>
              </a:extLst>
            </p:cNvPr>
            <p:cNvGrpSpPr/>
            <p:nvPr/>
          </p:nvGrpSpPr>
          <p:grpSpPr>
            <a:xfrm>
              <a:off x="838200" y="2906713"/>
              <a:ext cx="6362700" cy="1489658"/>
              <a:chOff x="838200" y="2906713"/>
              <a:chExt cx="6362700" cy="1489658"/>
            </a:xfrm>
          </p:grpSpPr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7E2888EF-45E4-4009-C98F-09D12313D695}"/>
                  </a:ext>
                </a:extLst>
              </p:cNvPr>
              <p:cNvGrpSpPr/>
              <p:nvPr/>
            </p:nvGrpSpPr>
            <p:grpSpPr>
              <a:xfrm>
                <a:off x="838200" y="3340413"/>
                <a:ext cx="6362700" cy="1055958"/>
                <a:chOff x="409575" y="3636687"/>
                <a:chExt cx="6362700" cy="1055958"/>
              </a:xfrm>
            </p:grpSpPr>
            <p:pic>
              <p:nvPicPr>
                <p:cNvPr id="8" name="그림 7" descr="텍스트, 영수증, 폰트, 화이트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74C13388-2FB5-A1E2-6364-53E0258DF3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t="26530"/>
                <a:stretch>
                  <a:fillRect/>
                </a:stretch>
              </p:blipFill>
              <p:spPr>
                <a:xfrm>
                  <a:off x="409575" y="3636687"/>
                  <a:ext cx="6362700" cy="1055958"/>
                </a:xfrm>
                <a:prstGeom prst="rect">
                  <a:avLst/>
                </a:prstGeom>
              </p:spPr>
            </p:pic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389D0264-D161-23B8-F9DA-36E1CC63EBC4}"/>
                    </a:ext>
                  </a:extLst>
                </p:cNvPr>
                <p:cNvSpPr/>
                <p:nvPr/>
              </p:nvSpPr>
              <p:spPr>
                <a:xfrm>
                  <a:off x="2913701" y="3636687"/>
                  <a:ext cx="3268024" cy="35428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072A5D9-0E6D-804B-B252-AC49587EAAE1}"/>
                  </a:ext>
                </a:extLst>
              </p:cNvPr>
              <p:cNvSpPr txBox="1"/>
              <p:nvPr/>
            </p:nvSpPr>
            <p:spPr>
              <a:xfrm>
                <a:off x="3342326" y="2906713"/>
                <a:ext cx="3332362" cy="491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800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BeingDebugged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0ACD0EC-634E-0C2E-956C-EBB2AC0BF952}"/>
              </a:ext>
            </a:extLst>
          </p:cNvPr>
          <p:cNvGrpSpPr/>
          <p:nvPr/>
        </p:nvGrpSpPr>
        <p:grpSpPr>
          <a:xfrm>
            <a:off x="1765601" y="3793776"/>
            <a:ext cx="7955428" cy="1341940"/>
            <a:chOff x="838200" y="3624079"/>
            <a:chExt cx="10588675" cy="1786123"/>
          </a:xfrm>
        </p:grpSpPr>
        <p:pic>
          <p:nvPicPr>
            <p:cNvPr id="27" name="그림 26" descr="텍스트, 폰트, 스크린샷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01337F0-E345-6FF4-4A14-4F60FF7F9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934" y="3990977"/>
              <a:ext cx="3923941" cy="1419225"/>
            </a:xfrm>
            <a:prstGeom prst="rect">
              <a:avLst/>
            </a:prstGeom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C79795F0-DF82-1DBF-ACD0-046AFF39A7E8}"/>
                </a:ext>
              </a:extLst>
            </p:cNvPr>
            <p:cNvGrpSpPr/>
            <p:nvPr/>
          </p:nvGrpSpPr>
          <p:grpSpPr>
            <a:xfrm>
              <a:off x="838200" y="3624079"/>
              <a:ext cx="6476198" cy="1615597"/>
              <a:chOff x="951339" y="4673389"/>
              <a:chExt cx="6476198" cy="1615597"/>
            </a:xfrm>
          </p:grpSpPr>
          <p:pic>
            <p:nvPicPr>
              <p:cNvPr id="10" name="그림 9" descr="텍스트, 폰트, 영수증, 스크린샷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EBF74A5-3CD1-1919-DD85-B630CD7D24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812" t="3481" r="1" b="1166"/>
              <a:stretch>
                <a:fillRect/>
              </a:stretch>
            </p:blipFill>
            <p:spPr>
              <a:xfrm>
                <a:off x="951339" y="5071155"/>
                <a:ext cx="6476198" cy="1217831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30ED21-51C2-52F3-3BBC-CC6444B9F3F6}"/>
                  </a:ext>
                </a:extLst>
              </p:cNvPr>
              <p:cNvSpPr txBox="1"/>
              <p:nvPr/>
            </p:nvSpPr>
            <p:spPr>
              <a:xfrm>
                <a:off x="3797661" y="4673389"/>
                <a:ext cx="3143684" cy="491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ProcessHeap</a:t>
                </a:r>
                <a:endParaRPr lang="ko-KR" altLang="en-US" dirty="0">
                  <a:solidFill>
                    <a:srgbClr val="FF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673B07D7-5C37-839F-E615-F723E56C340B}"/>
                  </a:ext>
                </a:extLst>
              </p:cNvPr>
              <p:cNvSpPr/>
              <p:nvPr/>
            </p:nvSpPr>
            <p:spPr>
              <a:xfrm>
                <a:off x="3797662" y="5071155"/>
                <a:ext cx="3403237" cy="54587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338187-F8C4-EF87-C9FF-A7A47F2CC9E1}"/>
              </a:ext>
            </a:extLst>
          </p:cNvPr>
          <p:cNvGrpSpPr/>
          <p:nvPr/>
        </p:nvGrpSpPr>
        <p:grpSpPr>
          <a:xfrm>
            <a:off x="1765601" y="5113231"/>
            <a:ext cx="7892760" cy="1158298"/>
            <a:chOff x="765125" y="5240165"/>
            <a:chExt cx="10505264" cy="1541694"/>
          </a:xfrm>
        </p:grpSpPr>
        <p:pic>
          <p:nvPicPr>
            <p:cNvPr id="34" name="그림 33" descr="텍스트, 폰트, 라인, 화이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89FB0DB-99E3-D62D-C2EB-808D20AC5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79439" y="5553134"/>
              <a:ext cx="3790950" cy="1228725"/>
            </a:xfrm>
            <a:prstGeom prst="rect">
              <a:avLst/>
            </a:prstGeom>
          </p:spPr>
        </p:pic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DA6D39E3-06A8-4ACA-D49B-7F38E1576AE7}"/>
                </a:ext>
              </a:extLst>
            </p:cNvPr>
            <p:cNvGrpSpPr/>
            <p:nvPr/>
          </p:nvGrpSpPr>
          <p:grpSpPr>
            <a:xfrm>
              <a:off x="765125" y="5240165"/>
              <a:ext cx="6433555" cy="1536431"/>
              <a:chOff x="765125" y="5240165"/>
              <a:chExt cx="6433555" cy="1536431"/>
            </a:xfrm>
          </p:grpSpPr>
          <p:pic>
            <p:nvPicPr>
              <p:cNvPr id="12" name="그림 11" descr="텍스트, 영수증, 폰트, 스크린샷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08F510F6-4A66-477D-15F8-5E43378AD4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32173" r="3561" b="2942"/>
              <a:stretch>
                <a:fillRect/>
              </a:stretch>
            </p:blipFill>
            <p:spPr>
              <a:xfrm>
                <a:off x="765125" y="5611596"/>
                <a:ext cx="6433555" cy="11650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C4A5D2-BE72-78A7-2BC3-330FE728BFAB}"/>
                  </a:ext>
                </a:extLst>
              </p:cNvPr>
              <p:cNvSpPr txBox="1"/>
              <p:nvPr/>
            </p:nvSpPr>
            <p:spPr>
              <a:xfrm>
                <a:off x="3833081" y="5240165"/>
                <a:ext cx="3268023" cy="491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 err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NTGlobalFlag</a:t>
                </a:r>
                <a:endParaRPr lang="ko-KR" altLang="en-US" dirty="0">
                  <a:solidFill>
                    <a:srgbClr val="FF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9A9DF065-584B-2B62-7C1C-7647875E64A1}"/>
                  </a:ext>
                </a:extLst>
              </p:cNvPr>
              <p:cNvSpPr/>
              <p:nvPr/>
            </p:nvSpPr>
            <p:spPr>
              <a:xfrm>
                <a:off x="3701248" y="5611596"/>
                <a:ext cx="3268024" cy="35428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7829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4A2C-6DD8-A51C-DB34-5358904E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0687E-BC97-550B-7571-646EC03A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Q2. What happens when each anti-debugging technique succeeds?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D5DF66-6177-6601-D20A-7142B9C19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798"/>
            <a:ext cx="11023600" cy="435133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altLang="ko-KR" sz="1800" dirty="0"/>
              <a:t>If any of the malware’s anti-debugging techniques succeed, it will terminate.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EC3C7-A260-037F-C5CB-333C6918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2525D-467A-D642-D6BD-A61520A0C639}"/>
              </a:ext>
            </a:extLst>
          </p:cNvPr>
          <p:cNvSpPr txBox="1"/>
          <p:nvPr/>
        </p:nvSpPr>
        <p:spPr>
          <a:xfrm>
            <a:off x="209550" y="180459"/>
            <a:ext cx="424815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(</a:t>
            </a:r>
            <a:r>
              <a:rPr lang="en-US" altLang="ko-KR" dirty="0"/>
              <a:t>Lab 16-1)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9741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B35B-67AF-ED2E-7008-F23DE48C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37A97-BF72-ACAD-DFE4-C884D611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Q3. How can you get around these anti-debugging techniques?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631002-61B5-E3D4-B3D3-9B93B0773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798"/>
            <a:ext cx="11023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dirty="0"/>
              <a:t>Using plugins like </a:t>
            </a:r>
            <a:r>
              <a:rPr lang="en-US" altLang="ko-KR" sz="1800" dirty="0" err="1"/>
              <a:t>OllyDbg</a:t>
            </a:r>
            <a:r>
              <a:rPr lang="en-US" altLang="ko-KR" sz="1800" dirty="0"/>
              <a:t>, you can quickly and easily modify the </a:t>
            </a:r>
            <a:r>
              <a:rPr lang="en-US" altLang="ko-KR" sz="1800" dirty="0" err="1"/>
              <a:t>BeingDebugged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ProcessHeap</a:t>
            </a:r>
            <a:r>
              <a:rPr lang="en-US" altLang="ko-KR" sz="1800" dirty="0"/>
              <a:t>, and </a:t>
            </a:r>
            <a:r>
              <a:rPr lang="en-US" altLang="ko-KR" sz="1800" dirty="0" err="1"/>
              <a:t>NTGlobalFlag</a:t>
            </a:r>
            <a:r>
              <a:rPr lang="en-US" altLang="ko-KR" sz="1800" dirty="0"/>
              <a:t> flags that malware checks in memory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1DEEF9-E757-2322-D20A-F12F98A9A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46A5A-D251-BCDE-9E81-B8982293C43B}"/>
              </a:ext>
            </a:extLst>
          </p:cNvPr>
          <p:cNvSpPr txBox="1"/>
          <p:nvPr/>
        </p:nvSpPr>
        <p:spPr>
          <a:xfrm>
            <a:off x="209550" y="180459"/>
            <a:ext cx="424815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(</a:t>
            </a:r>
            <a:r>
              <a:rPr lang="en-US" altLang="ko-KR" dirty="0"/>
              <a:t>Lab 16-1)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" name="그림 11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15F7CF-878F-B2E0-FED8-3360B90684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05" t="26717" r="25306" b="2175"/>
          <a:stretch>
            <a:fillRect/>
          </a:stretch>
        </p:blipFill>
        <p:spPr>
          <a:xfrm>
            <a:off x="3383280" y="2664151"/>
            <a:ext cx="2966720" cy="401339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A65234B-D7E6-60C9-1AD8-DB7CEB57BDB1}"/>
              </a:ext>
            </a:extLst>
          </p:cNvPr>
          <p:cNvSpPr txBox="1"/>
          <p:nvPr/>
        </p:nvSpPr>
        <p:spPr>
          <a:xfrm>
            <a:off x="6472512" y="6354375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PhantOm</a:t>
            </a:r>
            <a:r>
              <a:rPr lang="en-US" altLang="ko-KR" sz="1200" dirty="0"/>
              <a:t>, </a:t>
            </a:r>
            <a:r>
              <a:rPr lang="ko-KR" altLang="en-US" sz="1200" dirty="0"/>
              <a:t>https://github.com/JackAston/OllyDbg1plugins/tree/master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8B968D-C6DF-9E5F-0FCC-0BA3328CE4F3}"/>
              </a:ext>
            </a:extLst>
          </p:cNvPr>
          <p:cNvSpPr txBox="1"/>
          <p:nvPr/>
        </p:nvSpPr>
        <p:spPr>
          <a:xfrm>
            <a:off x="6472512" y="2884803"/>
            <a:ext cx="5003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ko-KR" dirty="0" err="1"/>
              <a:t>PhantOm</a:t>
            </a:r>
            <a:endParaRPr lang="en-US" altLang="ko-KR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altLang="ko-KR" dirty="0"/>
              <a:t>If we select the first option, Hide from PEB, the </a:t>
            </a:r>
            <a:r>
              <a:rPr lang="en-US" altLang="ko-KR" dirty="0" err="1"/>
              <a:t>BeingDebugged</a:t>
            </a:r>
            <a:r>
              <a:rPr lang="en-US" altLang="ko-KR" dirty="0"/>
              <a:t> flag will be set to 0 the next time </a:t>
            </a:r>
            <a:r>
              <a:rPr lang="en-US" altLang="ko-KR" dirty="0" err="1"/>
              <a:t>OllyDbg</a:t>
            </a:r>
            <a:r>
              <a:rPr lang="en-US" altLang="ko-KR" dirty="0"/>
              <a:t> loads the malware.</a:t>
            </a:r>
            <a:endParaRPr lang="ko-KR" altLang="en-US" sz="18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7615A93-5462-561F-2BD8-47ABF66BEAEE}"/>
              </a:ext>
            </a:extLst>
          </p:cNvPr>
          <p:cNvSpPr/>
          <p:nvPr/>
        </p:nvSpPr>
        <p:spPr>
          <a:xfrm>
            <a:off x="3810931" y="3335719"/>
            <a:ext cx="2080418" cy="204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934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75983-72BB-141B-1B0C-3CE7E56A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FC2B3-F8C7-7D4B-65BF-30700380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Q4. How do you manually change the structures checked during runtime?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6B9B84-F079-7963-4A1A-443FF7706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798"/>
            <a:ext cx="11023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/>
              <a:t>We can just dump the PEB contents in </a:t>
            </a:r>
            <a:r>
              <a:rPr lang="en-US" altLang="ko-KR" sz="1800" dirty="0" err="1"/>
              <a:t>OllyDbg</a:t>
            </a:r>
            <a:r>
              <a:rPr lang="en-US" altLang="ko-KR" sz="1800" dirty="0"/>
              <a:t> and then fill those addresses with 0 (0x00)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altLang="ko-KR" sz="1800" dirty="0"/>
              <a:t>Select Plugins ▶Command Line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altLang="ko-KR" sz="1800" dirty="0"/>
              <a:t>Right-click the flag value and select Binary ▶ Fill With 00’s 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669979-BCD0-3631-9B9E-739D9A38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D0727-05BA-829B-3C37-64602784662E}"/>
              </a:ext>
            </a:extLst>
          </p:cNvPr>
          <p:cNvSpPr txBox="1"/>
          <p:nvPr/>
        </p:nvSpPr>
        <p:spPr>
          <a:xfrm>
            <a:off x="209550" y="180459"/>
            <a:ext cx="424815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(</a:t>
            </a:r>
            <a:r>
              <a:rPr lang="en-US" altLang="ko-KR" dirty="0"/>
              <a:t>Lab 16-1)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77EB362-17AB-E6D9-D807-D8F5B673037C}"/>
              </a:ext>
            </a:extLst>
          </p:cNvPr>
          <p:cNvGrpSpPr/>
          <p:nvPr/>
        </p:nvGrpSpPr>
        <p:grpSpPr>
          <a:xfrm>
            <a:off x="1393901" y="2773361"/>
            <a:ext cx="9338935" cy="3745345"/>
            <a:chOff x="1818789" y="2629763"/>
            <a:chExt cx="9338935" cy="374534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403EF50-2FD9-5788-D44B-42356F8F92CC}"/>
                </a:ext>
              </a:extLst>
            </p:cNvPr>
            <p:cNvGrpSpPr/>
            <p:nvPr/>
          </p:nvGrpSpPr>
          <p:grpSpPr>
            <a:xfrm>
              <a:off x="1818789" y="2629763"/>
              <a:ext cx="9338935" cy="1812582"/>
              <a:chOff x="2225388" y="2629763"/>
              <a:chExt cx="11300112" cy="1812582"/>
            </a:xfrm>
          </p:grpSpPr>
          <p:pic>
            <p:nvPicPr>
              <p:cNvPr id="8" name="그림 7" descr="텍스트, 스크린샷, 디스플레이,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D6D8981-B353-FCA0-3C32-EF4189AEB4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" r="7436" b="68932"/>
              <a:stretch>
                <a:fillRect/>
              </a:stretch>
            </p:blipFill>
            <p:spPr>
              <a:xfrm>
                <a:off x="2225388" y="2629763"/>
                <a:ext cx="11300112" cy="1812582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97D9E754-E7B8-26A3-7A23-3E2D4AB22C84}"/>
                  </a:ext>
                </a:extLst>
              </p:cNvPr>
              <p:cNvSpPr/>
              <p:nvPr/>
            </p:nvSpPr>
            <p:spPr>
              <a:xfrm>
                <a:off x="3073400" y="3060700"/>
                <a:ext cx="368300" cy="228600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93C57DD-5143-15D3-7AE0-3193D8417078}"/>
                </a:ext>
              </a:extLst>
            </p:cNvPr>
            <p:cNvGrpSpPr/>
            <p:nvPr/>
          </p:nvGrpSpPr>
          <p:grpSpPr>
            <a:xfrm>
              <a:off x="1818789" y="4657260"/>
              <a:ext cx="9338935" cy="1717848"/>
              <a:chOff x="2225388" y="4543768"/>
              <a:chExt cx="11300112" cy="1717848"/>
            </a:xfrm>
          </p:grpSpPr>
          <p:pic>
            <p:nvPicPr>
              <p:cNvPr id="10" name="그림 9" descr="텍스트, 스크린샷, 디스플레이,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A0688C4-31E4-DF4F-D7A2-7422CBC564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" r="7436" b="69834"/>
              <a:stretch>
                <a:fillRect/>
              </a:stretch>
            </p:blipFill>
            <p:spPr>
              <a:xfrm>
                <a:off x="2225388" y="4543768"/>
                <a:ext cx="11300112" cy="1717848"/>
              </a:xfrm>
              <a:prstGeom prst="rect">
                <a:avLst/>
              </a:prstGeom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1F8D76E-12F4-502B-89BB-D60C694DC54D}"/>
                  </a:ext>
                </a:extLst>
              </p:cNvPr>
              <p:cNvSpPr/>
              <p:nvPr/>
            </p:nvSpPr>
            <p:spPr>
              <a:xfrm>
                <a:off x="3111500" y="4968067"/>
                <a:ext cx="368300" cy="228600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E8EDF259-E9E4-805B-C652-866F5240D2B1}"/>
                </a:ext>
              </a:extLst>
            </p:cNvPr>
            <p:cNvCxnSpPr>
              <a:stCxn id="7" idx="1"/>
              <a:endCxn id="9" idx="1"/>
            </p:cNvCxnSpPr>
            <p:nvPr/>
          </p:nvCxnSpPr>
          <p:spPr>
            <a:xfrm rot="10800000" flipH="1" flipV="1">
              <a:off x="2519625" y="3174999"/>
              <a:ext cx="31488" cy="2020859"/>
            </a:xfrm>
            <a:prstGeom prst="bentConnector3">
              <a:avLst>
                <a:gd name="adj1" fmla="val -72599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A01286B-0B74-2745-87A3-35C786E19DEB}"/>
              </a:ext>
            </a:extLst>
          </p:cNvPr>
          <p:cNvSpPr txBox="1"/>
          <p:nvPr/>
        </p:nvSpPr>
        <p:spPr>
          <a:xfrm>
            <a:off x="6899373" y="3959694"/>
            <a:ext cx="2321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BeingDebugged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225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E7C1-79A6-4D2A-1630-355CBBE3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DF89A-4150-8DC2-9993-829B14F0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Q5. Which </a:t>
            </a:r>
            <a:r>
              <a:rPr lang="en-US" altLang="ko-KR" sz="2400" dirty="0" err="1"/>
              <a:t>OllyDbg</a:t>
            </a:r>
            <a:r>
              <a:rPr lang="en-US" altLang="ko-KR" sz="2400" dirty="0"/>
              <a:t> plug-in will protect you from the anti-debugging techniques used by this malware?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E1039-041D-BE34-4D6A-C421607EA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798"/>
            <a:ext cx="11023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dirty="0" err="1"/>
              <a:t>PhantOm</a:t>
            </a:r>
            <a:endParaRPr lang="en-US" altLang="ko-KR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D5411D-A255-08F0-FF6D-8B9BDE2F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D6D68-7F83-48A2-9982-030C68BCD119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5BFDF-3AF7-114E-5C3A-6F942356C40C}"/>
              </a:ext>
            </a:extLst>
          </p:cNvPr>
          <p:cNvSpPr txBox="1"/>
          <p:nvPr/>
        </p:nvSpPr>
        <p:spPr>
          <a:xfrm>
            <a:off x="209550" y="180459"/>
            <a:ext cx="424815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Chapter 16: Anti-Debugging (</a:t>
            </a:r>
            <a:r>
              <a:rPr lang="en-US" altLang="ko-KR" dirty="0"/>
              <a:t>Lab 16-1)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그림 1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88DF4B-A3DA-DE17-F5FD-4BC714A89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903" y="1769351"/>
            <a:ext cx="7426597" cy="448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76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AE651-A393-DFDD-881A-4033B7A9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2B02C882-206A-1795-E03C-A7186CFDB47E}"/>
              </a:ext>
            </a:extLst>
          </p:cNvPr>
          <p:cNvSpPr txBox="1">
            <a:spLocks/>
          </p:cNvSpPr>
          <p:nvPr/>
        </p:nvSpPr>
        <p:spPr>
          <a:xfrm>
            <a:off x="922176" y="2948472"/>
            <a:ext cx="10515600" cy="7855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b="1" dirty="0"/>
              <a:t>Thank you.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6397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pretendard"/>
        <a:ea typeface="맑은 고딕"/>
        <a:cs typeface=""/>
      </a:majorFont>
      <a:minorFont>
        <a:latin typeface="Pretendard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21516</TotalTime>
  <Words>1538</Words>
  <Application>Microsoft Office PowerPoint</Application>
  <PresentationFormat>와이드스크린</PresentationFormat>
  <Paragraphs>224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Pretendard</vt:lpstr>
      <vt:lpstr>Pretendard</vt:lpstr>
      <vt:lpstr>맑은 고딕</vt:lpstr>
      <vt:lpstr>Arial</vt:lpstr>
      <vt:lpstr>Consolas</vt:lpstr>
      <vt:lpstr>Wingdings</vt:lpstr>
      <vt:lpstr>Office 테마</vt:lpstr>
      <vt:lpstr>PowerPoint 프레젠테이션</vt:lpstr>
      <vt:lpstr>Anti-Debugging</vt:lpstr>
      <vt:lpstr>Using the Windows API</vt:lpstr>
      <vt:lpstr>Manually Checking Structures</vt:lpstr>
      <vt:lpstr>Checking for System Residue</vt:lpstr>
      <vt:lpstr>INT Scanning</vt:lpstr>
      <vt:lpstr>Timing Checks</vt:lpstr>
      <vt:lpstr>Using Exceptions</vt:lpstr>
      <vt:lpstr>Debugger Vulnerabilities</vt:lpstr>
      <vt:lpstr>Anti-Virtual Machine Techniques</vt:lpstr>
      <vt:lpstr>VMware Artifact-based detection</vt:lpstr>
      <vt:lpstr>VMware Artifact-based Detection</vt:lpstr>
      <vt:lpstr>Vulnerable Instructions-based Detection</vt:lpstr>
      <vt:lpstr>Lab</vt:lpstr>
      <vt:lpstr>Q1. Which anti-debugging techniques does this malware employ?</vt:lpstr>
      <vt:lpstr>Q2. What happens when each anti-debugging technique succeeds? </vt:lpstr>
      <vt:lpstr>Q3. How can you get around these anti-debugging techniques? </vt:lpstr>
      <vt:lpstr>Q4. How do you manually change the structures checked during runtime? </vt:lpstr>
      <vt:lpstr>Q5. Which OllyDbg plug-in will protect you from the anti-debugging techniques used by this malware?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진세영</dc:creator>
  <cp:lastModifiedBy>진세영</cp:lastModifiedBy>
  <cp:revision>1766</cp:revision>
  <dcterms:created xsi:type="dcterms:W3CDTF">2025-02-14T10:22:23Z</dcterms:created>
  <dcterms:modified xsi:type="dcterms:W3CDTF">2026-02-27T08:55:28Z</dcterms:modified>
</cp:coreProperties>
</file>