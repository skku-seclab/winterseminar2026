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508" autoAdjust="0"/>
  </p:normalViewPr>
  <p:slideViewPr>
    <p:cSldViewPr snapToGrid="0">
      <p:cViewPr varScale="1">
        <p:scale>
          <a:sx n="92" d="100"/>
          <a:sy n="92" d="100"/>
        </p:scale>
        <p:origin x="131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39FFC-7624-4503-B656-975D03860CC7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EBCC7-06C1-4C5B-A893-4DEBBC4509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94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EBCC7-06C1-4C5B-A893-4DEBBC45094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676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7AE8D-1210-779D-8BAB-3DF2F8149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2EF675-0916-A0F7-57CB-4F7027475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8F675-7A50-1090-56CA-4DC32C523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9D9F6-A8BE-45C3-9A3C-9597E037B860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2BB5C-BD03-A274-CF80-1D1D302DF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EA7122-1E8C-0BE8-52F6-C99D834E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69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73AEA-E353-A09D-B830-920A930C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20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2E0ED3-410C-235D-0B49-45E33D48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247"/>
            <a:ext cx="10515600" cy="471571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CC9F64-C58C-2833-7A57-BC90A092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764AA-D624-4969-A7A7-E0A8FCC32CE3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3869DE-23BB-F708-4870-D2ED2813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38F7FC-1786-48EB-213D-A54E197E6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2028C4-D8D6-22CC-97E3-A9359DABFC6F}"/>
              </a:ext>
            </a:extLst>
          </p:cNvPr>
          <p:cNvSpPr/>
          <p:nvPr userDrawn="1"/>
        </p:nvSpPr>
        <p:spPr>
          <a:xfrm>
            <a:off x="829234" y="1103034"/>
            <a:ext cx="10524566" cy="534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1896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C56A6-D051-D730-543B-5A5516D4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6DB289-98A5-C015-13C2-59E2385FD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4945BB-88A7-963B-6021-E6DD1DCF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5F46A-3674-4EAE-B191-C26A83944C56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57A65-3CE6-EDB0-B350-0D6D7081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BB1E04-3B49-7DCD-78D1-E34C389D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972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B0866-1AAD-DC0B-E590-45FAB7AB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48A797-7956-4DCB-BA92-E432508D5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83D306-E4C9-E165-2E89-7ECB3832F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4F669C-0E21-7020-D833-19381C30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62E0-00FD-4B36-B6DA-DBA95FBD8396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B68946-6985-B3DB-CE0E-253CF0D6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18B2A4-DE8F-3958-8AD7-6D36A8C6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202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22692-640F-F612-86E7-E2658D53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D6E4D1-60FF-62DB-9067-91ECD55FC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139776-D2CB-8229-7C7F-51F3BB7E7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3FB8A8-EDDB-3248-4CE9-8F36AAA89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D3F5C1-6075-D41E-9A04-1D961047B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6439AD-24C3-943B-9584-F847F89C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EE068-D976-46E3-846D-CD475F943A72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CE47BE-4E73-0445-6DE7-F46FF94F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DAABAF-0DA4-B7AA-FC98-6589EECB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344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2F9C4-1710-9390-D71A-E8474664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5B1F97-35C4-83BB-123E-83A74A89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5E92F-5F23-468F-909B-9133492F3A15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6F32A6-F437-F4E4-3B24-B7344029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736631-94D5-1275-9B85-EF5E3A9B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063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9A4DB0-DD13-19D6-698C-BFDB6D58E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A6D55-D40D-481C-8A32-4778E578D022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352B15-E6E5-4ABB-0C70-13B84CA6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6047B-35CE-9774-5221-5FF7B18B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63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9F0D1-8BA5-B7CF-B5E0-53E27790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5AA9A2-CA4B-91C3-29AF-59729BFC6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86C97-8067-ACAB-7532-E1ABBD03D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F24823-F6A2-1C4D-2769-BCFD3D32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841C1-D676-483C-982F-007B7994A095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5F7506-8AD7-B25E-51E0-23BCEEAC0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10E2F-2A51-F62C-37CC-86946585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48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B16E7-B47C-3A62-8B8C-2CC82324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3DC7A9-2756-8A24-DA8A-A67776D5BF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AC9E32-8432-13D7-2D54-070B59AE2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B1C502-312D-27C5-2D90-7EAE6E30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97CB-1602-4A98-837F-25FE31CAB156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5E2CB9-24F2-4294-F20A-20366A9B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9C0322-7E8A-FF08-35D2-BBBF8B7D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94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D3FB6-92A3-F0E1-C9B6-C7549CCE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CC16DD-DD73-C912-D0B4-AEE6AD730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C4C37-260E-3F08-E1C8-FA74DD05A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55FF6-F6F5-41DC-B4B6-7612D110284D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0ECFEA-0F82-97FC-B2CF-91296ECA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8756E8-5BFB-27C7-E144-E15B7CAB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7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21DAC7-1B6D-7F3B-B86F-EB9DFB7A0F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82A8B8-606E-0547-F46C-3088A04EC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3B3D4B-B184-4DEB-DCAF-65EEE376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41EF-B900-49BB-AFE4-943DDEB90061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D2FB83-08FC-B83C-6C28-90293722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DD1496-1308-6367-4430-728671131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1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A0F9C1-511B-2889-D8FA-849230C1E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0104FB-D487-DEE2-E838-C1DFCCB51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7263DC-C0D0-76D4-302F-B2B798573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7F544-D09F-4272-94E6-C59F1545496F}" type="datetime1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645068-6C9D-53F6-B03E-6B039C584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322CE-65D0-AA22-6F24-470F2F41D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76704-8E33-4C98-AD21-4126A9A321C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695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3A65B-E16B-40A8-EFC5-6CC761966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663" y="1856963"/>
            <a:ext cx="10702636" cy="131540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Practical Malware Analysis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892D90-B940-7040-E413-165401775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97568"/>
            <a:ext cx="9144000" cy="1315403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Jungho</a:t>
            </a:r>
            <a:r>
              <a:rPr lang="en-US" altLang="ko-KR" sz="2000" dirty="0"/>
              <a:t> Oh</a:t>
            </a:r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3DAEB-4552-61F4-A0D1-478592B62E90}"/>
              </a:ext>
            </a:extLst>
          </p:cNvPr>
          <p:cNvSpPr txBox="1"/>
          <p:nvPr/>
        </p:nvSpPr>
        <p:spPr>
          <a:xfrm>
            <a:off x="3901598" y="4332944"/>
            <a:ext cx="43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Chapter 18 : Packers and unpacking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1665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4A43F-CDAD-5E2D-0AA4-07147A4D7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Packing Programs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E22708-7373-EF8A-5A39-D072D864D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Packing programs help malware</a:t>
            </a:r>
          </a:p>
          <a:p>
            <a:pPr lvl="1"/>
            <a:r>
              <a:rPr lang="en-US" altLang="ko-KR" dirty="0"/>
              <a:t>Hide from antivirus software</a:t>
            </a:r>
          </a:p>
          <a:p>
            <a:pPr lvl="1"/>
            <a:r>
              <a:rPr lang="en-US" altLang="ko-KR" dirty="0"/>
              <a:t>Complicate malware analysis</a:t>
            </a:r>
          </a:p>
          <a:p>
            <a:pPr lvl="1"/>
            <a:r>
              <a:rPr lang="en-US" altLang="ko-KR" dirty="0"/>
              <a:t>Shrink the size of malicious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Most packers are easy to use and freely available</a:t>
            </a:r>
          </a:p>
          <a:p>
            <a:endParaRPr lang="en-US" altLang="ko-KR" dirty="0"/>
          </a:p>
          <a:p>
            <a:r>
              <a:rPr lang="en-US" altLang="ko-KR" dirty="0"/>
              <a:t>Basic static analysis is not useful on packed program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AAE608-2C91-45B1-71DC-06B20BDAF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7237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35B59-BD5F-48FC-796F-6130C9F2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Packing Programs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CFA067-BB02-6AC8-A505-D51953CDB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All packers take an executable file as input and produce an executable file as output</a:t>
            </a:r>
          </a:p>
          <a:p>
            <a:endParaRPr lang="en-US" altLang="ko-KR" dirty="0"/>
          </a:p>
          <a:p>
            <a:r>
              <a:rPr lang="en-US" altLang="ko-KR" dirty="0"/>
              <a:t>The packed executable is</a:t>
            </a:r>
          </a:p>
          <a:p>
            <a:pPr lvl="1"/>
            <a:r>
              <a:rPr lang="en-US" altLang="ko-KR" dirty="0"/>
              <a:t>Compressed</a:t>
            </a:r>
          </a:p>
          <a:p>
            <a:pPr lvl="1"/>
            <a:r>
              <a:rPr lang="en-US" altLang="ko-KR" dirty="0"/>
              <a:t>Encrypted</a:t>
            </a:r>
          </a:p>
          <a:p>
            <a:pPr lvl="1"/>
            <a:r>
              <a:rPr lang="en-US" altLang="ko-KR" dirty="0"/>
              <a:t>Transformed</a:t>
            </a:r>
          </a:p>
          <a:p>
            <a:pPr lvl="1"/>
            <a:r>
              <a:rPr lang="en-US" altLang="ko-KR" dirty="0"/>
              <a:t>Making it harder to recognize and reverse-engineer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Most packers use a </a:t>
            </a:r>
            <a:r>
              <a:rPr lang="en-US" altLang="ko-KR" b="1" dirty="0"/>
              <a:t>compression</a:t>
            </a:r>
            <a:r>
              <a:rPr lang="en-US" altLang="ko-KR" dirty="0"/>
              <a:t> </a:t>
            </a:r>
            <a:r>
              <a:rPr lang="en-US" altLang="ko-KR" b="1" dirty="0"/>
              <a:t>algorithm</a:t>
            </a:r>
            <a:r>
              <a:rPr lang="en-US" altLang="ko-KR" dirty="0"/>
              <a:t> to compress the original executable</a:t>
            </a:r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4611CF-0E5A-BAE5-E136-9030BC30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9284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4B749-4188-66C1-7572-76E856ADF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Packing Programs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FA4E8F-F003-9668-6E02-61E946853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Packers can pack </a:t>
            </a:r>
          </a:p>
          <a:p>
            <a:pPr lvl="1"/>
            <a:r>
              <a:rPr lang="en-US" altLang="ko-KR" dirty="0"/>
              <a:t>the entire executable (all data and resource section)</a:t>
            </a:r>
          </a:p>
          <a:p>
            <a:pPr lvl="1"/>
            <a:r>
              <a:rPr lang="en-US" altLang="ko-KR" dirty="0"/>
              <a:t>Only the code and data sections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705A19-32C2-58FE-2EA7-CDC9594E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9060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67465-7720-4286-D86E-6E618F233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Unpacking Stub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C7ECF9-F6E6-EA2A-23A1-B57C9CF7C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unpacking stub is loaded by OS, and then the unpacking stub load the original program</a:t>
            </a:r>
          </a:p>
          <a:p>
            <a:endParaRPr lang="en-US" altLang="ko-KR" dirty="0"/>
          </a:p>
          <a:p>
            <a:r>
              <a:rPr lang="en-US" altLang="ko-KR" dirty="0"/>
              <a:t>The code entry point points to the unpacking stub</a:t>
            </a:r>
          </a:p>
          <a:p>
            <a:pPr lvl="1"/>
            <a:r>
              <a:rPr lang="en-US" altLang="ko-KR" dirty="0"/>
              <a:t>The original program is generally stored in one or more extra sections</a:t>
            </a:r>
          </a:p>
          <a:p>
            <a:endParaRPr lang="en-US" altLang="ko-KR" dirty="0"/>
          </a:p>
          <a:p>
            <a:r>
              <a:rPr lang="en-US" altLang="ko-KR" dirty="0"/>
              <a:t>The unpacking stub is often small</a:t>
            </a:r>
          </a:p>
          <a:p>
            <a:pPr lvl="1"/>
            <a:r>
              <a:rPr lang="en-US" altLang="ko-KR" dirty="0"/>
              <a:t>Does not contribute the main functionality of the program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19A6CD-3148-230B-3DE1-062435EC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9D9323-DCCA-C67C-4049-67DC4A81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63" y="4132346"/>
            <a:ext cx="37052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76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3D87E-3344-5F06-37DC-DAE7679C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Unpacking Stub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2A2210-C92E-70D4-10E9-1AFD8669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unpacking stub preforms three steps</a:t>
            </a:r>
          </a:p>
          <a:p>
            <a:pPr lvl="1"/>
            <a:r>
              <a:rPr lang="en-US" altLang="ko-KR" dirty="0"/>
              <a:t>Unpacks the original executable into memory</a:t>
            </a:r>
          </a:p>
          <a:p>
            <a:pPr lvl="1"/>
            <a:r>
              <a:rPr lang="en-US" altLang="ko-KR" dirty="0"/>
              <a:t>Resolves all of the imports of the original executable</a:t>
            </a:r>
          </a:p>
          <a:p>
            <a:pPr lvl="1"/>
            <a:r>
              <a:rPr lang="en-US" altLang="ko-KR" dirty="0"/>
              <a:t>Transfers execution to the original entry point (OEP)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E37649-D2E9-FD00-2F1E-594D8AAF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691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967F4-D2E2-5BDD-98CB-3E483341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Loader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196811-34FA-B5DB-220F-7F08B6ED7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Regular executable load</a:t>
            </a:r>
          </a:p>
          <a:p>
            <a:pPr lvl="1"/>
            <a:r>
              <a:rPr lang="en-US" altLang="ko-KR" dirty="0"/>
              <a:t>a loader </a:t>
            </a:r>
            <a:r>
              <a:rPr lang="en-US" altLang="ko-KR" b="1" dirty="0"/>
              <a:t>reads</a:t>
            </a:r>
            <a:r>
              <a:rPr lang="en-US" altLang="ko-KR" dirty="0"/>
              <a:t> the </a:t>
            </a:r>
            <a:r>
              <a:rPr lang="en-US" altLang="ko-KR" b="1" dirty="0"/>
              <a:t>PE</a:t>
            </a:r>
            <a:r>
              <a:rPr lang="en-US" altLang="ko-KR" dirty="0"/>
              <a:t> </a:t>
            </a:r>
            <a:r>
              <a:rPr lang="en-US" altLang="ko-KR" b="1" dirty="0"/>
              <a:t>header</a:t>
            </a:r>
            <a:r>
              <a:rPr lang="en-US" altLang="ko-KR" dirty="0"/>
              <a:t> on the disk</a:t>
            </a:r>
          </a:p>
          <a:p>
            <a:pPr lvl="1"/>
            <a:r>
              <a:rPr lang="en-US" altLang="ko-KR" b="1" dirty="0"/>
              <a:t>Loader allocates</a:t>
            </a:r>
            <a:r>
              <a:rPr lang="en-US" altLang="ko-KR" dirty="0"/>
              <a:t> </a:t>
            </a:r>
            <a:r>
              <a:rPr lang="en-US" altLang="ko-KR" b="1" dirty="0"/>
              <a:t>memory</a:t>
            </a:r>
            <a:r>
              <a:rPr lang="en-US" altLang="ko-KR" dirty="0"/>
              <a:t> for each of the executable </a:t>
            </a:r>
            <a:r>
              <a:rPr lang="en-US" altLang="ko-KR" b="1" dirty="0"/>
              <a:t>sections</a:t>
            </a:r>
            <a:r>
              <a:rPr lang="en-US" altLang="ko-KR" dirty="0"/>
              <a:t> based on that header</a:t>
            </a:r>
          </a:p>
          <a:p>
            <a:pPr lvl="1"/>
            <a:r>
              <a:rPr lang="en-US" altLang="ko-KR" b="1" dirty="0"/>
              <a:t>copies</a:t>
            </a:r>
            <a:r>
              <a:rPr lang="en-US" altLang="ko-KR" dirty="0"/>
              <a:t> the </a:t>
            </a:r>
            <a:r>
              <a:rPr lang="en-US" altLang="ko-KR" b="1" dirty="0"/>
              <a:t>sections</a:t>
            </a:r>
            <a:r>
              <a:rPr lang="en-US" altLang="ko-KR" dirty="0"/>
              <a:t> into allocated space in </a:t>
            </a:r>
            <a:r>
              <a:rPr lang="en-US" altLang="ko-KR" b="1" dirty="0"/>
              <a:t>memory</a:t>
            </a:r>
          </a:p>
          <a:p>
            <a:endParaRPr lang="en-US" altLang="ko-KR" dirty="0"/>
          </a:p>
          <a:p>
            <a:r>
              <a:rPr lang="en-US" altLang="ko-KR" dirty="0"/>
              <a:t>Packed executable load</a:t>
            </a:r>
          </a:p>
          <a:p>
            <a:pPr lvl="1"/>
            <a:r>
              <a:rPr lang="en-US" altLang="ko-KR" dirty="0"/>
              <a:t>A loader </a:t>
            </a:r>
            <a:r>
              <a:rPr lang="en-US" altLang="ko-KR" b="1" dirty="0"/>
              <a:t>reads</a:t>
            </a:r>
            <a:r>
              <a:rPr lang="en-US" altLang="ko-KR" dirty="0"/>
              <a:t> the </a:t>
            </a:r>
            <a:r>
              <a:rPr lang="en-US" altLang="ko-KR" b="1" dirty="0"/>
              <a:t>PE</a:t>
            </a:r>
            <a:r>
              <a:rPr lang="en-US" altLang="ko-KR" dirty="0"/>
              <a:t> </a:t>
            </a:r>
            <a:r>
              <a:rPr lang="en-US" altLang="ko-KR" b="1" dirty="0"/>
              <a:t>header</a:t>
            </a:r>
            <a:r>
              <a:rPr lang="en-US" altLang="ko-KR" dirty="0"/>
              <a:t> on the disk</a:t>
            </a:r>
          </a:p>
          <a:p>
            <a:pPr lvl="1"/>
            <a:r>
              <a:rPr lang="en-US" altLang="ko-KR" b="1" dirty="0"/>
              <a:t>Loader</a:t>
            </a:r>
            <a:r>
              <a:rPr lang="en-US" altLang="ko-KR" dirty="0"/>
              <a:t> </a:t>
            </a:r>
            <a:r>
              <a:rPr lang="en-US" altLang="ko-KR" b="1" dirty="0"/>
              <a:t>allocates</a:t>
            </a:r>
            <a:r>
              <a:rPr lang="en-US" altLang="ko-KR" dirty="0"/>
              <a:t> </a:t>
            </a:r>
            <a:r>
              <a:rPr lang="en-US" altLang="ko-KR" b="1" dirty="0"/>
              <a:t>memory</a:t>
            </a:r>
            <a:r>
              <a:rPr lang="en-US" altLang="ko-KR" dirty="0"/>
              <a:t> or the </a:t>
            </a:r>
            <a:r>
              <a:rPr lang="en-US" altLang="ko-KR" b="1" dirty="0"/>
              <a:t>unpacking</a:t>
            </a:r>
            <a:r>
              <a:rPr lang="en-US" altLang="ko-KR" dirty="0"/>
              <a:t> </a:t>
            </a:r>
            <a:r>
              <a:rPr lang="en-US" altLang="ko-KR" b="1" dirty="0"/>
              <a:t>stub</a:t>
            </a:r>
            <a:r>
              <a:rPr lang="en-US" altLang="ko-KR" dirty="0"/>
              <a:t> can </a:t>
            </a:r>
            <a:r>
              <a:rPr lang="en-US" altLang="ko-KR" b="1" dirty="0"/>
              <a:t>create</a:t>
            </a:r>
            <a:r>
              <a:rPr lang="en-US" altLang="ko-KR" dirty="0"/>
              <a:t> the section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84BCDD-C261-CD0F-DA6C-E7B9531B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9258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76837-C910-A5BE-6C11-F9FDCDB01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Window loader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4DE039-BF26-0983-31B1-5FCFBC0B7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window loader reads the import information</a:t>
            </a:r>
          </a:p>
          <a:p>
            <a:pPr lvl="1"/>
            <a:r>
              <a:rPr lang="en-US" altLang="ko-KR" dirty="0"/>
              <a:t>Determine which functions are needed</a:t>
            </a:r>
          </a:p>
          <a:p>
            <a:pPr lvl="1"/>
            <a:r>
              <a:rPr lang="en-US" altLang="ko-KR" dirty="0"/>
              <a:t>Fill in the addresses</a:t>
            </a:r>
          </a:p>
          <a:p>
            <a:endParaRPr lang="en-US" altLang="ko-KR" dirty="0"/>
          </a:p>
          <a:p>
            <a:r>
              <a:rPr lang="en-US" altLang="ko-KR" dirty="0"/>
              <a:t>The window loader cannot read import information that is packed</a:t>
            </a:r>
          </a:p>
          <a:p>
            <a:endParaRPr lang="en-US" altLang="ko-KR" dirty="0"/>
          </a:p>
          <a:p>
            <a:r>
              <a:rPr lang="en-US" altLang="ko-KR" dirty="0"/>
              <a:t>For packed executable, the unpacking stub resolve the import</a:t>
            </a:r>
          </a:p>
          <a:p>
            <a:pPr lvl="1"/>
            <a:r>
              <a:rPr lang="en-US" altLang="ko-KR" dirty="0"/>
              <a:t>The specific approach depends on the packer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7EE74-8B65-47EE-412C-66805FAA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5033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24CA6-80A9-20A3-B36D-4CEE53AD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Resolving Imports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6E3DBE-3D66-D8BA-A9E5-56A55A522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Approach 1 </a:t>
            </a:r>
          </a:p>
          <a:p>
            <a:pPr lvl="1"/>
            <a:r>
              <a:rPr lang="en-US" altLang="ko-KR" dirty="0"/>
              <a:t>Import only </a:t>
            </a:r>
            <a:r>
              <a:rPr lang="en-US" altLang="ko-KR" b="1" dirty="0" err="1"/>
              <a:t>LoadLibrary</a:t>
            </a:r>
            <a:r>
              <a:rPr lang="en-US" altLang="ko-KR" dirty="0"/>
              <a:t> and </a:t>
            </a:r>
            <a:r>
              <a:rPr lang="en-US" altLang="ko-KR" b="1" dirty="0" err="1"/>
              <a:t>GetProcAddress</a:t>
            </a:r>
            <a:endParaRPr lang="en-US" altLang="ko-KR" b="1" dirty="0"/>
          </a:p>
          <a:p>
            <a:pPr lvl="1"/>
            <a:r>
              <a:rPr lang="en-US" altLang="ko-KR" dirty="0"/>
              <a:t>After the unpacking stub unpack the original executable, it reads the original information</a:t>
            </a:r>
          </a:p>
          <a:p>
            <a:pPr lvl="2"/>
            <a:r>
              <a:rPr lang="en-US" altLang="ko-KR" dirty="0"/>
              <a:t>call </a:t>
            </a:r>
            <a:r>
              <a:rPr lang="en-US" altLang="ko-KR" b="1" dirty="0" err="1"/>
              <a:t>LoadLibrary</a:t>
            </a:r>
            <a:r>
              <a:rPr lang="en-US" altLang="ko-KR" b="1" dirty="0"/>
              <a:t> </a:t>
            </a:r>
            <a:r>
              <a:rPr lang="en-US" altLang="ko-KR" dirty="0"/>
              <a:t>for each library</a:t>
            </a:r>
          </a:p>
          <a:p>
            <a:pPr lvl="2"/>
            <a:r>
              <a:rPr lang="en-US" altLang="ko-KR" dirty="0"/>
              <a:t>Use </a:t>
            </a:r>
            <a:r>
              <a:rPr lang="en-US" altLang="ko-KR" b="1" dirty="0" err="1"/>
              <a:t>GetProcAddress</a:t>
            </a:r>
            <a:r>
              <a:rPr lang="en-US" altLang="ko-KR" b="1" dirty="0"/>
              <a:t> </a:t>
            </a:r>
            <a:r>
              <a:rPr lang="en-US" altLang="ko-KR" dirty="0"/>
              <a:t>to get the address for each function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Approach 2</a:t>
            </a:r>
          </a:p>
          <a:p>
            <a:pPr lvl="1"/>
            <a:r>
              <a:rPr lang="en-US" altLang="ko-KR" dirty="0"/>
              <a:t>Keep the original import table intact</a:t>
            </a:r>
          </a:p>
          <a:p>
            <a:pPr lvl="1"/>
            <a:r>
              <a:rPr lang="en-US" altLang="ko-KR" dirty="0"/>
              <a:t>Simplest approach</a:t>
            </a:r>
          </a:p>
          <a:p>
            <a:pPr lvl="1"/>
            <a:r>
              <a:rPr lang="en-US" altLang="ko-KR" dirty="0"/>
              <a:t>Static analysis of the packed program will reveal all the original imports</a:t>
            </a:r>
          </a:p>
          <a:p>
            <a:pPr lvl="1"/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6F3D00-1020-9E73-1C36-DF8A9DA6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3050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E3A6F-A5F4-E9AE-4786-DC9B74F3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Resolving Imports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DB55D1-A0E9-76B9-E54B-21A43639C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Approach 3</a:t>
            </a:r>
          </a:p>
          <a:p>
            <a:pPr lvl="1"/>
            <a:r>
              <a:rPr lang="en-US" altLang="ko-KR" dirty="0"/>
              <a:t>Keep one import function from each DLL contained in original import table</a:t>
            </a:r>
          </a:p>
          <a:p>
            <a:pPr lvl="1"/>
            <a:r>
              <a:rPr lang="en-US" altLang="ko-KR" dirty="0"/>
              <a:t>Reveal only one function per imported library during analysis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Approach 4</a:t>
            </a:r>
          </a:p>
          <a:p>
            <a:pPr lvl="1"/>
            <a:r>
              <a:rPr lang="en-US" altLang="ko-KR" dirty="0"/>
              <a:t>Removal of all imports(including </a:t>
            </a:r>
            <a:r>
              <a:rPr lang="en-US" altLang="ko-KR" dirty="0" err="1"/>
              <a:t>LoadLibrary</a:t>
            </a:r>
            <a:r>
              <a:rPr lang="en-US" altLang="ko-KR" dirty="0"/>
              <a:t> and </a:t>
            </a:r>
            <a:r>
              <a:rPr lang="en-US" altLang="ko-KR" dirty="0" err="1"/>
              <a:t>GetProcAddress</a:t>
            </a:r>
            <a:r>
              <a:rPr lang="en-US" altLang="ko-KR" dirty="0"/>
              <a:t>) </a:t>
            </a:r>
          </a:p>
          <a:p>
            <a:pPr lvl="1"/>
            <a:r>
              <a:rPr lang="en-US" altLang="ko-KR" dirty="0"/>
              <a:t>Packer must find all the functions without using functions</a:t>
            </a:r>
          </a:p>
          <a:p>
            <a:pPr lvl="1"/>
            <a:r>
              <a:rPr lang="en-US" altLang="ko-KR" dirty="0"/>
              <a:t>Unpacking stub must be complex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1F0724-0A62-9004-4CE1-707FA79A7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1520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0DA977-F976-BC4A-1E5F-62368292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Tail jump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97035-AF33-BE67-04BE-66EE5BAE9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Unpacking stub is complete </a:t>
            </a:r>
          </a:p>
          <a:p>
            <a:pPr lvl="1"/>
            <a:r>
              <a:rPr lang="ko-KR" altLang="en-US" dirty="0"/>
              <a:t>→  </a:t>
            </a:r>
            <a:r>
              <a:rPr lang="en-US" altLang="ko-KR" dirty="0"/>
              <a:t>transfer execution to the </a:t>
            </a:r>
            <a:r>
              <a:rPr lang="en-US" altLang="ko-KR" b="1" dirty="0"/>
              <a:t>OEP</a:t>
            </a:r>
            <a:r>
              <a:rPr lang="en-US" altLang="ko-KR" dirty="0"/>
              <a:t>(original entry point)</a:t>
            </a:r>
          </a:p>
          <a:p>
            <a:pPr lvl="1"/>
            <a:r>
              <a:rPr lang="en-US" altLang="ko-KR" dirty="0"/>
              <a:t>The instruction that transfer to the OEP is refereed to as the </a:t>
            </a:r>
            <a:r>
              <a:rPr lang="en-US" altLang="ko-KR" b="1" dirty="0"/>
              <a:t>tail jump</a:t>
            </a:r>
          </a:p>
          <a:p>
            <a:endParaRPr lang="en-US" altLang="ko-KR" dirty="0"/>
          </a:p>
          <a:p>
            <a:r>
              <a:rPr lang="en-US" altLang="ko-KR" b="1" dirty="0"/>
              <a:t>Jump </a:t>
            </a:r>
            <a:r>
              <a:rPr lang="en-US" altLang="ko-KR" dirty="0"/>
              <a:t>instruction is the simplest and popular way to transfer execution</a:t>
            </a:r>
          </a:p>
          <a:p>
            <a:r>
              <a:rPr lang="en-US" altLang="ko-KR" dirty="0"/>
              <a:t>Many malicious packer also attempt to use ret or call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23C7EE-EFF4-27AD-1708-7B36BFA7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1920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62944-6EAC-29BE-9D2C-917E96D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Unpacking illustrated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A62BB-ED34-97C8-A912-10AC551FC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108" y="4435728"/>
            <a:ext cx="3079173" cy="489564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Original executable</a:t>
            </a:r>
          </a:p>
          <a:p>
            <a:pPr marL="0" indent="0">
              <a:buNone/>
            </a:pP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3647E0-0BE1-5A62-217B-A8D7CC38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654FFF2-6D94-2295-D2BC-C0D12447BF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4F9087-9500-ABF7-76F5-69263EBC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73" y="1320740"/>
            <a:ext cx="3657600" cy="3076575"/>
          </a:xfrm>
          <a:prstGeom prst="rect">
            <a:avLst/>
          </a:prstGeom>
        </p:spPr>
      </p:pic>
      <p:pic>
        <p:nvPicPr>
          <p:cNvPr id="11" name="그림 10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25A75C-AA2E-22AB-EF11-C4F1C9CF7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636" y="1939864"/>
            <a:ext cx="3705225" cy="1838325"/>
          </a:xfrm>
          <a:prstGeom prst="rect">
            <a:avLst/>
          </a:prstGeom>
        </p:spPr>
      </p:pic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B519313E-AA42-442B-BA48-C9367E12E544}"/>
              </a:ext>
            </a:extLst>
          </p:cNvPr>
          <p:cNvSpPr txBox="1">
            <a:spLocks/>
          </p:cNvSpPr>
          <p:nvPr/>
        </p:nvSpPr>
        <p:spPr>
          <a:xfrm>
            <a:off x="4708813" y="4435727"/>
            <a:ext cx="3079173" cy="679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Packed executable as it exists on the disk</a:t>
            </a:r>
            <a:endParaRPr lang="ko-KR" altLang="en-US" sz="18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CBCFC7-5DCB-1C1C-0851-6ACF97E2145C}"/>
              </a:ext>
            </a:extLst>
          </p:cNvPr>
          <p:cNvSpPr/>
          <p:nvPr/>
        </p:nvSpPr>
        <p:spPr>
          <a:xfrm>
            <a:off x="4170219" y="1489052"/>
            <a:ext cx="48922" cy="3771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C981D3-AF9C-4B8A-3CC5-F8248ABC9DA2}"/>
              </a:ext>
            </a:extLst>
          </p:cNvPr>
          <p:cNvSpPr/>
          <p:nvPr/>
        </p:nvSpPr>
        <p:spPr>
          <a:xfrm>
            <a:off x="8021356" y="1489052"/>
            <a:ext cx="48922" cy="3771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8" name="그림 1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D771E5-98FD-7D88-C695-79D99185B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2533" y="1320740"/>
            <a:ext cx="3657600" cy="3152775"/>
          </a:xfrm>
          <a:prstGeom prst="rect">
            <a:avLst/>
          </a:prstGeom>
        </p:spPr>
      </p:pic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67B9090B-B772-8DCE-C824-5472B336A3D4}"/>
              </a:ext>
            </a:extLst>
          </p:cNvPr>
          <p:cNvSpPr txBox="1">
            <a:spLocks/>
          </p:cNvSpPr>
          <p:nvPr/>
        </p:nvSpPr>
        <p:spPr>
          <a:xfrm>
            <a:off x="8442613" y="4568481"/>
            <a:ext cx="3079173" cy="14374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Packed executable as it exists when it is loaded into memory</a:t>
            </a:r>
          </a:p>
          <a:p>
            <a:r>
              <a:rPr lang="en-US" altLang="ko-KR" sz="1800" dirty="0"/>
              <a:t>Staring point </a:t>
            </a:r>
            <a:r>
              <a:rPr lang="en-US" altLang="ko-KR" sz="1800" dirty="0" err="1"/>
              <a:t>point</a:t>
            </a:r>
            <a:r>
              <a:rPr lang="en-US" altLang="ko-KR" sz="1800" dirty="0"/>
              <a:t> to the unpacking stub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58202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C394F-2D01-075D-0EB5-BA7D87CC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Unpacking illustrated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D05DC6-809D-BABA-9103-66E6376B1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65179"/>
            <a:ext cx="10893136" cy="1411784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Fully unpacked executable</a:t>
            </a:r>
          </a:p>
          <a:p>
            <a:r>
              <a:rPr lang="en-US" altLang="ko-KR" sz="1800" dirty="0"/>
              <a:t>Import table has been reconstructed and starting point has been edited to point to the OEP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36F66A-9092-39ED-4F64-65D878FD0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6" name="그림 5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8CA8E3-7C50-D0D3-0FD8-9A372E69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11" y="1361641"/>
            <a:ext cx="337185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69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49367-5CAA-3675-FF14-950698733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Identifying Packed Programs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CF8048-2B8C-1FE0-52E5-80C5FBF3A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ko-KR" sz="2000" dirty="0"/>
              <a:t>The programs has few imports, and particularly if the only imports </a:t>
            </a:r>
            <a:r>
              <a:rPr lang="en-US" altLang="ko-KR" sz="2000" b="1" dirty="0" err="1"/>
              <a:t>LoadLibrary</a:t>
            </a:r>
            <a:r>
              <a:rPr lang="en-US" altLang="ko-KR" sz="2000" dirty="0"/>
              <a:t> and </a:t>
            </a:r>
            <a:r>
              <a:rPr lang="en-US" altLang="ko-KR" sz="2000" b="1" dirty="0" err="1"/>
              <a:t>GetProcAddress</a:t>
            </a:r>
            <a:endParaRPr lang="en-US" altLang="ko-KR" sz="2000" b="1" dirty="0"/>
          </a:p>
          <a:p>
            <a:pPr>
              <a:lnSpc>
                <a:spcPct val="110000"/>
              </a:lnSpc>
            </a:pPr>
            <a:r>
              <a:rPr lang="en-US" altLang="ko-KR" sz="2000" dirty="0"/>
              <a:t>Only small amount of code is recognized by the automatic analysis</a:t>
            </a:r>
          </a:p>
          <a:p>
            <a:pPr>
              <a:lnSpc>
                <a:spcPct val="110000"/>
              </a:lnSpc>
            </a:pPr>
            <a:r>
              <a:rPr lang="en-US" altLang="ko-KR" sz="2000" dirty="0"/>
              <a:t>When program is opened in </a:t>
            </a:r>
            <a:r>
              <a:rPr lang="en-US" altLang="ko-KR" sz="2000" dirty="0" err="1"/>
              <a:t>OllyDbg</a:t>
            </a:r>
            <a:r>
              <a:rPr lang="en-US" altLang="ko-KR" sz="2000" dirty="0"/>
              <a:t>, there is a warning that the program may be packed</a:t>
            </a:r>
          </a:p>
          <a:p>
            <a:pPr>
              <a:lnSpc>
                <a:spcPct val="110000"/>
              </a:lnSpc>
            </a:pPr>
            <a:r>
              <a:rPr lang="en-US" altLang="ko-KR" sz="2000" dirty="0"/>
              <a:t>The program shows section names that indicate a particular packer (UPX0)</a:t>
            </a:r>
          </a:p>
          <a:p>
            <a:pPr>
              <a:lnSpc>
                <a:spcPct val="110000"/>
              </a:lnSpc>
            </a:pPr>
            <a:r>
              <a:rPr lang="en-US" altLang="ko-KR" sz="2000" dirty="0"/>
              <a:t>The program has abnormal section size</a:t>
            </a:r>
            <a:endParaRPr lang="en-US" altLang="ko-KR" sz="1600" dirty="0"/>
          </a:p>
          <a:p>
            <a:pPr lvl="1">
              <a:lnSpc>
                <a:spcPct val="110000"/>
              </a:lnSpc>
            </a:pPr>
            <a:r>
              <a:rPr lang="en-US" altLang="ko-KR" sz="1600" dirty="0"/>
              <a:t>.text section with a Size of Raw Data of 0</a:t>
            </a:r>
          </a:p>
          <a:p>
            <a:endParaRPr lang="en-US" altLang="ko-KR" sz="1600" dirty="0"/>
          </a:p>
          <a:p>
            <a:r>
              <a:rPr lang="en-US" altLang="ko-KR" sz="2000" dirty="0"/>
              <a:t>Entropy Calculation</a:t>
            </a:r>
          </a:p>
          <a:p>
            <a:pPr lvl="1"/>
            <a:r>
              <a:rPr lang="en-US" altLang="ko-KR" sz="1600" dirty="0"/>
              <a:t>Compressed or encrypted data → high entropy</a:t>
            </a:r>
          </a:p>
          <a:p>
            <a:pPr lvl="1"/>
            <a:r>
              <a:rPr lang="en-US" altLang="ko-KR" sz="1600" dirty="0"/>
              <a:t>Executables that are not encrypted or compressed → low entropy</a:t>
            </a:r>
          </a:p>
          <a:p>
            <a:endParaRPr lang="en-US" altLang="ko-KR" sz="2000" dirty="0"/>
          </a:p>
          <a:p>
            <a:r>
              <a:rPr lang="en-US" altLang="ko-KR" sz="2000" dirty="0"/>
              <a:t>Use Packer detected tools (</a:t>
            </a:r>
            <a:r>
              <a:rPr lang="en-US" altLang="ko-KR" sz="2000" dirty="0" err="1"/>
              <a:t>PEiD</a:t>
            </a:r>
            <a:r>
              <a:rPr lang="en-US" altLang="ko-KR" sz="2000" dirty="0"/>
              <a:t>, </a:t>
            </a:r>
            <a:r>
              <a:rPr lang="fr-FR" altLang="ko-KR" sz="2000" dirty="0"/>
              <a:t>Mandiant Red Curtain, Red Curtain)</a:t>
            </a:r>
            <a:r>
              <a:rPr lang="en-US" altLang="ko-KR" sz="2000" dirty="0"/>
              <a:t> </a:t>
            </a:r>
          </a:p>
          <a:p>
            <a:endParaRPr lang="en-US" altLang="ko-KR" sz="1200" dirty="0"/>
          </a:p>
          <a:p>
            <a:endParaRPr lang="en-US" altLang="ko-KR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A327FC-1F6C-FA69-571B-3BDC0589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131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1673B-BA5D-ED2C-E1EA-F270158F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Unpacking Options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B4A2B-BF11-8A38-A32A-A6D778FD7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 options for unpacking a packed executable</a:t>
            </a:r>
          </a:p>
          <a:p>
            <a:pPr lvl="1"/>
            <a:r>
              <a:rPr lang="en-US" altLang="ko-KR" dirty="0"/>
              <a:t>Automated static unpacking</a:t>
            </a:r>
          </a:p>
          <a:p>
            <a:pPr lvl="1"/>
            <a:r>
              <a:rPr lang="en-US" altLang="ko-KR" dirty="0"/>
              <a:t>Automated dynamic unpacking</a:t>
            </a:r>
          </a:p>
          <a:p>
            <a:pPr lvl="1"/>
            <a:r>
              <a:rPr lang="en-US" altLang="ko-KR" dirty="0"/>
              <a:t>Manual dynamic unpacking</a:t>
            </a:r>
          </a:p>
          <a:p>
            <a:endParaRPr lang="en-US" altLang="ko-KR" dirty="0"/>
          </a:p>
          <a:p>
            <a:r>
              <a:rPr lang="en-US" altLang="ko-KR" dirty="0"/>
              <a:t>Automated unpacking techniques are </a:t>
            </a:r>
            <a:r>
              <a:rPr lang="en-US" altLang="ko-KR" b="1" dirty="0"/>
              <a:t>faster</a:t>
            </a:r>
            <a:r>
              <a:rPr lang="en-US" altLang="ko-KR" dirty="0"/>
              <a:t> and </a:t>
            </a:r>
            <a:r>
              <a:rPr lang="en-US" altLang="ko-KR" b="1" dirty="0"/>
              <a:t>easier</a:t>
            </a:r>
            <a:r>
              <a:rPr lang="en-US" altLang="ko-KR" dirty="0"/>
              <a:t> than manual dynamic unpacking</a:t>
            </a:r>
          </a:p>
          <a:p>
            <a:pPr lvl="1"/>
            <a:r>
              <a:rPr lang="en-US" altLang="ko-KR" dirty="0"/>
              <a:t>But do not always work</a:t>
            </a:r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0393C-9AE6-7C34-A598-CB2F6BE3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136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0BD1D-C152-232A-C3D2-066C936F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Automated static Unpacking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2FD2DA-1F7D-56B0-66FA-BE4AEF4D1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Automated static unpacking programs</a:t>
            </a:r>
          </a:p>
          <a:p>
            <a:pPr lvl="1"/>
            <a:r>
              <a:rPr lang="en-US" altLang="ko-KR" dirty="0"/>
              <a:t>Decompress and/ or decrypt the executable</a:t>
            </a:r>
          </a:p>
          <a:p>
            <a:pPr lvl="1"/>
            <a:r>
              <a:rPr lang="en-US" altLang="ko-KR" dirty="0"/>
              <a:t>Fastest method</a:t>
            </a:r>
          </a:p>
          <a:p>
            <a:pPr lvl="1"/>
            <a:r>
              <a:rPr lang="en-US" altLang="ko-KR" dirty="0"/>
              <a:t>best method since it does not run executable</a:t>
            </a:r>
          </a:p>
          <a:p>
            <a:pPr lvl="1"/>
            <a:r>
              <a:rPr lang="en-US" altLang="ko-KR" dirty="0"/>
              <a:t>Specific to a single packer</a:t>
            </a:r>
          </a:p>
          <a:p>
            <a:endParaRPr lang="en-US" altLang="ko-KR" dirty="0"/>
          </a:p>
          <a:p>
            <a:r>
              <a:rPr lang="en-US" altLang="ko-KR" dirty="0"/>
              <a:t>PE Explorer (free program) static unpacking plug-in as default</a:t>
            </a:r>
          </a:p>
          <a:p>
            <a:pPr lvl="1"/>
            <a:r>
              <a:rPr lang="en-US" altLang="ko-KR" dirty="0"/>
              <a:t>Supports </a:t>
            </a:r>
            <a:r>
              <a:rPr lang="en-US" altLang="ko-KR" dirty="0" err="1"/>
              <a:t>NSPack</a:t>
            </a:r>
            <a:r>
              <a:rPr lang="en-US" altLang="ko-KR" dirty="0"/>
              <a:t>, </a:t>
            </a:r>
            <a:r>
              <a:rPr lang="en-US" altLang="ko-KR" dirty="0" err="1"/>
              <a:t>Upack</a:t>
            </a:r>
            <a:r>
              <a:rPr lang="en-US" altLang="ko-KR" dirty="0"/>
              <a:t>, and UPX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B78FE1-52DD-2285-D384-A8537331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9346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7B549-0C07-0121-7790-BA9674C5A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Automated dynamic Unpacking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F25AE8-7A0E-1C46-92E0-1C1BF1080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Automated dynamic unpacking programs</a:t>
            </a:r>
          </a:p>
          <a:p>
            <a:pPr lvl="1"/>
            <a:r>
              <a:rPr lang="en-US" altLang="ko-KR" dirty="0"/>
              <a:t>Run executable</a:t>
            </a:r>
          </a:p>
          <a:p>
            <a:pPr lvl="1"/>
            <a:r>
              <a:rPr lang="en-US" altLang="ko-KR" dirty="0"/>
              <a:t>Allow the unpacking stub to unpack original executable</a:t>
            </a:r>
          </a:p>
          <a:p>
            <a:pPr lvl="1"/>
            <a:r>
              <a:rPr lang="en-US" altLang="ko-KR" dirty="0"/>
              <a:t>One the original executable is unpacked, the program is written to disk</a:t>
            </a:r>
          </a:p>
          <a:p>
            <a:pPr lvl="1"/>
            <a:r>
              <a:rPr lang="en-US" altLang="ko-KR" dirty="0"/>
              <a:t>Unpacker reconstruct the original import table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Automated unpacking program must determine where unpacking stub ends and original executable begins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EBCA4-62B0-E4B7-FBF5-5A39173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763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271E5-1262-61AD-3A4B-EA2927842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Manual dynamic Unpacking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3A458-24FF-706D-0470-1D32595D0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Two common approaches to manually unpacking a program</a:t>
            </a:r>
          </a:p>
          <a:p>
            <a:r>
              <a:rPr lang="en-US" altLang="ko-KR" dirty="0"/>
              <a:t>Approach 1</a:t>
            </a:r>
          </a:p>
          <a:p>
            <a:pPr lvl="1"/>
            <a:r>
              <a:rPr lang="en-US" altLang="ko-KR" dirty="0"/>
              <a:t>Discover the packing algorithm and write a program to run it reverse</a:t>
            </a:r>
          </a:p>
          <a:p>
            <a:pPr lvl="2"/>
            <a:r>
              <a:rPr lang="en-US" altLang="ko-KR" dirty="0"/>
              <a:t>Undoes each of the step</a:t>
            </a:r>
          </a:p>
          <a:p>
            <a:r>
              <a:rPr lang="en-US" altLang="ko-KR" dirty="0"/>
              <a:t>Approach 2</a:t>
            </a:r>
          </a:p>
          <a:p>
            <a:pPr lvl="1"/>
            <a:r>
              <a:rPr lang="en-US" altLang="ko-KR" dirty="0"/>
              <a:t>Run the packed program </a:t>
            </a:r>
            <a:r>
              <a:rPr lang="ko-KR" altLang="en-US" dirty="0"/>
              <a:t>→ </a:t>
            </a:r>
            <a:r>
              <a:rPr lang="en-US" altLang="ko-KR" dirty="0"/>
              <a:t>unpacking stub does the work, dump the process out of the memory</a:t>
            </a:r>
          </a:p>
          <a:p>
            <a:pPr lvl="2"/>
            <a:r>
              <a:rPr lang="en-US" altLang="ko-KR" dirty="0"/>
              <a:t>Manually fix up the PE header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06CE9E-32CF-74A2-CCC6-3F18AA62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6021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5B22B4-40F0-7ACC-997F-1A40CEAF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Finding OEP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51903E-9312-DE4B-F2A7-6DF92AA6D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There are many strategies for location the OEP(original entry point)</a:t>
            </a:r>
          </a:p>
          <a:p>
            <a:pPr lvl="1"/>
            <a:r>
              <a:rPr lang="en-US" altLang="ko-KR" dirty="0"/>
              <a:t>No single strategy will work against all packer</a:t>
            </a:r>
          </a:p>
          <a:p>
            <a:endParaRPr lang="en-US" altLang="ko-KR" dirty="0"/>
          </a:p>
          <a:p>
            <a:r>
              <a:rPr lang="en-US" altLang="ko-KR" dirty="0"/>
              <a:t>Strategy 1</a:t>
            </a:r>
          </a:p>
          <a:p>
            <a:pPr lvl="1"/>
            <a:r>
              <a:rPr lang="en-US" altLang="ko-KR" dirty="0"/>
              <a:t>Find the </a:t>
            </a:r>
            <a:r>
              <a:rPr lang="en-US" altLang="ko-KR" dirty="0" err="1"/>
              <a:t>jmp</a:t>
            </a:r>
            <a:r>
              <a:rPr lang="en-US" altLang="ko-KR" dirty="0"/>
              <a:t> instruction</a:t>
            </a:r>
          </a:p>
          <a:p>
            <a:pPr lvl="1"/>
            <a:endParaRPr lang="en-US" altLang="ko-KR" dirty="0"/>
          </a:p>
          <a:p>
            <a:r>
              <a:rPr lang="en-US" altLang="ko-KR" sz="2000" dirty="0"/>
              <a:t>① located end of the code</a:t>
            </a:r>
          </a:p>
          <a:p>
            <a:r>
              <a:rPr lang="en-US" altLang="ko-KR" sz="2000" dirty="0"/>
              <a:t>Links to an address that is very far</a:t>
            </a:r>
          </a:p>
          <a:p>
            <a:endParaRPr lang="en-US" altLang="ko-KR" sz="2000" dirty="0"/>
          </a:p>
          <a:p>
            <a:r>
              <a:rPr lang="en-US" altLang="ko-KR" sz="2000" dirty="0"/>
              <a:t>Jumps are used for conditional statements and loops, and go to address that are within a few hundred bytes</a:t>
            </a:r>
          </a:p>
          <a:p>
            <a:pPr lvl="1"/>
            <a:r>
              <a:rPr lang="en-US" altLang="ko-KR" dirty="0"/>
              <a:t>But this jump goes to an address that 0x15C43 away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8D27C6-2D2E-9643-EF32-5F9BD907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19</a:t>
            </a:fld>
            <a:endParaRPr lang="ko-KR" altLang="en-US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BB2EA2-7D8E-CF50-7544-9D2ADC89A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296" y="2234045"/>
            <a:ext cx="5011154" cy="2847109"/>
          </a:xfrm>
          <a:prstGeom prst="rect">
            <a:avLst/>
          </a:prstGeom>
        </p:spPr>
      </p:pic>
      <p:sp>
        <p:nvSpPr>
          <p:cNvPr id="7" name="액자 6">
            <a:extLst>
              <a:ext uri="{FF2B5EF4-FFF2-40B4-BE49-F238E27FC236}">
                <a16:creationId xmlns:a16="http://schemas.microsoft.com/office/drawing/2014/main" id="{747143FA-632F-A527-32CA-C8BD77396CB6}"/>
              </a:ext>
            </a:extLst>
          </p:cNvPr>
          <p:cNvSpPr/>
          <p:nvPr/>
        </p:nvSpPr>
        <p:spPr>
          <a:xfrm>
            <a:off x="5490296" y="3657599"/>
            <a:ext cx="2697740" cy="270164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60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0CDCF-F486-0088-752A-CC9382D2A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Finding OEP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9A6A8C-49F0-1243-B0C2-DE375D856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Strategy 2</a:t>
            </a:r>
          </a:p>
          <a:p>
            <a:pPr lvl="1"/>
            <a:r>
              <a:rPr lang="en-US" altLang="ko-KR" dirty="0"/>
              <a:t>Set a </a:t>
            </a:r>
            <a:r>
              <a:rPr lang="en-US" altLang="ko-KR" b="1" dirty="0"/>
              <a:t>read</a:t>
            </a:r>
            <a:r>
              <a:rPr lang="en-US" altLang="ko-KR" dirty="0"/>
              <a:t> breakpoint on the stack</a:t>
            </a:r>
          </a:p>
          <a:p>
            <a:pPr lvl="1"/>
            <a:r>
              <a:rPr lang="en-US" altLang="ko-KR" dirty="0"/>
              <a:t>Most functions begin with a </a:t>
            </a:r>
            <a:r>
              <a:rPr lang="en-US" altLang="ko-KR" b="1" dirty="0"/>
              <a:t>push</a:t>
            </a:r>
            <a:r>
              <a:rPr lang="en-US" altLang="ko-KR" dirty="0"/>
              <a:t> instruction of some sort</a:t>
            </a:r>
          </a:p>
          <a:p>
            <a:pPr lvl="1"/>
            <a:r>
              <a:rPr lang="en-US" altLang="ko-KR" dirty="0"/>
              <a:t>When the unpacking stub is complete, the address will be accessed via a </a:t>
            </a:r>
            <a:r>
              <a:rPr lang="en-US" altLang="ko-KR" b="1" dirty="0"/>
              <a:t>pop, </a:t>
            </a:r>
            <a:r>
              <a:rPr lang="en-US" altLang="ko-KR" dirty="0"/>
              <a:t>which will hit the breakpoint</a:t>
            </a:r>
          </a:p>
          <a:p>
            <a:endParaRPr lang="en-US" altLang="ko-KR" dirty="0"/>
          </a:p>
          <a:p>
            <a:r>
              <a:rPr lang="en-US" altLang="ko-KR" dirty="0"/>
              <a:t>Strategy 3 </a:t>
            </a:r>
          </a:p>
          <a:p>
            <a:pPr lvl="1"/>
            <a:r>
              <a:rPr lang="en-US" altLang="ko-KR" dirty="0"/>
              <a:t>Set a breakpoints after every </a:t>
            </a:r>
            <a:r>
              <a:rPr lang="en-US" altLang="ko-KR" b="1" dirty="0"/>
              <a:t>loop</a:t>
            </a:r>
            <a:r>
              <a:rPr lang="en-US" altLang="ko-KR" dirty="0"/>
              <a:t> in the code</a:t>
            </a:r>
          </a:p>
          <a:p>
            <a:pPr lvl="1"/>
            <a:r>
              <a:rPr lang="en-US" altLang="ko-KR" dirty="0"/>
              <a:t>Allows to monitor each instruction being executed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902274-39B9-CAE5-C32D-93C88731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1227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244ED-71D9-5A71-026D-2E84C586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C6DAB-88FF-FEE0-6F6B-8F87B522A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Finding OEP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668879-0E2A-EECF-4065-21AACB477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Strategy 4</a:t>
            </a:r>
          </a:p>
          <a:p>
            <a:pPr lvl="1"/>
            <a:r>
              <a:rPr lang="en-US" altLang="ko-KR" dirty="0"/>
              <a:t>Set a breakpoint on </a:t>
            </a:r>
            <a:r>
              <a:rPr lang="en-US" altLang="ko-KR" b="1" dirty="0" err="1"/>
              <a:t>GetProcAddress</a:t>
            </a:r>
            <a:endParaRPr lang="en-US" altLang="ko-KR" b="1" dirty="0"/>
          </a:p>
          <a:p>
            <a:pPr lvl="1"/>
            <a:r>
              <a:rPr lang="en-US" altLang="ko-KR" dirty="0"/>
              <a:t>Most unpackers will use </a:t>
            </a:r>
            <a:r>
              <a:rPr lang="en-US" altLang="ko-KR" b="1" dirty="0" err="1"/>
              <a:t>GetProcAddress</a:t>
            </a:r>
            <a:r>
              <a:rPr lang="en-US" altLang="ko-KR" b="1" dirty="0"/>
              <a:t> </a:t>
            </a:r>
            <a:r>
              <a:rPr lang="en-US" altLang="ko-KR" dirty="0"/>
              <a:t>to resolve the imports for the original function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Strategy 5 </a:t>
            </a:r>
          </a:p>
          <a:p>
            <a:pPr lvl="1"/>
            <a:r>
              <a:rPr lang="en-US" altLang="ko-KR" dirty="0"/>
              <a:t>Set a breakpoints on function that will be called by original program</a:t>
            </a:r>
          </a:p>
          <a:p>
            <a:pPr lvl="2"/>
            <a:r>
              <a:rPr lang="en-US" altLang="ko-KR" dirty="0"/>
              <a:t>For command-line programs, wrapper calls </a:t>
            </a:r>
            <a:r>
              <a:rPr lang="en-US" altLang="ko-KR" b="1" dirty="0" err="1"/>
              <a:t>GetVersion</a:t>
            </a:r>
            <a:r>
              <a:rPr lang="en-US" altLang="ko-KR" dirty="0"/>
              <a:t> and </a:t>
            </a:r>
            <a:r>
              <a:rPr lang="en-US" altLang="ko-KR" b="1" dirty="0" err="1"/>
              <a:t>GetCommandLineA</a:t>
            </a:r>
            <a:r>
              <a:rPr lang="en-US" altLang="ko-KR" b="1" dirty="0"/>
              <a:t> </a:t>
            </a:r>
            <a:r>
              <a:rPr lang="en-US" altLang="ko-KR" dirty="0"/>
              <a:t>very early in the process</a:t>
            </a:r>
          </a:p>
          <a:p>
            <a:pPr lvl="2"/>
            <a:r>
              <a:rPr lang="en-US" altLang="ko-KR" dirty="0"/>
              <a:t>For GUI programs, </a:t>
            </a:r>
            <a:r>
              <a:rPr lang="en-US" altLang="ko-KR" b="1" dirty="0" err="1"/>
              <a:t>GetModuleHandleA</a:t>
            </a:r>
            <a:r>
              <a:rPr lang="en-US" altLang="ko-KR" dirty="0"/>
              <a:t> is usually the first function to be called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Strategy 6</a:t>
            </a:r>
          </a:p>
          <a:p>
            <a:pPr lvl="1"/>
            <a:r>
              <a:rPr lang="en-US" altLang="ko-KR" dirty="0"/>
              <a:t>Run Trace option in </a:t>
            </a:r>
            <a:r>
              <a:rPr lang="en-US" altLang="ko-KR" dirty="0" err="1"/>
              <a:t>OllyDbg</a:t>
            </a:r>
            <a:endParaRPr lang="en-US" altLang="ko-KR" dirty="0"/>
          </a:p>
          <a:p>
            <a:pPr lvl="1"/>
            <a:r>
              <a:rPr lang="en-US" altLang="ko-KR" dirty="0"/>
              <a:t>Many packer leave the .text section for the original file</a:t>
            </a:r>
          </a:p>
          <a:p>
            <a:pPr marL="0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91951-F974-2B1E-0739-96A63B15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5597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5B898-35AA-6901-2C3E-7B390E92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Import Table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40F8B8-1EDF-B94E-EEDD-76CFE1C95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OllyDump</a:t>
            </a:r>
            <a:r>
              <a:rPr lang="en-US" altLang="ko-KR" dirty="0"/>
              <a:t> and </a:t>
            </a:r>
            <a:r>
              <a:rPr lang="en-US" altLang="ko-KR" dirty="0" err="1"/>
              <a:t>ImpRec</a:t>
            </a:r>
            <a:r>
              <a:rPr lang="en-US" altLang="ko-KR" dirty="0"/>
              <a:t> are usually able to rebuild the import table</a:t>
            </a:r>
          </a:p>
          <a:p>
            <a:pPr lvl="1"/>
            <a:r>
              <a:rPr lang="en-US" altLang="ko-KR" dirty="0"/>
              <a:t>But sometimes this fails</a:t>
            </a:r>
          </a:p>
          <a:p>
            <a:endParaRPr lang="en-US" altLang="ko-KR" dirty="0"/>
          </a:p>
          <a:p>
            <a:r>
              <a:rPr lang="en-US" altLang="ko-KR" dirty="0"/>
              <a:t>Import table is actually two tables in memory</a:t>
            </a:r>
          </a:p>
          <a:p>
            <a:pPr lvl="1"/>
            <a:r>
              <a:rPr lang="en-US" altLang="ko-KR" dirty="0"/>
              <a:t>List of </a:t>
            </a:r>
            <a:r>
              <a:rPr lang="en-US" altLang="ko-KR" b="1" dirty="0"/>
              <a:t>names</a:t>
            </a:r>
            <a:r>
              <a:rPr lang="en-US" altLang="ko-KR" dirty="0"/>
              <a:t> or ordinals used by loader or unpacking stub</a:t>
            </a:r>
          </a:p>
          <a:p>
            <a:pPr lvl="1"/>
            <a:r>
              <a:rPr lang="en-US" altLang="ko-KR" dirty="0"/>
              <a:t>List of the </a:t>
            </a:r>
            <a:r>
              <a:rPr lang="en-US" altLang="ko-KR" b="1" dirty="0"/>
              <a:t>addresses</a:t>
            </a:r>
            <a:r>
              <a:rPr lang="en-US" altLang="ko-KR" dirty="0"/>
              <a:t> of all the functions are imported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When the code is running, only the second is needed</a:t>
            </a:r>
          </a:p>
          <a:p>
            <a:pPr lvl="1"/>
            <a:r>
              <a:rPr lang="en-US" altLang="ko-KR" dirty="0"/>
              <a:t>Manually rebuild the table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8F3A06-33D5-BDEB-5A42-C3B59EBD1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8050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6CE91-0337-C863-A833-784A43B1D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Repairing the Import Table Manually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1E5129-9CD5-F12D-0F9D-BDE0EA9CA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Strategy 1</a:t>
            </a:r>
          </a:p>
          <a:p>
            <a:pPr lvl="1"/>
            <a:r>
              <a:rPr lang="en-US" altLang="ko-KR" dirty="0"/>
              <a:t>Repair the imports one at a time as encounter</a:t>
            </a:r>
          </a:p>
          <a:p>
            <a:pPr lvl="1"/>
            <a:r>
              <a:rPr lang="en-US" altLang="ko-KR" dirty="0"/>
              <a:t>Open file (without import information)</a:t>
            </a:r>
          </a:p>
          <a:p>
            <a:pPr lvl="2"/>
            <a:r>
              <a:rPr lang="en-US" altLang="ko-KR" dirty="0"/>
              <a:t>When see imported function, label that function</a:t>
            </a:r>
          </a:p>
          <a:p>
            <a:endParaRPr lang="en-US" altLang="ko-KR" dirty="0"/>
          </a:p>
          <a:p>
            <a:r>
              <a:rPr lang="en-US" altLang="ko-KR" dirty="0"/>
              <a:t>Strategy 2</a:t>
            </a:r>
          </a:p>
          <a:p>
            <a:pPr lvl="1"/>
            <a:r>
              <a:rPr lang="en-US" altLang="ko-KR" dirty="0"/>
              <a:t>manually rebuild the import table</a:t>
            </a:r>
          </a:p>
          <a:p>
            <a:pPr lvl="2"/>
            <a:r>
              <a:rPr lang="en-US" altLang="ko-KR" dirty="0"/>
              <a:t>If finding table of imported function is possible, then can rebuild the original import table by hand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E6C2EA-92D9-4D59-6E05-86942553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0607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42088-7FDC-40A7-BA30-F79E832FE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Packers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522E61-9B09-3D07-FCCB-9565399BC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UPX</a:t>
            </a:r>
            <a:r>
              <a:rPr lang="en-US" altLang="ko-KR" dirty="0"/>
              <a:t>(Ultimate Packer for </a:t>
            </a:r>
            <a:r>
              <a:rPr lang="en-US" altLang="ko-KR" dirty="0" err="1"/>
              <a:t>eXecutables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Open source, free and easy to use</a:t>
            </a:r>
          </a:p>
          <a:p>
            <a:pPr lvl="1"/>
            <a:r>
              <a:rPr lang="en-US" altLang="ko-KR" dirty="0"/>
              <a:t>Compress the executable</a:t>
            </a:r>
          </a:p>
          <a:p>
            <a:pPr lvl="1"/>
            <a:r>
              <a:rPr lang="en-US" altLang="ko-KR" dirty="0"/>
              <a:t>Popular because high decompression speed, small size and low memory requirements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1" dirty="0" err="1"/>
              <a:t>PECompact</a:t>
            </a:r>
            <a:endParaRPr lang="en-US" altLang="ko-KR" b="1" dirty="0"/>
          </a:p>
          <a:p>
            <a:pPr lvl="1"/>
            <a:r>
              <a:rPr lang="en-US" altLang="ko-KR" dirty="0"/>
              <a:t>Commercial packer designed for speed and performance</a:t>
            </a:r>
          </a:p>
          <a:p>
            <a:pPr lvl="1"/>
            <a:r>
              <a:rPr lang="en-US" altLang="ko-KR" dirty="0"/>
              <a:t>See tail jump consisting of a jump </a:t>
            </a:r>
            <a:r>
              <a:rPr lang="en-US" altLang="ko-KR" b="1" dirty="0" err="1"/>
              <a:t>eax</a:t>
            </a:r>
            <a:r>
              <a:rPr lang="en-US" altLang="ko-KR" b="1" dirty="0"/>
              <a:t> </a:t>
            </a:r>
            <a:r>
              <a:rPr lang="en-US" altLang="ko-KR" dirty="0"/>
              <a:t>followed by many 0x00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0957D3-E142-DD02-4F41-9FF90E732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910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83DC3-F91E-EE40-F3F3-EA808837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0CD4E-E5EA-89E1-A61C-A2626E50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Packers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265CD5-9ABF-95AF-29E1-88E47D188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/>
              <a:t>ASPack</a:t>
            </a:r>
            <a:endParaRPr lang="en-US" altLang="ko-KR" dirty="0"/>
          </a:p>
          <a:p>
            <a:pPr lvl="1"/>
            <a:r>
              <a:rPr lang="en-US" altLang="ko-KR" dirty="0"/>
              <a:t>Focused on security </a:t>
            </a:r>
            <a:r>
              <a:rPr lang="ko-KR" altLang="en-US" dirty="0"/>
              <a:t>→ </a:t>
            </a:r>
            <a:r>
              <a:rPr lang="en-US" altLang="ko-KR" dirty="0"/>
              <a:t>make it difficult to unpack programs</a:t>
            </a:r>
          </a:p>
          <a:p>
            <a:pPr lvl="1"/>
            <a:r>
              <a:rPr lang="en-US" altLang="ko-KR" dirty="0"/>
              <a:t>Use self-modifying code </a:t>
            </a:r>
            <a:r>
              <a:rPr lang="ko-KR" altLang="en-US" dirty="0"/>
              <a:t>→ </a:t>
            </a:r>
            <a:r>
              <a:rPr lang="en-US" altLang="ko-KR" dirty="0"/>
              <a:t>difficult to set breakpoints and analyze in general</a:t>
            </a:r>
          </a:p>
          <a:p>
            <a:pPr lvl="1"/>
            <a:r>
              <a:rPr lang="en-US" altLang="ko-KR" dirty="0"/>
              <a:t>In early code, will see </a:t>
            </a:r>
            <a:r>
              <a:rPr lang="en-US" altLang="ko-KR" b="1" dirty="0"/>
              <a:t>PUSHAD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1" dirty="0" err="1"/>
              <a:t>Themida</a:t>
            </a:r>
            <a:endParaRPr lang="en-US" altLang="ko-KR" b="1" dirty="0"/>
          </a:p>
          <a:p>
            <a:pPr lvl="1"/>
            <a:r>
              <a:rPr lang="en-US" altLang="ko-KR" dirty="0"/>
              <a:t>Complicated packer with many features</a:t>
            </a:r>
          </a:p>
          <a:p>
            <a:pPr lvl="2"/>
            <a:r>
              <a:rPr lang="en-US" altLang="ko-KR" dirty="0"/>
              <a:t>Most of the features are anti-debugging and anti-analysis</a:t>
            </a:r>
          </a:p>
          <a:p>
            <a:pPr lvl="1"/>
            <a:r>
              <a:rPr lang="en-US" altLang="ko-KR" dirty="0"/>
              <a:t>Also has kernel component which make it difficult to analyze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EA0C1-296E-97E3-47BC-5C4C2CEB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5571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EAF7BD-78E0-259A-1DE2-A840F3E4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18-1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F07CEA-1BBF-96D5-22DB-1CCFB8D91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Unpack the Lab 18-01.exe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PEiD</a:t>
            </a:r>
            <a:r>
              <a:rPr lang="en-US" altLang="ko-KR" dirty="0"/>
              <a:t> does not detect the packer</a:t>
            </a:r>
          </a:p>
          <a:p>
            <a:r>
              <a:rPr lang="en-US" altLang="ko-KR" dirty="0"/>
              <a:t>Section in the file named UPX2</a:t>
            </a:r>
          </a:p>
          <a:p>
            <a:pPr lvl="1"/>
            <a:r>
              <a:rPr lang="en-US" altLang="ko-KR" dirty="0"/>
              <a:t>UPX-like packer is being used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44CB4F-06C7-BE6E-9D16-4F1261D4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26</a:t>
            </a:fld>
            <a:endParaRPr lang="ko-KR" altLang="en-US" dirty="0"/>
          </a:p>
        </p:txBody>
      </p:sp>
      <p:pic>
        <p:nvPicPr>
          <p:cNvPr id="6" name="그림 5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F1EF3-0C02-8652-8B7F-F393DD486D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79"/>
          <a:stretch>
            <a:fillRect/>
          </a:stretch>
        </p:blipFill>
        <p:spPr>
          <a:xfrm>
            <a:off x="1031017" y="1998832"/>
            <a:ext cx="3956620" cy="2286319"/>
          </a:xfrm>
          <a:prstGeom prst="rect">
            <a:avLst/>
          </a:prstGeom>
        </p:spPr>
      </p:pic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7C659C-AFFA-6301-0B41-EC6EA0328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406" y="1998832"/>
            <a:ext cx="4182059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71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00BDC7-AAA6-D081-10C4-462F9606E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18-1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F6A2B0-8A5E-793A-4620-F5C9FD874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877E08-24FC-FE19-9A6B-74290149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27</a:t>
            </a:fld>
            <a:endParaRPr lang="ko-KR" altLang="en-US" dirty="0"/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9D0D2D-43AF-9FC5-6EB0-1D67554D8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4" y="1282328"/>
            <a:ext cx="4643896" cy="1967754"/>
          </a:xfrm>
          <a:prstGeom prst="rect">
            <a:avLst/>
          </a:prstGeom>
        </p:spPr>
      </p:pic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7299CE-0890-DAB7-1DB2-83741AD7B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83" y="3404953"/>
            <a:ext cx="4619697" cy="26166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1B55A5-B801-0985-9F87-3FDA3C3F0A62}"/>
              </a:ext>
            </a:extLst>
          </p:cNvPr>
          <p:cNvSpPr txBox="1"/>
          <p:nvPr/>
        </p:nvSpPr>
        <p:spPr>
          <a:xfrm>
            <a:off x="6244936" y="1579418"/>
            <a:ext cx="2365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Waring for packers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BD44B-13C9-F61B-3603-BFB86C8C1D8E}"/>
              </a:ext>
            </a:extLst>
          </p:cNvPr>
          <p:cNvSpPr txBox="1"/>
          <p:nvPr/>
        </p:nvSpPr>
        <p:spPr>
          <a:xfrm>
            <a:off x="6095999" y="3391098"/>
            <a:ext cx="470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This JMP transfers control to the OEP</a:t>
            </a:r>
            <a:endParaRPr lang="ko-KR" altLang="en-US" dirty="0"/>
          </a:p>
        </p:txBody>
      </p:sp>
      <p:sp>
        <p:nvSpPr>
          <p:cNvPr id="13" name="액자 12">
            <a:extLst>
              <a:ext uri="{FF2B5EF4-FFF2-40B4-BE49-F238E27FC236}">
                <a16:creationId xmlns:a16="http://schemas.microsoft.com/office/drawing/2014/main" id="{FD9098CC-5123-2E08-CF6B-557AB036ADD8}"/>
              </a:ext>
            </a:extLst>
          </p:cNvPr>
          <p:cNvSpPr/>
          <p:nvPr/>
        </p:nvSpPr>
        <p:spPr>
          <a:xfrm>
            <a:off x="929083" y="3906982"/>
            <a:ext cx="4619697" cy="176645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348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A17EA-5423-A65F-F19E-D6C300A8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B33A79-91E9-17A7-0489-86F01B09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18-1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BD1392-39F1-49C0-E2F8-EE81310EE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54E8B1-0E9B-69C8-906E-BD9C6165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28</a:t>
            </a:fld>
            <a:endParaRPr lang="ko-KR" altLang="en-US" dirty="0"/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B443BC-A6B1-EE20-A13A-357C635B3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38" y="1281860"/>
            <a:ext cx="5906324" cy="48298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D732C6-62E1-931C-0B41-0570EA2C8AD3}"/>
              </a:ext>
            </a:extLst>
          </p:cNvPr>
          <p:cNvSpPr txBox="1"/>
          <p:nvPr/>
        </p:nvSpPr>
        <p:spPr>
          <a:xfrm>
            <a:off x="7408717" y="1461247"/>
            <a:ext cx="4166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Set the break point on the tail jump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1271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C4B9-C330-5DD5-D371-1D6C54EE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9DE11-48CB-9A24-1595-E4A22146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18-1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6E2580-899B-D1B3-A344-73CFD205C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5080E8-9AFB-92F7-D1EC-4CCEB371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29</a:t>
            </a:fld>
            <a:endParaRPr lang="ko-KR" altLang="en-US" dirty="0"/>
          </a:p>
        </p:txBody>
      </p:sp>
      <p:pic>
        <p:nvPicPr>
          <p:cNvPr id="7" name="그림 6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0C310E-7EB3-C84E-8E27-52E2649BC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81860"/>
            <a:ext cx="6327996" cy="325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42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3AFA6-0BFC-A65C-311E-26487936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86F6C-1848-AF8C-3B7F-777F05E7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18-1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09228-16EF-6C13-95BC-570232428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3D026B-D5BD-D995-9408-C6E2316B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30</a:t>
            </a:fld>
            <a:endParaRPr lang="ko-KR" altLang="en-US" dirty="0"/>
          </a:p>
        </p:txBody>
      </p:sp>
      <p:pic>
        <p:nvPicPr>
          <p:cNvPr id="9" name="그림 8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779DF5-6347-6179-D693-072A58E4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86882"/>
            <a:ext cx="5734850" cy="1943371"/>
          </a:xfrm>
          <a:prstGeom prst="rect">
            <a:avLst/>
          </a:prstGeom>
        </p:spPr>
      </p:pic>
      <p:pic>
        <p:nvPicPr>
          <p:cNvPr id="6" name="그림 5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44ADFB-0523-A67A-1ABD-65B00090A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07989"/>
            <a:ext cx="4401164" cy="35342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D7429E-ABB1-A08E-09CD-A639B235AA28}"/>
              </a:ext>
            </a:extLst>
          </p:cNvPr>
          <p:cNvSpPr txBox="1"/>
          <p:nvPr/>
        </p:nvSpPr>
        <p:spPr>
          <a:xfrm>
            <a:off x="7041572" y="1461247"/>
            <a:ext cx="31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Dump the process to a disk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3112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86CBE-2770-B392-C0E5-9003B878D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78A8D-418F-A596-C711-6AC193F7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18-1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601362-C27F-06C4-5FD1-0D8E9498B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23738-13A5-1F45-2D12-8CB3067B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31</a:t>
            </a:fld>
            <a:endParaRPr lang="ko-KR" altLang="en-US" dirty="0"/>
          </a:p>
        </p:txBody>
      </p:sp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BAAB7A-ABCC-526A-C48B-030C71B21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7" y="3227918"/>
            <a:ext cx="6584050" cy="3630082"/>
          </a:xfrm>
          <a:prstGeom prst="rect">
            <a:avLst/>
          </a:prstGeom>
        </p:spPr>
      </p:pic>
      <p:pic>
        <p:nvPicPr>
          <p:cNvPr id="8" name="그림 7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8E8B57-F90D-9E6B-A6E4-22B4DFC59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27" y="1194296"/>
            <a:ext cx="5495276" cy="18542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619A46-6036-7244-D440-655B28A4F52B}"/>
              </a:ext>
            </a:extLst>
          </p:cNvPr>
          <p:cNvSpPr txBox="1"/>
          <p:nvPr/>
        </p:nvSpPr>
        <p:spPr>
          <a:xfrm>
            <a:off x="7564582" y="3343059"/>
            <a:ext cx="4087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Can now view the program’s import and string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7064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568E7-B5EB-13F4-9752-24AF0FD2C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EE2A7-A1CE-E705-AFEC-37499BD1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18-2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217DAF-38C3-54E4-E007-24355A750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Unpack the Lab 18-02.exe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A9842A-BE6B-6E4C-5C83-B8E1599A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32</a:t>
            </a:fld>
            <a:endParaRPr lang="ko-KR" altLang="en-US" dirty="0"/>
          </a:p>
        </p:txBody>
      </p:sp>
      <p:pic>
        <p:nvPicPr>
          <p:cNvPr id="16" name="그림 15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826C31-0EBE-C46D-747D-47245D8D0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280" y="2092360"/>
            <a:ext cx="6020640" cy="3267531"/>
          </a:xfrm>
          <a:prstGeom prst="rect">
            <a:avLst/>
          </a:prstGeom>
        </p:spPr>
      </p:pic>
      <p:pic>
        <p:nvPicPr>
          <p:cNvPr id="18" name="그림 17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61AD9B-5E6C-BAE2-E4DD-73068AD18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43" y="2092360"/>
            <a:ext cx="4010585" cy="22672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3EFB0AC-46E7-1514-7A75-9177BD682543}"/>
              </a:ext>
            </a:extLst>
          </p:cNvPr>
          <p:cNvSpPr txBox="1"/>
          <p:nvPr/>
        </p:nvSpPr>
        <p:spPr>
          <a:xfrm>
            <a:off x="430936" y="4621407"/>
            <a:ext cx="4856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The program is packed by FSG1.0-&gt;</a:t>
            </a:r>
            <a:r>
              <a:rPr lang="en-US" altLang="ko-KR" dirty="0" err="1"/>
              <a:t>dulek</a:t>
            </a:r>
            <a:r>
              <a:rPr lang="en-US" altLang="ko-KR" dirty="0"/>
              <a:t>/</a:t>
            </a:r>
            <a:r>
              <a:rPr lang="en-US" altLang="ko-KR" dirty="0" err="1"/>
              <a:t>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500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03EC-5763-99B2-623D-86CD9CCE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0A088-19DF-0C5C-35EA-C695AE37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18-2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B777A-5A29-1D77-DE5E-FCE95EF5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33</a:t>
            </a:fld>
            <a:endParaRPr lang="ko-KR" altLang="en-US" dirty="0"/>
          </a:p>
        </p:txBody>
      </p:sp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AD4AD2-7AB8-74A3-2B3D-3690254DB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67997"/>
            <a:ext cx="4486901" cy="1981477"/>
          </a:xfrm>
          <a:prstGeom prst="rect">
            <a:avLst/>
          </a:prstGeom>
        </p:spPr>
      </p:pic>
      <p:pic>
        <p:nvPicPr>
          <p:cNvPr id="9" name="그림 8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55EF5E-3175-A7EC-7441-F74C096A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41293"/>
            <a:ext cx="5868219" cy="2915057"/>
          </a:xfrm>
          <a:prstGeom prst="rect">
            <a:avLst/>
          </a:prstGeom>
        </p:spPr>
      </p:pic>
      <p:sp>
        <p:nvSpPr>
          <p:cNvPr id="11" name="액자 10">
            <a:extLst>
              <a:ext uri="{FF2B5EF4-FFF2-40B4-BE49-F238E27FC236}">
                <a16:creationId xmlns:a16="http://schemas.microsoft.com/office/drawing/2014/main" id="{CE39737D-9494-B295-988D-DF17F62EDB3D}"/>
              </a:ext>
            </a:extLst>
          </p:cNvPr>
          <p:cNvSpPr/>
          <p:nvPr/>
        </p:nvSpPr>
        <p:spPr>
          <a:xfrm>
            <a:off x="2540817" y="2493818"/>
            <a:ext cx="2862456" cy="311727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EA1718-05FC-268D-35A7-132EF1370986}"/>
              </a:ext>
            </a:extLst>
          </p:cNvPr>
          <p:cNvSpPr txBox="1"/>
          <p:nvPr/>
        </p:nvSpPr>
        <p:spPr>
          <a:xfrm>
            <a:off x="6889171" y="3429000"/>
            <a:ext cx="5226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OllyDbg</a:t>
            </a:r>
            <a:r>
              <a:rPr lang="en-US" altLang="ko-KR" dirty="0"/>
              <a:t> may not have disassembled this code</a:t>
            </a:r>
          </a:p>
          <a:p>
            <a:r>
              <a:rPr lang="en-US" altLang="ko-KR" dirty="0"/>
              <a:t>because it did not realize that it is code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00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B193F-7684-4EDD-46D5-3DAE11870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797BE-45B3-A9FA-23EA-E80E9BEB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18-2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8C159E-1140-9DF3-3A73-4F14FB72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34</a:t>
            </a:fld>
            <a:endParaRPr lang="ko-KR" altLang="en-US" dirty="0"/>
          </a:p>
        </p:txBody>
      </p:sp>
      <p:pic>
        <p:nvPicPr>
          <p:cNvPr id="5" name="그림 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47D563-3BE1-B932-6412-EC7CBCC62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94" y="1225712"/>
            <a:ext cx="7769606" cy="5495763"/>
          </a:xfrm>
          <a:prstGeom prst="rect">
            <a:avLst/>
          </a:prstGeom>
        </p:spPr>
      </p:pic>
      <p:sp>
        <p:nvSpPr>
          <p:cNvPr id="7" name="액자 6">
            <a:extLst>
              <a:ext uri="{FF2B5EF4-FFF2-40B4-BE49-F238E27FC236}">
                <a16:creationId xmlns:a16="http://schemas.microsoft.com/office/drawing/2014/main" id="{2CAFDAF6-B23F-6373-B458-01D8BB0BDE43}"/>
              </a:ext>
            </a:extLst>
          </p:cNvPr>
          <p:cNvSpPr/>
          <p:nvPr/>
        </p:nvSpPr>
        <p:spPr>
          <a:xfrm>
            <a:off x="3148445" y="5049982"/>
            <a:ext cx="2608119" cy="249382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855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81339-FD9D-9ADB-BAB4-A027D027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FE285-52FA-ACDA-ED6B-C8547D787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18-2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05561A-CCBE-4B30-A21A-0243F3D5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35</a:t>
            </a:fld>
            <a:endParaRPr lang="ko-KR" altLang="en-US" dirty="0"/>
          </a:p>
        </p:txBody>
      </p:sp>
      <p:pic>
        <p:nvPicPr>
          <p:cNvPr id="6" name="그림 5" descr="텍스트, 스크린샷, 번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736F79-38C1-C26C-5DA4-BCEE21145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82328"/>
            <a:ext cx="6144482" cy="32484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F4F9924-63C3-A437-CDB0-9C54C2681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047903"/>
            <a:ext cx="6692491" cy="79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27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22D74-8A34-DD3E-DD5F-88882C35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72A40-03CA-55D8-A753-95CB365F7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9525"/>
            <a:ext cx="10515600" cy="917203"/>
          </a:xfrm>
        </p:spPr>
        <p:txBody>
          <a:bodyPr/>
          <a:lstStyle/>
          <a:p>
            <a:r>
              <a:rPr lang="en-US" altLang="ko-KR" dirty="0"/>
              <a:t>Thank</a:t>
            </a:r>
            <a:r>
              <a:rPr lang="ko-KR" altLang="en-US" dirty="0"/>
              <a:t> </a:t>
            </a:r>
            <a:r>
              <a:rPr lang="en-US" altLang="ko-KR" dirty="0"/>
              <a:t>You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72AF8F-7DCF-612F-FFD5-6A0FD826E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6704-8E33-4C98-AD21-4126A9A321C3}" type="slidenum">
              <a:rPr lang="ko-KR" altLang="en-US" smtClean="0"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6877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/>
        </a:solidFill>
      </a:spPr>
      <a:bodyPr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10246</TotalTime>
  <Words>1392</Words>
  <Application>Microsoft Office PowerPoint</Application>
  <PresentationFormat>와이드스크린</PresentationFormat>
  <Paragraphs>286</Paragraphs>
  <Slides>36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9" baseType="lpstr">
      <vt:lpstr>맑은 고딕</vt:lpstr>
      <vt:lpstr>Arial</vt:lpstr>
      <vt:lpstr>Office 테마</vt:lpstr>
      <vt:lpstr>Practical Malware Analysis</vt:lpstr>
      <vt:lpstr>Packing Programs</vt:lpstr>
      <vt:lpstr>Packing Programs</vt:lpstr>
      <vt:lpstr>Packing Programs</vt:lpstr>
      <vt:lpstr>Unpacking Stub</vt:lpstr>
      <vt:lpstr>Unpacking Stub</vt:lpstr>
      <vt:lpstr>Loader</vt:lpstr>
      <vt:lpstr>Window loader</vt:lpstr>
      <vt:lpstr>Resolving Imports</vt:lpstr>
      <vt:lpstr>Resolving Imports</vt:lpstr>
      <vt:lpstr>Tail jump</vt:lpstr>
      <vt:lpstr>Unpacking illustrated</vt:lpstr>
      <vt:lpstr>Unpacking illustrated</vt:lpstr>
      <vt:lpstr>Identifying Packed Programs</vt:lpstr>
      <vt:lpstr>Unpacking Options</vt:lpstr>
      <vt:lpstr>Automated static Unpacking</vt:lpstr>
      <vt:lpstr>Automated dynamic Unpacking</vt:lpstr>
      <vt:lpstr>Manual dynamic Unpacking</vt:lpstr>
      <vt:lpstr>Finding OEP</vt:lpstr>
      <vt:lpstr>Finding OEP</vt:lpstr>
      <vt:lpstr>Finding OEP</vt:lpstr>
      <vt:lpstr>Import Table</vt:lpstr>
      <vt:lpstr>Repairing the Import Table Manually</vt:lpstr>
      <vt:lpstr>Common Packers</vt:lpstr>
      <vt:lpstr>Common Packers</vt:lpstr>
      <vt:lpstr>LAB 18-1</vt:lpstr>
      <vt:lpstr>LAB 18-1</vt:lpstr>
      <vt:lpstr>LAB 18-1</vt:lpstr>
      <vt:lpstr>LAB 18-1</vt:lpstr>
      <vt:lpstr>LAB 18-1</vt:lpstr>
      <vt:lpstr>LAB 18-1</vt:lpstr>
      <vt:lpstr>LAB 18-2</vt:lpstr>
      <vt:lpstr>LAB 18-2</vt:lpstr>
      <vt:lpstr>LAB 18-2</vt:lpstr>
      <vt:lpstr>LAB 18-2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오정호</dc:creator>
  <cp:lastModifiedBy>오정호</cp:lastModifiedBy>
  <cp:revision>31</cp:revision>
  <dcterms:created xsi:type="dcterms:W3CDTF">2025-09-10T03:09:38Z</dcterms:created>
  <dcterms:modified xsi:type="dcterms:W3CDTF">2026-02-25T01:44:12Z</dcterms:modified>
</cp:coreProperties>
</file>