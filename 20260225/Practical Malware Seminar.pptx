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66" r:id="rId3"/>
    <p:sldId id="268" r:id="rId4"/>
    <p:sldId id="281" r:id="rId5"/>
    <p:sldId id="269" r:id="rId6"/>
    <p:sldId id="270" r:id="rId7"/>
    <p:sldId id="276" r:id="rId8"/>
    <p:sldId id="271" r:id="rId9"/>
    <p:sldId id="272" r:id="rId10"/>
    <p:sldId id="273" r:id="rId11"/>
    <p:sldId id="258" r:id="rId12"/>
    <p:sldId id="277" r:id="rId13"/>
    <p:sldId id="282"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56"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9DE3C4-F3DF-46E7-A056-D8596A7034F0}" type="datetimeFigureOut">
              <a:rPr lang="en-US" smtClean="0"/>
              <a:t>3/7/2026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52199-4CA4-4649-9EED-A033B83EE2D1}" type="slidenum">
              <a:rPr lang="en-US" smtClean="0"/>
              <a:t>‹#›</a:t>
            </a:fld>
            <a:endParaRPr lang="en-US"/>
          </a:p>
        </p:txBody>
      </p:sp>
    </p:spTree>
    <p:extLst>
      <p:ext uri="{BB962C8B-B14F-4D97-AF65-F5344CB8AC3E}">
        <p14:creationId xmlns:p14="http://schemas.microsoft.com/office/powerpoint/2010/main" val="1735577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EIP = Extended Instruction Pointer, It is a </a:t>
            </a:r>
            <a:r>
              <a:rPr lang="en-US" b="1" dirty="0" smtClean="0"/>
              <a:t>CPU register in x86 processors</a:t>
            </a:r>
            <a:r>
              <a:rPr lang="en-US" dirty="0" smtClean="0"/>
              <a:t> that stores the </a:t>
            </a:r>
            <a:r>
              <a:rPr lang="en-US" b="1" dirty="0" smtClean="0"/>
              <a:t>address of the next instruction the CPU will execute</a:t>
            </a:r>
            <a:r>
              <a:rPr lang="en-US" dirty="0" smtClean="0"/>
              <a:t>.</a:t>
            </a:r>
            <a:endParaRPr lang="en-US" dirty="0"/>
          </a:p>
        </p:txBody>
      </p:sp>
      <p:sp>
        <p:nvSpPr>
          <p:cNvPr id="4" name="Slide Number Placeholder 3"/>
          <p:cNvSpPr>
            <a:spLocks noGrp="1"/>
          </p:cNvSpPr>
          <p:nvPr>
            <p:ph type="sldNum" sz="quarter" idx="10"/>
          </p:nvPr>
        </p:nvSpPr>
        <p:spPr/>
        <p:txBody>
          <a:bodyPr/>
          <a:lstStyle/>
          <a:p>
            <a:fld id="{29152199-4CA4-4649-9EED-A033B83EE2D1}" type="slidenum">
              <a:rPr lang="en-US" smtClean="0"/>
              <a:t>5</a:t>
            </a:fld>
            <a:endParaRPr lang="en-US"/>
          </a:p>
        </p:txBody>
      </p:sp>
    </p:spTree>
    <p:extLst>
      <p:ext uri="{BB962C8B-B14F-4D97-AF65-F5344CB8AC3E}">
        <p14:creationId xmlns:p14="http://schemas.microsoft.com/office/powerpoint/2010/main" val="3994071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1" dirty="0" smtClean="0"/>
              <a:t>TEB</a:t>
            </a:r>
            <a:r>
              <a:rPr lang="en-US" dirty="0" smtClean="0"/>
              <a:t> is a structure that Windows creates for every thread. Dynamic Link Library</a:t>
            </a:r>
          </a:p>
          <a:p>
            <a:r>
              <a:rPr lang="en-US" dirty="0" smtClean="0"/>
              <a:t>It stores important information about the running process.</a:t>
            </a:r>
          </a:p>
          <a:p>
            <a:endParaRPr lang="en-US" dirty="0"/>
          </a:p>
        </p:txBody>
      </p:sp>
      <p:sp>
        <p:nvSpPr>
          <p:cNvPr id="4" name="Slide Number Placeholder 3"/>
          <p:cNvSpPr>
            <a:spLocks noGrp="1"/>
          </p:cNvSpPr>
          <p:nvPr>
            <p:ph type="sldNum" sz="quarter" idx="10"/>
          </p:nvPr>
        </p:nvSpPr>
        <p:spPr/>
        <p:txBody>
          <a:bodyPr/>
          <a:lstStyle/>
          <a:p>
            <a:fld id="{29152199-4CA4-4649-9EED-A033B83EE2D1}" type="slidenum">
              <a:rPr lang="en-US" smtClean="0"/>
              <a:t>6</a:t>
            </a:fld>
            <a:endParaRPr lang="en-US"/>
          </a:p>
        </p:txBody>
      </p:sp>
    </p:spTree>
    <p:extLst>
      <p:ext uri="{BB962C8B-B14F-4D97-AF65-F5344CB8AC3E}">
        <p14:creationId xmlns:p14="http://schemas.microsoft.com/office/powerpoint/2010/main" val="1435150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figure shows how shellcode locates important system libraries in memory by navigating internal Windows structures. The process begins at the </a:t>
            </a:r>
            <a:r>
              <a:rPr lang="en-US" b="1" dirty="0" smtClean="0"/>
              <a:t>Thread Environment Block (TEB)</a:t>
            </a:r>
            <a:r>
              <a:rPr lang="en-US" dirty="0" smtClean="0"/>
              <a:t>, which contains a pointer to the </a:t>
            </a:r>
            <a:r>
              <a:rPr lang="en-US" b="1" dirty="0" smtClean="0"/>
              <a:t>Process Environment Block (PEB)</a:t>
            </a:r>
            <a:r>
              <a:rPr lang="en-US" dirty="0" smtClean="0"/>
              <a:t>. The PEB stores information about the running process, including a pointer to </a:t>
            </a:r>
            <a:r>
              <a:rPr lang="en-US" b="1" dirty="0" smtClean="0"/>
              <a:t>PEB_LDR_DATA</a:t>
            </a:r>
            <a:r>
              <a:rPr lang="en-US" dirty="0" smtClean="0"/>
              <a:t>, which maintains linked lists of all DLLs loaded in memory. By traversing these linked lists—such as </a:t>
            </a:r>
            <a:r>
              <a:rPr lang="en-US" b="1" dirty="0" err="1" smtClean="0"/>
              <a:t>InLoadOrderLinks</a:t>
            </a:r>
            <a:r>
              <a:rPr lang="en-US" b="1" dirty="0" smtClean="0"/>
              <a:t>, </a:t>
            </a:r>
            <a:r>
              <a:rPr lang="en-US" b="1" dirty="0" err="1" smtClean="0"/>
              <a:t>InMemoryOrderLinks</a:t>
            </a:r>
            <a:r>
              <a:rPr lang="en-US" b="1" dirty="0" smtClean="0"/>
              <a:t>, and </a:t>
            </a:r>
            <a:r>
              <a:rPr lang="en-US" b="1" dirty="0" err="1" smtClean="0"/>
              <a:t>InitializationOrderLinks</a:t>
            </a:r>
            <a:r>
              <a:rPr lang="en-US" dirty="0" smtClean="0"/>
              <a:t>—shellcode can enumerate the loaded modules. Typically, the first entry corresponds to </a:t>
            </a:r>
            <a:r>
              <a:rPr lang="en-US" b="1" dirty="0" smtClean="0"/>
              <a:t>ntdll.dll</a:t>
            </a:r>
            <a:r>
              <a:rPr lang="en-US" dirty="0" smtClean="0"/>
              <a:t>, followed by </a:t>
            </a:r>
            <a:r>
              <a:rPr lang="en-US" b="1" dirty="0" smtClean="0"/>
              <a:t>kernel32.dll</a:t>
            </a:r>
            <a:r>
              <a:rPr lang="en-US" dirty="0" smtClean="0"/>
              <a:t>. Once the shellcode reaches the </a:t>
            </a:r>
            <a:r>
              <a:rPr lang="en-US" b="1" dirty="0" smtClean="0"/>
              <a:t>LDR_DATA_TABLE_ENTRY</a:t>
            </a:r>
            <a:r>
              <a:rPr lang="en-US" dirty="0" smtClean="0"/>
              <a:t> for kernel32.dll, it retrieves the </a:t>
            </a:r>
            <a:r>
              <a:rPr lang="en-US" b="1" dirty="0" smtClean="0"/>
              <a:t>base address of the DLL</a:t>
            </a:r>
            <a:r>
              <a:rPr lang="en-US" dirty="0" smtClean="0"/>
              <a:t>, which allows it to parse the DLL’s export table and locate important Windows API functions such as </a:t>
            </a:r>
            <a:r>
              <a:rPr lang="en-US" dirty="0" err="1" smtClean="0"/>
              <a:t>LoadLibraryA</a:t>
            </a:r>
            <a:r>
              <a:rPr lang="en-US" dirty="0" smtClean="0"/>
              <a:t> and </a:t>
            </a:r>
            <a:r>
              <a:rPr lang="en-US" dirty="0" err="1" smtClean="0"/>
              <a:t>GetProcAddress</a:t>
            </a:r>
            <a:r>
              <a:rPr lang="en-US" dirty="0" smtClean="0"/>
              <a:t>. This technique allows shellcode to dynamically find system functions without relying on the program’s import table.</a:t>
            </a:r>
            <a:endParaRPr lang="en-US" dirty="0"/>
          </a:p>
        </p:txBody>
      </p:sp>
      <p:sp>
        <p:nvSpPr>
          <p:cNvPr id="4" name="Slide Number Placeholder 3"/>
          <p:cNvSpPr>
            <a:spLocks noGrp="1"/>
          </p:cNvSpPr>
          <p:nvPr>
            <p:ph type="sldNum" sz="quarter" idx="10"/>
          </p:nvPr>
        </p:nvSpPr>
        <p:spPr/>
        <p:txBody>
          <a:bodyPr/>
          <a:lstStyle/>
          <a:p>
            <a:fld id="{29152199-4CA4-4649-9EED-A033B83EE2D1}" type="slidenum">
              <a:rPr lang="en-US" smtClean="0"/>
              <a:t>7</a:t>
            </a:fld>
            <a:endParaRPr lang="en-US"/>
          </a:p>
        </p:txBody>
      </p:sp>
    </p:spTree>
    <p:extLst>
      <p:ext uri="{BB962C8B-B14F-4D97-AF65-F5344CB8AC3E}">
        <p14:creationId xmlns:p14="http://schemas.microsoft.com/office/powerpoint/2010/main" val="1852025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assembly code scans the </a:t>
            </a:r>
            <a:r>
              <a:rPr lang="en-US" b="1" dirty="0" smtClean="0"/>
              <a:t>export table of a DLL (like kernel32.dll) and compares hashes of function names to a target hash (</a:t>
            </a:r>
            <a:r>
              <a:rPr lang="en-US" b="1" dirty="0" err="1" smtClean="0"/>
              <a:t>symHash</a:t>
            </a:r>
            <a:r>
              <a:rPr lang="en-US" b="1" dirty="0" smtClean="0"/>
              <a:t>) to locate and return the memory address of the desired API function.</a:t>
            </a:r>
            <a:endParaRPr lang="en-US" dirty="0"/>
          </a:p>
        </p:txBody>
      </p:sp>
      <p:sp>
        <p:nvSpPr>
          <p:cNvPr id="4" name="Slide Number Placeholder 3"/>
          <p:cNvSpPr>
            <a:spLocks noGrp="1"/>
          </p:cNvSpPr>
          <p:nvPr>
            <p:ph type="sldNum" sz="quarter" idx="10"/>
          </p:nvPr>
        </p:nvSpPr>
        <p:spPr/>
        <p:txBody>
          <a:bodyPr/>
          <a:lstStyle/>
          <a:p>
            <a:fld id="{29152199-4CA4-4649-9EED-A033B83EE2D1}" type="slidenum">
              <a:rPr lang="en-US" smtClean="0"/>
              <a:t>8</a:t>
            </a:fld>
            <a:endParaRPr lang="en-US"/>
          </a:p>
        </p:txBody>
      </p:sp>
    </p:spTree>
    <p:extLst>
      <p:ext uri="{BB962C8B-B14F-4D97-AF65-F5344CB8AC3E}">
        <p14:creationId xmlns:p14="http://schemas.microsoft.com/office/powerpoint/2010/main" val="1905791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Analysts detect shellcode by identifying decoding routines, unusual assembly patterns, NOP sleds, and behaviors such as API hashing or PEB traversal.</a:t>
            </a:r>
            <a:endParaRPr lang="en-US" dirty="0"/>
          </a:p>
        </p:txBody>
      </p:sp>
      <p:sp>
        <p:nvSpPr>
          <p:cNvPr id="4" name="Slide Number Placeholder 3"/>
          <p:cNvSpPr>
            <a:spLocks noGrp="1"/>
          </p:cNvSpPr>
          <p:nvPr>
            <p:ph type="sldNum" sz="quarter" idx="10"/>
          </p:nvPr>
        </p:nvSpPr>
        <p:spPr/>
        <p:txBody>
          <a:bodyPr/>
          <a:lstStyle/>
          <a:p>
            <a:fld id="{29152199-4CA4-4649-9EED-A033B83EE2D1}" type="slidenum">
              <a:rPr lang="en-US" smtClean="0"/>
              <a:t>10</a:t>
            </a:fld>
            <a:endParaRPr lang="en-US"/>
          </a:p>
        </p:txBody>
      </p:sp>
    </p:spTree>
    <p:extLst>
      <p:ext uri="{BB962C8B-B14F-4D97-AF65-F5344CB8AC3E}">
        <p14:creationId xmlns:p14="http://schemas.microsoft.com/office/powerpoint/2010/main" val="1093498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7300F3A-FF53-4765-B5DA-2B21DB5F308A}"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428802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300F3A-FF53-4765-B5DA-2B21DB5F308A}"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791241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300F3A-FF53-4765-B5DA-2B21DB5F308A}"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382658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7300F3A-FF53-4765-B5DA-2B21DB5F308A}"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1335083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7300F3A-FF53-4765-B5DA-2B21DB5F308A}"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4254942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7300F3A-FF53-4765-B5DA-2B21DB5F308A}"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536317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300F3A-FF53-4765-B5DA-2B21DB5F308A}"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101483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7300F3A-FF53-4765-B5DA-2B21DB5F308A}"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197943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7300F3A-FF53-4765-B5DA-2B21DB5F308A}"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157187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300F3A-FF53-4765-B5DA-2B21DB5F308A}"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1161735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300F3A-FF53-4765-B5DA-2B21DB5F308A}"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B696AE-2D78-41D0-AA32-560F5A4CDCC4}" type="slidenum">
              <a:rPr lang="en-US" smtClean="0"/>
              <a:t>‹#›</a:t>
            </a:fld>
            <a:endParaRPr lang="en-US"/>
          </a:p>
        </p:txBody>
      </p:sp>
    </p:spTree>
    <p:extLst>
      <p:ext uri="{BB962C8B-B14F-4D97-AF65-F5344CB8AC3E}">
        <p14:creationId xmlns:p14="http://schemas.microsoft.com/office/powerpoint/2010/main" val="2296196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300F3A-FF53-4765-B5DA-2B21DB5F308A}" type="datetimeFigureOut">
              <a:rPr lang="en-US" smtClean="0"/>
              <a:t>3/7/2026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B696AE-2D78-41D0-AA32-560F5A4CDCC4}" type="slidenum">
              <a:rPr lang="en-US" smtClean="0"/>
              <a:t>‹#›</a:t>
            </a:fld>
            <a:endParaRPr lang="en-US"/>
          </a:p>
        </p:txBody>
      </p:sp>
    </p:spTree>
    <p:extLst>
      <p:ext uri="{BB962C8B-B14F-4D97-AF65-F5344CB8AC3E}">
        <p14:creationId xmlns:p14="http://schemas.microsoft.com/office/powerpoint/2010/main" val="2988244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42290" y="1032190"/>
            <a:ext cx="10842172" cy="646331"/>
          </a:xfrm>
          <a:prstGeom prst="rect">
            <a:avLst/>
          </a:prstGeom>
          <a:noFill/>
        </p:spPr>
        <p:txBody>
          <a:bodyPr wrap="square" rtlCol="0">
            <a:spAutoFit/>
          </a:bodyPr>
          <a:lstStyle/>
          <a:p>
            <a:pPr algn="ctr"/>
            <a:r>
              <a:rPr lang="en-US" sz="3600" dirty="0">
                <a:latin typeface="Times New Roman" panose="02020603050405020304" pitchFamily="18" charset="0"/>
                <a:ea typeface="Microsoft Himalaya" panose="01010100010101010101" pitchFamily="2" charset="0"/>
                <a:cs typeface="Times New Roman" panose="02020603050405020304" pitchFamily="18" charset="0"/>
              </a:rPr>
              <a:t> Shellcode Analysis</a:t>
            </a:r>
            <a:endParaRPr lang="en-US" sz="5400" dirty="0">
              <a:latin typeface="Times New Roman" panose="02020603050405020304" pitchFamily="18" charset="0"/>
              <a:ea typeface="Microsoft Himalaya" panose="01010100010101010101" pitchFamily="2" charset="0"/>
              <a:cs typeface="Times New Roman" panose="02020603050405020304" pitchFamily="18" charset="0"/>
            </a:endParaRPr>
          </a:p>
        </p:txBody>
      </p:sp>
      <p:sp>
        <p:nvSpPr>
          <p:cNvPr id="6" name="Rectangle 5"/>
          <p:cNvSpPr/>
          <p:nvPr/>
        </p:nvSpPr>
        <p:spPr>
          <a:xfrm>
            <a:off x="184866" y="133176"/>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1584462" y="15585"/>
            <a:ext cx="607538" cy="637915"/>
          </a:xfrm>
          <a:prstGeom prst="rect">
            <a:avLst/>
          </a:prstGeom>
        </p:spPr>
      </p:pic>
      <p:sp>
        <p:nvSpPr>
          <p:cNvPr id="19" name="Rectangle 18"/>
          <p:cNvSpPr/>
          <p:nvPr/>
        </p:nvSpPr>
        <p:spPr>
          <a:xfrm>
            <a:off x="-139661" y="5771575"/>
            <a:ext cx="2901010" cy="584775"/>
          </a:xfrm>
          <a:prstGeom prst="rect">
            <a:avLst/>
          </a:prstGeom>
        </p:spPr>
        <p:txBody>
          <a:bodyPr wrap="square">
            <a:spAutoFit/>
          </a:bodyPr>
          <a:lstStyle/>
          <a:p>
            <a:pPr algn="ctr"/>
            <a:r>
              <a:rPr lang="en-US" sz="1400" b="0" i="1" u="none" strike="noStrike" baseline="0" dirty="0">
                <a:solidFill>
                  <a:srgbClr val="000000"/>
                </a:solidFill>
                <a:latin typeface="Times New Roman" panose="02020603050405020304" pitchFamily="18" charset="0"/>
                <a:ea typeface="Microsoft Himalaya" panose="01010100010101010101" pitchFamily="2" charset="0"/>
                <a:cs typeface="Times New Roman" panose="02020603050405020304" pitchFamily="18" charset="0"/>
              </a:rPr>
              <a:t>Opponent-</a:t>
            </a:r>
            <a:r>
              <a:rPr lang="en-US" sz="1400" b="0" i="1" u="none" strike="noStrike" dirty="0">
                <a:solidFill>
                  <a:srgbClr val="000000"/>
                </a:solidFill>
                <a:latin typeface="Times New Roman" panose="02020603050405020304" pitchFamily="18" charset="0"/>
                <a:ea typeface="Microsoft Himalaya" panose="01010100010101010101" pitchFamily="2" charset="0"/>
                <a:cs typeface="Times New Roman" panose="02020603050405020304" pitchFamily="18" charset="0"/>
              </a:rPr>
              <a:t> </a:t>
            </a:r>
            <a:r>
              <a:rPr lang="en-US" sz="1600" b="0" i="1" u="none" strike="noStrike" dirty="0">
                <a:solidFill>
                  <a:srgbClr val="000000"/>
                </a:solidFill>
                <a:latin typeface="Times New Roman" panose="02020603050405020304" pitchFamily="18" charset="0"/>
                <a:ea typeface="Microsoft Himalaya" panose="01010100010101010101" pitchFamily="2" charset="0"/>
                <a:cs typeface="Times New Roman" panose="02020603050405020304" pitchFamily="18" charset="0"/>
              </a:rPr>
              <a:t>Nivedita</a:t>
            </a:r>
            <a:r>
              <a:rPr lang="en-US" sz="1400" b="0" i="1" u="none" strike="noStrike" dirty="0">
                <a:solidFill>
                  <a:srgbClr val="000000"/>
                </a:solidFill>
                <a:latin typeface="Times New Roman" panose="02020603050405020304" pitchFamily="18" charset="0"/>
                <a:ea typeface="Microsoft Himalaya" panose="01010100010101010101" pitchFamily="2" charset="0"/>
                <a:cs typeface="Times New Roman" panose="02020603050405020304" pitchFamily="18" charset="0"/>
              </a:rPr>
              <a:t> Singh</a:t>
            </a:r>
          </a:p>
          <a:p>
            <a:pPr algn="ctr"/>
            <a:r>
              <a:rPr lang="en-US" sz="1600" i="1" dirty="0" smtClean="0">
                <a:solidFill>
                  <a:srgbClr val="000000"/>
                </a:solidFill>
                <a:latin typeface="Times New Roman" panose="02020603050405020304" pitchFamily="18" charset="0"/>
                <a:ea typeface="Microsoft Himalaya" panose="01010100010101010101" pitchFamily="2" charset="0"/>
                <a:cs typeface="Times New Roman" panose="02020603050405020304" pitchFamily="18" charset="0"/>
              </a:rPr>
              <a:t>03/09</a:t>
            </a:r>
            <a:endParaRPr lang="en-US" sz="1400" i="1" dirty="0">
              <a:latin typeface="Times New Roman" panose="02020603050405020304" pitchFamily="18" charset="0"/>
              <a:ea typeface="Microsoft Himalaya" panose="01010100010101010101" pitchFamily="2" charset="0"/>
              <a:cs typeface="Times New Roman" panose="02020603050405020304" pitchFamily="18" charset="0"/>
            </a:endParaRPr>
          </a:p>
        </p:txBody>
      </p:sp>
      <p:sp>
        <p:nvSpPr>
          <p:cNvPr id="21" name="Rectangle 20"/>
          <p:cNvSpPr/>
          <p:nvPr/>
        </p:nvSpPr>
        <p:spPr>
          <a:xfrm flipV="1">
            <a:off x="11409592" y="6598002"/>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E851CD4A-BDA1-490F-BB52-D1CA261B724B}" type="slidenum">
              <a:rPr lang="en-US" smtClean="0">
                <a:latin typeface="Times New Roman" panose="02020603050405020304" pitchFamily="18" charset="0"/>
                <a:cs typeface="Times New Roman" panose="02020603050405020304" pitchFamily="18" charset="0"/>
              </a:rPr>
              <a:t>1</a:t>
            </a:fld>
            <a:endParaRPr lang="en-US">
              <a:latin typeface="Times New Roman" panose="02020603050405020304" pitchFamily="18" charset="0"/>
              <a:cs typeface="Times New Roman" panose="02020603050405020304" pitchFamily="18" charset="0"/>
            </a:endParaRPr>
          </a:p>
        </p:txBody>
      </p:sp>
      <p:sp>
        <p:nvSpPr>
          <p:cNvPr id="4" name="Rectangle 3"/>
          <p:cNvSpPr/>
          <p:nvPr/>
        </p:nvSpPr>
        <p:spPr>
          <a:xfrm>
            <a:off x="5554235" y="1854011"/>
            <a:ext cx="12182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Chapter 19</a:t>
            </a:r>
          </a:p>
        </p:txBody>
      </p:sp>
    </p:spTree>
    <p:extLst>
      <p:ext uri="{BB962C8B-B14F-4D97-AF65-F5344CB8AC3E}">
        <p14:creationId xmlns:p14="http://schemas.microsoft.com/office/powerpoint/2010/main" val="40596970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TextBox 1"/>
          <p:cNvSpPr txBox="1"/>
          <p:nvPr/>
        </p:nvSpPr>
        <p:spPr>
          <a:xfrm>
            <a:off x="181163" y="242079"/>
            <a:ext cx="1428596" cy="400110"/>
          </a:xfrm>
          <a:prstGeom prst="rect">
            <a:avLst/>
          </a:prstGeom>
          <a:noFill/>
        </p:spPr>
        <p:txBody>
          <a:bodyPr wrap="none" rtlCol="0">
            <a:spAutoFit/>
          </a:bodyPr>
          <a:lstStyle/>
          <a:p>
            <a:r>
              <a:rPr lang="en-US" sz="2000" b="1" dirty="0" smtClean="0">
                <a:latin typeface="Times New Roman" panose="02020603050405020304" pitchFamily="18" charset="0"/>
                <a:cs typeface="Times New Roman" panose="02020603050405020304" pitchFamily="18" charset="0"/>
              </a:rPr>
              <a:t>Basics (1/3)</a:t>
            </a:r>
            <a:endParaRPr lang="en-US" sz="2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1229944" y="819156"/>
            <a:ext cx="8976237" cy="369332"/>
          </a:xfrm>
          <a:prstGeom prst="rect">
            <a:avLst/>
          </a:prstGeom>
          <a:ln>
            <a:solidFill>
              <a:schemeClr val="tx1"/>
            </a:solidFill>
          </a:ln>
        </p:spPr>
        <p:txBody>
          <a:bodyPr wrap="square">
            <a:spAutoFit/>
          </a:bodyPr>
          <a:lstStyle/>
          <a:p>
            <a:r>
              <a:rPr lang="en-US" dirty="0">
                <a:latin typeface="Times New Roman" panose="02020603050405020304" pitchFamily="18" charset="0"/>
                <a:cs typeface="Times New Roman" panose="02020603050405020304" pitchFamily="18" charset="0"/>
              </a:rPr>
              <a:t>Shellcode is the payload </a:t>
            </a:r>
            <a:r>
              <a:rPr lang="en-US" dirty="0" smtClean="0">
                <a:latin typeface="Times New Roman" panose="02020603050405020304" pitchFamily="18" charset="0"/>
                <a:cs typeface="Times New Roman" panose="02020603050405020304" pitchFamily="18" charset="0"/>
              </a:rPr>
              <a:t>(malicious code) that </a:t>
            </a:r>
            <a:r>
              <a:rPr lang="en-US" dirty="0">
                <a:latin typeface="Times New Roman" panose="02020603050405020304" pitchFamily="18" charset="0"/>
                <a:cs typeface="Times New Roman" panose="02020603050405020304" pitchFamily="18" charset="0"/>
              </a:rPr>
              <a:t>attackers execute after exploiting a vulnerability.</a:t>
            </a:r>
          </a:p>
        </p:txBody>
      </p:sp>
      <p:sp>
        <p:nvSpPr>
          <p:cNvPr id="9" name="TextBox 8"/>
          <p:cNvSpPr txBox="1"/>
          <p:nvPr/>
        </p:nvSpPr>
        <p:spPr>
          <a:xfrm>
            <a:off x="161964" y="1916864"/>
            <a:ext cx="2855590" cy="369332"/>
          </a:xfrm>
          <a:prstGeom prst="rect">
            <a:avLst/>
          </a:prstGeom>
          <a:noFill/>
        </p:spPr>
        <p:txBody>
          <a:bodyPr wrap="none" rtlCol="0">
            <a:spAutoFit/>
          </a:bodyPr>
          <a:lstStyle/>
          <a:p>
            <a:r>
              <a:rPr lang="en-US" b="1" i="1" u="sng" dirty="0" smtClean="0">
                <a:solidFill>
                  <a:srgbClr val="C00000"/>
                </a:solidFill>
                <a:latin typeface="Times New Roman" panose="02020603050405020304" pitchFamily="18" charset="0"/>
                <a:cs typeface="Times New Roman" panose="02020603050405020304" pitchFamily="18" charset="0"/>
              </a:rPr>
              <a:t>Simple Real-world example-</a:t>
            </a:r>
            <a:endParaRPr lang="en-US" b="1" i="1" u="sng" dirty="0">
              <a:solidFill>
                <a:srgbClr val="C00000"/>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732185" y="2549031"/>
            <a:ext cx="2719478" cy="2155508"/>
          </a:xfrm>
          <a:prstGeom prst="rect">
            <a:avLst/>
          </a:prstGeom>
        </p:spPr>
      </p:pic>
      <p:sp>
        <p:nvSpPr>
          <p:cNvPr id="12" name="TextBox 11"/>
          <p:cNvSpPr txBox="1"/>
          <p:nvPr/>
        </p:nvSpPr>
        <p:spPr>
          <a:xfrm>
            <a:off x="1048708" y="4967374"/>
            <a:ext cx="1703736"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Broken Window</a:t>
            </a:r>
            <a:endParaRPr lang="en-US"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1471" y="4941290"/>
            <a:ext cx="1195364" cy="1195364"/>
          </a:xfrm>
          <a:prstGeom prst="rect">
            <a:avLst/>
          </a:prstGeom>
        </p:spPr>
      </p:pic>
      <p:sp>
        <p:nvSpPr>
          <p:cNvPr id="17" name="TextBox 16"/>
          <p:cNvSpPr txBox="1"/>
          <p:nvPr/>
        </p:nvSpPr>
        <p:spPr>
          <a:xfrm>
            <a:off x="7535698" y="2307155"/>
            <a:ext cx="1531125" cy="369332"/>
          </a:xfrm>
          <a:prstGeom prst="rect">
            <a:avLst/>
          </a:prstGeom>
          <a:noFill/>
        </p:spPr>
        <p:txBody>
          <a:bodyPr wrap="none" rtlCol="0">
            <a:spAutoFit/>
          </a:bodyPr>
          <a:lstStyle/>
          <a:p>
            <a:r>
              <a:rPr lang="en-US" b="1" i="1" u="sng" dirty="0" smtClean="0">
                <a:solidFill>
                  <a:srgbClr val="C00000"/>
                </a:solidFill>
                <a:latin typeface="Times New Roman" panose="02020603050405020304" pitchFamily="18" charset="0"/>
                <a:cs typeface="Times New Roman" panose="02020603050405020304" pitchFamily="18" charset="0"/>
              </a:rPr>
              <a:t>Consequences</a:t>
            </a:r>
            <a:endParaRPr lang="en-US" b="1" i="1" u="sng" dirty="0">
              <a:solidFill>
                <a:srgbClr val="C00000"/>
              </a:solidFill>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85558" y="2839658"/>
            <a:ext cx="339289" cy="339289"/>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7374" y="3441872"/>
            <a:ext cx="516152" cy="516152"/>
          </a:xfrm>
          <a:prstGeom prst="rect">
            <a:avLst/>
          </a:prstGeom>
        </p:spPr>
      </p:pic>
      <p:sp>
        <p:nvSpPr>
          <p:cNvPr id="20" name="TextBox 19"/>
          <p:cNvSpPr txBox="1"/>
          <p:nvPr/>
        </p:nvSpPr>
        <p:spPr>
          <a:xfrm>
            <a:off x="6025073" y="6212655"/>
            <a:ext cx="768159" cy="400110"/>
          </a:xfrm>
          <a:prstGeom prst="rect">
            <a:avLst/>
          </a:prstGeom>
          <a:noFill/>
        </p:spPr>
        <p:txBody>
          <a:bodyPr wrap="none" rtlCol="0">
            <a:spAutoFit/>
          </a:bodyPr>
          <a:lstStyle/>
          <a:p>
            <a:r>
              <a:rPr lang="en-US" sz="2000" b="1" dirty="0" smtClean="0">
                <a:latin typeface="Times New Roman" panose="02020603050405020304" pitchFamily="18" charset="0"/>
                <a:cs typeface="Times New Roman" panose="02020603050405020304" pitchFamily="18" charset="0"/>
              </a:rPr>
              <a:t>Thief</a:t>
            </a:r>
            <a:endParaRPr lang="en-US" sz="2000" b="1"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8346945" y="2758145"/>
            <a:ext cx="2717107"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Opening the door to allow more thief to enter</a:t>
            </a:r>
            <a:endParaRPr lang="en-US"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8346945" y="3486134"/>
            <a:ext cx="2717107"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Stealing the money and jewelry</a:t>
            </a:r>
            <a:endParaRPr lang="en-US" dirty="0">
              <a:latin typeface="Times New Roman" panose="02020603050405020304" pitchFamily="18" charset="0"/>
              <a:cs typeface="Times New Roman" panose="02020603050405020304" pitchFamily="18" charset="0"/>
            </a:endParaRPr>
          </a:p>
        </p:txBody>
      </p:sp>
      <p:pic>
        <p:nvPicPr>
          <p:cNvPr id="23" name="Picture 2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818997" y="4132465"/>
            <a:ext cx="305850" cy="398213"/>
          </a:xfrm>
          <a:prstGeom prst="rect">
            <a:avLst/>
          </a:prstGeom>
        </p:spPr>
      </p:pic>
      <p:sp>
        <p:nvSpPr>
          <p:cNvPr id="25" name="TextBox 24"/>
          <p:cNvSpPr txBox="1"/>
          <p:nvPr/>
        </p:nvSpPr>
        <p:spPr>
          <a:xfrm>
            <a:off x="8326566" y="4133239"/>
            <a:ext cx="2717107"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Putting something harmful inside the house</a:t>
            </a:r>
            <a:endParaRPr lang="en-US" dirty="0">
              <a:latin typeface="Times New Roman" panose="02020603050405020304" pitchFamily="18" charset="0"/>
              <a:cs typeface="Times New Roman" panose="02020603050405020304" pitchFamily="18" charset="0"/>
            </a:endParaRPr>
          </a:p>
        </p:txBody>
      </p:sp>
      <p:cxnSp>
        <p:nvCxnSpPr>
          <p:cNvPr id="38" name="Straight Arrow Connector 37"/>
          <p:cNvCxnSpPr/>
          <p:nvPr/>
        </p:nvCxnSpPr>
        <p:spPr>
          <a:xfrm flipH="1" flipV="1">
            <a:off x="3546991" y="4288832"/>
            <a:ext cx="2478082" cy="13570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37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Rectangle 7"/>
          <p:cNvSpPr/>
          <p:nvPr/>
        </p:nvSpPr>
        <p:spPr>
          <a:xfrm>
            <a:off x="1302666" y="960070"/>
            <a:ext cx="3454857"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A vulnerability exists in a program.</a:t>
            </a:r>
          </a:p>
        </p:txBody>
      </p:sp>
      <p:sp>
        <p:nvSpPr>
          <p:cNvPr id="9" name="Rectangle 8"/>
          <p:cNvSpPr/>
          <p:nvPr/>
        </p:nvSpPr>
        <p:spPr>
          <a:xfrm>
            <a:off x="1302666" y="1877527"/>
            <a:ext cx="3479222"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The attacker sends malicious input.</a:t>
            </a:r>
          </a:p>
        </p:txBody>
      </p:sp>
      <p:sp>
        <p:nvSpPr>
          <p:cNvPr id="10" name="Rectangle 9"/>
          <p:cNvSpPr/>
          <p:nvPr/>
        </p:nvSpPr>
        <p:spPr>
          <a:xfrm>
            <a:off x="978346" y="2792560"/>
            <a:ext cx="4172937"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That input </a:t>
            </a:r>
            <a:r>
              <a:rPr lang="en-US" b="1" dirty="0">
                <a:latin typeface="Times New Roman" panose="02020603050405020304" pitchFamily="18" charset="0"/>
                <a:cs typeface="Times New Roman" panose="02020603050405020304" pitchFamily="18" charset="0"/>
              </a:rPr>
              <a:t>injects shellcode into memory</a:t>
            </a:r>
            <a:r>
              <a:rPr lang="en-US" dirty="0">
                <a:latin typeface="Times New Roman" panose="02020603050405020304" pitchFamily="18" charset="0"/>
                <a:cs typeface="Times New Roman" panose="02020603050405020304" pitchFamily="18" charset="0"/>
              </a:rPr>
              <a:t>.</a:t>
            </a:r>
          </a:p>
        </p:txBody>
      </p:sp>
      <p:sp>
        <p:nvSpPr>
          <p:cNvPr id="11" name="Rectangle 10"/>
          <p:cNvSpPr/>
          <p:nvPr/>
        </p:nvSpPr>
        <p:spPr>
          <a:xfrm>
            <a:off x="665784" y="3741467"/>
            <a:ext cx="5224507"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The shellcode </a:t>
            </a:r>
            <a:r>
              <a:rPr lang="en-US" b="1" dirty="0">
                <a:latin typeface="Times New Roman" panose="02020603050405020304" pitchFamily="18" charset="0"/>
                <a:cs typeface="Times New Roman" panose="02020603050405020304" pitchFamily="18" charset="0"/>
              </a:rPr>
              <a:t>runs commands on the victim system</a:t>
            </a:r>
            <a:r>
              <a:rPr lang="en-US" dirty="0">
                <a:latin typeface="Times New Roman" panose="02020603050405020304" pitchFamily="18" charset="0"/>
                <a:cs typeface="Times New Roman" panose="02020603050405020304" pitchFamily="18" charset="0"/>
              </a:rPr>
              <a:t>.</a:t>
            </a:r>
          </a:p>
        </p:txBody>
      </p:sp>
      <p:sp>
        <p:nvSpPr>
          <p:cNvPr id="3" name="Rectangle 2"/>
          <p:cNvSpPr/>
          <p:nvPr/>
        </p:nvSpPr>
        <p:spPr>
          <a:xfrm>
            <a:off x="135444" y="4976805"/>
            <a:ext cx="1608389" cy="369332"/>
          </a:xfrm>
          <a:prstGeom prst="rect">
            <a:avLst/>
          </a:prstGeom>
          <a:ln>
            <a:solidFill>
              <a:schemeClr val="accent6">
                <a:lumMod val="75000"/>
              </a:schemeClr>
            </a:solidFill>
          </a:ln>
        </p:spPr>
        <p:txBody>
          <a:bodyPr wrap="none">
            <a:spAutoFit/>
          </a:bodyPr>
          <a:lstStyle/>
          <a:p>
            <a:r>
              <a:rPr lang="en-US" dirty="0">
                <a:latin typeface="Times New Roman" panose="02020603050405020304" pitchFamily="18" charset="0"/>
                <a:cs typeface="Times New Roman" panose="02020603050405020304" pitchFamily="18" charset="0"/>
              </a:rPr>
              <a:t>Install malware</a:t>
            </a:r>
          </a:p>
        </p:txBody>
      </p:sp>
      <p:sp>
        <p:nvSpPr>
          <p:cNvPr id="4" name="Rectangle 3"/>
          <p:cNvSpPr/>
          <p:nvPr/>
        </p:nvSpPr>
        <p:spPr>
          <a:xfrm>
            <a:off x="2005747" y="4976805"/>
            <a:ext cx="1622688" cy="369332"/>
          </a:xfrm>
          <a:prstGeom prst="rect">
            <a:avLst/>
          </a:prstGeom>
          <a:ln>
            <a:solidFill>
              <a:schemeClr val="accent6">
                <a:lumMod val="75000"/>
              </a:schemeClr>
            </a:solidFill>
          </a:ln>
        </p:spPr>
        <p:txBody>
          <a:bodyPr wrap="none">
            <a:spAutoFit/>
          </a:bodyPr>
          <a:lstStyle/>
          <a:p>
            <a:r>
              <a:rPr lang="en-US" dirty="0">
                <a:latin typeface="Times New Roman" panose="02020603050405020304" pitchFamily="18" charset="0"/>
                <a:cs typeface="Times New Roman" panose="02020603050405020304" pitchFamily="18" charset="0"/>
              </a:rPr>
              <a:t>Open backdoor</a:t>
            </a:r>
          </a:p>
        </p:txBody>
      </p:sp>
      <p:sp>
        <p:nvSpPr>
          <p:cNvPr id="12" name="Rectangle 11"/>
          <p:cNvSpPr/>
          <p:nvPr/>
        </p:nvSpPr>
        <p:spPr>
          <a:xfrm>
            <a:off x="4043744" y="4976805"/>
            <a:ext cx="2560445" cy="369332"/>
          </a:xfrm>
          <a:prstGeom prst="rect">
            <a:avLst/>
          </a:prstGeom>
          <a:ln>
            <a:solidFill>
              <a:schemeClr val="accent6">
                <a:lumMod val="75000"/>
              </a:schemeClr>
            </a:solidFill>
          </a:ln>
        </p:spPr>
        <p:txBody>
          <a:bodyPr wrap="none">
            <a:spAutoFit/>
          </a:bodyPr>
          <a:lstStyle/>
          <a:p>
            <a:r>
              <a:rPr lang="en-US" dirty="0">
                <a:latin typeface="Times New Roman" panose="02020603050405020304" pitchFamily="18" charset="0"/>
                <a:cs typeface="Times New Roman" panose="02020603050405020304" pitchFamily="18" charset="0"/>
              </a:rPr>
              <a:t>Download more malware</a:t>
            </a:r>
          </a:p>
        </p:txBody>
      </p:sp>
      <p:sp>
        <p:nvSpPr>
          <p:cNvPr id="13" name="Rectangle 12"/>
          <p:cNvSpPr/>
          <p:nvPr/>
        </p:nvSpPr>
        <p:spPr>
          <a:xfrm>
            <a:off x="7019498" y="4966484"/>
            <a:ext cx="2356864" cy="369332"/>
          </a:xfrm>
          <a:prstGeom prst="rect">
            <a:avLst/>
          </a:prstGeom>
          <a:ln>
            <a:solidFill>
              <a:schemeClr val="accent6">
                <a:lumMod val="75000"/>
              </a:schemeClr>
            </a:solidFill>
          </a:ln>
        </p:spPr>
        <p:txBody>
          <a:bodyPr wrap="none">
            <a:spAutoFit/>
          </a:bodyPr>
          <a:lstStyle/>
          <a:p>
            <a:r>
              <a:rPr lang="en-US" dirty="0">
                <a:latin typeface="Times New Roman" panose="02020603050405020304" pitchFamily="18" charset="0"/>
                <a:cs typeface="Times New Roman" panose="02020603050405020304" pitchFamily="18" charset="0"/>
              </a:rPr>
              <a:t>Contact attacker server</a:t>
            </a:r>
          </a:p>
        </p:txBody>
      </p:sp>
      <p:sp>
        <p:nvSpPr>
          <p:cNvPr id="14" name="Rectangle 13"/>
          <p:cNvSpPr/>
          <p:nvPr/>
        </p:nvSpPr>
        <p:spPr>
          <a:xfrm>
            <a:off x="6099866" y="1222053"/>
            <a:ext cx="573894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Shellcode is a small piece of machine code used in exploits.</a:t>
            </a:r>
          </a:p>
        </p:txBody>
      </p:sp>
      <p:sp>
        <p:nvSpPr>
          <p:cNvPr id="15" name="Rectangle 14"/>
          <p:cNvSpPr/>
          <p:nvPr/>
        </p:nvSpPr>
        <p:spPr>
          <a:xfrm>
            <a:off x="7167419" y="1785194"/>
            <a:ext cx="4451927"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 Executed after a vulnerability is exploited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Runs directly from memory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Performs malicious actions on the system</a:t>
            </a:r>
          </a:p>
        </p:txBody>
      </p:sp>
      <p:sp>
        <p:nvSpPr>
          <p:cNvPr id="16" name="TextBox 15"/>
          <p:cNvSpPr txBox="1"/>
          <p:nvPr/>
        </p:nvSpPr>
        <p:spPr>
          <a:xfrm>
            <a:off x="181163" y="242079"/>
            <a:ext cx="1428596" cy="400110"/>
          </a:xfrm>
          <a:prstGeom prst="rect">
            <a:avLst/>
          </a:prstGeom>
          <a:noFill/>
        </p:spPr>
        <p:txBody>
          <a:bodyPr wrap="none" rtlCol="0">
            <a:spAutoFit/>
          </a:bodyPr>
          <a:lstStyle/>
          <a:p>
            <a:r>
              <a:rPr lang="en-US" sz="2000" b="1" dirty="0" smtClean="0">
                <a:latin typeface="Times New Roman" panose="02020603050405020304" pitchFamily="18" charset="0"/>
                <a:cs typeface="Times New Roman" panose="02020603050405020304" pitchFamily="18" charset="0"/>
              </a:rPr>
              <a:t>Basics (2/3)</a:t>
            </a:r>
            <a:endParaRPr lang="en-US" sz="2000" b="1" dirty="0">
              <a:latin typeface="Times New Roman" panose="02020603050405020304" pitchFamily="18" charset="0"/>
              <a:cs typeface="Times New Roman" panose="02020603050405020304" pitchFamily="18" charset="0"/>
            </a:endParaRPr>
          </a:p>
        </p:txBody>
      </p:sp>
      <p:cxnSp>
        <p:nvCxnSpPr>
          <p:cNvPr id="20" name="Straight Arrow Connector 19"/>
          <p:cNvCxnSpPr/>
          <p:nvPr/>
        </p:nvCxnSpPr>
        <p:spPr>
          <a:xfrm flipH="1">
            <a:off x="3001818" y="1343557"/>
            <a:ext cx="4199" cy="501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2997619" y="2246859"/>
            <a:ext cx="4199" cy="501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2993420" y="3174120"/>
            <a:ext cx="4199" cy="501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urved Connector 24"/>
          <p:cNvCxnSpPr>
            <a:endCxn id="3" idx="0"/>
          </p:cNvCxnSpPr>
          <p:nvPr/>
        </p:nvCxnSpPr>
        <p:spPr>
          <a:xfrm rot="5400000">
            <a:off x="841696" y="4208742"/>
            <a:ext cx="866006" cy="67012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urved Connector 28"/>
          <p:cNvCxnSpPr>
            <a:endCxn id="12" idx="0"/>
          </p:cNvCxnSpPr>
          <p:nvPr/>
        </p:nvCxnSpPr>
        <p:spPr>
          <a:xfrm>
            <a:off x="3371273" y="4110799"/>
            <a:ext cx="1952694" cy="866006"/>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urved Connector 30"/>
          <p:cNvCxnSpPr>
            <a:endCxn id="13" idx="0"/>
          </p:cNvCxnSpPr>
          <p:nvPr/>
        </p:nvCxnSpPr>
        <p:spPr>
          <a:xfrm>
            <a:off x="3001818" y="4110799"/>
            <a:ext cx="5196112" cy="855685"/>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urved Connector 32"/>
          <p:cNvCxnSpPr>
            <a:stCxn id="11" idx="2"/>
            <a:endCxn id="4" idx="0"/>
          </p:cNvCxnSpPr>
          <p:nvPr/>
        </p:nvCxnSpPr>
        <p:spPr>
          <a:xfrm rot="5400000">
            <a:off x="2614562" y="4313329"/>
            <a:ext cx="866006" cy="460947"/>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85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3" grpId="0" animBg="1"/>
      <p:bldP spid="4" grpId="0" animBg="1"/>
      <p:bldP spid="12" grpId="0" animBg="1"/>
      <p:bldP spid="13" grpId="0" animBg="1"/>
      <p:bldP spid="14"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Rectangle 7"/>
          <p:cNvSpPr/>
          <p:nvPr/>
        </p:nvSpPr>
        <p:spPr>
          <a:xfrm>
            <a:off x="6947081" y="636263"/>
            <a:ext cx="2692532"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User opens malicious PDF.</a:t>
            </a:r>
          </a:p>
        </p:txBody>
      </p:sp>
      <p:sp>
        <p:nvSpPr>
          <p:cNvPr id="9" name="Rectangle 8"/>
          <p:cNvSpPr/>
          <p:nvPr/>
        </p:nvSpPr>
        <p:spPr>
          <a:xfrm>
            <a:off x="6947081" y="1563756"/>
            <a:ext cx="2651110"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PDF triggers vulnerability.</a:t>
            </a:r>
          </a:p>
        </p:txBody>
      </p:sp>
      <p:sp>
        <p:nvSpPr>
          <p:cNvPr id="10" name="Rectangle 9"/>
          <p:cNvSpPr/>
          <p:nvPr/>
        </p:nvSpPr>
        <p:spPr>
          <a:xfrm>
            <a:off x="7384551" y="2466826"/>
            <a:ext cx="1947969"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Shellcode executes</a:t>
            </a:r>
          </a:p>
        </p:txBody>
      </p:sp>
      <p:sp>
        <p:nvSpPr>
          <p:cNvPr id="11" name="Rectangle 10"/>
          <p:cNvSpPr/>
          <p:nvPr/>
        </p:nvSpPr>
        <p:spPr>
          <a:xfrm>
            <a:off x="6382328" y="3402727"/>
            <a:ext cx="4153766"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Malware downloaded from attacker server.</a:t>
            </a:r>
          </a:p>
        </p:txBody>
      </p:sp>
      <p:sp>
        <p:nvSpPr>
          <p:cNvPr id="16" name="TextBox 15"/>
          <p:cNvSpPr txBox="1"/>
          <p:nvPr/>
        </p:nvSpPr>
        <p:spPr>
          <a:xfrm>
            <a:off x="181163" y="242079"/>
            <a:ext cx="1428596" cy="400110"/>
          </a:xfrm>
          <a:prstGeom prst="rect">
            <a:avLst/>
          </a:prstGeom>
          <a:noFill/>
        </p:spPr>
        <p:txBody>
          <a:bodyPr wrap="none" rtlCol="0">
            <a:spAutoFit/>
          </a:bodyPr>
          <a:lstStyle/>
          <a:p>
            <a:r>
              <a:rPr lang="en-US" sz="2000" b="1" dirty="0" smtClean="0">
                <a:latin typeface="Times New Roman" panose="02020603050405020304" pitchFamily="18" charset="0"/>
                <a:cs typeface="Times New Roman" panose="02020603050405020304" pitchFamily="18" charset="0"/>
              </a:rPr>
              <a:t>Basics (3/3)</a:t>
            </a:r>
            <a:endParaRPr lang="en-US" sz="2000" b="1" dirty="0">
              <a:latin typeface="Times New Roman" panose="02020603050405020304" pitchFamily="18" charset="0"/>
              <a:cs typeface="Times New Roman" panose="02020603050405020304" pitchFamily="18" charset="0"/>
            </a:endParaRPr>
          </a:p>
        </p:txBody>
      </p:sp>
      <p:cxnSp>
        <p:nvCxnSpPr>
          <p:cNvPr id="20" name="Straight Arrow Connector 19"/>
          <p:cNvCxnSpPr/>
          <p:nvPr/>
        </p:nvCxnSpPr>
        <p:spPr>
          <a:xfrm flipH="1">
            <a:off x="8339140" y="1038194"/>
            <a:ext cx="4199" cy="501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8334941" y="1941496"/>
            <a:ext cx="4199" cy="501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8330742" y="2868757"/>
            <a:ext cx="4199" cy="501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1877763" y="5062958"/>
            <a:ext cx="1326004"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Exploitation</a:t>
            </a:r>
            <a:endParaRPr lang="en-US" dirty="0">
              <a:latin typeface="Times New Roman" panose="02020603050405020304" pitchFamily="18" charset="0"/>
              <a:cs typeface="Times New Roman" panose="02020603050405020304" pitchFamily="18" charset="0"/>
            </a:endParaRPr>
          </a:p>
        </p:txBody>
      </p:sp>
      <p:sp>
        <p:nvSpPr>
          <p:cNvPr id="24" name="Rectangle 23"/>
          <p:cNvSpPr/>
          <p:nvPr/>
        </p:nvSpPr>
        <p:spPr>
          <a:xfrm>
            <a:off x="8199207" y="5062958"/>
            <a:ext cx="1960793"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Malware </a:t>
            </a:r>
            <a:r>
              <a:rPr lang="en-US" dirty="0">
                <a:latin typeface="Times New Roman" panose="02020603050405020304" pitchFamily="18" charset="0"/>
                <a:cs typeface="Times New Roman" panose="02020603050405020304" pitchFamily="18" charset="0"/>
              </a:rPr>
              <a:t>execution</a:t>
            </a:r>
          </a:p>
        </p:txBody>
      </p:sp>
      <p:cxnSp>
        <p:nvCxnSpPr>
          <p:cNvPr id="26" name="Straight Connector 25"/>
          <p:cNvCxnSpPr>
            <a:stCxn id="23" idx="3"/>
            <a:endCxn id="24" idx="1"/>
          </p:cNvCxnSpPr>
          <p:nvPr/>
        </p:nvCxnSpPr>
        <p:spPr>
          <a:xfrm>
            <a:off x="3203767" y="5247624"/>
            <a:ext cx="499544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5283201" y="5062958"/>
            <a:ext cx="1099127" cy="369332"/>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Shellcode</a:t>
            </a:r>
            <a:endParaRPr lang="en-US"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184143" y="1988936"/>
            <a:ext cx="2795189" cy="369332"/>
          </a:xfrm>
          <a:prstGeom prst="rect">
            <a:avLst/>
          </a:prstGeom>
          <a:noFill/>
        </p:spPr>
        <p:txBody>
          <a:bodyPr wrap="none" rtlCol="0">
            <a:spAutoFit/>
          </a:bodyPr>
          <a:lstStyle/>
          <a:p>
            <a:r>
              <a:rPr lang="en-US" dirty="0">
                <a:solidFill>
                  <a:srgbClr val="C00000"/>
                </a:solidFill>
                <a:latin typeface="Times New Roman" panose="02020603050405020304" pitchFamily="18" charset="0"/>
                <a:cs typeface="Times New Roman" panose="02020603050405020304" pitchFamily="18" charset="0"/>
              </a:rPr>
              <a:t>Real-World Attack Example</a:t>
            </a:r>
          </a:p>
        </p:txBody>
      </p:sp>
    </p:spTree>
    <p:extLst>
      <p:ext uri="{BB962C8B-B14F-4D97-AF65-F5344CB8AC3E}">
        <p14:creationId xmlns:p14="http://schemas.microsoft.com/office/powerpoint/2010/main" val="89247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6" grpId="0"/>
      <p:bldP spid="23" grpId="0"/>
      <p:bldP spid="24" grpId="0"/>
      <p:bldP spid="27"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TextBox 1"/>
          <p:cNvSpPr txBox="1"/>
          <p:nvPr/>
        </p:nvSpPr>
        <p:spPr>
          <a:xfrm>
            <a:off x="181163" y="242079"/>
            <a:ext cx="322395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How Exploits Use Shellcode</a:t>
            </a:r>
            <a:endParaRPr lang="en-US"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58302" y="1129299"/>
            <a:ext cx="11830497" cy="646331"/>
          </a:xfrm>
          <a:prstGeom prst="rect">
            <a:avLst/>
          </a:prstGeom>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vulnerability in a program allows an </a:t>
            </a:r>
            <a:r>
              <a:rPr lang="en-US" b="1" dirty="0">
                <a:latin typeface="Times New Roman" panose="02020603050405020304" pitchFamily="18" charset="0"/>
                <a:cs typeface="Times New Roman" panose="02020603050405020304" pitchFamily="18" charset="0"/>
              </a:rPr>
              <a:t>attacker to send </a:t>
            </a:r>
            <a:r>
              <a:rPr lang="en-US" dirty="0">
                <a:latin typeface="Times New Roman" panose="02020603050405020304" pitchFamily="18" charset="0"/>
                <a:cs typeface="Times New Roman" panose="02020603050405020304" pitchFamily="18" charset="0"/>
              </a:rPr>
              <a:t>malicious input that </a:t>
            </a:r>
            <a:r>
              <a:rPr lang="en-US" b="1" dirty="0">
                <a:latin typeface="Times New Roman" panose="02020603050405020304" pitchFamily="18" charset="0"/>
                <a:cs typeface="Times New Roman" panose="02020603050405020304" pitchFamily="18" charset="0"/>
              </a:rPr>
              <a:t>exploits the flaw</a:t>
            </a:r>
            <a:r>
              <a:rPr lang="en-US" dirty="0">
                <a:latin typeface="Times New Roman" panose="02020603050405020304" pitchFamily="18" charset="0"/>
                <a:cs typeface="Times New Roman" panose="02020603050405020304" pitchFamily="18" charset="0"/>
              </a:rPr>
              <a:t>, redirects program execution, and ultimately </a:t>
            </a:r>
            <a:r>
              <a:rPr lang="en-US" b="1" dirty="0">
                <a:latin typeface="Times New Roman" panose="02020603050405020304" pitchFamily="18" charset="0"/>
                <a:cs typeface="Times New Roman" panose="02020603050405020304" pitchFamily="18" charset="0"/>
              </a:rPr>
              <a:t>runs shellcode in memory</a:t>
            </a:r>
            <a:r>
              <a:rPr lang="en-US" dirty="0">
                <a:latin typeface="Times New Roman" panose="02020603050405020304" pitchFamily="18" charset="0"/>
                <a:cs typeface="Times New Roman" panose="02020603050405020304" pitchFamily="18" charset="0"/>
              </a:rPr>
              <a:t>.</a:t>
            </a:r>
          </a:p>
        </p:txBody>
      </p:sp>
      <p:sp>
        <p:nvSpPr>
          <p:cNvPr id="4" name="Rectangle 3"/>
          <p:cNvSpPr/>
          <p:nvPr/>
        </p:nvSpPr>
        <p:spPr>
          <a:xfrm>
            <a:off x="1793142" y="2273289"/>
            <a:ext cx="7618713" cy="369332"/>
          </a:xfrm>
          <a:prstGeom prst="rect">
            <a:avLst/>
          </a:prstGeom>
          <a:ln>
            <a:solidFill>
              <a:schemeClr val="tx1"/>
            </a:solidFill>
          </a:ln>
        </p:spPr>
        <p:txBody>
          <a:bodyPr wrap="square">
            <a:spAutoFit/>
          </a:bodyPr>
          <a:lstStyle/>
          <a:p>
            <a:r>
              <a:rPr lang="en-US" smtClean="0">
                <a:latin typeface="Times New Roman" panose="02020603050405020304" pitchFamily="18" charset="0"/>
                <a:cs typeface="Times New Roman" panose="02020603050405020304" pitchFamily="18" charset="0"/>
              </a:rPr>
              <a:t>User input → Buffer overflow → EIP overwritten → Shellcode executed</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135444" y="3893867"/>
            <a:ext cx="8199681" cy="369332"/>
          </a:xfrm>
          <a:prstGeom prst="rect">
            <a:avLst/>
          </a:prstGeom>
        </p:spPr>
        <p:txBody>
          <a:bodyPr wrap="none">
            <a:spAutoFit/>
          </a:bodyPr>
          <a:lstStyle/>
          <a:p>
            <a:pPr marL="285750" indent="-285750">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 the key point is that </a:t>
            </a:r>
            <a:r>
              <a:rPr lang="en-US" b="1" i="1" dirty="0" smtClean="0">
                <a:latin typeface="Times New Roman" panose="02020603050405020304" pitchFamily="18" charset="0"/>
                <a:cs typeface="Times New Roman" panose="02020603050405020304" pitchFamily="18" charset="0"/>
              </a:rPr>
              <a:t>exploit </a:t>
            </a:r>
            <a:r>
              <a:rPr lang="en-US" b="1" i="1" dirty="0">
                <a:latin typeface="Times New Roman" panose="02020603050405020304" pitchFamily="18" charset="0"/>
                <a:cs typeface="Times New Roman" panose="02020603050405020304" pitchFamily="18" charset="0"/>
              </a:rPr>
              <a:t>delivers shellcode; shellcode performs the attack</a:t>
            </a:r>
            <a:r>
              <a:rPr lang="en-US" dirty="0">
                <a:latin typeface="Times New Roman" panose="02020603050405020304" pitchFamily="18" charset="0"/>
                <a:cs typeface="Times New Roman" panose="02020603050405020304" pitchFamily="18" charset="0"/>
              </a:rPr>
              <a:t>.</a:t>
            </a:r>
          </a:p>
        </p:txBody>
      </p:sp>
      <p:sp>
        <p:nvSpPr>
          <p:cNvPr id="10" name="Rectangle 9"/>
          <p:cNvSpPr/>
          <p:nvPr/>
        </p:nvSpPr>
        <p:spPr>
          <a:xfrm>
            <a:off x="1627817" y="2898912"/>
            <a:ext cx="7949362" cy="738664"/>
          </a:xfrm>
          <a:prstGeom prst="rect">
            <a:avLst/>
          </a:prstGeom>
        </p:spPr>
        <p:txBody>
          <a:bodyPr wrap="square">
            <a:spAutoFit/>
          </a:bodyPr>
          <a:lstStyle/>
          <a:p>
            <a:r>
              <a:rPr lang="en-US" sz="1400" i="1" dirty="0">
                <a:latin typeface="Times New Roman" panose="02020603050405020304" pitchFamily="18" charset="0"/>
                <a:cs typeface="Times New Roman" panose="02020603050405020304" pitchFamily="18" charset="0"/>
              </a:rPr>
              <a:t>The attacker sends specially crafted input., The program stores input in a </a:t>
            </a:r>
            <a:r>
              <a:rPr lang="en-US" sz="1400" b="1" i="1" dirty="0">
                <a:latin typeface="Times New Roman" panose="02020603050405020304" pitchFamily="18" charset="0"/>
                <a:cs typeface="Times New Roman" panose="02020603050405020304" pitchFamily="18" charset="0"/>
              </a:rPr>
              <a:t>fixed-size memory buffer</a:t>
            </a:r>
            <a:r>
              <a:rPr lang="en-US" sz="1400" i="1" dirty="0">
                <a:latin typeface="Times New Roman" panose="02020603050405020304" pitchFamily="18" charset="0"/>
                <a:cs typeface="Times New Roman" panose="02020603050405020304" pitchFamily="18" charset="0"/>
              </a:rPr>
              <a:t>. The overflow reaches the </a:t>
            </a:r>
            <a:r>
              <a:rPr lang="en-US" sz="1400" b="1" i="1" dirty="0">
                <a:latin typeface="Times New Roman" panose="02020603050405020304" pitchFamily="18" charset="0"/>
                <a:cs typeface="Times New Roman" panose="02020603050405020304" pitchFamily="18" charset="0"/>
              </a:rPr>
              <a:t>EIP location on the stack</a:t>
            </a:r>
            <a:r>
              <a:rPr lang="en-US" sz="1400" i="1" dirty="0">
                <a:latin typeface="Times New Roman" panose="02020603050405020304" pitchFamily="18" charset="0"/>
                <a:cs typeface="Times New Roman" panose="02020603050405020304" pitchFamily="18" charset="0"/>
              </a:rPr>
              <a:t>., When the function returns, the CPU uses </a:t>
            </a:r>
            <a:r>
              <a:rPr lang="en-US" sz="1400" i="1" dirty="0" smtClean="0">
                <a:latin typeface="Times New Roman" panose="02020603050405020304" pitchFamily="18" charset="0"/>
                <a:cs typeface="Times New Roman" panose="02020603050405020304" pitchFamily="18" charset="0"/>
              </a:rPr>
              <a:t>EIP and runs the shellcode</a:t>
            </a:r>
            <a:endParaRPr lang="en-US" sz="1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343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p:bldP spid="3" grpId="0"/>
      <p:bldP spid="4" grpId="0" animBg="1"/>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8744" y="184885"/>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1518340" y="67294"/>
            <a:ext cx="607538" cy="637915"/>
          </a:xfrm>
          <a:prstGeom prst="rect">
            <a:avLst/>
          </a:prstGeom>
        </p:spPr>
      </p:pic>
      <p:sp>
        <p:nvSpPr>
          <p:cNvPr id="7" name="Rectangle 6"/>
          <p:cNvSpPr/>
          <p:nvPr/>
        </p:nvSpPr>
        <p:spPr>
          <a:xfrm flipV="1">
            <a:off x="11343470" y="6649711"/>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3FE8ABC-C6E2-7644-8BC6-89359FA60960}"/>
              </a:ext>
            </a:extLst>
          </p:cNvPr>
          <p:cNvSpPr txBox="1"/>
          <p:nvPr/>
        </p:nvSpPr>
        <p:spPr>
          <a:xfrm>
            <a:off x="141603" y="241613"/>
            <a:ext cx="301242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Manual API </a:t>
            </a:r>
            <a:r>
              <a:rPr lang="en-US" b="1" dirty="0" smtClean="0">
                <a:latin typeface="Times New Roman" panose="02020603050405020304" pitchFamily="18" charset="0"/>
                <a:cs typeface="Times New Roman" panose="02020603050405020304" pitchFamily="18" charset="0"/>
              </a:rPr>
              <a:t>Resolution (1/2)</a:t>
            </a:r>
            <a:endParaRPr lang="en-US" b="1" dirty="0">
              <a:latin typeface="Times New Roman" panose="02020603050405020304" pitchFamily="18" charset="0"/>
              <a:cs typeface="Times New Roman" panose="02020603050405020304" pitchFamily="18" charset="0"/>
            </a:endParaRPr>
          </a:p>
        </p:txBody>
      </p:sp>
      <p:sp>
        <p:nvSpPr>
          <p:cNvPr id="2" name="Rectangle 1"/>
          <p:cNvSpPr/>
          <p:nvPr/>
        </p:nvSpPr>
        <p:spPr>
          <a:xfrm>
            <a:off x="188762" y="748301"/>
            <a:ext cx="8793433" cy="338554"/>
          </a:xfrm>
          <a:prstGeom prst="rect">
            <a:avLst/>
          </a:prstGeom>
        </p:spPr>
        <p:txBody>
          <a:bodyPr wrap="none">
            <a:spAutoFit/>
          </a:bodyPr>
          <a:lstStyle/>
          <a:p>
            <a:pPr marL="285750" indent="-285750">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Shellcode </a:t>
            </a:r>
            <a:r>
              <a:rPr lang="en-US" sz="1600" b="1" dirty="0">
                <a:latin typeface="Times New Roman" panose="02020603050405020304" pitchFamily="18" charset="0"/>
                <a:cs typeface="Times New Roman" panose="02020603050405020304" pitchFamily="18" charset="0"/>
              </a:rPr>
              <a:t>cannot rely on normal Windows imports</a:t>
            </a:r>
            <a:r>
              <a:rPr lang="en-US" sz="1600" dirty="0">
                <a:latin typeface="Times New Roman" panose="02020603050405020304" pitchFamily="18" charset="0"/>
                <a:cs typeface="Times New Roman" panose="02020603050405020304" pitchFamily="18" charset="0"/>
              </a:rPr>
              <a:t>. Instead it finds </a:t>
            </a:r>
            <a:r>
              <a:rPr lang="en-US" sz="1600" b="1" dirty="0">
                <a:latin typeface="Times New Roman" panose="02020603050405020304" pitchFamily="18" charset="0"/>
                <a:cs typeface="Times New Roman" panose="02020603050405020304" pitchFamily="18" charset="0"/>
              </a:rPr>
              <a:t>Windows functions </a:t>
            </a:r>
            <a:r>
              <a:rPr lang="en-US" sz="1600" dirty="0">
                <a:latin typeface="Times New Roman" panose="02020603050405020304" pitchFamily="18" charset="0"/>
                <a:cs typeface="Times New Roman" panose="02020603050405020304" pitchFamily="18" charset="0"/>
              </a:rPr>
              <a:t>manually.</a:t>
            </a:r>
          </a:p>
        </p:txBody>
      </p:sp>
      <p:sp>
        <p:nvSpPr>
          <p:cNvPr id="19" name="Rectangle 18"/>
          <p:cNvSpPr/>
          <p:nvPr/>
        </p:nvSpPr>
        <p:spPr>
          <a:xfrm>
            <a:off x="141602" y="1368451"/>
            <a:ext cx="11240125" cy="584775"/>
          </a:xfrm>
          <a:prstGeom prst="rect">
            <a:avLst/>
          </a:prstGeom>
        </p:spPr>
        <p:txBody>
          <a:bodyPr wrap="square">
            <a:spAutoFit/>
          </a:bodyPr>
          <a:lstStyle/>
          <a:p>
            <a:pPr marL="285750" indent="-285750">
              <a:buFont typeface="Wingdings" panose="05000000000000000000" pitchFamily="2" charset="2"/>
              <a:buChar char="v"/>
            </a:pPr>
            <a:r>
              <a:rPr lang="en-US" sz="1600" b="1" dirty="0" smtClean="0">
                <a:latin typeface="Times New Roman" panose="02020603050405020304" pitchFamily="18" charset="0"/>
                <a:cs typeface="Times New Roman" panose="02020603050405020304" pitchFamily="18" charset="0"/>
              </a:rPr>
              <a:t>kernel32.dll---- </a:t>
            </a:r>
            <a:r>
              <a:rPr lang="en-US" sz="1600" dirty="0" smtClean="0">
                <a:latin typeface="Times New Roman" panose="02020603050405020304" pitchFamily="18" charset="0"/>
                <a:cs typeface="Times New Roman" panose="02020603050405020304" pitchFamily="18" charset="0"/>
              </a:rPr>
              <a:t>One </a:t>
            </a:r>
            <a:r>
              <a:rPr lang="en-US" sz="1600" dirty="0">
                <a:latin typeface="Times New Roman" panose="02020603050405020304" pitchFamily="18" charset="0"/>
                <a:cs typeface="Times New Roman" panose="02020603050405020304" pitchFamily="18" charset="0"/>
              </a:rPr>
              <a:t>of the </a:t>
            </a:r>
            <a:r>
              <a:rPr lang="en-US" sz="1600" b="1" dirty="0">
                <a:latin typeface="Times New Roman" panose="02020603050405020304" pitchFamily="18" charset="0"/>
                <a:cs typeface="Times New Roman" panose="02020603050405020304" pitchFamily="18" charset="0"/>
              </a:rPr>
              <a:t>core system libraries in Windows</a:t>
            </a:r>
            <a:r>
              <a:rPr lang="en-US" sz="1600" dirty="0">
                <a:latin typeface="Times New Roman" panose="02020603050405020304" pitchFamily="18" charset="0"/>
                <a:cs typeface="Times New Roman" panose="02020603050405020304" pitchFamily="18" charset="0"/>
              </a:rPr>
              <a:t> that provides basic functions such as memory management, file operations, process control, and program execution.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20" name="Rectangle 19"/>
          <p:cNvSpPr/>
          <p:nvPr/>
        </p:nvSpPr>
        <p:spPr>
          <a:xfrm>
            <a:off x="118247" y="2115557"/>
            <a:ext cx="11286836" cy="338554"/>
          </a:xfrm>
          <a:prstGeom prst="rect">
            <a:avLst/>
          </a:prstGeom>
        </p:spPr>
        <p:txBody>
          <a:bodyPr wrap="square">
            <a:spAutoFit/>
          </a:bodyPr>
          <a:lstStyle/>
          <a:p>
            <a:pPr marL="285750" indent="-285750">
              <a:buFont typeface="Wingdings" panose="05000000000000000000" pitchFamily="2" charset="2"/>
              <a:buChar char="v"/>
            </a:pPr>
            <a:r>
              <a:rPr lang="en-US" sz="1600" b="1" dirty="0" smtClean="0">
                <a:latin typeface="Times New Roman" panose="02020603050405020304" pitchFamily="18" charset="0"/>
                <a:cs typeface="Times New Roman" panose="02020603050405020304" pitchFamily="18" charset="0"/>
              </a:rPr>
              <a:t>ntdll.dll</a:t>
            </a:r>
            <a:r>
              <a:rPr lang="en-US" sz="1600" dirty="0" smtClean="0">
                <a:latin typeface="Times New Roman" panose="02020603050405020304" pitchFamily="18" charset="0"/>
                <a:cs typeface="Times New Roman" panose="02020603050405020304" pitchFamily="18" charset="0"/>
              </a:rPr>
              <a:t>-- a </a:t>
            </a:r>
            <a:r>
              <a:rPr lang="en-US" sz="1600" dirty="0">
                <a:latin typeface="Times New Roman" panose="02020603050405020304" pitchFamily="18" charset="0"/>
                <a:cs typeface="Times New Roman" panose="02020603050405020304" pitchFamily="18" charset="0"/>
              </a:rPr>
              <a:t>core Windows system library that provides </a:t>
            </a:r>
            <a:r>
              <a:rPr lang="en-US" sz="1600" b="1" dirty="0">
                <a:latin typeface="Times New Roman" panose="02020603050405020304" pitchFamily="18" charset="0"/>
                <a:cs typeface="Times New Roman" panose="02020603050405020304" pitchFamily="18" charset="0"/>
              </a:rPr>
              <a:t>low-level functions </a:t>
            </a:r>
            <a:r>
              <a:rPr lang="en-US" sz="1600" dirty="0">
                <a:latin typeface="Times New Roman" panose="02020603050405020304" pitchFamily="18" charset="0"/>
                <a:cs typeface="Times New Roman" panose="02020603050405020304" pitchFamily="18" charset="0"/>
              </a:rPr>
              <a:t>used to communicate directly with the Windows kernel.</a:t>
            </a:r>
          </a:p>
        </p:txBody>
      </p:sp>
      <p:sp>
        <p:nvSpPr>
          <p:cNvPr id="21" name="Rectangle 20"/>
          <p:cNvSpPr/>
          <p:nvPr/>
        </p:nvSpPr>
        <p:spPr>
          <a:xfrm>
            <a:off x="4304146" y="3304792"/>
            <a:ext cx="2161309" cy="2031325"/>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Application</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kernel32.dll</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ntdll.dll</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Windows Kernel</a:t>
            </a:r>
          </a:p>
        </p:txBody>
      </p:sp>
    </p:spTree>
    <p:extLst>
      <p:ext uri="{BB962C8B-B14F-4D97-AF65-F5344CB8AC3E}">
        <p14:creationId xmlns:p14="http://schemas.microsoft.com/office/powerpoint/2010/main" val="311400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p:bldP spid="2" grpId="0"/>
      <p:bldP spid="19" grpId="0"/>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1901"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1491497"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3FE8ABC-C6E2-7644-8BC6-89359FA60960}"/>
              </a:ext>
            </a:extLst>
          </p:cNvPr>
          <p:cNvSpPr txBox="1"/>
          <p:nvPr/>
        </p:nvSpPr>
        <p:spPr>
          <a:xfrm>
            <a:off x="98060" y="241613"/>
            <a:ext cx="301242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Manual API </a:t>
            </a:r>
            <a:r>
              <a:rPr lang="en-US" b="1" dirty="0" smtClean="0">
                <a:latin typeface="Times New Roman" panose="02020603050405020304" pitchFamily="18" charset="0"/>
                <a:cs typeface="Times New Roman" panose="02020603050405020304" pitchFamily="18" charset="0"/>
              </a:rPr>
              <a:t>Resolution (2/2)</a:t>
            </a:r>
            <a:endParaRPr lang="en-US" b="1" dirty="0">
              <a:latin typeface="Times New Roman" panose="02020603050405020304" pitchFamily="18" charset="0"/>
              <a:cs typeface="Times New Roman" panose="02020603050405020304" pitchFamily="18" charset="0"/>
            </a:endParaRPr>
          </a:p>
        </p:txBody>
      </p:sp>
      <p:sp>
        <p:nvSpPr>
          <p:cNvPr id="12" name="Rectangle 11"/>
          <p:cNvSpPr/>
          <p:nvPr/>
        </p:nvSpPr>
        <p:spPr>
          <a:xfrm>
            <a:off x="9065491" y="4777371"/>
            <a:ext cx="2098651" cy="338554"/>
          </a:xfrm>
          <a:prstGeom prst="rect">
            <a:avLst/>
          </a:prstGeom>
        </p:spPr>
        <p:txBody>
          <a:bodyPr wrap="none">
            <a:spAutoFit/>
          </a:bodyPr>
          <a:lstStyle/>
          <a:p>
            <a:r>
              <a:rPr lang="en-US" sz="1600" dirty="0">
                <a:latin typeface="Times New Roman" panose="02020603050405020304" pitchFamily="18" charset="0"/>
                <a:cs typeface="Times New Roman" panose="02020603050405020304" pitchFamily="18" charset="0"/>
              </a:rPr>
              <a:t>Steps used in shellcode</a:t>
            </a:r>
          </a:p>
        </p:txBody>
      </p:sp>
      <p:pic>
        <p:nvPicPr>
          <p:cNvPr id="13" name="Picture 12"/>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18663" y="1256854"/>
            <a:ext cx="7306846" cy="34406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Rectangle 13"/>
          <p:cNvSpPr/>
          <p:nvPr/>
        </p:nvSpPr>
        <p:spPr>
          <a:xfrm>
            <a:off x="972867" y="4896789"/>
            <a:ext cx="6096000" cy="584775"/>
          </a:xfrm>
          <a:prstGeom prst="rect">
            <a:avLst/>
          </a:prstGeom>
        </p:spPr>
        <p:txBody>
          <a:bodyPr>
            <a:spAutoFit/>
          </a:bodyPr>
          <a:lstStyle/>
          <a:p>
            <a:r>
              <a:rPr lang="en-US" sz="1600" dirty="0" smtClean="0">
                <a:latin typeface="Times New Roman" panose="02020603050405020304" pitchFamily="18" charset="0"/>
                <a:cs typeface="Times New Roman" panose="02020603050405020304" pitchFamily="18" charset="0"/>
              </a:rPr>
              <a:t>The figure shows </a:t>
            </a:r>
            <a:r>
              <a:rPr lang="en-US" sz="1600" dirty="0">
                <a:latin typeface="Times New Roman" panose="02020603050405020304" pitchFamily="18" charset="0"/>
                <a:cs typeface="Times New Roman" panose="02020603050405020304" pitchFamily="18" charset="0"/>
              </a:rPr>
              <a:t>the data structures that are typically followed in </a:t>
            </a:r>
            <a:r>
              <a:rPr lang="en-US" sz="1600" dirty="0" smtClean="0">
                <a:latin typeface="Times New Roman" panose="02020603050405020304" pitchFamily="18" charset="0"/>
                <a:cs typeface="Times New Roman" panose="02020603050405020304" pitchFamily="18" charset="0"/>
              </a:rPr>
              <a:t>order to </a:t>
            </a:r>
            <a:r>
              <a:rPr lang="en-US" sz="1600" dirty="0">
                <a:latin typeface="Times New Roman" panose="02020603050405020304" pitchFamily="18" charset="0"/>
                <a:cs typeface="Times New Roman" panose="02020603050405020304" pitchFamily="18" charset="0"/>
              </a:rPr>
              <a:t>find the base address for </a:t>
            </a:r>
            <a:r>
              <a:rPr lang="en-US" sz="1600" b="1" dirty="0" smtClean="0">
                <a:latin typeface="Times New Roman" panose="02020603050405020304" pitchFamily="18" charset="0"/>
                <a:cs typeface="Times New Roman" panose="02020603050405020304" pitchFamily="18" charset="0"/>
              </a:rPr>
              <a:t>kernel32.dll</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15" name="Rectangle 14"/>
          <p:cNvSpPr/>
          <p:nvPr/>
        </p:nvSpPr>
        <p:spPr>
          <a:xfrm>
            <a:off x="9065491" y="819471"/>
            <a:ext cx="2244436" cy="3877985"/>
          </a:xfrm>
          <a:prstGeom prst="rect">
            <a:avLst/>
          </a:prstGeom>
          <a:ln>
            <a:solidFill>
              <a:schemeClr val="tx1"/>
            </a:solidFill>
          </a:ln>
        </p:spPr>
        <p:txBody>
          <a:bodyPr wrap="square">
            <a:spAutoFit/>
          </a:bodyPr>
          <a:lstStyle/>
          <a:p>
            <a:r>
              <a:rPr lang="en-US" sz="1600" dirty="0">
                <a:latin typeface="Times New Roman" panose="02020603050405020304" pitchFamily="18" charset="0"/>
                <a:cs typeface="Times New Roman" panose="02020603050405020304" pitchFamily="18" charset="0"/>
              </a:rPr>
              <a:t>TEB</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PEB</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PEB_LDR_DATA</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DLL List</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Find ntdll.dll</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Find kernel32.dll</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Get base address</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Locate Windows APIs</a:t>
            </a:r>
          </a:p>
        </p:txBody>
      </p:sp>
      <p:sp>
        <p:nvSpPr>
          <p:cNvPr id="20" name="Rectangle 19"/>
          <p:cNvSpPr/>
          <p:nvPr/>
        </p:nvSpPr>
        <p:spPr>
          <a:xfrm>
            <a:off x="5237018" y="4180863"/>
            <a:ext cx="489527" cy="1907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773559" y="4408559"/>
            <a:ext cx="765788" cy="20641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458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1" grpId="0"/>
      <p:bldP spid="12" grpId="0"/>
      <p:bldP spid="14" grpId="0"/>
      <p:bldP spid="15" grpId="0" animBg="1"/>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A287D6F-CEC4-2076-51CF-617698555A03}"/>
              </a:ext>
            </a:extLst>
          </p:cNvPr>
          <p:cNvSpPr txBox="1"/>
          <p:nvPr/>
        </p:nvSpPr>
        <p:spPr>
          <a:xfrm>
            <a:off x="181163" y="242079"/>
            <a:ext cx="160172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API Hashing</a:t>
            </a:r>
            <a:endParaRPr lang="en-US" sz="2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36614" y="787904"/>
            <a:ext cx="12396279" cy="369332"/>
          </a:xfrm>
          <a:prstGeom prst="rect">
            <a:avLst/>
          </a:prstGeom>
        </p:spPr>
        <p:txBody>
          <a:bodyPr wrap="non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hide function names, shellcode uses </a:t>
            </a:r>
            <a:r>
              <a:rPr lang="en-US" b="1" dirty="0">
                <a:latin typeface="Times New Roman" panose="02020603050405020304" pitchFamily="18" charset="0"/>
                <a:cs typeface="Times New Roman" panose="02020603050405020304" pitchFamily="18" charset="0"/>
              </a:rPr>
              <a:t>hash values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ex. Instead of storing, </a:t>
            </a:r>
            <a:r>
              <a:rPr lang="en-US" b="1" dirty="0" err="1" smtClean="0">
                <a:latin typeface="Times New Roman" panose="02020603050405020304" pitchFamily="18" charset="0"/>
                <a:cs typeface="Times New Roman" panose="02020603050405020304" pitchFamily="18" charset="0"/>
              </a:rPr>
              <a:t>LoadLibraryA</a:t>
            </a:r>
            <a:r>
              <a:rPr lang="en-US" dirty="0">
                <a:latin typeface="Times New Roman" panose="02020603050405020304" pitchFamily="18" charset="0"/>
                <a:cs typeface="Times New Roman" panose="02020603050405020304" pitchFamily="18" charset="0"/>
              </a:rPr>
              <a:t>, Shellcode stores, </a:t>
            </a:r>
            <a:r>
              <a:rPr lang="en-US" b="1" dirty="0">
                <a:latin typeface="Times New Roman" panose="02020603050405020304" pitchFamily="18" charset="0"/>
                <a:cs typeface="Times New Roman" panose="02020603050405020304" pitchFamily="18" charset="0"/>
              </a:rPr>
              <a:t>0xEC0E4E8E</a:t>
            </a:r>
          </a:p>
        </p:txBody>
      </p:sp>
      <p:sp>
        <p:nvSpPr>
          <p:cNvPr id="10" name="Rectangle 9"/>
          <p:cNvSpPr/>
          <p:nvPr/>
        </p:nvSpPr>
        <p:spPr>
          <a:xfrm>
            <a:off x="36614" y="1244772"/>
            <a:ext cx="11779466" cy="646331"/>
          </a:xfrm>
          <a:prstGeom prst="rect">
            <a:avLst/>
          </a:prstGeom>
        </p:spPr>
        <p:txBody>
          <a:bodyPr wrap="square">
            <a:spAutoFit/>
          </a:bodyPr>
          <a:lstStyle/>
          <a:p>
            <a:pPr marL="285750" indent="-285750">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The attackers use hashing to avoid detection, hide strings, and obfuscate malware</a:t>
            </a:r>
            <a:r>
              <a:rPr lang="en-US" dirty="0">
                <a:latin typeface="Times New Roman" panose="02020603050405020304" pitchFamily="18" charset="0"/>
                <a:cs typeface="Times New Roman" panose="02020603050405020304" pitchFamily="18" charset="0"/>
              </a:rPr>
              <a:t>, because API hashing hides the real function names.</a:t>
            </a:r>
            <a:endParaRPr lang="en-US"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a:stretch>
            <a:fillRect/>
          </a:stretch>
        </p:blipFill>
        <p:spPr>
          <a:xfrm>
            <a:off x="7656615" y="1692675"/>
            <a:ext cx="3644747" cy="426009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Rectangle 7"/>
          <p:cNvSpPr/>
          <p:nvPr/>
        </p:nvSpPr>
        <p:spPr>
          <a:xfrm>
            <a:off x="995877" y="2478485"/>
            <a:ext cx="263386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Iterate exported functions</a:t>
            </a:r>
          </a:p>
        </p:txBody>
      </p:sp>
      <p:sp>
        <p:nvSpPr>
          <p:cNvPr id="11" name="Rectangle 10"/>
          <p:cNvSpPr/>
          <p:nvPr/>
        </p:nvSpPr>
        <p:spPr>
          <a:xfrm>
            <a:off x="1526595" y="3062891"/>
            <a:ext cx="154471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Compute hash</a:t>
            </a:r>
          </a:p>
        </p:txBody>
      </p:sp>
      <p:sp>
        <p:nvSpPr>
          <p:cNvPr id="12" name="Rectangle 11"/>
          <p:cNvSpPr/>
          <p:nvPr/>
        </p:nvSpPr>
        <p:spPr>
          <a:xfrm>
            <a:off x="1066710" y="3638056"/>
            <a:ext cx="2656881"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Compare with stored hash</a:t>
            </a:r>
          </a:p>
        </p:txBody>
      </p:sp>
      <p:sp>
        <p:nvSpPr>
          <p:cNvPr id="13" name="Rectangle 12"/>
          <p:cNvSpPr/>
          <p:nvPr/>
        </p:nvSpPr>
        <p:spPr>
          <a:xfrm>
            <a:off x="853619" y="4345822"/>
            <a:ext cx="3331168"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When matched → function found</a:t>
            </a:r>
          </a:p>
        </p:txBody>
      </p:sp>
      <p:cxnSp>
        <p:nvCxnSpPr>
          <p:cNvPr id="15" name="Straight Arrow Connector 14"/>
          <p:cNvCxnSpPr/>
          <p:nvPr/>
        </p:nvCxnSpPr>
        <p:spPr>
          <a:xfrm flipH="1">
            <a:off x="2298954" y="2847996"/>
            <a:ext cx="878" cy="286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2312809" y="3379083"/>
            <a:ext cx="878" cy="286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2335902" y="4021010"/>
            <a:ext cx="878" cy="286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184787" y="3535028"/>
            <a:ext cx="29116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429375" y="6031340"/>
            <a:ext cx="5409434" cy="738664"/>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The code searches through a DLL’s exported functions, hashes each function name, and returns the address of the function whose hash matches the requested one.</a:t>
            </a:r>
          </a:p>
        </p:txBody>
      </p:sp>
    </p:spTree>
    <p:extLst>
      <p:ext uri="{BB962C8B-B14F-4D97-AF65-F5344CB8AC3E}">
        <p14:creationId xmlns:p14="http://schemas.microsoft.com/office/powerpoint/2010/main" val="1437817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p:bldP spid="2" grpId="0"/>
      <p:bldP spid="10" grpId="0"/>
      <p:bldP spid="8" grpId="0"/>
      <p:bldP spid="11" grpId="0"/>
      <p:bldP spid="12" grpId="0"/>
      <p:bldP spid="13"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A287D6F-CEC4-2076-51CF-617698555A03}"/>
              </a:ext>
            </a:extLst>
          </p:cNvPr>
          <p:cNvSpPr txBox="1"/>
          <p:nvPr/>
        </p:nvSpPr>
        <p:spPr>
          <a:xfrm>
            <a:off x="181163" y="242079"/>
            <a:ext cx="3695242"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Shellcode Encoding &amp; Decoding</a:t>
            </a:r>
            <a:endParaRPr lang="en-US" sz="20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58303" y="1184625"/>
            <a:ext cx="11078448" cy="646331"/>
          </a:xfrm>
          <a:prstGeom prst="rect">
            <a:avLst/>
          </a:prstGeom>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When attackers send shellcode through an exploit, </a:t>
            </a:r>
            <a:r>
              <a:rPr lang="en-US" b="1" dirty="0">
                <a:latin typeface="Times New Roman" panose="02020603050405020304" pitchFamily="18" charset="0"/>
                <a:cs typeface="Times New Roman" panose="02020603050405020304" pitchFamily="18" charset="0"/>
              </a:rPr>
              <a:t>some characters are not allowed</a:t>
            </a:r>
            <a:r>
              <a:rPr lang="en-US" dirty="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Examples of restrictions: </a:t>
            </a:r>
            <a:r>
              <a:rPr lang="en-US" dirty="0">
                <a:latin typeface="Times New Roman" panose="02020603050405020304" pitchFamily="18" charset="0"/>
                <a:cs typeface="Times New Roman" panose="02020603050405020304" pitchFamily="18" charset="0"/>
              </a:rPr>
              <a:t>null bytes, special characters, </a:t>
            </a:r>
            <a:r>
              <a:rPr lang="en-US" dirty="0" smtClean="0">
                <a:latin typeface="Times New Roman" panose="02020603050405020304" pitchFamily="18" charset="0"/>
                <a:cs typeface="Times New Roman" panose="02020603050405020304" pitchFamily="18" charset="0"/>
              </a:rPr>
              <a:t>and filtered characters.</a:t>
            </a: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158303" y="2188726"/>
            <a:ext cx="8097088" cy="923330"/>
          </a:xfrm>
          <a:prstGeom prst="rect">
            <a:avLst/>
          </a:prstGeom>
        </p:spPr>
        <p:txBody>
          <a:bodyPr wrap="none">
            <a:spAutoFit/>
          </a:bodyPr>
          <a:lstStyle/>
          <a:p>
            <a:pPr marL="285750" indent="-285750">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Solution-- Attackers solve this by </a:t>
            </a:r>
            <a:r>
              <a:rPr lang="en-US" b="1" dirty="0" smtClean="0">
                <a:latin typeface="Times New Roman" panose="02020603050405020304" pitchFamily="18" charset="0"/>
                <a:cs typeface="Times New Roman" panose="02020603050405020304" pitchFamily="18" charset="0"/>
              </a:rPr>
              <a:t>encoding shellcode</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--Instead </a:t>
            </a:r>
            <a:r>
              <a:rPr lang="en-US" dirty="0">
                <a:latin typeface="Times New Roman" panose="02020603050405020304" pitchFamily="18" charset="0"/>
                <a:cs typeface="Times New Roman" panose="02020603050405020304" pitchFamily="18" charset="0"/>
              </a:rPr>
              <a:t>of sending the real shellcode, they send a hidden/encoded version.</a:t>
            </a:r>
          </a:p>
        </p:txBody>
      </p:sp>
      <p:sp>
        <p:nvSpPr>
          <p:cNvPr id="8" name="Rectangle 7"/>
          <p:cNvSpPr/>
          <p:nvPr/>
        </p:nvSpPr>
        <p:spPr>
          <a:xfrm>
            <a:off x="9760627" y="1793854"/>
            <a:ext cx="2078182" cy="3693319"/>
          </a:xfrm>
          <a:prstGeom prst="rect">
            <a:avLst/>
          </a:prstGeom>
          <a:ln>
            <a:solidFill>
              <a:schemeClr val="tx1"/>
            </a:solidFill>
          </a:ln>
        </p:spPr>
        <p:txBody>
          <a:bodyPr wrap="square">
            <a:spAutoFit/>
          </a:bodyPr>
          <a:lstStyle/>
          <a:p>
            <a:r>
              <a:rPr lang="en-US" dirty="0">
                <a:latin typeface="Times New Roman" panose="02020603050405020304" pitchFamily="18" charset="0"/>
                <a:cs typeface="Times New Roman" panose="02020603050405020304" pitchFamily="18" charset="0"/>
              </a:rPr>
              <a:t>Encoded </a:t>
            </a:r>
            <a:r>
              <a:rPr lang="en-US" dirty="0" smtClean="0">
                <a:latin typeface="Times New Roman" panose="02020603050405020304" pitchFamily="18" charset="0"/>
                <a:cs typeface="Times New Roman" panose="02020603050405020304" pitchFamily="18" charset="0"/>
              </a:rPr>
              <a:t>Payload</a:t>
            </a:r>
          </a:p>
          <a:p>
            <a:r>
              <a:rPr lang="en-US"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Encoded shellcode is injected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Decoder </a:t>
            </a:r>
            <a:r>
              <a:rPr lang="en-US" dirty="0" smtClean="0">
                <a:latin typeface="Times New Roman" panose="02020603050405020304" pitchFamily="18" charset="0"/>
                <a:cs typeface="Times New Roman" panose="02020603050405020304" pitchFamily="18" charset="0"/>
              </a:rPr>
              <a:t>Stub</a:t>
            </a:r>
          </a:p>
          <a:p>
            <a:r>
              <a:rPr lang="en-US" dirty="0" smtClean="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Decoder runs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Decoded </a:t>
            </a:r>
            <a:r>
              <a:rPr lang="en-US" dirty="0" smtClean="0">
                <a:latin typeface="Times New Roman" panose="02020603050405020304" pitchFamily="18" charset="0"/>
                <a:cs typeface="Times New Roman" panose="02020603050405020304" pitchFamily="18" charset="0"/>
              </a:rPr>
              <a:t>Shellcode</a:t>
            </a:r>
          </a:p>
          <a:p>
            <a:r>
              <a:rPr lang="en-US"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Decoder converts it back to real shellcode</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Real shellcode executes</a:t>
            </a:r>
          </a:p>
        </p:txBody>
      </p:sp>
      <p:sp>
        <p:nvSpPr>
          <p:cNvPr id="10" name="Rectangle 9"/>
          <p:cNvSpPr/>
          <p:nvPr/>
        </p:nvSpPr>
        <p:spPr>
          <a:xfrm>
            <a:off x="135444" y="3898695"/>
            <a:ext cx="9693808" cy="369332"/>
          </a:xfrm>
          <a:prstGeom prst="rect">
            <a:avLst/>
          </a:prstGeom>
        </p:spPr>
        <p:txBody>
          <a:bodyPr wrap="non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Common encoding methods are XOR encoding, Alphanumeric encoding, Printable ASCII encoding</a:t>
            </a:r>
          </a:p>
        </p:txBody>
      </p:sp>
    </p:spTree>
    <p:extLst>
      <p:ext uri="{BB962C8B-B14F-4D97-AF65-F5344CB8AC3E}">
        <p14:creationId xmlns:p14="http://schemas.microsoft.com/office/powerpoint/2010/main" val="51321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p:bldP spid="2" grpId="0"/>
      <p:bldP spid="4" grpId="0"/>
      <p:bldP spid="8"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Rectangle 1"/>
          <p:cNvSpPr/>
          <p:nvPr/>
        </p:nvSpPr>
        <p:spPr>
          <a:xfrm>
            <a:off x="158303" y="271398"/>
            <a:ext cx="3551229" cy="400110"/>
          </a:xfrm>
          <a:prstGeom prst="rect">
            <a:avLst/>
          </a:prstGeom>
        </p:spPr>
        <p:txBody>
          <a:bodyPr wrap="none">
            <a:spAutoFit/>
          </a:bodyPr>
          <a:lstStyle/>
          <a:p>
            <a:r>
              <a:rPr lang="en-US" sz="2000" b="1" dirty="0">
                <a:latin typeface="Times New Roman" panose="02020603050405020304" pitchFamily="18" charset="0"/>
                <a:cs typeface="Times New Roman" panose="02020603050405020304" pitchFamily="18" charset="0"/>
              </a:rPr>
              <a:t>How Analysts Detect Shellcode</a:t>
            </a:r>
          </a:p>
        </p:txBody>
      </p:sp>
      <p:sp>
        <p:nvSpPr>
          <p:cNvPr id="3" name="Rectangle 2"/>
          <p:cNvSpPr/>
          <p:nvPr/>
        </p:nvSpPr>
        <p:spPr>
          <a:xfrm>
            <a:off x="266978" y="1842951"/>
            <a:ext cx="11742520" cy="646331"/>
          </a:xfrm>
          <a:prstGeom prst="rect">
            <a:avLst/>
          </a:prstGeom>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Malware analysts search for common shellcode patterns. </a:t>
            </a:r>
            <a:r>
              <a:rPr lang="en-US" b="1" dirty="0">
                <a:latin typeface="Times New Roman" panose="02020603050405020304" pitchFamily="18" charset="0"/>
                <a:cs typeface="Times New Roman" panose="02020603050405020304" pitchFamily="18" charset="0"/>
              </a:rPr>
              <a:t>Typical indicators, Decoder loops, API hashing routines, PEB traversal code, Self-modifying </a:t>
            </a:r>
            <a:r>
              <a:rPr lang="en-US" b="1" dirty="0" smtClean="0">
                <a:latin typeface="Times New Roman" panose="02020603050405020304" pitchFamily="18" charset="0"/>
                <a:cs typeface="Times New Roman" panose="02020603050405020304" pitchFamily="18" charset="0"/>
              </a:rPr>
              <a:t>instructions.</a:t>
            </a:r>
            <a:endParaRPr lang="en-US" b="1" dirty="0">
              <a:latin typeface="Times New Roman" panose="02020603050405020304" pitchFamily="18" charset="0"/>
              <a:cs typeface="Times New Roman" panose="02020603050405020304" pitchFamily="18" charset="0"/>
            </a:endParaRPr>
          </a:p>
        </p:txBody>
      </p:sp>
      <p:sp>
        <p:nvSpPr>
          <p:cNvPr id="4" name="Rectangle 3"/>
          <p:cNvSpPr/>
          <p:nvPr/>
        </p:nvSpPr>
        <p:spPr>
          <a:xfrm>
            <a:off x="331633" y="2950947"/>
            <a:ext cx="3091039" cy="369332"/>
          </a:xfrm>
          <a:prstGeom prst="rect">
            <a:avLst/>
          </a:prstGeom>
        </p:spPr>
        <p:txBody>
          <a:bodyPr wrap="non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Common assembly patterns</a:t>
            </a:r>
          </a:p>
        </p:txBody>
      </p:sp>
      <p:sp>
        <p:nvSpPr>
          <p:cNvPr id="8" name="Rectangle 7"/>
          <p:cNvSpPr/>
          <p:nvPr/>
        </p:nvSpPr>
        <p:spPr>
          <a:xfrm>
            <a:off x="4103172" y="3052547"/>
            <a:ext cx="840509" cy="1200329"/>
          </a:xfrm>
          <a:prstGeom prst="rect">
            <a:avLst/>
          </a:prstGeom>
          <a:ln>
            <a:solidFill>
              <a:schemeClr val="tx1"/>
            </a:solidFill>
          </a:ln>
        </p:spPr>
        <p:txBody>
          <a:bodyPr wrap="square">
            <a:spAutoFit/>
          </a:bodyPr>
          <a:lstStyle/>
          <a:p>
            <a:r>
              <a:rPr lang="en-US" dirty="0">
                <a:latin typeface="Times New Roman" panose="02020603050405020304" pitchFamily="18" charset="0"/>
                <a:cs typeface="Times New Roman" panose="02020603050405020304" pitchFamily="18" charset="0"/>
              </a:rPr>
              <a:t>call</a:t>
            </a:r>
          </a:p>
          <a:p>
            <a:r>
              <a:rPr lang="en-US" dirty="0">
                <a:latin typeface="Times New Roman" panose="02020603050405020304" pitchFamily="18" charset="0"/>
                <a:cs typeface="Times New Roman" panose="02020603050405020304" pitchFamily="18" charset="0"/>
              </a:rPr>
              <a:t>pop</a:t>
            </a:r>
          </a:p>
          <a:p>
            <a:r>
              <a:rPr lang="en-US" dirty="0">
                <a:latin typeface="Times New Roman" panose="02020603050405020304" pitchFamily="18" charset="0"/>
                <a:cs typeface="Times New Roman" panose="02020603050405020304" pitchFamily="18" charset="0"/>
              </a:rPr>
              <a:t>loop</a:t>
            </a:r>
          </a:p>
          <a:p>
            <a:r>
              <a:rPr lang="en-US" dirty="0" err="1">
                <a:latin typeface="Times New Roman" panose="02020603050405020304" pitchFamily="18" charset="0"/>
                <a:cs typeface="Times New Roman" panose="02020603050405020304" pitchFamily="18" charset="0"/>
              </a:rPr>
              <a:t>jmp</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331633" y="4635766"/>
            <a:ext cx="2074735" cy="369332"/>
          </a:xfrm>
          <a:prstGeom prst="rect">
            <a:avLst/>
          </a:prstGeom>
        </p:spPr>
        <p:txBody>
          <a:bodyPr wrap="non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NOP sled pattern</a:t>
            </a:r>
          </a:p>
        </p:txBody>
      </p:sp>
      <p:sp>
        <p:nvSpPr>
          <p:cNvPr id="10" name="Rectangle 9"/>
          <p:cNvSpPr/>
          <p:nvPr/>
        </p:nvSpPr>
        <p:spPr>
          <a:xfrm>
            <a:off x="3477425" y="4627433"/>
            <a:ext cx="1566454" cy="369332"/>
          </a:xfrm>
          <a:prstGeom prst="rect">
            <a:avLst/>
          </a:prstGeom>
          <a:ln>
            <a:solidFill>
              <a:schemeClr val="tx1"/>
            </a:solidFill>
          </a:ln>
        </p:spPr>
        <p:txBody>
          <a:bodyPr wrap="none">
            <a:spAutoFit/>
          </a:bodyPr>
          <a:lstStyle/>
          <a:p>
            <a:r>
              <a:rPr lang="en-US" dirty="0">
                <a:latin typeface="Times New Roman" panose="02020603050405020304" pitchFamily="18" charset="0"/>
                <a:cs typeface="Times New Roman" panose="02020603050405020304" pitchFamily="18" charset="0"/>
              </a:rPr>
              <a:t>90 90 90 90 90</a:t>
            </a:r>
          </a:p>
        </p:txBody>
      </p:sp>
      <p:sp>
        <p:nvSpPr>
          <p:cNvPr id="11" name="Rectangle 10"/>
          <p:cNvSpPr/>
          <p:nvPr/>
        </p:nvSpPr>
        <p:spPr>
          <a:xfrm>
            <a:off x="331633" y="5560030"/>
            <a:ext cx="6157198" cy="369332"/>
          </a:xfrm>
          <a:prstGeom prst="rect">
            <a:avLst/>
          </a:prstGeom>
        </p:spPr>
        <p:txBody>
          <a:bodyPr wrap="non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Detection tools, Disassemblers, Memory analysis, Debuggers</a:t>
            </a:r>
          </a:p>
        </p:txBody>
      </p:sp>
      <p:sp>
        <p:nvSpPr>
          <p:cNvPr id="12" name="Rectangle 11"/>
          <p:cNvSpPr/>
          <p:nvPr/>
        </p:nvSpPr>
        <p:spPr>
          <a:xfrm>
            <a:off x="331633" y="991929"/>
            <a:ext cx="11189920" cy="369332"/>
          </a:xfrm>
          <a:prstGeom prst="rect">
            <a:avLst/>
          </a:prstGeom>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Analysts recognize shellcode by identifying decoding routines and unusual assembly patterns.</a:t>
            </a:r>
          </a:p>
        </p:txBody>
      </p:sp>
    </p:spTree>
    <p:extLst>
      <p:ext uri="{BB962C8B-B14F-4D97-AF65-F5344CB8AC3E}">
        <p14:creationId xmlns:p14="http://schemas.microsoft.com/office/powerpoint/2010/main" val="46386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p:bldP spid="3" grpId="0"/>
      <p:bldP spid="4" grpId="0"/>
      <p:bldP spid="8" grpId="0" animBg="1"/>
      <p:bldP spid="9" grpId="0"/>
      <p:bldP spid="10" grpId="0" animBg="1"/>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23;p57">
            <a:extLst>
              <a:ext uri="{FF2B5EF4-FFF2-40B4-BE49-F238E27FC236}">
                <a16:creationId xmlns:a16="http://schemas.microsoft.com/office/drawing/2014/main" id="{C2BCE14D-69B5-B72A-D2DD-B7821C365698}"/>
              </a:ext>
            </a:extLst>
          </p:cNvPr>
          <p:cNvSpPr txBox="1">
            <a:spLocks noGrp="1"/>
          </p:cNvSpPr>
          <p:nvPr>
            <p:ph type="title"/>
          </p:nvPr>
        </p:nvSpPr>
        <p:spPr>
          <a:xfrm>
            <a:off x="3403131" y="1697542"/>
            <a:ext cx="5726400" cy="1402000"/>
          </a:xfrm>
          <a:prstGeom prst="rect">
            <a:avLst/>
          </a:prstGeom>
        </p:spPr>
        <p:txBody>
          <a:bodyPr spcFirstLastPara="1" vert="horz" wrap="square" lIns="121900" tIns="121900" rIns="121900" bIns="121900" rtlCol="0" anchor="t" anchorCtr="0">
            <a:noAutofit/>
          </a:bodyPr>
          <a:lstStyle/>
          <a:p>
            <a:pPr algn="ctr"/>
            <a:r>
              <a:rPr lang="en" sz="9600" dirty="0">
                <a:latin typeface="Algerian" panose="04020705040A02060702" pitchFamily="82" charset="0"/>
              </a:rPr>
              <a:t>Thanks!</a:t>
            </a:r>
            <a:endParaRPr sz="9600" dirty="0">
              <a:latin typeface="Algerian" panose="04020705040A02060702" pitchFamily="82" charset="0"/>
            </a:endParaRPr>
          </a:p>
        </p:txBody>
      </p:sp>
      <p:sp>
        <p:nvSpPr>
          <p:cNvPr id="6" name="Google Shape;724;p57">
            <a:extLst>
              <a:ext uri="{FF2B5EF4-FFF2-40B4-BE49-F238E27FC236}">
                <a16:creationId xmlns:a16="http://schemas.microsoft.com/office/drawing/2014/main" id="{70661076-6792-41B2-9350-C472CC317A96}"/>
              </a:ext>
            </a:extLst>
          </p:cNvPr>
          <p:cNvSpPr txBox="1">
            <a:spLocks/>
          </p:cNvSpPr>
          <p:nvPr/>
        </p:nvSpPr>
        <p:spPr>
          <a:xfrm>
            <a:off x="3976531" y="3099542"/>
            <a:ext cx="4579600" cy="53046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lt1"/>
              </a:buClr>
              <a:buSzPts val="1100"/>
            </a:pPr>
            <a:r>
              <a:rPr lang="en-US">
                <a:latin typeface="Algerian" panose="04020705040A02060702" pitchFamily="82" charset="0"/>
              </a:rPr>
              <a:t>Do you have any questions?</a:t>
            </a:r>
            <a:endParaRPr lang="en-US" dirty="0">
              <a:latin typeface="Algerian" panose="04020705040A02060702" pitchFamily="82" charset="0"/>
            </a:endParaRPr>
          </a:p>
        </p:txBody>
      </p:sp>
      <p:sp>
        <p:nvSpPr>
          <p:cNvPr id="7" name="Rectangle 6"/>
          <p:cNvSpPr/>
          <p:nvPr/>
        </p:nvSpPr>
        <p:spPr>
          <a:xfrm>
            <a:off x="184866" y="133176"/>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2"/>
          <a:stretch>
            <a:fillRect/>
          </a:stretch>
        </p:blipFill>
        <p:spPr>
          <a:xfrm>
            <a:off x="11584462" y="15585"/>
            <a:ext cx="607538" cy="637915"/>
          </a:xfrm>
          <a:prstGeom prst="rect">
            <a:avLst/>
          </a:prstGeom>
        </p:spPr>
      </p:pic>
      <p:sp>
        <p:nvSpPr>
          <p:cNvPr id="9" name="Rectangle 8"/>
          <p:cNvSpPr/>
          <p:nvPr/>
        </p:nvSpPr>
        <p:spPr>
          <a:xfrm flipV="1">
            <a:off x="11409592" y="6598002"/>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62141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8" name="Rectangle 7"/>
          <p:cNvSpPr/>
          <p:nvPr/>
        </p:nvSpPr>
        <p:spPr>
          <a:xfrm>
            <a:off x="3048000" y="1028343"/>
            <a:ext cx="6096000" cy="4801314"/>
          </a:xfrm>
          <a:prstGeom prst="rect">
            <a:avLst/>
          </a:prstGeom>
        </p:spPr>
        <p:txBody>
          <a:bodyPr>
            <a:spAutoFit/>
          </a:bodyPr>
          <a:lstStyle/>
          <a:p>
            <a:r>
              <a:rPr lang="en-US" dirty="0"/>
              <a:t>This figure shows how shellcode locates important system libraries in memory by navigating internal Windows structures. The process begins at the Thread Environment Block (TEB), which contains a pointer to the Process Environment Block (PEB). The PEB stores information about the running process, including a pointer to PEB_LDR_DATA, which maintains linked lists of all DLLs loaded in memory. By traversing these linked lists—such as </a:t>
            </a:r>
            <a:r>
              <a:rPr lang="en-US" dirty="0" err="1"/>
              <a:t>InLoadOrderLinks</a:t>
            </a:r>
            <a:r>
              <a:rPr lang="en-US" dirty="0"/>
              <a:t>, </a:t>
            </a:r>
            <a:r>
              <a:rPr lang="en-US" dirty="0" err="1"/>
              <a:t>InMemoryOrderLinks</a:t>
            </a:r>
            <a:r>
              <a:rPr lang="en-US" dirty="0"/>
              <a:t>, and </a:t>
            </a:r>
            <a:r>
              <a:rPr lang="en-US" dirty="0" err="1"/>
              <a:t>InitializationOrderLinks</a:t>
            </a:r>
            <a:r>
              <a:rPr lang="en-US" dirty="0"/>
              <a:t>—shellcode can enumerate the loaded modules. Typically, the first entry corresponds to ntdll.dll, followed by kernel32.dll. Once the shellcode reaches the LDR_DATA_TABLE_ENTRY for kernel32.dll, it retrieves the base address of the DLL, which allows it to parse the DLL’s export table and locate important Windows API functions such as </a:t>
            </a:r>
            <a:r>
              <a:rPr lang="en-US" dirty="0" err="1"/>
              <a:t>LoadLibraryA</a:t>
            </a:r>
            <a:r>
              <a:rPr lang="en-US" dirty="0"/>
              <a:t> and </a:t>
            </a:r>
            <a:r>
              <a:rPr lang="en-US" dirty="0" err="1"/>
              <a:t>GetProcAddress</a:t>
            </a:r>
            <a:r>
              <a:rPr lang="en-US" dirty="0"/>
              <a:t>. This technique allows shellcode to dynamically find system functions without relying on the program’s import table.</a:t>
            </a:r>
          </a:p>
        </p:txBody>
      </p:sp>
    </p:spTree>
    <p:extLst>
      <p:ext uri="{BB962C8B-B14F-4D97-AF65-F5344CB8AC3E}">
        <p14:creationId xmlns:p14="http://schemas.microsoft.com/office/powerpoint/2010/main" val="350771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 name="Rectangle 2"/>
          <p:cNvSpPr/>
          <p:nvPr/>
        </p:nvSpPr>
        <p:spPr>
          <a:xfrm>
            <a:off x="1893455" y="852852"/>
            <a:ext cx="6096000" cy="4801314"/>
          </a:xfrm>
          <a:prstGeom prst="rect">
            <a:avLst/>
          </a:prstGeom>
        </p:spPr>
        <p:txBody>
          <a:bodyPr>
            <a:spAutoFit/>
          </a:bodyPr>
          <a:lstStyle/>
          <a:p>
            <a:r>
              <a:rPr lang="en-US" dirty="0"/>
              <a:t>This code shows how shellcode dynamically locates a specific Windows API function inside a DLL by using API hashing. The function </a:t>
            </a:r>
            <a:r>
              <a:rPr lang="en-US" dirty="0" err="1"/>
              <a:t>findSymbolByHash</a:t>
            </a:r>
            <a:r>
              <a:rPr lang="en-US" dirty="0"/>
              <a:t> takes the base address of a DLL (such as kernel32.dll) and a hash value representing the desired API function. First, the code accesses the PE header of the DLL and navigates to the Export Directory, which contains information about all exported functions. It then iterates through the list of function names (</a:t>
            </a:r>
            <a:r>
              <a:rPr lang="en-US" dirty="0" err="1"/>
              <a:t>AddressOfNames</a:t>
            </a:r>
            <a:r>
              <a:rPr lang="en-US" dirty="0"/>
              <a:t>) and computes a hash for each name using a helper function (</a:t>
            </a:r>
            <a:r>
              <a:rPr lang="en-US" dirty="0" err="1"/>
              <a:t>hashString</a:t>
            </a:r>
            <a:r>
              <a:rPr lang="en-US" dirty="0"/>
              <a:t>). The calculated hash is compared with the target hash (</a:t>
            </a:r>
            <a:r>
              <a:rPr lang="en-US" dirty="0" err="1"/>
              <a:t>symHash</a:t>
            </a:r>
            <a:r>
              <a:rPr lang="en-US" dirty="0"/>
              <a:t>). When a match is found, the code retrieves the corresponding ordinal value and uses it to locate the correct entry in the </a:t>
            </a:r>
            <a:r>
              <a:rPr lang="en-US" dirty="0" err="1"/>
              <a:t>AddressOfFunctions</a:t>
            </a:r>
            <a:r>
              <a:rPr lang="en-US" dirty="0"/>
              <a:t> table, which contains the actual memory address of the function. Finally, the function returns the resolved API address. This technique allows shellcode to call Windows API functions without storing their names directly, making the malware more difficult to detect.</a:t>
            </a:r>
          </a:p>
        </p:txBody>
      </p:sp>
    </p:spTree>
    <p:extLst>
      <p:ext uri="{BB962C8B-B14F-4D97-AF65-F5344CB8AC3E}">
        <p14:creationId xmlns:p14="http://schemas.microsoft.com/office/powerpoint/2010/main" val="180766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444" y="147939"/>
            <a:ext cx="45719" cy="58839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1535040" y="30348"/>
            <a:ext cx="607538" cy="637915"/>
          </a:xfrm>
          <a:prstGeom prst="rect">
            <a:avLst/>
          </a:prstGeom>
        </p:spPr>
      </p:pic>
      <p:sp>
        <p:nvSpPr>
          <p:cNvPr id="7" name="Rectangle 6"/>
          <p:cNvSpPr/>
          <p:nvPr/>
        </p:nvSpPr>
        <p:spPr>
          <a:xfrm flipV="1">
            <a:off x="11360170" y="6612765"/>
            <a:ext cx="738865" cy="6405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TextBox 1"/>
          <p:cNvSpPr txBox="1"/>
          <p:nvPr/>
        </p:nvSpPr>
        <p:spPr>
          <a:xfrm>
            <a:off x="181163" y="242079"/>
            <a:ext cx="1253869" cy="400110"/>
          </a:xfrm>
          <a:prstGeom prst="rect">
            <a:avLst/>
          </a:prstGeom>
          <a:noFill/>
        </p:spPr>
        <p:txBody>
          <a:bodyPr wrap="none" rtlCol="0">
            <a:spAutoFit/>
          </a:bodyPr>
          <a:lstStyle/>
          <a:p>
            <a:r>
              <a:rPr lang="en-US" sz="2000" b="1" dirty="0" smtClean="0">
                <a:latin typeface="Times New Roman" panose="02020603050405020304" pitchFamily="18" charset="0"/>
                <a:cs typeface="Times New Roman" panose="02020603050405020304" pitchFamily="18" charset="0"/>
              </a:rPr>
              <a:t>Appendix</a:t>
            </a:r>
            <a:endParaRPr lang="en-US" sz="2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3570069" y="642189"/>
            <a:ext cx="7268589" cy="5620534"/>
          </a:xfrm>
          <a:prstGeom prst="rect">
            <a:avLst/>
          </a:prstGeom>
        </p:spPr>
      </p:pic>
    </p:spTree>
    <p:extLst>
      <p:ext uri="{BB962C8B-B14F-4D97-AF65-F5344CB8AC3E}">
        <p14:creationId xmlns:p14="http://schemas.microsoft.com/office/powerpoint/2010/main" val="210657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8324</TotalTime>
  <Words>1241</Words>
  <Application>Microsoft Office PowerPoint</Application>
  <PresentationFormat>Widescreen</PresentationFormat>
  <Paragraphs>119</Paragraphs>
  <Slides>14</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Arial</vt:lpstr>
      <vt:lpstr>Calibri</vt:lpstr>
      <vt:lpstr>Calibri Light</vt:lpstr>
      <vt:lpstr>Microsoft Himalaya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seclab</dc:creator>
  <cp:lastModifiedBy>seclab</cp:lastModifiedBy>
  <cp:revision>134</cp:revision>
  <dcterms:created xsi:type="dcterms:W3CDTF">2023-08-03T04:08:52Z</dcterms:created>
  <dcterms:modified xsi:type="dcterms:W3CDTF">2026-03-09T05:49:04Z</dcterms:modified>
</cp:coreProperties>
</file>