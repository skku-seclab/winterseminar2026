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2" r:id="rId9"/>
    <p:sldId id="263" r:id="rId10"/>
    <p:sldId id="264" r:id="rId11"/>
    <p:sldId id="265" r:id="rId12"/>
    <p:sldId id="268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5A42F-7E59-4AE9-B916-5A7B216704AE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42168-A4B4-4DE2-BB80-9D5F055FA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9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remember that your goal iss to understand the overall functionality of a program, not to analyze every single instruction.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42168-A4B4-4DE2-BB80-9D5F055FAF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5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42168-A4B4-4DE2-BB80-9D5F055FA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6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C51C3A-DAAE-2E5C-F061-7252D24CA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CD6EEA-5AFF-F6D5-0945-4469BB990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3DF126-F168-1B4C-2D1F-1674A0FF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8C1D42-A030-CDD1-7EF8-18123BEC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1B623-0E0A-C9E7-83E6-BE75932C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4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0CA27-6C00-2441-5E9D-03CDC9A6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694DD-C847-5302-1445-99E00E855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C5788D-E2DA-2EAD-3641-E8915A33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8ECC8-8ED3-C709-897F-9D46195B3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ABA53A-0577-FC1D-CB9F-C8FD99BF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2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93632-8BD6-9A69-4D3D-FFF3EED8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2F9C95-8513-C682-5849-B0A1ED9C6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28A84B-AAE9-2B15-801E-A0E764B6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02E21-E10E-F12A-6AC0-9F9573CE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FDB702-A25F-82D4-0A36-0330077C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3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B125D-5F85-4CCE-5D9B-491D1B3C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79DC1-923C-BE85-666A-B3170D770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308B10-C5D4-9BF9-3B89-7EBE5746E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247173-8DD8-461E-FC3E-E84F5C26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FE0460-025C-D059-2741-6406E6CCA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72CA95-51C6-7298-EE5D-ABE08B32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9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595BB-75E9-1CCB-4EEB-BE33EC1C5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1C4785-6E3D-D724-B1CA-9C870CA16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16CC2F-BE8D-BE76-5A7E-4CA2A2FBD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A5C03B-58B9-2243-D873-0D1DBE458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5257FC-EA87-389F-A82D-0B02D3FDF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BC4C3F-93B3-E70E-B800-C8DA893E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617005-FDA1-C79D-3901-3873D149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D1EDD0-E540-7A33-8222-04689E2F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9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EFC70-54AF-168B-210A-4F4CAF48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822D73-6ABC-B3BD-56A9-BBF073EC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DD0E09-4EA9-13C1-D5DD-56E1BA11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EF11D8-16D5-B676-DCAD-EDAC82DF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89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8F3226-007E-6151-2985-8A88362F7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BC32B-C730-7BD7-1989-CD85FA88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2897C7-FD57-1BD5-8422-EAE4598D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1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AD164-41A0-1266-F0CF-8A17970A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ADE8EB-BC2E-450B-5ED6-94D47E1B2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E4E65D-7F2F-6BA7-30C3-E74D58FBD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58F431-43F4-9048-BE43-DA5DBD41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D303E-6B41-FB20-E449-27A0BB61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8ECC15-025D-3A02-595C-7F24A60E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6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045DE-9762-ED5F-A826-BA42BB87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87B345-2A01-72D7-89E8-1B4857E21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24A732-2867-E43D-5663-619D744C6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5B50-0F09-94D0-27A9-B220DC7E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672F80-ADFF-0862-E083-EB3B2723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57AAA-AB13-CC86-5308-7D86BF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1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FCDAC-6934-7C8B-82B2-ED0ACF29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2AF9FD-1C8D-76D4-1D6F-C2B0C5F88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84F51A-FA4C-6729-C4FC-2807190E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CD6403-2180-C97B-8CFE-4B4141A9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959F3A-E424-CB64-11AF-68B60044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2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E345F7-6BD6-5C7A-2802-BA3A189B1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794CBE-7B10-1622-406C-8C71191D3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6DF5B-93DE-DD1A-1346-BF32CB87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2B96CC-9593-8F3F-93B7-0B093378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E6890-8311-FB42-05C3-09671EB4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858AFC-900E-608F-1BF0-DECF8C6F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3949E2-EA0F-2BCC-161F-CEC46AE5D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FDE8FC-9381-B81D-7F6F-2CD4881CDA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98CE8-5B41-466C-834E-53FA7B87CB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F65DB5-9935-3A13-6AA0-139D8387C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89C563-5FE3-07CB-F62E-7370D6702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56D57-1A8D-434A-8E2F-202DC23476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5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A8EB8-C2A5-7989-13CD-05FB0C8F4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Practical Malware Analysis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0967F5-68A9-7D71-A11E-34F9D7C18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906" y="3575144"/>
            <a:ext cx="10112188" cy="1655762"/>
          </a:xfrm>
        </p:spPr>
        <p:txBody>
          <a:bodyPr>
            <a:normAutofit/>
          </a:bodyPr>
          <a:lstStyle/>
          <a:p>
            <a:r>
              <a:rPr lang="en-US" sz="3200"/>
              <a:t>Chapter 6: Recognizing C Code Constructs in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306B9-A3A7-6D78-227F-E3F9D5B78B88}"/>
              </a:ext>
            </a:extLst>
          </p:cNvPr>
          <p:cNvSpPr txBox="1"/>
          <p:nvPr/>
        </p:nvSpPr>
        <p:spPr>
          <a:xfrm>
            <a:off x="10040471" y="5735637"/>
            <a:ext cx="1524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/>
              <a:t>2025.01.21</a:t>
            </a:r>
          </a:p>
          <a:p>
            <a:pPr algn="r"/>
            <a:r>
              <a:rPr lang="en-US"/>
              <a:t>Seonhye Park</a:t>
            </a:r>
          </a:p>
        </p:txBody>
      </p:sp>
    </p:spTree>
    <p:extLst>
      <p:ext uri="{BB962C8B-B14F-4D97-AF65-F5344CB8AC3E}">
        <p14:creationId xmlns:p14="http://schemas.microsoft.com/office/powerpoint/2010/main" val="312596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C3E9D-7D54-CCA1-B169-54D1E500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Motivation</a:t>
            </a:r>
            <a:endParaRPr lang="en-US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138244-3ABB-9902-C0E3-3486BF264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64" y="1698799"/>
            <a:ext cx="5430008" cy="41820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D199F8-94B2-6A79-BA18-08EB97F648D5}"/>
              </a:ext>
            </a:extLst>
          </p:cNvPr>
          <p:cNvSpPr txBox="1"/>
          <p:nvPr/>
        </p:nvSpPr>
        <p:spPr>
          <a:xfrm>
            <a:off x="7060413" y="1381547"/>
            <a:ext cx="4221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alibri" panose="020F0502020204030204" pitchFamily="34" charset="0"/>
                <a:cs typeface="Calibri" panose="020F0502020204030204" pitchFamily="34" charset="0"/>
              </a:rPr>
              <a:t>How can we interpret assembly code?</a:t>
            </a: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73FB3-9E7F-E5A9-401D-3B66BE9B8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26" y="1893757"/>
            <a:ext cx="3248478" cy="3343742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46D0FDF-02E5-34AA-34F5-46F784813D55}"/>
              </a:ext>
            </a:extLst>
          </p:cNvPr>
          <p:cNvSpPr/>
          <p:nvPr/>
        </p:nvSpPr>
        <p:spPr>
          <a:xfrm>
            <a:off x="6780476" y="3208720"/>
            <a:ext cx="703309" cy="721659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72F14C-E200-7C76-E429-EB7BDC859917}"/>
              </a:ext>
            </a:extLst>
          </p:cNvPr>
          <p:cNvSpPr txBox="1"/>
          <p:nvPr/>
        </p:nvSpPr>
        <p:spPr>
          <a:xfrm>
            <a:off x="6239435" y="5349599"/>
            <a:ext cx="5612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We can translate assembly into a high-level language (e.g., 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>
                <a:latin typeface="Calibri" panose="020F0502020204030204" pitchFamily="34" charset="0"/>
                <a:cs typeface="Calibri" panose="020F0502020204030204" pitchFamily="34" charset="0"/>
              </a:rPr>
              <a:t>Our goal is not an exact reconstruction, but </a:t>
            </a:r>
            <a:r>
              <a:rPr lang="en-US" b="1" i="1">
                <a:latin typeface="Calibri" panose="020F0502020204030204" pitchFamily="34" charset="0"/>
                <a:cs typeface="Calibri" panose="020F0502020204030204" pitchFamily="34" charset="0"/>
              </a:rPr>
              <a:t>understanding the overall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67936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8834AC-18AE-803A-6DE5-F7A0D7351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460" y="4281924"/>
            <a:ext cx="5668166" cy="2467319"/>
          </a:xfrm>
          <a:prstGeom prst="rect">
            <a:avLst/>
          </a:prstGeom>
        </p:spPr>
      </p:pic>
      <p:pic>
        <p:nvPicPr>
          <p:cNvPr id="18" name="그림 1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2BEADA-5CC0-E9D4-7237-FCAE4C76F2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18"/>
          <a:stretch>
            <a:fillRect/>
          </a:stretch>
        </p:blipFill>
        <p:spPr>
          <a:xfrm>
            <a:off x="5729923" y="1926177"/>
            <a:ext cx="5837239" cy="19814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8B47453-C45E-6B5E-6796-FBF8E29C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Global vs. Local Variables</a:t>
            </a:r>
          </a:p>
        </p:txBody>
      </p:sp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433606-BBD5-FCF8-27E6-12C651B782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822"/>
          <a:stretch>
            <a:fillRect/>
          </a:stretch>
        </p:blipFill>
        <p:spPr>
          <a:xfrm>
            <a:off x="546410" y="1700213"/>
            <a:ext cx="3084028" cy="2295845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F2C4A5CE-A155-44D7-B688-1FFF3098A14B}"/>
              </a:ext>
            </a:extLst>
          </p:cNvPr>
          <p:cNvGrpSpPr/>
          <p:nvPr/>
        </p:nvGrpSpPr>
        <p:grpSpPr>
          <a:xfrm>
            <a:off x="473986" y="4259127"/>
            <a:ext cx="3172268" cy="2233748"/>
            <a:chOff x="4890408" y="1929763"/>
            <a:chExt cx="3172268" cy="2233748"/>
          </a:xfrm>
        </p:grpSpPr>
        <p:pic>
          <p:nvPicPr>
            <p:cNvPr id="8" name="그림 7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535BEE6-2FD2-7D0F-14BA-4D8EE6256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79877"/>
            <a:stretch>
              <a:fillRect/>
            </a:stretch>
          </p:blipFill>
          <p:spPr>
            <a:xfrm>
              <a:off x="4890408" y="1929763"/>
              <a:ext cx="3172268" cy="918212"/>
            </a:xfrm>
            <a:prstGeom prst="rect">
              <a:avLst/>
            </a:prstGeom>
          </p:spPr>
        </p:pic>
        <p:pic>
          <p:nvPicPr>
            <p:cNvPr id="9" name="그림 8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616942-30DA-96BA-8C04-CB551D100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1358"/>
            <a:stretch>
              <a:fillRect/>
            </a:stretch>
          </p:blipFill>
          <p:spPr>
            <a:xfrm>
              <a:off x="4890408" y="2856556"/>
              <a:ext cx="3172268" cy="1306955"/>
            </a:xfrm>
            <a:prstGeom prst="rect">
              <a:avLst/>
            </a:prstGeom>
          </p:spPr>
        </p:pic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20A138-1346-E642-B341-231059FB1D77}"/>
              </a:ext>
            </a:extLst>
          </p:cNvPr>
          <p:cNvSpPr/>
          <p:nvPr/>
        </p:nvSpPr>
        <p:spPr>
          <a:xfrm>
            <a:off x="519251" y="1810694"/>
            <a:ext cx="1173747" cy="570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1B00FA5-97FE-8970-EA7D-78CB0A0DEA0E}"/>
              </a:ext>
            </a:extLst>
          </p:cNvPr>
          <p:cNvSpPr/>
          <p:nvPr/>
        </p:nvSpPr>
        <p:spPr>
          <a:xfrm>
            <a:off x="800658" y="4869286"/>
            <a:ext cx="1173747" cy="570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DB32EC-1B3E-5945-BC50-B110CC376DD8}"/>
              </a:ext>
            </a:extLst>
          </p:cNvPr>
          <p:cNvSpPr txBox="1"/>
          <p:nvPr/>
        </p:nvSpPr>
        <p:spPr>
          <a:xfrm>
            <a:off x="1817798" y="1821836"/>
            <a:ext cx="1839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Glabal variables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471108-0776-DA53-FFA0-CF3C289B69F4}"/>
              </a:ext>
            </a:extLst>
          </p:cNvPr>
          <p:cNvSpPr txBox="1"/>
          <p:nvPr/>
        </p:nvSpPr>
        <p:spPr>
          <a:xfrm>
            <a:off x="2060120" y="4533567"/>
            <a:ext cx="16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Local variables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06D40C-10FC-9FA8-5EC2-628CEA1C30FB}"/>
              </a:ext>
            </a:extLst>
          </p:cNvPr>
          <p:cNvSpPr txBox="1"/>
          <p:nvPr/>
        </p:nvSpPr>
        <p:spPr>
          <a:xfrm>
            <a:off x="1869074" y="2138036"/>
            <a:ext cx="3730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→ referenced by memory addresses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D6B38-1F88-C79A-B91D-62AA228F0001}"/>
              </a:ext>
            </a:extLst>
          </p:cNvPr>
          <p:cNvSpPr txBox="1"/>
          <p:nvPr/>
        </p:nvSpPr>
        <p:spPr>
          <a:xfrm>
            <a:off x="2073412" y="4892130"/>
            <a:ext cx="3769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→ referenced by the stack addresses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3DA934-D4A5-6320-2E1B-1F7CA12BB107}"/>
              </a:ext>
            </a:extLst>
          </p:cNvPr>
          <p:cNvSpPr/>
          <p:nvPr/>
        </p:nvSpPr>
        <p:spPr>
          <a:xfrm>
            <a:off x="8792610" y="2064957"/>
            <a:ext cx="1274844" cy="2703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863BC0-23D2-82E5-95F6-49DB00C9082F}"/>
              </a:ext>
            </a:extLst>
          </p:cNvPr>
          <p:cNvSpPr txBox="1"/>
          <p:nvPr/>
        </p:nvSpPr>
        <p:spPr>
          <a:xfrm>
            <a:off x="8648542" y="1644802"/>
            <a:ext cx="3186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memory location at 0X40CF60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9BBA23-CBD7-356C-9381-089D92670A1D}"/>
              </a:ext>
            </a:extLst>
          </p:cNvPr>
          <p:cNvSpPr/>
          <p:nvPr/>
        </p:nvSpPr>
        <p:spPr>
          <a:xfrm>
            <a:off x="9225668" y="4423410"/>
            <a:ext cx="760304" cy="266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6C6DE1-D1BA-D1A8-6975-BD214BAADCDE}"/>
              </a:ext>
            </a:extLst>
          </p:cNvPr>
          <p:cNvSpPr txBox="1"/>
          <p:nvPr/>
        </p:nvSpPr>
        <p:spPr>
          <a:xfrm>
            <a:off x="9191880" y="4035752"/>
            <a:ext cx="157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stack 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222AFB-3964-2965-CA0F-4D8B913FDDA7}"/>
              </a:ext>
            </a:extLst>
          </p:cNvPr>
          <p:cNvSpPr txBox="1"/>
          <p:nvPr/>
        </p:nvSpPr>
        <p:spPr>
          <a:xfrm>
            <a:off x="1869074" y="2418703"/>
            <a:ext cx="3838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e.g., dword ptr [rip+2AF3h], dword_42AA0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6EA70C-86DD-FE4C-6ED6-D812E3626284}"/>
              </a:ext>
            </a:extLst>
          </p:cNvPr>
          <p:cNvSpPr txBox="1"/>
          <p:nvPr/>
        </p:nvSpPr>
        <p:spPr>
          <a:xfrm>
            <a:off x="2060120" y="5145282"/>
            <a:ext cx="22594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e.g., [rbp+var_4], [rsp-8] </a:t>
            </a:r>
          </a:p>
        </p:txBody>
      </p:sp>
    </p:spTree>
    <p:extLst>
      <p:ext uri="{BB962C8B-B14F-4D97-AF65-F5344CB8AC3E}">
        <p14:creationId xmlns:p14="http://schemas.microsoft.com/office/powerpoint/2010/main" val="104523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/>
      <p:bldP spid="14" grpId="0"/>
      <p:bldP spid="15" grpId="0"/>
      <p:bldP spid="16" grpId="0"/>
      <p:bldP spid="21" grpId="0" animBg="1"/>
      <p:bldP spid="22" grpId="0"/>
      <p:bldP spid="23" grpId="0" animBg="1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9B337-A0AF-6DDA-4852-164A62DE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Disassembling Arithmetic Operations</a:t>
            </a:r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7E4441-F99E-802D-C094-DEE14A3576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789" b="42699"/>
          <a:stretch>
            <a:fillRect/>
          </a:stretch>
        </p:blipFill>
        <p:spPr>
          <a:xfrm>
            <a:off x="929296" y="2409683"/>
            <a:ext cx="1885621" cy="1168144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71449A74-677B-EE1C-2E93-240BBB7EC3FE}"/>
              </a:ext>
            </a:extLst>
          </p:cNvPr>
          <p:cNvGrpSpPr/>
          <p:nvPr/>
        </p:nvGrpSpPr>
        <p:grpSpPr>
          <a:xfrm>
            <a:off x="3860667" y="1502433"/>
            <a:ext cx="4470665" cy="4657251"/>
            <a:chOff x="6515892" y="1524001"/>
            <a:chExt cx="4470665" cy="4657251"/>
          </a:xfrm>
        </p:grpSpPr>
        <p:pic>
          <p:nvPicPr>
            <p:cNvPr id="6" name="그림 5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81F5F80-AD0F-DBC2-9B4C-6C86AF32E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0417"/>
            <a:stretch>
              <a:fillRect/>
            </a:stretch>
          </p:blipFill>
          <p:spPr>
            <a:xfrm>
              <a:off x="6515892" y="5524027"/>
              <a:ext cx="4470665" cy="657225"/>
            </a:xfrm>
            <a:prstGeom prst="rect">
              <a:avLst/>
            </a:prstGeom>
          </p:spPr>
        </p:pic>
        <p:pic>
          <p:nvPicPr>
            <p:cNvPr id="8" name="그림 7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623F13F-5C94-B827-EF46-2FB3BABE7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41529"/>
            <a:stretch>
              <a:fillRect/>
            </a:stretch>
          </p:blipFill>
          <p:spPr>
            <a:xfrm>
              <a:off x="6515892" y="1524001"/>
              <a:ext cx="4470665" cy="4010024"/>
            </a:xfrm>
            <a:prstGeom prst="rect">
              <a:avLst/>
            </a:prstGeom>
          </p:spPr>
        </p:pic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213862-627B-C8B2-AC23-F113BE43E941}"/>
              </a:ext>
            </a:extLst>
          </p:cNvPr>
          <p:cNvSpPr/>
          <p:nvPr/>
        </p:nvSpPr>
        <p:spPr>
          <a:xfrm>
            <a:off x="1039905" y="2563903"/>
            <a:ext cx="1775012" cy="4751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AE0E37-069E-1E40-7580-7218D5BD83E0}"/>
              </a:ext>
            </a:extLst>
          </p:cNvPr>
          <p:cNvSpPr/>
          <p:nvPr/>
        </p:nvSpPr>
        <p:spPr>
          <a:xfrm>
            <a:off x="3875458" y="1618970"/>
            <a:ext cx="4228636" cy="46980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5CA0B74-45E2-FD33-FE53-623D368B9DD2}"/>
              </a:ext>
            </a:extLst>
          </p:cNvPr>
          <p:cNvSpPr/>
          <p:nvPr/>
        </p:nvSpPr>
        <p:spPr>
          <a:xfrm>
            <a:off x="1039905" y="3083407"/>
            <a:ext cx="1775012" cy="23353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A30509-ADFA-64FD-3DDF-F3D8D776821C}"/>
              </a:ext>
            </a:extLst>
          </p:cNvPr>
          <p:cNvSpPr/>
          <p:nvPr/>
        </p:nvSpPr>
        <p:spPr>
          <a:xfrm>
            <a:off x="3860667" y="2122360"/>
            <a:ext cx="4243426" cy="65722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75987D-B2AC-2945-1E82-48DA53C534EB}"/>
              </a:ext>
            </a:extLst>
          </p:cNvPr>
          <p:cNvSpPr/>
          <p:nvPr/>
        </p:nvSpPr>
        <p:spPr>
          <a:xfrm>
            <a:off x="1039905" y="3344291"/>
            <a:ext cx="1775012" cy="23353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7A07B3-A137-AB4B-8081-9E83F02C059B}"/>
              </a:ext>
            </a:extLst>
          </p:cNvPr>
          <p:cNvSpPr/>
          <p:nvPr/>
        </p:nvSpPr>
        <p:spPr>
          <a:xfrm>
            <a:off x="3860667" y="2803833"/>
            <a:ext cx="4243426" cy="65722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0E01FE-2EBE-1972-9FBA-93A0A0569E6D}"/>
              </a:ext>
            </a:extLst>
          </p:cNvPr>
          <p:cNvSpPr/>
          <p:nvPr/>
        </p:nvSpPr>
        <p:spPr>
          <a:xfrm>
            <a:off x="3860667" y="3486495"/>
            <a:ext cx="4243426" cy="6572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6D76291-958F-D6DA-672D-189C9A03AC3D}"/>
              </a:ext>
            </a:extLst>
          </p:cNvPr>
          <p:cNvSpPr/>
          <p:nvPr/>
        </p:nvSpPr>
        <p:spPr>
          <a:xfrm>
            <a:off x="6104965" y="1608234"/>
            <a:ext cx="1093694" cy="283269"/>
          </a:xfrm>
          <a:prstGeom prst="ellipse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D6546-527C-9587-B3BC-4FFE0DF2293B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40A74E-75CD-D8AB-37D2-B38A12D91E42}"/>
              </a:ext>
            </a:extLst>
          </p:cNvPr>
          <p:cNvSpPr txBox="1"/>
          <p:nvPr/>
        </p:nvSpPr>
        <p:spPr>
          <a:xfrm>
            <a:off x="8136853" y="15371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5D14588-7284-6432-1571-1B09F8832917}"/>
              </a:ext>
            </a:extLst>
          </p:cNvPr>
          <p:cNvSpPr/>
          <p:nvPr/>
        </p:nvSpPr>
        <p:spPr>
          <a:xfrm>
            <a:off x="6119756" y="1848505"/>
            <a:ext cx="1093694" cy="283269"/>
          </a:xfrm>
          <a:prstGeom prst="ellipse">
            <a:avLst/>
          </a:prstGeom>
          <a:noFill/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E86C4E-F76C-D13D-56FD-A51C80DE3D93}"/>
              </a:ext>
            </a:extLst>
          </p:cNvPr>
          <p:cNvSpPr txBox="1"/>
          <p:nvPr/>
        </p:nvSpPr>
        <p:spPr>
          <a:xfrm>
            <a:off x="8136853" y="180547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7316DD9-41E0-E97E-6DCC-BCF17B56B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951" y="3681738"/>
            <a:ext cx="695422" cy="266737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1623EB-FAFC-6C29-3F60-1F96BB2EAB3D}"/>
              </a:ext>
            </a:extLst>
          </p:cNvPr>
          <p:cNvSpPr/>
          <p:nvPr/>
        </p:nvSpPr>
        <p:spPr>
          <a:xfrm>
            <a:off x="3860667" y="4879481"/>
            <a:ext cx="4243426" cy="10921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645854-3B21-C126-CD8A-65B33105CAC7}"/>
              </a:ext>
            </a:extLst>
          </p:cNvPr>
          <p:cNvSpPr txBox="1"/>
          <p:nvPr/>
        </p:nvSpPr>
        <p:spPr>
          <a:xfrm>
            <a:off x="8136853" y="5017013"/>
            <a:ext cx="27006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→ EDX:EAX = sign-extended 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2257E0-A104-DE3E-B20C-66621D96A9E9}"/>
              </a:ext>
            </a:extLst>
          </p:cNvPr>
          <p:cNvSpPr txBox="1"/>
          <p:nvPr/>
        </p:nvSpPr>
        <p:spPr>
          <a:xfrm>
            <a:off x="8136853" y="5286623"/>
            <a:ext cx="3511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→ division: (EDX:EAX) / ECX</a:t>
            </a:r>
          </a:p>
          <a:p>
            <a:r>
              <a:rPr lang="en-US" sz="1600"/>
              <a:t>→ store EAX: quetient, EDX: remainder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9F540A4-6F68-A379-AAE6-31322E1C8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112" y="5935043"/>
            <a:ext cx="1200318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6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20" grpId="0"/>
      <p:bldP spid="21" grpId="0" animBg="1"/>
      <p:bldP spid="22" grpId="0"/>
      <p:bldP spid="25" grpId="0" animBg="1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1A27-67A8-93D1-5051-80AB4EA2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E0C259-7FFA-C221-FEC2-D185C0260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972" y="365125"/>
            <a:ext cx="3367911" cy="338212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36B32B-D91B-B990-391B-5289A7F4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Recognizing if Statements</a:t>
            </a:r>
          </a:p>
        </p:txBody>
      </p:sp>
      <p:pic>
        <p:nvPicPr>
          <p:cNvPr id="4" name="그림 3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E0ED86-8EC7-11B9-5FED-23F5ACE43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17" y="1276050"/>
            <a:ext cx="4277322" cy="21529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6CD8DD-E5CF-6F57-E9F1-91515D893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825" y="3429000"/>
            <a:ext cx="7430537" cy="318179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E2806B-B8E6-EFB2-E06F-E4DC62D5FD21}"/>
              </a:ext>
            </a:extLst>
          </p:cNvPr>
          <p:cNvSpPr/>
          <p:nvPr/>
        </p:nvSpPr>
        <p:spPr>
          <a:xfrm>
            <a:off x="1769449" y="4275799"/>
            <a:ext cx="4439169" cy="237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0DE982-AB82-6320-7046-7F6516391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182" y="2153344"/>
            <a:ext cx="2862142" cy="13111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778021-AFD1-906B-E261-ADC13E912DA0}"/>
              </a:ext>
            </a:extLst>
          </p:cNvPr>
          <p:cNvSpPr txBox="1"/>
          <p:nvPr/>
        </p:nvSpPr>
        <p:spPr>
          <a:xfrm>
            <a:off x="218555" y="4318603"/>
            <a:ext cx="19005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>
                <a:latin typeface="Calibri Light" panose="020F0302020204030204" pitchFamily="34" charset="0"/>
                <a:cs typeface="Calibri Light" panose="020F0302020204030204" pitchFamily="34" charset="0"/>
              </a:rPr>
              <a:t>Jump if not 0 (ZF==0) </a:t>
            </a:r>
            <a:endParaRPr lang="ko-KR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0C274F-EC16-3284-63D6-B8537543AADD}"/>
              </a:ext>
            </a:extLst>
          </p:cNvPr>
          <p:cNvSpPr txBox="1"/>
          <p:nvPr/>
        </p:nvSpPr>
        <p:spPr>
          <a:xfrm>
            <a:off x="8736049" y="3809298"/>
            <a:ext cx="30458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Disassembly graph from IDA-Pro</a:t>
            </a:r>
          </a:p>
        </p:txBody>
      </p:sp>
    </p:spTree>
    <p:extLst>
      <p:ext uri="{BB962C8B-B14F-4D97-AF65-F5344CB8AC3E}">
        <p14:creationId xmlns:p14="http://schemas.microsoft.com/office/powerpoint/2010/main" val="2747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3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1727A-06C4-BCE3-E53D-F0AD4BE5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Recognizing Loops</a:t>
            </a:r>
          </a:p>
        </p:txBody>
      </p:sp>
      <p:pic>
        <p:nvPicPr>
          <p:cNvPr id="4" name="그림 3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5A6682-566F-166A-089E-79F3EC0B9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42" y="1483552"/>
            <a:ext cx="2915057" cy="1524213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B4BB59-5C63-AC5F-6452-9AAE65468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013" y="3034817"/>
            <a:ext cx="4753638" cy="345805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1EE2985-B941-78D6-07B5-49A74EA36CC2}"/>
              </a:ext>
            </a:extLst>
          </p:cNvPr>
          <p:cNvSpPr/>
          <p:nvPr/>
        </p:nvSpPr>
        <p:spPr>
          <a:xfrm>
            <a:off x="2692813" y="4661818"/>
            <a:ext cx="3860386" cy="439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17423-0557-0FCB-CDD9-3BB96B70FE1A}"/>
              </a:ext>
            </a:extLst>
          </p:cNvPr>
          <p:cNvSpPr txBox="1"/>
          <p:nvPr/>
        </p:nvSpPr>
        <p:spPr>
          <a:xfrm>
            <a:off x="1149149" y="4661818"/>
            <a:ext cx="1900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>
                <a:latin typeface="Calibri Light" panose="020F0302020204030204" pitchFamily="34" charset="0"/>
                <a:cs typeface="Calibri Light" panose="020F0302020204030204" pitchFamily="34" charset="0"/>
              </a:rPr>
              <a:t>Jump if &gt;= </a:t>
            </a:r>
          </a:p>
        </p:txBody>
      </p:sp>
      <p:pic>
        <p:nvPicPr>
          <p:cNvPr id="11" name="그림 10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1F9C5C-FD57-6A1D-B61C-2DA2217DA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615" y="251012"/>
            <a:ext cx="4465879" cy="428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5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D003C-42B7-313A-9359-02DF2BE0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A31D2-5D98-BD49-22F3-0999961F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Quiz1: While loop</a:t>
            </a:r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FC171A-B7DA-401B-D9C3-9E97F42D2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42" y="1857953"/>
            <a:ext cx="4877481" cy="37438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43F192-BC08-D75E-0FC7-0FBDC46B5442}"/>
              </a:ext>
            </a:extLst>
          </p:cNvPr>
          <p:cNvSpPr txBox="1"/>
          <p:nvPr/>
        </p:nvSpPr>
        <p:spPr>
          <a:xfrm>
            <a:off x="7046259" y="2160494"/>
            <a:ext cx="10358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 codes</a:t>
            </a:r>
          </a:p>
          <a:p>
            <a:endParaRPr lang="en-US">
              <a:latin typeface="Verdana Pro Light" panose="020F0502020204030204" pitchFamily="34" charset="0"/>
            </a:endParaRPr>
          </a:p>
          <a:p>
            <a:r>
              <a:rPr lang="en-US">
                <a:latin typeface="Verdana Pro Light" panose="020F0502020204030204" pitchFamily="34" charset="0"/>
              </a:rPr>
              <a:t>int...</a:t>
            </a:r>
          </a:p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E1BC8-8926-6BF2-852C-5A3867C3EAE7}"/>
              </a:ext>
            </a:extLst>
          </p:cNvPr>
          <p:cNvSpPr txBox="1"/>
          <p:nvPr/>
        </p:nvSpPr>
        <p:spPr>
          <a:xfrm>
            <a:off x="80684" y="3031832"/>
            <a:ext cx="1900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>
                <a:latin typeface="Calibri Light" panose="020F0302020204030204" pitchFamily="34" charset="0"/>
                <a:cs typeface="Calibri Light" panose="020F0302020204030204" pitchFamily="34" charset="0"/>
              </a:rPr>
              <a:t>Jump if not 0 </a:t>
            </a:r>
          </a:p>
        </p:txBody>
      </p:sp>
    </p:spTree>
    <p:extLst>
      <p:ext uri="{BB962C8B-B14F-4D97-AF65-F5344CB8AC3E}">
        <p14:creationId xmlns:p14="http://schemas.microsoft.com/office/powerpoint/2010/main" val="1818732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77D88-BB7C-7E3D-D643-E62310D55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Function Call Conventions</a:t>
            </a:r>
          </a:p>
        </p:txBody>
      </p:sp>
      <p:pic>
        <p:nvPicPr>
          <p:cNvPr id="4" name="그림 3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CF0D1E-3534-E9A6-A424-BB71B2E1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035" y="2860477"/>
            <a:ext cx="3734321" cy="1495634"/>
          </a:xfrm>
          <a:prstGeom prst="rect">
            <a:avLst/>
          </a:prstGeom>
        </p:spPr>
      </p:pic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6A8692-2839-C69A-8AE4-D0C4EBF8E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246" y="2641372"/>
            <a:ext cx="3277057" cy="19338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2F7E46-ADF2-24CA-A203-4CC7A39DA634}"/>
              </a:ext>
            </a:extLst>
          </p:cNvPr>
          <p:cNvSpPr txBox="1"/>
          <p:nvPr/>
        </p:nvSpPr>
        <p:spPr>
          <a:xfrm>
            <a:off x="6467246" y="1952417"/>
            <a:ext cx="3648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the parameters are </a:t>
            </a:r>
            <a:r>
              <a:rPr lang="en-US" b="1" i="1"/>
              <a:t>pushed onto the stack </a:t>
            </a:r>
            <a:r>
              <a:rPr lang="en-US" i="1"/>
              <a:t>from </a:t>
            </a:r>
            <a:r>
              <a:rPr lang="en-US" b="1" i="1"/>
              <a:t>right to left</a:t>
            </a:r>
          </a:p>
        </p:txBody>
      </p:sp>
    </p:spTree>
    <p:extLst>
      <p:ext uri="{BB962C8B-B14F-4D97-AF65-F5344CB8AC3E}">
        <p14:creationId xmlns:p14="http://schemas.microsoft.com/office/powerpoint/2010/main" val="3295729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848B9-44D0-F414-B06A-FA02B171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Disassembling Arrays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0CCEB2-C45F-A099-8694-5F0FB15B8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101" y="2948270"/>
            <a:ext cx="4448796" cy="3543795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F26058-915D-AA66-9BCB-91A88FA51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97" y="1690688"/>
            <a:ext cx="2553056" cy="2676899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8ADC4DF-D512-4D78-567A-BFF32A1EB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6951"/>
              </p:ext>
            </p:extLst>
          </p:nvPr>
        </p:nvGraphicFramePr>
        <p:xfrm>
          <a:off x="8373037" y="-38289"/>
          <a:ext cx="1605540" cy="29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5540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ebp+var_18</a:t>
                      </a:r>
                      <a:endParaRPr lang="ko-KR" altLang="en-US" sz="150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ebp+var_14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ebp+var_14+4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ebp+var_14+8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ebp+var_14+C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ebp+var_14+10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C6FDB3-02F5-C41D-6E9C-328F51D082A5}"/>
              </a:ext>
            </a:extLst>
          </p:cNvPr>
          <p:cNvSpPr/>
          <p:nvPr/>
        </p:nvSpPr>
        <p:spPr>
          <a:xfrm>
            <a:off x="9978576" y="2270317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a[4]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AF9643-1BE2-7D04-4F51-7A3F086BDE33}"/>
              </a:ext>
            </a:extLst>
          </p:cNvPr>
          <p:cNvSpPr/>
          <p:nvPr/>
        </p:nvSpPr>
        <p:spPr>
          <a:xfrm>
            <a:off x="9978576" y="1948711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a[3]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5418E3-E0E2-BA66-FB21-A7EF77612F7A}"/>
              </a:ext>
            </a:extLst>
          </p:cNvPr>
          <p:cNvSpPr/>
          <p:nvPr/>
        </p:nvSpPr>
        <p:spPr>
          <a:xfrm>
            <a:off x="9978576" y="1627105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a[2]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5F00B0-6262-B994-3EC5-633FFBA40D05}"/>
              </a:ext>
            </a:extLst>
          </p:cNvPr>
          <p:cNvSpPr/>
          <p:nvPr/>
        </p:nvSpPr>
        <p:spPr>
          <a:xfrm>
            <a:off x="9978576" y="1305499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a[1]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BF7219-E83F-7E81-F37D-445F32A4AEFD}"/>
              </a:ext>
            </a:extLst>
          </p:cNvPr>
          <p:cNvSpPr/>
          <p:nvPr/>
        </p:nvSpPr>
        <p:spPr>
          <a:xfrm>
            <a:off x="9978576" y="983893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a[0]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9CF085-901D-ED0F-D60F-18C39E248169}"/>
              </a:ext>
            </a:extLst>
          </p:cNvPr>
          <p:cNvSpPr/>
          <p:nvPr/>
        </p:nvSpPr>
        <p:spPr>
          <a:xfrm>
            <a:off x="9978575" y="663081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lang="ko-KR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575F39D-5F18-20D1-C9A7-F10552EFFBA8}"/>
              </a:ext>
            </a:extLst>
          </p:cNvPr>
          <p:cNvSpPr/>
          <p:nvPr/>
        </p:nvSpPr>
        <p:spPr>
          <a:xfrm>
            <a:off x="3705827" y="4929780"/>
            <a:ext cx="4201044" cy="54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3372B0-3D75-B9B5-1E8A-BA0590ADA2F0}"/>
              </a:ext>
            </a:extLst>
          </p:cNvPr>
          <p:cNvSpPr/>
          <p:nvPr/>
        </p:nvSpPr>
        <p:spPr>
          <a:xfrm>
            <a:off x="1240533" y="3411070"/>
            <a:ext cx="839279" cy="210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5FDAD3-13F0-C6C9-D417-EADC9A73E7F6}"/>
              </a:ext>
            </a:extLst>
          </p:cNvPr>
          <p:cNvSpPr/>
          <p:nvPr/>
        </p:nvSpPr>
        <p:spPr>
          <a:xfrm>
            <a:off x="3705827" y="5530414"/>
            <a:ext cx="4201044" cy="540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600872-D31E-6344-F340-C3FAF3833392}"/>
              </a:ext>
            </a:extLst>
          </p:cNvPr>
          <p:cNvSpPr/>
          <p:nvPr/>
        </p:nvSpPr>
        <p:spPr>
          <a:xfrm>
            <a:off x="1240533" y="3657601"/>
            <a:ext cx="839279" cy="21067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3D59EA-0496-7C95-40A3-7857973DF6A9}"/>
              </a:ext>
            </a:extLst>
          </p:cNvPr>
          <p:cNvSpPr txBox="1"/>
          <p:nvPr/>
        </p:nvSpPr>
        <p:spPr>
          <a:xfrm>
            <a:off x="8295370" y="243212"/>
            <a:ext cx="692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2FCC9B-6528-4C6F-9EB3-65F06DC51619}"/>
              </a:ext>
            </a:extLst>
          </p:cNvPr>
          <p:cNvSpPr txBox="1"/>
          <p:nvPr/>
        </p:nvSpPr>
        <p:spPr>
          <a:xfrm>
            <a:off x="8295369" y="3657601"/>
            <a:ext cx="1004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79B452A2-ABCA-9F36-66FE-45E5236F5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756808"/>
              </p:ext>
            </p:extLst>
          </p:nvPr>
        </p:nvGraphicFramePr>
        <p:xfrm>
          <a:off x="8385745" y="3084244"/>
          <a:ext cx="1605540" cy="29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5540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40A000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40A00</a:t>
                      </a: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40A008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40A00C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40A010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8F3A2A-35E2-546A-74B2-DA811125926D}"/>
              </a:ext>
            </a:extLst>
          </p:cNvPr>
          <p:cNvSpPr/>
          <p:nvPr/>
        </p:nvSpPr>
        <p:spPr>
          <a:xfrm>
            <a:off x="9991284" y="5392850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b[4]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0C16FB5-E593-51A6-56BD-AE76848809CA}"/>
              </a:ext>
            </a:extLst>
          </p:cNvPr>
          <p:cNvSpPr/>
          <p:nvPr/>
        </p:nvSpPr>
        <p:spPr>
          <a:xfrm>
            <a:off x="9991284" y="5071244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b[3]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BF94445-6CFE-61C4-0AD4-7E037B5B7136}"/>
              </a:ext>
            </a:extLst>
          </p:cNvPr>
          <p:cNvSpPr/>
          <p:nvPr/>
        </p:nvSpPr>
        <p:spPr>
          <a:xfrm>
            <a:off x="9991284" y="4749638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b[2]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79BDF3-71B8-D4F7-1091-897A3A204EFB}"/>
              </a:ext>
            </a:extLst>
          </p:cNvPr>
          <p:cNvSpPr/>
          <p:nvPr/>
        </p:nvSpPr>
        <p:spPr>
          <a:xfrm>
            <a:off x="9991284" y="4428032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b[1]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265E690-4F59-1877-E30F-AEE7B0757E1F}"/>
              </a:ext>
            </a:extLst>
          </p:cNvPr>
          <p:cNvSpPr/>
          <p:nvPr/>
        </p:nvSpPr>
        <p:spPr>
          <a:xfrm>
            <a:off x="9991284" y="4106426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b[0]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E88065D-69BB-6CCB-1C3E-9415B42EC783}"/>
              </a:ext>
            </a:extLst>
          </p:cNvPr>
          <p:cNvSpPr/>
          <p:nvPr/>
        </p:nvSpPr>
        <p:spPr>
          <a:xfrm>
            <a:off x="8373036" y="623634"/>
            <a:ext cx="1106403" cy="333929"/>
          </a:xfrm>
          <a:prstGeom prst="ellipse">
            <a:avLst/>
          </a:prstGeom>
          <a:noFill/>
          <a:ln w="38100"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ED031B-E2DE-6FFD-EAF0-5E47D4DD6EFA}"/>
              </a:ext>
            </a:extLst>
          </p:cNvPr>
          <p:cNvSpPr txBox="1"/>
          <p:nvPr/>
        </p:nvSpPr>
        <p:spPr>
          <a:xfrm>
            <a:off x="7497218" y="593971"/>
            <a:ext cx="875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/>
                </a:solidFill>
              </a:rPr>
              <a:t>ebp-18</a:t>
            </a:r>
          </a:p>
        </p:txBody>
      </p:sp>
    </p:spTree>
    <p:extLst>
      <p:ext uri="{BB962C8B-B14F-4D97-AF65-F5344CB8AC3E}">
        <p14:creationId xmlns:p14="http://schemas.microsoft.com/office/powerpoint/2010/main" val="337428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/>
      <p:bldP spid="29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26DAE-6822-8F2A-64D6-5F27F66C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Identifying Structs</a:t>
            </a: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792E97-439E-C488-E819-BAA0071A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4" y="1542971"/>
            <a:ext cx="3791479" cy="5134692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3E72E6-E304-C896-7975-ECACC7253B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43"/>
          <a:stretch>
            <a:fillRect/>
          </a:stretch>
        </p:blipFill>
        <p:spPr>
          <a:xfrm>
            <a:off x="4632624" y="3596871"/>
            <a:ext cx="3572136" cy="2896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6CE1FF-F9F4-2033-BBBF-44437186C300}"/>
              </a:ext>
            </a:extLst>
          </p:cNvPr>
          <p:cNvSpPr txBox="1"/>
          <p:nvPr/>
        </p:nvSpPr>
        <p:spPr>
          <a:xfrm>
            <a:off x="4705086" y="3412205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Main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7F0EC7B-426D-CD7B-3252-885CA6D5C712}"/>
              </a:ext>
            </a:extLst>
          </p:cNvPr>
          <p:cNvGrpSpPr/>
          <p:nvPr/>
        </p:nvGrpSpPr>
        <p:grpSpPr>
          <a:xfrm>
            <a:off x="8494281" y="1360753"/>
            <a:ext cx="3357231" cy="4591050"/>
            <a:chOff x="8521175" y="1342823"/>
            <a:chExt cx="3357231" cy="4591050"/>
          </a:xfrm>
        </p:grpSpPr>
        <p:pic>
          <p:nvPicPr>
            <p:cNvPr id="9" name="그림 8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BA5AF83-42D5-AE55-245F-7DAA63F38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1667"/>
            <a:stretch>
              <a:fillRect/>
            </a:stretch>
          </p:blipFill>
          <p:spPr>
            <a:xfrm>
              <a:off x="8521175" y="4676573"/>
              <a:ext cx="3357231" cy="1257300"/>
            </a:xfrm>
            <a:prstGeom prst="rect">
              <a:avLst/>
            </a:prstGeom>
          </p:spPr>
        </p:pic>
        <p:pic>
          <p:nvPicPr>
            <p:cNvPr id="10" name="그림 9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A3EC6A8-FCA5-6A1D-E67F-CA71895A4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1944"/>
            <a:stretch>
              <a:fillRect/>
            </a:stretch>
          </p:blipFill>
          <p:spPr>
            <a:xfrm>
              <a:off x="8521175" y="1342823"/>
              <a:ext cx="3357231" cy="3295650"/>
            </a:xfrm>
            <a:prstGeom prst="rect">
              <a:avLst/>
            </a:prstGeom>
          </p:spPr>
        </p:pic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F33C0-766E-6A15-17C6-7414A68F3108}"/>
              </a:ext>
            </a:extLst>
          </p:cNvPr>
          <p:cNvSpPr/>
          <p:nvPr/>
        </p:nvSpPr>
        <p:spPr>
          <a:xfrm>
            <a:off x="4705086" y="3755532"/>
            <a:ext cx="2713580" cy="10069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1D1E10-41A6-4B9D-A399-A9169FEE607C}"/>
              </a:ext>
            </a:extLst>
          </p:cNvPr>
          <p:cNvSpPr txBox="1"/>
          <p:nvPr/>
        </p:nvSpPr>
        <p:spPr>
          <a:xfrm>
            <a:off x="2747313" y="4110317"/>
            <a:ext cx="2051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>
                <a:latin typeface="Calibri" panose="020F0502020204030204" pitchFamily="34" charset="0"/>
                <a:cs typeface="Calibri" panose="020F0502020204030204" pitchFamily="34" charset="0"/>
              </a:rPr>
              <a:t>eax pointes returned memory address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87C64F-01B1-5DB3-BDFD-5B09800B3375}"/>
              </a:ext>
            </a:extLst>
          </p:cNvPr>
          <p:cNvSpPr txBox="1"/>
          <p:nvPr/>
        </p:nvSpPr>
        <p:spPr>
          <a:xfrm>
            <a:off x="5674601" y="3377553"/>
            <a:ext cx="20514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>
                <a:latin typeface="Calibri" panose="020F0502020204030204" pitchFamily="34" charset="0"/>
                <a:cs typeface="Calibri" panose="020F0502020204030204" pitchFamily="34" charset="0"/>
              </a:rPr>
              <a:t>The size of struct is 32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DC187B-309E-C1DB-16E8-23D1A6DCC32B}"/>
              </a:ext>
            </a:extLst>
          </p:cNvPr>
          <p:cNvSpPr/>
          <p:nvPr/>
        </p:nvSpPr>
        <p:spPr>
          <a:xfrm>
            <a:off x="8539106" y="1989964"/>
            <a:ext cx="3275010" cy="3139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3104B29-4E89-F23B-A194-DB9921C2D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419273"/>
              </p:ext>
            </p:extLst>
          </p:nvPr>
        </p:nvGraphicFramePr>
        <p:xfrm>
          <a:off x="5552277" y="203519"/>
          <a:ext cx="924936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4936">
                  <a:extLst>
                    <a:ext uri="{9D8B030D-6E8A-4147-A177-3AD203B41FA5}">
                      <a16:colId xmlns:a16="http://schemas.microsoft.com/office/drawing/2014/main" val="157168065"/>
                    </a:ext>
                  </a:extLst>
                </a:gridCol>
              </a:tblGrid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490099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016878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 + 4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55954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 + 8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033956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 + 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77750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 + 10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822704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 + 14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04514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 + 1C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22539"/>
                  </a:ext>
                </a:extLst>
              </a:tr>
              <a:tr h="3157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eax + 20</a:t>
                      </a:r>
                      <a:endParaRPr lang="ko-KR" altLang="en-US" sz="15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21473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5F2DED57-3BB5-7742-0FF7-9076B1464A52}"/>
              </a:ext>
            </a:extLst>
          </p:cNvPr>
          <p:cNvSpPr/>
          <p:nvPr/>
        </p:nvSpPr>
        <p:spPr>
          <a:xfrm>
            <a:off x="6417159" y="2477474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E7D592-7986-F109-282D-1FBF202638D1}"/>
              </a:ext>
            </a:extLst>
          </p:cNvPr>
          <p:cNvSpPr/>
          <p:nvPr/>
        </p:nvSpPr>
        <p:spPr>
          <a:xfrm>
            <a:off x="6417159" y="2165871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67E2F9-F991-3A19-6427-B6FE6347FF09}"/>
              </a:ext>
            </a:extLst>
          </p:cNvPr>
          <p:cNvSpPr/>
          <p:nvPr/>
        </p:nvSpPr>
        <p:spPr>
          <a:xfrm>
            <a:off x="6417159" y="1854268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4B3C9A-2096-DDD9-CD96-CC2986BE26D8}"/>
              </a:ext>
            </a:extLst>
          </p:cNvPr>
          <p:cNvSpPr/>
          <p:nvPr/>
        </p:nvSpPr>
        <p:spPr>
          <a:xfrm>
            <a:off x="6417159" y="1542665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70DF59-339B-E7DE-532D-9D03DC7F81A0}"/>
              </a:ext>
            </a:extLst>
          </p:cNvPr>
          <p:cNvSpPr/>
          <p:nvPr/>
        </p:nvSpPr>
        <p:spPr>
          <a:xfrm>
            <a:off x="6417159" y="1231062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4E2F68-46CC-9FD0-8BF5-4D807CE172AD}"/>
              </a:ext>
            </a:extLst>
          </p:cNvPr>
          <p:cNvSpPr/>
          <p:nvPr/>
        </p:nvSpPr>
        <p:spPr>
          <a:xfrm>
            <a:off x="633336" y="1883442"/>
            <a:ext cx="1160929" cy="58270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328C65-2F0C-8F6A-6CD6-F19134938260}"/>
              </a:ext>
            </a:extLst>
          </p:cNvPr>
          <p:cNvSpPr/>
          <p:nvPr/>
        </p:nvSpPr>
        <p:spPr>
          <a:xfrm>
            <a:off x="624371" y="3684343"/>
            <a:ext cx="1807852" cy="12184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7BB6F8-36DF-A9BB-38E9-FD111E71F40D}"/>
              </a:ext>
            </a:extLst>
          </p:cNvPr>
          <p:cNvSpPr txBox="1"/>
          <p:nvPr/>
        </p:nvSpPr>
        <p:spPr>
          <a:xfrm>
            <a:off x="8494281" y="1102513"/>
            <a:ext cx="56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Test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2CD42AA-0D6D-8E53-9C92-D4F62A333004}"/>
              </a:ext>
            </a:extLst>
          </p:cNvPr>
          <p:cNvSpPr/>
          <p:nvPr/>
        </p:nvSpPr>
        <p:spPr>
          <a:xfrm>
            <a:off x="6417158" y="2789077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49DD457-B3DB-66B5-A632-5D510DDC49D1}"/>
              </a:ext>
            </a:extLst>
          </p:cNvPr>
          <p:cNvSpPr/>
          <p:nvPr/>
        </p:nvSpPr>
        <p:spPr>
          <a:xfrm>
            <a:off x="6417157" y="919459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363544-5528-7225-2BE9-D55DE1F8046E}"/>
              </a:ext>
            </a:extLst>
          </p:cNvPr>
          <p:cNvSpPr/>
          <p:nvPr/>
        </p:nvSpPr>
        <p:spPr>
          <a:xfrm>
            <a:off x="6417156" y="607856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E103608-C886-52F9-004E-210A8F7F0FC9}"/>
              </a:ext>
            </a:extLst>
          </p:cNvPr>
          <p:cNvSpPr/>
          <p:nvPr/>
        </p:nvSpPr>
        <p:spPr>
          <a:xfrm>
            <a:off x="6417155" y="2164976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“a”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F4E81B4-0DB9-0AC0-B57E-212C46926BC1}"/>
              </a:ext>
            </a:extLst>
          </p:cNvPr>
          <p:cNvSpPr/>
          <p:nvPr/>
        </p:nvSpPr>
        <p:spPr>
          <a:xfrm>
            <a:off x="8539106" y="2475111"/>
            <a:ext cx="3275010" cy="322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76DC613-1226-52D4-622B-2B1B042769A6}"/>
              </a:ext>
            </a:extLst>
          </p:cNvPr>
          <p:cNvSpPr/>
          <p:nvPr/>
        </p:nvSpPr>
        <p:spPr>
          <a:xfrm>
            <a:off x="6416179" y="2475111"/>
            <a:ext cx="1787601" cy="54507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Double value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230A49A-20A1-95B1-8A26-0CFAA80BF24E}"/>
              </a:ext>
            </a:extLst>
          </p:cNvPr>
          <p:cNvSpPr/>
          <p:nvPr/>
        </p:nvSpPr>
        <p:spPr>
          <a:xfrm>
            <a:off x="624371" y="4261480"/>
            <a:ext cx="1807852" cy="65118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2310364-86B5-1094-4214-10F2D35DFBE3}"/>
              </a:ext>
            </a:extLst>
          </p:cNvPr>
          <p:cNvSpPr/>
          <p:nvPr/>
        </p:nvSpPr>
        <p:spPr>
          <a:xfrm>
            <a:off x="639830" y="1883442"/>
            <a:ext cx="1160929" cy="19297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2BEC8BA-7318-5069-5D6B-2BAEB15F2DA4}"/>
              </a:ext>
            </a:extLst>
          </p:cNvPr>
          <p:cNvSpPr/>
          <p:nvPr/>
        </p:nvSpPr>
        <p:spPr>
          <a:xfrm>
            <a:off x="8539106" y="3986301"/>
            <a:ext cx="3275010" cy="1159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7F58358-2868-7C2D-CBFF-12179334FAB5}"/>
              </a:ext>
            </a:extLst>
          </p:cNvPr>
          <p:cNvSpPr/>
          <p:nvPr/>
        </p:nvSpPr>
        <p:spPr>
          <a:xfrm>
            <a:off x="6416179" y="598347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DE8A75-5CAD-1873-79F7-530B7AD32E1D}"/>
              </a:ext>
            </a:extLst>
          </p:cNvPr>
          <p:cNvSpPr/>
          <p:nvPr/>
        </p:nvSpPr>
        <p:spPr>
          <a:xfrm>
            <a:off x="6416179" y="923845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BACF71D-911C-79B1-6600-9C887029F71F}"/>
              </a:ext>
            </a:extLst>
          </p:cNvPr>
          <p:cNvSpPr/>
          <p:nvPr/>
        </p:nvSpPr>
        <p:spPr>
          <a:xfrm>
            <a:off x="6419801" y="1234681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570739A-37D6-5B4F-BD54-A5546D1B553A}"/>
              </a:ext>
            </a:extLst>
          </p:cNvPr>
          <p:cNvSpPr/>
          <p:nvPr/>
        </p:nvSpPr>
        <p:spPr>
          <a:xfrm>
            <a:off x="6416178" y="1539654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B1BFBE5-F9C0-3170-4151-48D1AE8173CD}"/>
              </a:ext>
            </a:extLst>
          </p:cNvPr>
          <p:cNvSpPr/>
          <p:nvPr/>
        </p:nvSpPr>
        <p:spPr>
          <a:xfrm>
            <a:off x="6424603" y="1853789"/>
            <a:ext cx="1787601" cy="2311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ko-KR" altLang="en-US" sz="14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78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6F9D8-4C7A-F9D8-075C-B14696DA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13865-EFAF-75AF-4D66-21A1425C01C3}"/>
              </a:ext>
            </a:extLst>
          </p:cNvPr>
          <p:cNvSpPr txBox="1"/>
          <p:nvPr/>
        </p:nvSpPr>
        <p:spPr>
          <a:xfrm>
            <a:off x="6647329" y="181957"/>
            <a:ext cx="410135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Verdana Pro Light" panose="020B0304030504040204" pitchFamily="34" charset="0"/>
              </a:rPr>
              <a:t>func proc near</a:t>
            </a:r>
          </a:p>
          <a:p>
            <a:r>
              <a:rPr lang="en-US" sz="1600">
                <a:latin typeface="Verdana Pro Light" panose="020B0304030504040204" pitchFamily="34" charset="0"/>
              </a:rPr>
              <a:t>push    ebp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ebp, esp</a:t>
            </a:r>
          </a:p>
          <a:p>
            <a:r>
              <a:rPr lang="en-US" sz="1600">
                <a:latin typeface="Verdana Pro Light" panose="020B0304030504040204" pitchFamily="34" charset="0"/>
              </a:rPr>
              <a:t>sub     esp, 4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[ebp+var_4], 0</a:t>
            </a:r>
          </a:p>
          <a:p>
            <a:r>
              <a:rPr lang="en-US" sz="1600">
                <a:latin typeface="Verdana Pro Light" panose="020B0304030504040204" pitchFamily="34" charset="0"/>
              </a:rPr>
              <a:t>jmp     short loc_401020</a:t>
            </a:r>
          </a:p>
          <a:p>
            <a:r>
              <a:rPr lang="en-US" sz="1600" b="1" i="1">
                <a:latin typeface="Verdana Pro Light" panose="020B0304030504040204" pitchFamily="34" charset="0"/>
              </a:rPr>
              <a:t>loc_40100F: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eax, [ebp+var_4]</a:t>
            </a:r>
          </a:p>
          <a:p>
            <a:r>
              <a:rPr lang="en-US" sz="1600">
                <a:latin typeface="Verdana Pro Light" panose="020B0304030504040204" pitchFamily="34" charset="0"/>
              </a:rPr>
              <a:t>add     eax, 1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[ebp+var_4], eax</a:t>
            </a:r>
          </a:p>
          <a:p>
            <a:r>
              <a:rPr lang="en-US" sz="1600" b="1" i="1">
                <a:latin typeface="Verdana Pro Light" panose="020B0304030504040204" pitchFamily="34" charset="0"/>
              </a:rPr>
              <a:t>loc_401020:</a:t>
            </a:r>
          </a:p>
          <a:p>
            <a:r>
              <a:rPr lang="en-US" sz="1600">
                <a:latin typeface="Verdana Pro Light" panose="020B0304030504040204" pitchFamily="34" charset="0"/>
              </a:rPr>
              <a:t>cmp     [ebp+var_4], 3</a:t>
            </a:r>
          </a:p>
          <a:p>
            <a:r>
              <a:rPr lang="en-US" sz="1600">
                <a:latin typeface="Verdana Pro Light" panose="020B0304030504040204" pitchFamily="34" charset="0"/>
              </a:rPr>
              <a:t>jge     short loc_40103A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ecx, [ebp+arg_0]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eax, [ebp+var_4]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edx, eax</a:t>
            </a:r>
          </a:p>
          <a:p>
            <a:r>
              <a:rPr lang="en-US" sz="1600">
                <a:latin typeface="Verdana Pro Light" panose="020B0304030504040204" pitchFamily="34" charset="0"/>
              </a:rPr>
              <a:t>add     edx, 1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[ecx+eax*4], edx</a:t>
            </a:r>
          </a:p>
          <a:p>
            <a:r>
              <a:rPr lang="en-US" sz="1600">
                <a:latin typeface="Verdana Pro Light" panose="020B0304030504040204" pitchFamily="34" charset="0"/>
              </a:rPr>
              <a:t>jmp     short loc_40100F</a:t>
            </a:r>
          </a:p>
          <a:p>
            <a:r>
              <a:rPr lang="en-US" sz="1600" b="1" i="1">
                <a:latin typeface="Verdana Pro Light" panose="020B0304030504040204" pitchFamily="34" charset="0"/>
              </a:rPr>
              <a:t>loc_40103A: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eax, [ebp+arg_0]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byte ptr [eax+0Ch], 5Ah</a:t>
            </a:r>
          </a:p>
          <a:p>
            <a:r>
              <a:rPr lang="en-US" sz="1600">
                <a:latin typeface="Verdana Pro Light" panose="020B0304030504040204" pitchFamily="34" charset="0"/>
              </a:rPr>
              <a:t>mov     esp, ebp</a:t>
            </a:r>
          </a:p>
          <a:p>
            <a:r>
              <a:rPr lang="en-US" sz="1600">
                <a:latin typeface="Verdana Pro Light" panose="020B0304030504040204" pitchFamily="34" charset="0"/>
              </a:rPr>
              <a:t>pop     ebp</a:t>
            </a:r>
          </a:p>
          <a:p>
            <a:r>
              <a:rPr lang="en-US" sz="1600">
                <a:latin typeface="Verdana Pro Light" panose="020B0304030504040204" pitchFamily="34" charset="0"/>
              </a:rPr>
              <a:t>retn</a:t>
            </a:r>
          </a:p>
          <a:p>
            <a:r>
              <a:rPr lang="en-US" sz="1600">
                <a:latin typeface="Verdana Pro Light" panose="020B0304030504040204" pitchFamily="34" charset="0"/>
              </a:rPr>
              <a:t>func endp</a:t>
            </a:r>
          </a:p>
        </p:txBody>
      </p:sp>
      <p:pic>
        <p:nvPicPr>
          <p:cNvPr id="11" name="그림 10" descr="텍스트, 스크린샷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BF7238-9049-D419-A4A3-45D9DA906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0821"/>
            <a:ext cx="2934998" cy="359208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A745FE-49E5-CE8F-D74F-DC7DB3E795C1}"/>
              </a:ext>
            </a:extLst>
          </p:cNvPr>
          <p:cNvSpPr/>
          <p:nvPr/>
        </p:nvSpPr>
        <p:spPr>
          <a:xfrm>
            <a:off x="1162508" y="3765027"/>
            <a:ext cx="2360876" cy="130003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D9E6728-F40D-7D95-21E3-0C1FA96423B0}"/>
              </a:ext>
            </a:extLst>
          </p:cNvPr>
          <p:cNvSpPr/>
          <p:nvPr/>
        </p:nvSpPr>
        <p:spPr>
          <a:xfrm>
            <a:off x="1172988" y="2242972"/>
            <a:ext cx="1132711" cy="55495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42764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9CA9A1-C8CD-F0C8-C0BC-19638904D181}"/>
              </a:ext>
            </a:extLst>
          </p:cNvPr>
          <p:cNvSpPr txBox="1"/>
          <p:nvPr/>
        </p:nvSpPr>
        <p:spPr>
          <a:xfrm>
            <a:off x="4577795" y="2497976"/>
            <a:ext cx="303640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>
                <a:latin typeface="Calibri" panose="020F0502020204030204" pitchFamily="34" charset="0"/>
                <a:cs typeface="Calibri" panose="020F050202020403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402804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05781-3334-0C94-42E4-9BB140ED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Appendix: Jump Statements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4A18943-6E26-4AD1-EEAE-49D725583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594595"/>
              </p:ext>
            </p:extLst>
          </p:nvPr>
        </p:nvGraphicFramePr>
        <p:xfrm>
          <a:off x="393922" y="1690688"/>
          <a:ext cx="5184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250298519"/>
                    </a:ext>
                  </a:extLst>
                </a:gridCol>
                <a:gridCol w="3708000">
                  <a:extLst>
                    <a:ext uri="{9D8B030D-6E8A-4147-A177-3AD203B41FA5}">
                      <a16:colId xmlns:a16="http://schemas.microsoft.com/office/drawing/2014/main" val="1610915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When Flag = 1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8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ZF (Zero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Result == 0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99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CF (Carry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Unsigned overflow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82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SF (Sign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Result &lt; 0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86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TF (Trap Flag)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Execute only one instruction at a time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1863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14CCB2D-4AC8-1436-76EE-EA86CD483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432780"/>
              </p:ext>
            </p:extLst>
          </p:nvPr>
        </p:nvGraphicFramePr>
        <p:xfrm>
          <a:off x="6096000" y="1690688"/>
          <a:ext cx="5184000" cy="440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250298519"/>
                    </a:ext>
                  </a:extLst>
                </a:gridCol>
                <a:gridCol w="1854000">
                  <a:extLst>
                    <a:ext uri="{9D8B030D-6E8A-4147-A177-3AD203B41FA5}">
                      <a16:colId xmlns:a16="http://schemas.microsoft.com/office/drawing/2014/main" val="1610915605"/>
                    </a:ext>
                  </a:extLst>
                </a:gridCol>
                <a:gridCol w="1854000">
                  <a:extLst>
                    <a:ext uri="{9D8B030D-6E8A-4147-A177-3AD203B41FA5}">
                      <a16:colId xmlns:a16="http://schemas.microsoft.com/office/drawing/2014/main" val="2986032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Condition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Test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081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jmp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1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99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 (jz)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0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ZF==1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82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jne (jnz)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not 0 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ZF==0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8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js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&lt;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SF!=OF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186305"/>
                  </a:ext>
                </a:extLst>
              </a:tr>
              <a:tr h="3127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jns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&gt;=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SF==OF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703378"/>
                  </a:ext>
                </a:extLst>
              </a:tr>
              <a:tr h="2598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jg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&gt;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ZF==0 and SF=OF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777887"/>
                  </a:ext>
                </a:extLst>
              </a:tr>
              <a:tr h="2068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jge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&gt;=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SF==OF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282823"/>
                  </a:ext>
                </a:extLst>
              </a:tr>
              <a:tr h="1538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jl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&lt; </a:t>
                      </a:r>
                      <a:endParaRPr lang="ko-KR" altLang="en-US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SF!=OF</a:t>
                      </a:r>
                      <a:endParaRPr lang="ko-KR" altLang="en-US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391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jle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&lt;= </a:t>
                      </a:r>
                      <a:endParaRPr lang="ko-KR" altLang="en-US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ZF==1 or SF!=OF</a:t>
                      </a:r>
                      <a:endParaRPr lang="ko-KR" altLang="en-US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908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&gt;=</a:t>
                      </a:r>
                      <a:endParaRPr lang="ko-KR" altLang="en-US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CF==0 and ZF==0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3564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jb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Jump if &lt; </a:t>
                      </a:r>
                      <a:endParaRPr lang="ko-KR" altLang="en-US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CF==1</a:t>
                      </a:r>
                      <a:endParaRPr lang="ko-KR" altLang="en-US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832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61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2802</TotalTime>
  <Words>630</Words>
  <Application>Microsoft Office PowerPoint</Application>
  <PresentationFormat>와이드스크린</PresentationFormat>
  <Paragraphs>163</Paragraphs>
  <Slides>13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Verdana Pro Light</vt:lpstr>
      <vt:lpstr>Office 테마</vt:lpstr>
      <vt:lpstr>Practical Malware Analysis</vt:lpstr>
      <vt:lpstr>Motivation</vt:lpstr>
      <vt:lpstr>Global vs. Local Variables</vt:lpstr>
      <vt:lpstr>Disassembling Arithmetic Operations</vt:lpstr>
      <vt:lpstr>Recognizing if Statements</vt:lpstr>
      <vt:lpstr>Recognizing Loops</vt:lpstr>
      <vt:lpstr>Quiz1: While loop</vt:lpstr>
      <vt:lpstr>Understanding Function Call Conventions</vt:lpstr>
      <vt:lpstr>Disassembling Arrays</vt:lpstr>
      <vt:lpstr>Identifying Structs</vt:lpstr>
      <vt:lpstr>Quiz2</vt:lpstr>
      <vt:lpstr>PowerPoint 프레젠테이션</vt:lpstr>
      <vt:lpstr>Appendix: Jump Statements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박선혜</dc:creator>
  <cp:lastModifiedBy>박선혜</cp:lastModifiedBy>
  <cp:revision>26</cp:revision>
  <dcterms:created xsi:type="dcterms:W3CDTF">2026-01-19T05:12:05Z</dcterms:created>
  <dcterms:modified xsi:type="dcterms:W3CDTF">2026-01-21T03:54:36Z</dcterms:modified>
</cp:coreProperties>
</file>