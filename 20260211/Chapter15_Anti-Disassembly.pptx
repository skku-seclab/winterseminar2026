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74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4" r:id="rId13"/>
    <p:sldId id="326" r:id="rId14"/>
    <p:sldId id="327" r:id="rId15"/>
    <p:sldId id="328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88" r:id="rId25"/>
  </p:sldIdLst>
  <p:sldSz cx="18288000" cy="10287000"/>
  <p:notesSz cx="6858000" cy="9144000"/>
  <p:embeddedFontLst>
    <p:embeddedFont>
      <p:font typeface="Arita Dotum Light" panose="020B0600000101010101" charset="-127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Arita Dotum Semi-Bold" panose="020B0600000101010101" charset="-127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7" autoAdjust="0"/>
    <p:restoredTop sz="79431" autoAdjust="0"/>
  </p:normalViewPr>
  <p:slideViewPr>
    <p:cSldViewPr>
      <p:cViewPr varScale="1">
        <p:scale>
          <a:sx n="37" d="100"/>
          <a:sy n="37" d="100"/>
        </p:scale>
        <p:origin x="120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5D6EE84-3602-8BF3-DAFB-538D4A90B0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225E0E-C549-6224-107F-C5337EA77F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B479E-CCCD-47E9-86D8-971662B3C67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21BA9A-3A7C-6543-87E8-D509855831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77DFC2-FBBA-C0DE-3DD1-1CB0EA003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900C3-02B1-4980-AC97-B3F28A7222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6844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E5CA1-C92A-448E-BB23-D6EABCC16EDE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DF77F-1051-4BD7-86D7-F74302A9DF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9165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58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070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0A2B-CB59-79AE-E8B1-BC72FCB37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AE2431-1247-156F-1BA0-F1D995D25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E0AD0F-E3B0-BBBF-F239-F6C801F9A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E5A3D-4527-43B4-107E-AB602D445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151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3152C-3F94-1C52-5597-ADEC0D2EA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6A87BD-5DDC-D4E9-EF19-34F4A166B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19D64E-BF7B-AED8-4710-24EF891E5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9AAAC6-2368-69D5-927D-36C3391BC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693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D734C-C9AD-CF55-EF6F-A4E49B4AF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542C3E-7EDF-5923-C5FC-26C003871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C7410-47A6-5049-D3BA-0FD340C38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285EAD-598D-71C0-4091-2CE7D8D3F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19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122B3-29A2-737D-17B4-28133F74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38AE3-FD01-D121-1370-AFDBE9AAA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C9407C-EF10-85DB-D63A-604AFF156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31266-F646-0B15-2DE8-6EC216633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209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CCD1-6ED2-0708-EB15-BAF4DD42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842F1F-F9CD-8938-C99D-E169265D2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46C2E2-9662-853F-D4B9-CB09B1548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7F265-19AE-6DC2-5D53-7C290B9308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256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2419B-9B28-3885-4FBC-AEF7FF85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03C706-4789-6394-1867-E2C54371D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F6D7D6-29D3-10A4-58DF-98B16BE35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B4E35D-97B7-D78D-ED4B-7930CDB00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23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DB67-D635-7A7A-C41A-5AB28BFE5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241A27-60AE-7242-503A-52DD71B72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34951F-FCD6-B78D-CEF2-F3AEB2D91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39454F-492F-04BE-F0E5-77AD6F4B3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495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023C-8313-0F28-86CD-A010251B9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8E14F-40DA-AB78-02E9-5DC7EEB85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27C55-70B4-DEB9-BBFA-3CF5A63B0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64503-982A-5D5F-78D1-52AE0DBCE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5700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8005-F1C6-1C2C-E891-3218A9D0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106FA5-D032-93E4-4E6C-5BC601533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A83C88-BB78-49D6-5AFC-5AB477212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274D2-C6CA-67F5-0EDB-82A93CDDC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345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7976-B2D6-484A-DACB-E5584F2B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D0959F-19E1-FBC9-07F7-309B5BD65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8EDE3D-A102-E46D-0368-F45C6E8F3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0F4AFD-5D1F-2FDD-F3F7-05E61663D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868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0A77-73D4-981F-F63E-6B4EC2A8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B0646E-6EEE-7A98-73D8-36014486B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8BC64A-BF00-7D10-4EBB-7908291A2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2A8F6-284C-20BA-159A-4B28ADD1D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524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D438-1878-8767-CD63-25D3354A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631751-F40E-932C-1550-46252B048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4C9394-3D31-45B6-F692-A150C6490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63324-B35F-5443-85CC-FFD8F2A3B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972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D81A1-6D0B-AE1B-7726-55AC0835B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A52D51-BDD2-6570-D50A-85BDDA59C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7B9403-8AB3-17AF-9F75-10A81BEBF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88A45-6303-3C27-4846-16B19C774C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105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8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90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664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151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4162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27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757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7643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BDF77F-1051-4BD7-86D7-F74302A9DFF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46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5F864-1CC2-43BC-8DE9-1A779448F766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31EC-2AA6-49AD-800E-D8D8A78CA399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FF144-1BF3-42C8-AF34-612557A33118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7893-E6E0-43E0-91C4-1B8D5BB57613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E1B0F-FBEB-48DC-B8A7-40BA913DF42D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4C96-5DE5-45E3-B74C-936CB482BBDD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108C2-6755-44E8-800C-8D29E30E7ED3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B2E6F-5904-4FAA-899A-9AC98906C833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0CE88-F5C9-4490-BF41-012EDCDBF9EE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D6F2F-8552-4C7F-8074-291E9B739723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06990-E924-4883-B145-BB6C955A4154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717FE-3703-4E11-8090-99C98FDF6F37}" type="datetime1">
              <a:rPr lang="en-US" altLang="ko-KR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4533900"/>
            <a:ext cx="16223206" cy="7620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028700" y="723900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995427" y="5448300"/>
            <a:ext cx="16230600" cy="17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altLang="ko-KR" sz="2800" b="1" spc="26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ta Dotum Light"/>
              </a:rPr>
              <a:t>Practical Malware Analysis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altLang="ko-KR" sz="2800" b="1" spc="26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ta Dotum Light"/>
              </a:rPr>
              <a:t>Chapter 15</a:t>
            </a:r>
            <a:endParaRPr lang="en-US" sz="2800" b="1" spc="261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ta Dotum Light"/>
            </a:endParaRPr>
          </a:p>
          <a:p>
            <a:pPr algn="ctr">
              <a:lnSpc>
                <a:spcPts val="4760"/>
              </a:lnSpc>
              <a:spcBef>
                <a:spcPct val="0"/>
              </a:spcBef>
            </a:pPr>
            <a:endParaRPr lang="en-US" sz="2000" b="1" spc="261" dirty="0">
              <a:solidFill>
                <a:srgbClr val="333333"/>
              </a:solidFill>
              <a:latin typeface="Arita Dotum Light"/>
              <a:ea typeface="Arita Dotum Light"/>
              <a:cs typeface="Arita Dotum Light"/>
              <a:sym typeface="Arita Dotum Ligh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1312" y="1449312"/>
            <a:ext cx="16230594" cy="1987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 b="1" spc="300" dirty="0">
                <a:solidFill>
                  <a:srgbClr val="333333"/>
                </a:solidFill>
                <a:latin typeface="+mj-lt"/>
                <a:ea typeface="Arita Buri Medium"/>
                <a:cs typeface="Times New Roman" panose="02020603050405020304" pitchFamily="18" charset="0"/>
                <a:sym typeface="Arita Buri Medium"/>
              </a:rPr>
              <a:t>Anti - Disassembly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8478" y="8115300"/>
            <a:ext cx="5751038" cy="721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ta Dotum Semi-Bold"/>
              </a:rPr>
              <a:t>2026.02.11</a:t>
            </a:r>
          </a:p>
          <a:p>
            <a:pPr algn="ctr">
              <a:lnSpc>
                <a:spcPts val="2850"/>
              </a:lnSpc>
            </a:pPr>
            <a:r>
              <a:rPr lang="en-US" sz="2400" b="1" dirty="0">
                <a:solidFill>
                  <a:srgbClr val="333333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ta Dotum Semi-Bold"/>
              </a:rPr>
              <a:t>Presenter : Joon Hyung Park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76"/>
    </mc:Choice>
    <mc:Fallback xmlns="">
      <p:transition spd="slow" advTm="3987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208C-F5B4-58A8-96AD-E0D2F3B1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F9C0A75-B35E-281B-1074-9ED838965D94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A522F38-6A21-4FF8-3B9B-F9288DCB7748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DB5561-3B05-C36A-04DB-7A0FC17A0301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Understanding</a:t>
            </a:r>
            <a:r>
              <a:rPr lang="ko-KR" alt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 </a:t>
            </a:r>
            <a:r>
              <a:rPr lang="en-US" altLang="ko-KR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Anti-Disassembly</a:t>
            </a:r>
            <a:endParaRPr lang="en-US" sz="4800" b="1" dirty="0">
              <a:solidFill>
                <a:srgbClr val="333333"/>
              </a:solidFill>
              <a:latin typeface="Times New Roman" panose="02020603050405020304" pitchFamily="18" charset="0"/>
              <a:ea typeface="Arita Buri Semi-Bold"/>
              <a:cs typeface="Times New Roman" panose="02020603050405020304" pitchFamily="18" charset="0"/>
              <a:sym typeface="Arita Buri Semi-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3637450-8A24-3B3E-AEFC-5F515E3BA37C}"/>
              </a:ext>
            </a:extLst>
          </p:cNvPr>
          <p:cNvSpPr txBox="1"/>
          <p:nvPr/>
        </p:nvSpPr>
        <p:spPr>
          <a:xfrm>
            <a:off x="1028703" y="2327477"/>
            <a:ext cx="15811498" cy="700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What Is Disassembly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Definition </a:t>
            </a:r>
            <a:r>
              <a:rPr lang="en-US" altLang="ko-KR" sz="3600" dirty="0"/>
              <a:t>: Process of translating machine code into human-readable 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Purpose </a:t>
            </a:r>
            <a:r>
              <a:rPr lang="en-US" altLang="ko-KR" sz="3600" dirty="0"/>
              <a:t>: To analyze structure and behavior without execution (Static Analysis)</a:t>
            </a:r>
          </a:p>
          <a:p>
            <a:pPr marL="237492" lvl="1">
              <a:lnSpc>
                <a:spcPts val="4180"/>
              </a:lnSpc>
            </a:pPr>
            <a:endParaRPr lang="en-US" altLang="ko-KR" sz="3600" b="1" dirty="0"/>
          </a:p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What Is Anti-Disassembly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Definition </a:t>
            </a:r>
            <a:r>
              <a:rPr lang="en-US" altLang="ko-KR" sz="3600" dirty="0"/>
              <a:t>: Techniques that confuse disassemblers or create misleading control flow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Goal :</a:t>
            </a:r>
            <a:r>
              <a:rPr lang="en-US" altLang="ko-KR" sz="3600" dirty="0"/>
              <a:t> Delay or prevent analysis of malicious code (automated/manual)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694692" lvl="2">
              <a:lnSpc>
                <a:spcPts val="4180"/>
              </a:lnSpc>
            </a:pPr>
            <a:r>
              <a:rPr lang="en-US" altLang="ko-KR" sz="3600" dirty="0">
                <a:sym typeface="Wingdings" panose="05000000000000000000" pitchFamily="2" charset="2"/>
              </a:rPr>
              <a:t>	</a:t>
            </a:r>
            <a:endParaRPr lang="en-US" altLang="ko-KR" sz="3600" dirty="0">
              <a:solidFill>
                <a:srgbClr val="FF0000"/>
              </a:solidFill>
            </a:endParaRP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rgbClr val="FF0000"/>
              </a:solidFill>
            </a:endParaRPr>
          </a:p>
          <a:p>
            <a:pPr marL="237492" lvl="1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24E7B4-8636-C36A-BC6E-9A5E57D0C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2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4441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C7E5-A60B-F33E-A471-54D1323B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9452885-829C-C48F-AB3F-73CB7A2ED616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2CA81F8-C909-28AC-1A82-E61749B8DBAA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3635E14-91E1-9EB4-82A5-D0CC7ADE8604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Understanding</a:t>
            </a:r>
            <a:r>
              <a:rPr lang="ko-KR" alt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 </a:t>
            </a:r>
            <a:r>
              <a:rPr lang="en-US" altLang="ko-KR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Anti-Disassembly</a:t>
            </a:r>
            <a:endParaRPr lang="en-US" sz="4800" b="1" dirty="0">
              <a:solidFill>
                <a:srgbClr val="333333"/>
              </a:solidFill>
              <a:latin typeface="Times New Roman" panose="02020603050405020304" pitchFamily="18" charset="0"/>
              <a:ea typeface="Arita Buri Semi-Bold"/>
              <a:cs typeface="Times New Roman" panose="02020603050405020304" pitchFamily="18" charset="0"/>
              <a:sym typeface="Arita Buri Semi-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94C28DC-DCD3-0572-99E3-94CEA5D27215}"/>
              </a:ext>
            </a:extLst>
          </p:cNvPr>
          <p:cNvSpPr txBox="1"/>
          <p:nvPr/>
        </p:nvSpPr>
        <p:spPr>
          <a:xfrm>
            <a:off x="1028703" y="2327477"/>
            <a:ext cx="153162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Why Disassembly Can Be Fooled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Static Blind Spot :</a:t>
            </a:r>
            <a:r>
              <a:rPr lang="en-US" altLang="ko-KR" sz="3600" dirty="0"/>
              <a:t> No evaluation of runtime conditions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One-Byte-One-Rule</a:t>
            </a:r>
            <a:r>
              <a:rPr lang="en-US" altLang="ko-KR" sz="3600" dirty="0"/>
              <a:t> </a:t>
            </a:r>
            <a:r>
              <a:rPr lang="en-US" altLang="ko-KR" sz="3600" b="1" dirty="0"/>
              <a:t>: </a:t>
            </a:r>
            <a:r>
              <a:rPr lang="en-US" altLang="ko-KR" sz="3600" dirty="0"/>
              <a:t>Cannot map one byte to two instructions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Heuristic Over-Reliance</a:t>
            </a:r>
            <a:r>
              <a:rPr lang="en-US" altLang="ko-KR" sz="3600" dirty="0"/>
              <a:t>: Tools often blindly assume that every branch is reachable or that code always follows a linear path</a:t>
            </a:r>
          </a:p>
          <a:p>
            <a:pPr marL="237492" lvl="1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5" name="슬라이드 번호 개체 틀 6">
            <a:extLst>
              <a:ext uri="{FF2B5EF4-FFF2-40B4-BE49-F238E27FC236}">
                <a16:creationId xmlns:a16="http://schemas.microsoft.com/office/drawing/2014/main" id="{9A25F2BC-946A-FA81-8590-FBA627B4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3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77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871A-9E85-1FF2-2E00-4EBCBD1E1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DB3875-733F-7C12-1764-9AE936C435B9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79799BA-E4E6-6FC1-2057-E600A7183817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F43A657-012D-FDBB-6F81-B529454BEA49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Defeating Disassembly Algorithms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8EE5E3-2C5F-4DD0-CF99-977DAAAAB8B6}"/>
              </a:ext>
            </a:extLst>
          </p:cNvPr>
          <p:cNvSpPr txBox="1"/>
          <p:nvPr/>
        </p:nvSpPr>
        <p:spPr>
          <a:xfrm>
            <a:off x="1028703" y="2327477"/>
            <a:ext cx="15316200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Linear Disassembly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Mechanism :</a:t>
            </a:r>
            <a:r>
              <a:rPr lang="en-US" altLang="ko-KR" sz="3600" dirty="0"/>
              <a:t> Decodes one instruction at a time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Blind Decoding</a:t>
            </a:r>
            <a:r>
              <a:rPr lang="en-US" altLang="ko-KR" sz="3600" dirty="0"/>
              <a:t> </a:t>
            </a:r>
            <a:r>
              <a:rPr lang="en-US" altLang="ko-KR" sz="3600" b="1" dirty="0"/>
              <a:t>: </a:t>
            </a:r>
            <a:r>
              <a:rPr lang="en-US" altLang="ko-KR" sz="3600" dirty="0"/>
              <a:t>Processes entire blocks from start to finish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Fatal Flaw:</a:t>
            </a:r>
            <a:r>
              <a:rPr lang="en-US" altLang="ko-KR" sz="3600" dirty="0"/>
              <a:t> Ignores flow-control; treats data as code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rgbClr val="0070C0"/>
              </a:solidFill>
            </a:endParaRPr>
          </a:p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Flow-oriented Disassembly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Mechanism:</a:t>
            </a:r>
            <a:r>
              <a:rPr lang="en-US" altLang="ko-KR" sz="3600" dirty="0"/>
              <a:t> Follows execution paths from entry points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Logic-based:</a:t>
            </a:r>
            <a:r>
              <a:rPr lang="en-US" altLang="ko-KR" sz="3600" dirty="0"/>
              <a:t> Builds a list of locations to decode by tracing paths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Advantage:</a:t>
            </a:r>
            <a:r>
              <a:rPr lang="en-US" altLang="ko-KR" sz="3600" dirty="0"/>
              <a:t> Better at distinguishing between code and data</a:t>
            </a:r>
          </a:p>
          <a:p>
            <a:pPr marL="237492" lvl="1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6F63B6D2-0EDE-C0F2-1337-DB94F006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4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6909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69F77-9F02-6BC0-3594-680D81EF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7ED3C2D-26DC-3457-291D-16C8BD26362B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4E1B67C-9A8B-70D1-3691-1D8D5C104389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39B8ADD-867E-D937-7DCF-1BA368E7B6C6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Defeating Disassembly Algorithms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E1D0302-DFA2-6F03-1506-EAE20EBB7AA5}"/>
              </a:ext>
            </a:extLst>
          </p:cNvPr>
          <p:cNvSpPr txBox="1"/>
          <p:nvPr/>
        </p:nvSpPr>
        <p:spPr>
          <a:xfrm>
            <a:off x="1028703" y="2327477"/>
            <a:ext cx="15316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1. Data-in-Code Trap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Jump Tables:</a:t>
            </a:r>
            <a:r>
              <a:rPr lang="en-US" altLang="ko-KR" sz="3600" dirty="0"/>
              <a:t> Switch statements often store jump addresses as data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Misalignment</a:t>
            </a:r>
            <a:r>
              <a:rPr lang="en-US" altLang="ko-KR" sz="3600" dirty="0"/>
              <a:t> </a:t>
            </a:r>
            <a:r>
              <a:rPr lang="en-US" altLang="ko-KR" sz="3600" b="1" dirty="0"/>
              <a:t>: </a:t>
            </a:r>
            <a:r>
              <a:rPr lang="en-US" altLang="ko-KR" sz="3600" dirty="0"/>
              <a:t>Rogue data bytes(0xE8) force incorrect decoding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rgbClr val="0070C0"/>
              </a:solidFill>
            </a:endParaRPr>
          </a:p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2. Linear Decoder Errors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Blind Iteration : </a:t>
            </a:r>
            <a:r>
              <a:rPr lang="en-US" altLang="ko-KR" sz="3600" dirty="0"/>
              <a:t>Continues past unconditional jumps or returns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Nonsensical Code : </a:t>
            </a:r>
            <a:r>
              <a:rPr lang="en-US" altLang="ko-KR" sz="3600" dirty="0"/>
              <a:t>Produces "invalid opcodes" when data is parsed as code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CD55672C-06F4-BBBD-22D4-FE87FE85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5</a:t>
            </a:fld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E4295-8002-C127-7D2F-2F29B4F64747}"/>
              </a:ext>
            </a:extLst>
          </p:cNvPr>
          <p:cNvSpPr txBox="1"/>
          <p:nvPr/>
        </p:nvSpPr>
        <p:spPr>
          <a:xfrm>
            <a:off x="14859000" y="1071491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1.Linear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Disassembly</a:t>
            </a:r>
          </a:p>
          <a:p>
            <a:r>
              <a:rPr lang="en-US" altLang="ko-KR" sz="2000" dirty="0"/>
              <a:t>2. Flow-oriented Disassembly</a:t>
            </a:r>
            <a:endParaRPr lang="ko-KR" altLang="en-US" sz="2000" dirty="0"/>
          </a:p>
        </p:txBody>
      </p:sp>
      <p:pic>
        <p:nvPicPr>
          <p:cNvPr id="13" name="그림 1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C064F8-7FEF-B037-3BDA-55087D803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424270"/>
            <a:ext cx="10516990" cy="3327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A74B78-5530-A900-45F4-C0A5B4742010}"/>
              </a:ext>
            </a:extLst>
          </p:cNvPr>
          <p:cNvSpPr txBox="1"/>
          <p:nvPr/>
        </p:nvSpPr>
        <p:spPr>
          <a:xfrm>
            <a:off x="3543300" y="9759845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Disassembly Result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46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827F-3910-721D-9C09-0C42C718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EFE4976-CA09-0AEC-5A20-D4B342BF193F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6751194-935D-4EE4-7F48-DF4C7A64625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E988AC9-6F59-82BF-864C-7A6BE60F0273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Defeating Disassembly Algorithms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472BA63-E339-5F5C-9798-9160EEBB3ED7}"/>
              </a:ext>
            </a:extLst>
          </p:cNvPr>
          <p:cNvSpPr txBox="1"/>
          <p:nvPr/>
        </p:nvSpPr>
        <p:spPr>
          <a:xfrm>
            <a:off x="1028703" y="2327477"/>
            <a:ext cx="15316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1. Data-in-Code Trap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Jump Tables:</a:t>
            </a:r>
            <a:r>
              <a:rPr lang="en-US" altLang="ko-KR" sz="3600" dirty="0"/>
              <a:t> Switch statements often store jump addresses as data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Misalignment</a:t>
            </a:r>
            <a:r>
              <a:rPr lang="en-US" altLang="ko-KR" sz="3600" dirty="0"/>
              <a:t> </a:t>
            </a:r>
            <a:r>
              <a:rPr lang="en-US" altLang="ko-KR" sz="3600" b="1" dirty="0"/>
              <a:t>: </a:t>
            </a:r>
            <a:r>
              <a:rPr lang="en-US" altLang="ko-KR" sz="3600" dirty="0"/>
              <a:t>Rogue data bytes(0xE8) force incorrect decoding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rgbClr val="0070C0"/>
              </a:solidFill>
            </a:endParaRPr>
          </a:p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2. Linear Decoder Errors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Blind Iteration : </a:t>
            </a:r>
            <a:r>
              <a:rPr lang="en-US" altLang="ko-KR" sz="3600" dirty="0"/>
              <a:t>Continues past unconditional jumps or returns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Nonsensical Code : </a:t>
            </a:r>
            <a:r>
              <a:rPr lang="en-US" altLang="ko-KR" sz="3600" dirty="0"/>
              <a:t>Produces "invalid opcodes" when data is parsed as code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F80FCB2C-E434-8B36-17B6-843FF76B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6</a:t>
            </a:fld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8B39C-0C62-7AE4-6540-EAEE2243CEE6}"/>
              </a:ext>
            </a:extLst>
          </p:cNvPr>
          <p:cNvSpPr txBox="1"/>
          <p:nvPr/>
        </p:nvSpPr>
        <p:spPr>
          <a:xfrm>
            <a:off x="14859000" y="1071491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1.Linear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en-US" altLang="ko-KR" sz="2000" dirty="0">
                <a:solidFill>
                  <a:srgbClr val="FF0000"/>
                </a:solidFill>
              </a:rPr>
              <a:t>Disassembly</a:t>
            </a:r>
          </a:p>
          <a:p>
            <a:r>
              <a:rPr lang="en-US" altLang="ko-KR" sz="2000" dirty="0"/>
              <a:t>2. Flow-oriented Disassembly</a:t>
            </a:r>
            <a:endParaRPr lang="ko-KR" altLang="en-US" sz="2000" dirty="0"/>
          </a:p>
        </p:txBody>
      </p:sp>
      <p:pic>
        <p:nvPicPr>
          <p:cNvPr id="13" name="그림 1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DE727D-0AD5-DA44-6CAD-DBD44079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424270"/>
            <a:ext cx="10516990" cy="3327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360B99-7AE6-B857-BA97-C686293B7C85}"/>
              </a:ext>
            </a:extLst>
          </p:cNvPr>
          <p:cNvSpPr txBox="1"/>
          <p:nvPr/>
        </p:nvSpPr>
        <p:spPr>
          <a:xfrm>
            <a:off x="3543300" y="9759845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Linear Disassembly Result</a:t>
            </a:r>
            <a:endParaRPr lang="ko-KR" altLang="en-US" dirty="0"/>
          </a:p>
        </p:txBody>
      </p:sp>
      <p:pic>
        <p:nvPicPr>
          <p:cNvPr id="8" name="그림 7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518A8-4973-8252-82D5-B54016600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102" y="6666949"/>
            <a:ext cx="9171692" cy="2924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684C02-0E03-E705-4267-5CB88A5284F5}"/>
              </a:ext>
            </a:extLst>
          </p:cNvPr>
          <p:cNvSpPr txBox="1"/>
          <p:nvPr/>
        </p:nvSpPr>
        <p:spPr>
          <a:xfrm>
            <a:off x="10591800" y="9705002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Flow-oriented Disassembly Result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FF8637-CD4E-F72B-0C82-44D0A91B5FE1}"/>
              </a:ext>
            </a:extLst>
          </p:cNvPr>
          <p:cNvSpPr/>
          <p:nvPr/>
        </p:nvSpPr>
        <p:spPr>
          <a:xfrm>
            <a:off x="9753600" y="9105900"/>
            <a:ext cx="2362200" cy="39586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BE5DC1-3462-5C78-6614-4617ECE5B213}"/>
              </a:ext>
            </a:extLst>
          </p:cNvPr>
          <p:cNvSpPr/>
          <p:nvPr/>
        </p:nvSpPr>
        <p:spPr>
          <a:xfrm>
            <a:off x="9782695" y="7564353"/>
            <a:ext cx="1360516" cy="39517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A863BA-08D4-7703-2435-0327BDF6E43C}"/>
              </a:ext>
            </a:extLst>
          </p:cNvPr>
          <p:cNvSpPr/>
          <p:nvPr/>
        </p:nvSpPr>
        <p:spPr>
          <a:xfrm>
            <a:off x="2774741" y="7771064"/>
            <a:ext cx="876300" cy="605824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9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A7F0-4505-3552-9665-97395FBE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F55C4D-D6EC-4828-46AA-2E114C37F7F8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3049F23-C18E-82EF-84A4-9641017F4315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1D7020-4AA3-D256-5878-934E6202237C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Defeating Disassembly Algorithms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7EFE04-2A85-BD96-2251-255B087EC5FC}"/>
              </a:ext>
            </a:extLst>
          </p:cNvPr>
          <p:cNvSpPr txBox="1"/>
          <p:nvPr/>
        </p:nvSpPr>
        <p:spPr>
          <a:xfrm>
            <a:off x="1028703" y="2327477"/>
            <a:ext cx="153162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1. Heuristic Dilemmas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Branch Choice :</a:t>
            </a:r>
            <a:r>
              <a:rPr lang="en-US" altLang="ko-KR" sz="3600" dirty="0"/>
              <a:t> Which path should be followed first on conditionals?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Call Assumptions :</a:t>
            </a:r>
            <a:r>
              <a:rPr lang="en-US" altLang="ko-KR" sz="3600" dirty="0"/>
              <a:t> Assumes every CALL will eventually return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solidFill>
                <a:srgbClr val="0070C0"/>
              </a:solidFill>
            </a:endParaRPr>
          </a:p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2. Advanced Evasion Techniques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Fake Conditionals :</a:t>
            </a:r>
            <a:r>
              <a:rPr lang="en-US" altLang="ko-KR" sz="3600" dirty="0"/>
              <a:t> Conditional jumps that are always TRUE or FALSE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Call-Pop Trick :</a:t>
            </a:r>
            <a:r>
              <a:rPr lang="en-US" altLang="ko-KR" sz="3600" dirty="0"/>
              <a:t> Using CALL to get a string pointer without returning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4BEC3BEF-A532-70C7-C3D9-C01C9AB2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7</a:t>
            </a:fld>
            <a:endParaRPr lang="en-US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72A7B-9180-B6B5-406A-A49AEE72A276}"/>
              </a:ext>
            </a:extLst>
          </p:cNvPr>
          <p:cNvSpPr txBox="1"/>
          <p:nvPr/>
        </p:nvSpPr>
        <p:spPr>
          <a:xfrm>
            <a:off x="14859000" y="1071491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1.Linear</a:t>
            </a:r>
            <a:r>
              <a:rPr lang="ko-KR" altLang="en-US" sz="2000" dirty="0"/>
              <a:t> </a:t>
            </a:r>
            <a:r>
              <a:rPr lang="en-US" altLang="ko-KR" sz="2000" dirty="0"/>
              <a:t>Disassembly</a:t>
            </a:r>
          </a:p>
          <a:p>
            <a:r>
              <a:rPr lang="en-US" altLang="ko-KR" sz="2000" dirty="0">
                <a:solidFill>
                  <a:srgbClr val="FF0000"/>
                </a:solidFill>
              </a:rPr>
              <a:t>2. Flow-oriented Disassembly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B90A53-3AC4-F5CF-AF8E-20DBF12F8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6" y="6500377"/>
            <a:ext cx="8668844" cy="2579160"/>
          </a:xfrm>
          <a:prstGeom prst="rect">
            <a:avLst/>
          </a:prstGeom>
        </p:spPr>
      </p:pic>
      <p:pic>
        <p:nvPicPr>
          <p:cNvPr id="11" name="그림 10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BF0DA3-D448-8071-D315-C06801955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866" y="6070301"/>
            <a:ext cx="6499649" cy="2047246"/>
          </a:xfrm>
          <a:prstGeom prst="rect">
            <a:avLst/>
          </a:prstGeom>
        </p:spPr>
      </p:pic>
      <p:pic>
        <p:nvPicPr>
          <p:cNvPr id="15" name="그림 1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C62DA-82AD-088D-716C-FF7D34DE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575" y="8091916"/>
            <a:ext cx="6746424" cy="197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404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9594-9E29-DA99-FAAD-1987F7B8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AD1CBF-FF4B-DFEC-5431-70309F99A157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5C5A39-F773-A94B-C434-970AF7CE4DC8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9064E3-46AE-0D27-CEB8-2AD843836FFB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Anti-Disassembly Techniques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42F65C2-EA60-C07B-5731-AC9353A25EC4}"/>
              </a:ext>
            </a:extLst>
          </p:cNvPr>
          <p:cNvSpPr txBox="1"/>
          <p:nvPr/>
        </p:nvSpPr>
        <p:spPr>
          <a:xfrm>
            <a:off x="1028703" y="2327477"/>
            <a:ext cx="153162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Fake Conditionals (Complementary Jumps)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Using code that always results in the same outcome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Back-to-back conditional jumps w/ same target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Jump if Zero(74 03) + Jump if Not Zero(75 01) </a:t>
            </a:r>
            <a:r>
              <a:rPr lang="en-US" altLang="ko-KR" sz="3600" dirty="0">
                <a:sym typeface="Wingdings" panose="05000000000000000000" pitchFamily="2" charset="2"/>
              </a:rPr>
              <a:t> Always jump to POP(58)</a:t>
            </a: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76C8A22E-9F16-257A-0FF8-46BCD7C9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8</a:t>
            </a:fld>
            <a:endParaRPr lang="en-US" sz="2000" b="1" dirty="0"/>
          </a:p>
        </p:txBody>
      </p:sp>
      <p:pic>
        <p:nvPicPr>
          <p:cNvPr id="7" name="그림 6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FDA1FE-B4CE-63AC-C0DD-DF93EA053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521" y="5250825"/>
            <a:ext cx="9662564" cy="396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1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C3467-5F3B-8338-2B61-32A73EA2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0CF31AA-CCD0-429A-DA64-429376EFF913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9BB10E1-7449-1969-1644-081BDF99FD02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CD3254-8F54-58AB-90C8-94601043D692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Anti-Disassembly Techniques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62F505A-C83D-18DF-AE65-3AA47BB80FC4}"/>
              </a:ext>
            </a:extLst>
          </p:cNvPr>
          <p:cNvSpPr txBox="1"/>
          <p:nvPr/>
        </p:nvSpPr>
        <p:spPr>
          <a:xfrm>
            <a:off x="1028703" y="2327477"/>
            <a:ext cx="153162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Fake Conditionals (Constant Condition)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Using code that always results in the same outcome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 err="1">
                <a:sym typeface="Wingdings" panose="05000000000000000000" pitchFamily="2" charset="2"/>
              </a:rPr>
              <a:t>xor</a:t>
            </a:r>
            <a:r>
              <a:rPr lang="ko-KR" altLang="en-US" sz="3600" dirty="0">
                <a:sym typeface="Wingdings" panose="05000000000000000000" pitchFamily="2" charset="2"/>
              </a:rPr>
              <a:t> </a:t>
            </a:r>
            <a:r>
              <a:rPr lang="en-US" altLang="ko-KR" sz="3600" dirty="0" err="1">
                <a:sym typeface="Wingdings" panose="05000000000000000000" pitchFamily="2" charset="2"/>
              </a:rPr>
              <a:t>eax</a:t>
            </a:r>
            <a:r>
              <a:rPr lang="en-US" altLang="ko-KR" sz="3600" dirty="0">
                <a:sym typeface="Wingdings" panose="05000000000000000000" pitchFamily="2" charset="2"/>
              </a:rPr>
              <a:t>, </a:t>
            </a:r>
            <a:r>
              <a:rPr lang="en-US" altLang="ko-KR" sz="3600" dirty="0" err="1">
                <a:sym typeface="Wingdings" panose="05000000000000000000" pitchFamily="2" charset="2"/>
              </a:rPr>
              <a:t>eax</a:t>
            </a:r>
            <a:r>
              <a:rPr lang="en-US" altLang="ko-KR" sz="3600" dirty="0">
                <a:sym typeface="Wingdings" panose="05000000000000000000" pitchFamily="2" charset="2"/>
              </a:rPr>
              <a:t> (ZF=1)  </a:t>
            </a:r>
            <a:r>
              <a:rPr lang="en-US" altLang="ko-KR" sz="3600" dirty="0" err="1">
                <a:sym typeface="Wingdings" panose="05000000000000000000" pitchFamily="2" charset="2"/>
              </a:rPr>
              <a:t>jz</a:t>
            </a:r>
            <a:r>
              <a:rPr lang="en-US" altLang="ko-KR" sz="3600" dirty="0">
                <a:sym typeface="Wingdings" panose="05000000000000000000" pitchFamily="2" charset="2"/>
              </a:rPr>
              <a:t>   : always jump</a:t>
            </a: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BE932091-636E-A11A-9204-D7AF9879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9</a:t>
            </a:fld>
            <a:endParaRPr lang="en-US" sz="2000" b="1" dirty="0"/>
          </a:p>
        </p:txBody>
      </p:sp>
      <p:pic>
        <p:nvPicPr>
          <p:cNvPr id="8" name="그림 7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A1242-5C67-121F-495F-18291D18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903897"/>
            <a:ext cx="9296401" cy="3886200"/>
          </a:xfrm>
          <a:prstGeom prst="rect">
            <a:avLst/>
          </a:prstGeom>
        </p:spPr>
      </p:pic>
      <p:pic>
        <p:nvPicPr>
          <p:cNvPr id="11" name="그림 10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B9CE05-4E4D-CF7C-A07E-C3BD5F734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458" y="6911824"/>
            <a:ext cx="8053441" cy="2605872"/>
          </a:xfrm>
          <a:prstGeom prst="rect">
            <a:avLst/>
          </a:prstGeom>
        </p:spPr>
      </p:pic>
      <p:pic>
        <p:nvPicPr>
          <p:cNvPr id="13" name="그림 1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40F61E-0CF4-D9FD-4EF9-36AF42D10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1394" y="4428952"/>
            <a:ext cx="8276489" cy="16158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447F66-4C17-BADB-69C5-4D45D52762BF}"/>
              </a:ext>
            </a:extLst>
          </p:cNvPr>
          <p:cNvSpPr txBox="1"/>
          <p:nvPr/>
        </p:nvSpPr>
        <p:spPr>
          <a:xfrm>
            <a:off x="12405360" y="4128647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Incorrect Disassembly</a:t>
            </a:r>
            <a:endParaRPr lang="ko-KR" alt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7AE8C-D9CD-2E0F-DB8E-67773D95FE11}"/>
              </a:ext>
            </a:extLst>
          </p:cNvPr>
          <p:cNvSpPr txBox="1"/>
          <p:nvPr/>
        </p:nvSpPr>
        <p:spPr>
          <a:xfrm>
            <a:off x="12410902" y="6727158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Correct Disassembly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7492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65CE-3612-947D-E646-8F9F1AF7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5F6482F-A215-58E9-59AB-C9B049D980FF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9E59D1A-84ED-EA01-EC0E-4C638D25A0B7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EFA830-4343-0086-CFD8-4B035EFEFF7D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Anti-Disassembly Techniques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36FAE4-9479-17E6-F799-A251EB76B0C6}"/>
              </a:ext>
            </a:extLst>
          </p:cNvPr>
          <p:cNvSpPr txBox="1"/>
          <p:nvPr/>
        </p:nvSpPr>
        <p:spPr>
          <a:xfrm>
            <a:off x="1028703" y="2327477"/>
            <a:ext cx="153162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Impossible Disassembly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Using a single byte in two instructions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1C0CD04B-D91F-C9F0-E746-159DF201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10</a:t>
            </a:fld>
            <a:endParaRPr lang="en-US" sz="2000" b="1" dirty="0"/>
          </a:p>
        </p:txBody>
      </p:sp>
      <p:pic>
        <p:nvPicPr>
          <p:cNvPr id="7" name="그림 6" descr="텍스트, 폰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C0D934-70D1-6AF0-F0BF-B93224764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52789"/>
            <a:ext cx="9753600" cy="506272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1933144-7E9E-A50B-4FE9-93F6DA68DC7D}"/>
              </a:ext>
            </a:extLst>
          </p:cNvPr>
          <p:cNvSpPr/>
          <p:nvPr/>
        </p:nvSpPr>
        <p:spPr>
          <a:xfrm>
            <a:off x="5011188" y="5295900"/>
            <a:ext cx="2837411" cy="1828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ECE1E5-67D2-6219-6975-0712D486E91C}"/>
              </a:ext>
            </a:extLst>
          </p:cNvPr>
          <p:cNvSpPr/>
          <p:nvPr/>
        </p:nvSpPr>
        <p:spPr>
          <a:xfrm>
            <a:off x="6249439" y="5905500"/>
            <a:ext cx="2837411" cy="1828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824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93B8-0704-DD2C-DFED-103AAEAF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8136FAB-FB73-D997-D289-0DD5C56171F7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81CE83B-1073-B61F-D39F-E45D5D17211F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EFAA241-FA1F-75CD-235D-AAE856C45D28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Obscuring Flow Control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6F64720-424D-0F84-51CF-4628F17B2B02}"/>
              </a:ext>
            </a:extLst>
          </p:cNvPr>
          <p:cNvSpPr txBox="1"/>
          <p:nvPr/>
        </p:nvSpPr>
        <p:spPr>
          <a:xfrm>
            <a:off x="1028703" y="2327477"/>
            <a:ext cx="153162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Function Pointers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Standard : </a:t>
            </a:r>
            <a:r>
              <a:rPr lang="en-US" altLang="ko-KR" sz="3600" dirty="0"/>
              <a:t>CALL &lt;Address&gt; (Visible destination)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Obscured : </a:t>
            </a:r>
            <a:r>
              <a:rPr lang="en-US" altLang="ko-KR" sz="3600" dirty="0"/>
              <a:t>CALL EAX or CALL [EBP-4]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Disassemblers cannot cross-reference or follow the call to the target function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694692" lvl="2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12E82F8E-25EA-1592-1A67-D9C9C04D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11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41386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79994-C975-52FE-A4DB-ED4D60FE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FF72F2A-2E66-8858-8E29-295C321A2100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4C2C857-0C8C-6B71-16B5-B4F62F494012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48C08B8-C2D4-F070-40DA-DFB25804A64F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Obscuring Flow Control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83DEB76-690E-4F1E-7FBB-CF7FB3F07316}"/>
              </a:ext>
            </a:extLst>
          </p:cNvPr>
          <p:cNvSpPr txBox="1"/>
          <p:nvPr/>
        </p:nvSpPr>
        <p:spPr>
          <a:xfrm>
            <a:off x="1028703" y="2327477"/>
            <a:ext cx="153162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Return Pointer Abuse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Standard CALL : </a:t>
            </a:r>
            <a:r>
              <a:rPr lang="en-US" altLang="ko-KR" sz="3600" dirty="0"/>
              <a:t>Pushes the address of the next instruction onto the stack and jumps to the target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Standard RETN : </a:t>
            </a:r>
            <a:r>
              <a:rPr lang="en-US" altLang="ko-KR" sz="3600" dirty="0"/>
              <a:t>Pops the address from the top of the stack and jumps to it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Abuse : </a:t>
            </a:r>
            <a:r>
              <a:rPr lang="en-US" altLang="ko-KR" sz="3600" dirty="0"/>
              <a:t>Malware uses RETN for flow control instead of just returning from a function, performing hidden jump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Effect </a:t>
            </a:r>
          </a:p>
          <a:p>
            <a:pPr marL="1723392" lvl="3" indent="-571500">
              <a:lnSpc>
                <a:spcPts val="4180"/>
              </a:lnSpc>
              <a:buFont typeface="Wingdings" panose="05000000000000000000" pitchFamily="2" charset="2"/>
              <a:buChar char="Ø"/>
            </a:pPr>
            <a:r>
              <a:rPr lang="en-US" altLang="ko-KR" sz="3600" b="1" dirty="0"/>
              <a:t>Missing Cross Reference : </a:t>
            </a:r>
            <a:r>
              <a:rPr lang="en-US" altLang="ko-KR" sz="3600" dirty="0"/>
              <a:t>Disassemblers fail to show where the execution is jumping to</a:t>
            </a:r>
          </a:p>
          <a:p>
            <a:pPr marL="1723392" lvl="3" indent="-571500">
              <a:lnSpc>
                <a:spcPts val="4180"/>
              </a:lnSpc>
              <a:buFont typeface="Wingdings" panose="05000000000000000000" pitchFamily="2" charset="2"/>
              <a:buChar char="Ø"/>
            </a:pPr>
            <a:r>
              <a:rPr lang="en-US" altLang="ko-KR" sz="3600" b="1" dirty="0"/>
              <a:t>Premature Termination:</a:t>
            </a:r>
            <a:r>
              <a:rPr lang="en-US" altLang="ko-KR" sz="3600" dirty="0"/>
              <a:t> The tool incorrectly assumes the function ends at the RETN instruction, breaking further analysis</a:t>
            </a:r>
            <a:endParaRPr lang="en-US" altLang="ko-KR" sz="3600" b="1" dirty="0"/>
          </a:p>
          <a:p>
            <a:pPr marL="694692" lvl="2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3701D3E8-0643-EE3B-F069-F0538840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12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2395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708E-F6F5-9FE8-DE41-2FBD5D36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CDC8DD8-F598-D22E-5C57-BCA2A04E687F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F3525D5-9E0D-847B-BAC0-E2DFD6F044B7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5351E79-92F6-3077-5FE1-6941B9FF80F2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Obscuring Flow Control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1EB6E9F-11BB-982E-E53F-793BBDF183B1}"/>
              </a:ext>
            </a:extLst>
          </p:cNvPr>
          <p:cNvSpPr txBox="1"/>
          <p:nvPr/>
        </p:nvSpPr>
        <p:spPr>
          <a:xfrm>
            <a:off x="1028703" y="2327477"/>
            <a:ext cx="153162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>
                <a:solidFill>
                  <a:srgbClr val="0070C0"/>
                </a:solidFill>
              </a:rPr>
              <a:t>SEH (Structured Exception Handlers)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Mechanism: </a:t>
            </a:r>
            <a:r>
              <a:rPr lang="en-US" altLang="ko-KR" sz="3600" dirty="0"/>
              <a:t>Use SEH as a jump method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Effect </a:t>
            </a:r>
          </a:p>
          <a:p>
            <a:pPr marL="1723392" lvl="3" indent="-571500">
              <a:lnSpc>
                <a:spcPts val="4180"/>
              </a:lnSpc>
              <a:buFont typeface="Wingdings" panose="05000000000000000000" pitchFamily="2" charset="2"/>
              <a:buChar char="Ø"/>
            </a:pPr>
            <a:r>
              <a:rPr lang="en-US" altLang="ko-KR" sz="3600" dirty="0"/>
              <a:t>Disassemblers cannot statically follow exception-based flow</a:t>
            </a:r>
          </a:p>
          <a:p>
            <a:pPr marL="1723392" lvl="3" indent="-571500">
              <a:lnSpc>
                <a:spcPts val="4180"/>
              </a:lnSpc>
              <a:buFont typeface="Wingdings" panose="05000000000000000000" pitchFamily="2" charset="2"/>
              <a:buChar char="Ø"/>
            </a:pPr>
            <a:r>
              <a:rPr lang="en-US" altLang="ko-KR" sz="3600" dirty="0"/>
              <a:t>Actual malicious logic is often excluded from analysis or treated as data</a:t>
            </a:r>
          </a:p>
          <a:p>
            <a:pPr marL="1151892" lvl="3">
              <a:lnSpc>
                <a:spcPts val="4180"/>
              </a:lnSpc>
            </a:pPr>
            <a:r>
              <a:rPr lang="en-US" altLang="ko-KR" sz="3600" dirty="0"/>
              <a:t>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Analyst’s Solution </a:t>
            </a:r>
          </a:p>
          <a:p>
            <a:pPr marL="1894842" lvl="3" indent="-742950">
              <a:lnSpc>
                <a:spcPts val="4180"/>
              </a:lnSpc>
              <a:buFont typeface="+mj-lt"/>
              <a:buAutoNum type="arabicPeriod"/>
            </a:pPr>
            <a:r>
              <a:rPr lang="en-US" altLang="ko-KR" sz="3600" b="1" dirty="0"/>
              <a:t>Identify Handler Address</a:t>
            </a:r>
          </a:p>
          <a:p>
            <a:pPr marL="1894842" lvl="3" indent="-742950">
              <a:lnSpc>
                <a:spcPts val="4180"/>
              </a:lnSpc>
              <a:buFont typeface="+mj-lt"/>
              <a:buAutoNum type="arabicPeriod"/>
            </a:pPr>
            <a:r>
              <a:rPr lang="en-US" altLang="ko-KR" sz="3600" b="1" dirty="0"/>
              <a:t>Force Conversion (Data </a:t>
            </a:r>
            <a:r>
              <a:rPr lang="en-US" altLang="ko-KR" sz="3600" b="1" dirty="0">
                <a:sym typeface="Wingdings" panose="05000000000000000000" pitchFamily="2" charset="2"/>
              </a:rPr>
              <a:t></a:t>
            </a:r>
            <a:r>
              <a:rPr lang="en-US" altLang="ko-KR" sz="3600" b="1" dirty="0"/>
              <a:t> Code)</a:t>
            </a:r>
          </a:p>
          <a:p>
            <a:pPr marL="1894842" lvl="3" indent="-742950">
              <a:lnSpc>
                <a:spcPts val="4180"/>
              </a:lnSpc>
              <a:buFont typeface="+mj-lt"/>
              <a:buAutoNum type="arabicPeriod"/>
            </a:pPr>
            <a:r>
              <a:rPr lang="en-US" altLang="ko-KR" sz="3600" b="1" dirty="0"/>
              <a:t>Re-disassemble</a:t>
            </a:r>
            <a:endParaRPr lang="en-US" altLang="ko-KR" sz="3600" dirty="0"/>
          </a:p>
          <a:p>
            <a:pPr marL="694692" lvl="2">
              <a:lnSpc>
                <a:spcPts val="4180"/>
              </a:lnSpc>
            </a:pPr>
            <a:endParaRPr lang="en-US" altLang="ko-KR" sz="3600" dirty="0"/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4D8562DC-2B0B-32A0-BEA3-77C51BEF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13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86247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C1B1-D256-5B1D-FF5B-32679E8B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0E3DE04-9F33-6EBD-29C5-F5C31E489089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94B3DD0-238F-0216-F73F-89CE6FF5F708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FAE18CF-9BD6-967B-1582-6CE6EB932DB4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Thwarting Stack-Frame Analysis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E902F5-F0E4-E93D-D55B-7B7C95620B6A}"/>
              </a:ext>
            </a:extLst>
          </p:cNvPr>
          <p:cNvSpPr txBox="1"/>
          <p:nvPr/>
        </p:nvSpPr>
        <p:spPr>
          <a:xfrm>
            <a:off x="1028703" y="2327477"/>
            <a:ext cx="15316200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Exploiting Stack Assumptions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Disassemblers track the Stack Pointer (ESP) to build a stack frame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Malware authors use Conditional Branches with Constant Conditions to trick the tool 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dirty="0"/>
              <a:t>Result: The disassembler follows the wrong branch, leading to an incorrect stack offset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237492" lvl="1">
              <a:lnSpc>
                <a:spcPts val="4180"/>
              </a:lnSpc>
            </a:pPr>
            <a:r>
              <a:rPr lang="en-US" altLang="ko-KR" sz="4000" b="1" dirty="0"/>
              <a:t>Defeating Advanced Analysis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Target: </a:t>
            </a:r>
            <a:r>
              <a:rPr lang="en-US" altLang="ko-KR" sz="3600" dirty="0"/>
              <a:t>Algorithms used to deduce local variables and parameters</a:t>
            </a:r>
          </a:p>
          <a:p>
            <a:pPr marL="1266192" lvl="2" indent="-571500">
              <a:lnSpc>
                <a:spcPts val="418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Primary Impact: </a:t>
            </a:r>
            <a:r>
              <a:rPr lang="en-US" altLang="ko-KR" sz="3600" dirty="0"/>
              <a:t>Breaks the Hex-Rays </a:t>
            </a:r>
            <a:r>
              <a:rPr lang="en-US" altLang="ko-KR" sz="3600" dirty="0" err="1"/>
              <a:t>Decompiler</a:t>
            </a:r>
            <a:r>
              <a:rPr lang="en-US" altLang="ko-KR" sz="3600" dirty="0"/>
              <a:t> 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ECF24804-FBCC-F8AB-F75A-3EE064D01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14</a:t>
            </a:fld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7998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FE7C-ACC5-604D-6EC6-A9E37D3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82A4717-14E7-AA21-B79E-42B16ED73C6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8F6D284-4AAD-2E26-8AE5-0EAFF64110AE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0222E57-F156-31ED-059C-A5BDE1ADBBBE}"/>
              </a:ext>
            </a:extLst>
          </p:cNvPr>
          <p:cNvSpPr txBox="1"/>
          <p:nvPr/>
        </p:nvSpPr>
        <p:spPr>
          <a:xfrm>
            <a:off x="1028702" y="1071491"/>
            <a:ext cx="16116297" cy="684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4800" b="1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/>
                <a:cs typeface="Times New Roman" panose="02020603050405020304" pitchFamily="18" charset="0"/>
                <a:sym typeface="Arita Buri Semi-Bold"/>
              </a:rPr>
              <a:t>Thwarting Stack-Frame Analysis</a:t>
            </a:r>
          </a:p>
        </p:txBody>
      </p:sp>
      <p:sp>
        <p:nvSpPr>
          <p:cNvPr id="6" name="슬라이드 번호 개체 틀 6">
            <a:extLst>
              <a:ext uri="{FF2B5EF4-FFF2-40B4-BE49-F238E27FC236}">
                <a16:creationId xmlns:a16="http://schemas.microsoft.com/office/drawing/2014/main" id="{4ECE6050-63FA-9B80-78CE-3AFD5CE6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1" y="950176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b="1" smtClean="0"/>
              <a:pPr/>
              <a:t>15</a:t>
            </a:fld>
            <a:endParaRPr lang="en-US" sz="2000" b="1" dirty="0"/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E14C2E-0AD9-D2F2-A602-B52254236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324100"/>
            <a:ext cx="9448800" cy="7814797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152EDBD-68FB-5BD3-6D94-8647479540FE}"/>
              </a:ext>
            </a:extLst>
          </p:cNvPr>
          <p:cNvCxnSpPr/>
          <p:nvPr/>
        </p:nvCxnSpPr>
        <p:spPr>
          <a:xfrm>
            <a:off x="5715000" y="2933700"/>
            <a:ext cx="152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3066AF-3AA3-F90B-F151-2523BF8F56B1}"/>
              </a:ext>
            </a:extLst>
          </p:cNvPr>
          <p:cNvSpPr txBox="1"/>
          <p:nvPr/>
        </p:nvSpPr>
        <p:spPr>
          <a:xfrm>
            <a:off x="9639300" y="2672705"/>
            <a:ext cx="46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</a:rPr>
              <a:t>False constant condition (Always False)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45E98D-6851-13B3-331B-25C07DA5DAFA}"/>
              </a:ext>
            </a:extLst>
          </p:cNvPr>
          <p:cNvSpPr txBox="1"/>
          <p:nvPr/>
        </p:nvSpPr>
        <p:spPr>
          <a:xfrm>
            <a:off x="10363200" y="3021310"/>
            <a:ext cx="46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</a:rPr>
              <a:t>Dead Code Path (Never Executed)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2CD1E-BF3F-6AAF-E82C-95D80A6418C9}"/>
              </a:ext>
            </a:extLst>
          </p:cNvPr>
          <p:cNvSpPr txBox="1"/>
          <p:nvPr/>
        </p:nvSpPr>
        <p:spPr>
          <a:xfrm>
            <a:off x="10363199" y="3554968"/>
            <a:ext cx="4610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</a:rPr>
              <a:t>Disassembler assumes this branch</a:t>
            </a:r>
            <a:endParaRPr lang="ko-KR" altLang="en-US" dirty="0">
              <a:solidFill>
                <a:schemeClr val="tx2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A9ED9BC-A30F-76E5-119D-8B6839F07D21}"/>
              </a:ext>
            </a:extLst>
          </p:cNvPr>
          <p:cNvCxnSpPr/>
          <p:nvPr/>
        </p:nvCxnSpPr>
        <p:spPr>
          <a:xfrm>
            <a:off x="5715000" y="3205976"/>
            <a:ext cx="152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452C240-0A17-CA6D-26AF-028CB8057487}"/>
              </a:ext>
            </a:extLst>
          </p:cNvPr>
          <p:cNvCxnSpPr>
            <a:cxnSpLocks/>
          </p:cNvCxnSpPr>
          <p:nvPr/>
        </p:nvCxnSpPr>
        <p:spPr>
          <a:xfrm flipH="1">
            <a:off x="5257800" y="3924300"/>
            <a:ext cx="2075411" cy="1752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AF88BA9-7BD5-C869-B300-65F43A126E94}"/>
              </a:ext>
            </a:extLst>
          </p:cNvPr>
          <p:cNvCxnSpPr/>
          <p:nvPr/>
        </p:nvCxnSpPr>
        <p:spPr>
          <a:xfrm>
            <a:off x="5712229" y="8953500"/>
            <a:ext cx="152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253A8F-F7B6-61B4-D6AF-92318473A021}"/>
              </a:ext>
            </a:extLst>
          </p:cNvPr>
          <p:cNvSpPr txBox="1"/>
          <p:nvPr/>
        </p:nvSpPr>
        <p:spPr>
          <a:xfrm>
            <a:off x="10884304" y="8768834"/>
            <a:ext cx="6374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Result : Analysis fails due to perceived stack corruption</a:t>
            </a:r>
            <a:endParaRPr lang="ko-KR" altLang="en-US" sz="4000" b="1" dirty="0"/>
          </a:p>
        </p:txBody>
      </p:sp>
      <p:sp>
        <p:nvSpPr>
          <p:cNvPr id="31" name="왼쪽 대괄호 30">
            <a:extLst>
              <a:ext uri="{FF2B5EF4-FFF2-40B4-BE49-F238E27FC236}">
                <a16:creationId xmlns:a16="http://schemas.microsoft.com/office/drawing/2014/main" id="{9D345433-0B10-AC14-578E-94047C2D50F4}"/>
              </a:ext>
            </a:extLst>
          </p:cNvPr>
          <p:cNvSpPr/>
          <p:nvPr/>
        </p:nvSpPr>
        <p:spPr>
          <a:xfrm>
            <a:off x="2743200" y="5905500"/>
            <a:ext cx="1066800" cy="3047999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D293A9-B7B1-FEB2-6034-BC844AD948F2}"/>
              </a:ext>
            </a:extLst>
          </p:cNvPr>
          <p:cNvSpPr txBox="1"/>
          <p:nvPr/>
        </p:nvSpPr>
        <p:spPr>
          <a:xfrm>
            <a:off x="1352550" y="6815766"/>
            <a:ext cx="4610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2"/>
                </a:solidFill>
              </a:rPr>
              <a:t>Stack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  <a:r>
              <a:rPr lang="en-US" altLang="ko-KR" dirty="0">
                <a:solidFill>
                  <a:schemeClr val="tx2"/>
                </a:solidFill>
              </a:rPr>
              <a:t>Pointer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  <a:endParaRPr lang="en-US" altLang="ko-KR" dirty="0">
              <a:solidFill>
                <a:schemeClr val="tx2"/>
              </a:solidFill>
            </a:endParaRPr>
          </a:p>
          <a:p>
            <a:r>
              <a:rPr lang="en-US" altLang="ko-KR" dirty="0">
                <a:solidFill>
                  <a:schemeClr val="tx2"/>
                </a:solidFill>
              </a:rPr>
              <a:t>Negative</a:t>
            </a:r>
            <a:r>
              <a:rPr lang="ko-KR" altLang="en-US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010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4"/>
    </mc:Choice>
    <mc:Fallback xmlns="">
      <p:transition spd="slow" advTm="3963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463914" y="2338071"/>
            <a:ext cx="16611600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1</a:t>
            </a:r>
            <a:r>
              <a:rPr lang="en-US" altLang="ko-KR" sz="3600" dirty="0"/>
              <a:t>: What anti-disassembly technique is used in this binary?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62" y="2903733"/>
            <a:ext cx="10889347" cy="6928570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sp>
        <p:nvSpPr>
          <p:cNvPr id="7" name="오른쪽 화살표 6"/>
          <p:cNvSpPr/>
          <p:nvPr/>
        </p:nvSpPr>
        <p:spPr>
          <a:xfrm>
            <a:off x="10330909" y="5941199"/>
            <a:ext cx="1333500" cy="3225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693462" y="5733133"/>
            <a:ext cx="58325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False Conditional Branches</a:t>
            </a:r>
            <a:endParaRPr lang="ko-KR" altLang="en-US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9448800" y="5767853"/>
            <a:ext cx="129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ZF = 1</a:t>
            </a:r>
          </a:p>
          <a:p>
            <a:r>
              <a:rPr lang="en-US" altLang="ko-KR" dirty="0"/>
              <a:t>JZ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876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463914" y="2338071"/>
            <a:ext cx="16611600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2</a:t>
            </a:r>
            <a:r>
              <a:rPr lang="en-US" altLang="ko-KR" sz="3600" dirty="0"/>
              <a:t>: What rogue opcode is the disassembly tricked into disassembling?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540797"/>
            <a:ext cx="13989715" cy="55912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792200" y="4118062"/>
            <a:ext cx="373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fake control-flow target</a:t>
            </a:r>
            <a:endParaRPr lang="ko-KR" altLang="en-US" sz="2400" b="1" dirty="0"/>
          </a:p>
        </p:txBody>
      </p:sp>
      <p:cxnSp>
        <p:nvCxnSpPr>
          <p:cNvPr id="17" name="직선 연결선 16"/>
          <p:cNvCxnSpPr/>
          <p:nvPr/>
        </p:nvCxnSpPr>
        <p:spPr>
          <a:xfrm flipV="1">
            <a:off x="4953000" y="3086100"/>
            <a:ext cx="34290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8382000" y="3086100"/>
            <a:ext cx="12192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023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463914" y="2338071"/>
            <a:ext cx="16611600" cy="9633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3</a:t>
            </a:r>
            <a:r>
              <a:rPr lang="en-US" altLang="ko-KR" sz="3600" dirty="0"/>
              <a:t>: How many times is this technique used?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388" y="3140024"/>
            <a:ext cx="10944433" cy="32664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401" y="7794616"/>
            <a:ext cx="12534210" cy="95416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401" y="8748776"/>
            <a:ext cx="11579507" cy="113832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3401" y="6343523"/>
            <a:ext cx="10741999" cy="12715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93388" y="8840167"/>
            <a:ext cx="4115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Total : 5 times</a:t>
            </a:r>
            <a:endParaRPr lang="ko-KR" altLang="en-US" sz="48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36920" y="6029317"/>
            <a:ext cx="6052749" cy="8382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11400" y="5663791"/>
            <a:ext cx="1790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Hex View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9308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-228600" y="2324100"/>
            <a:ext cx="18135600" cy="923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4</a:t>
            </a:r>
            <a:r>
              <a:rPr lang="en-US" altLang="ko-KR" sz="3600" dirty="0"/>
              <a:t>: What command-line argument will cause the program to print “Good Job!”?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3179412"/>
            <a:ext cx="9982200" cy="3402596"/>
          </a:xfrm>
          <a:prstGeom prst="rect">
            <a:avLst/>
          </a:prstGeom>
        </p:spPr>
      </p:pic>
      <p:sp>
        <p:nvSpPr>
          <p:cNvPr id="7" name="아래쪽 화살표 6"/>
          <p:cNvSpPr/>
          <p:nvPr/>
        </p:nvSpPr>
        <p:spPr>
          <a:xfrm>
            <a:off x="6400800" y="5372100"/>
            <a:ext cx="1066800" cy="17970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2" y="7518484"/>
            <a:ext cx="15127843" cy="24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2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575" y="3195420"/>
            <a:ext cx="10623625" cy="222251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574" y="5783463"/>
            <a:ext cx="10488300" cy="4064217"/>
          </a:xfrm>
          <a:prstGeom prst="rect">
            <a:avLst/>
          </a:prstGeom>
        </p:spPr>
      </p:pic>
      <p:sp>
        <p:nvSpPr>
          <p:cNvPr id="12" name="아래쪽 화살표 11"/>
          <p:cNvSpPr/>
          <p:nvPr/>
        </p:nvSpPr>
        <p:spPr>
          <a:xfrm>
            <a:off x="4267200" y="5087470"/>
            <a:ext cx="1143000" cy="33326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-228600" y="2324100"/>
            <a:ext cx="18135600" cy="923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4</a:t>
            </a:r>
            <a:r>
              <a:rPr lang="en-US" altLang="ko-KR" sz="3600" dirty="0"/>
              <a:t>: What command-line argument will cause the program to print “Good Job!”?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1430000" y="8420100"/>
            <a:ext cx="914400" cy="5334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31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-228600" y="2324100"/>
            <a:ext cx="18135600" cy="923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4</a:t>
            </a:r>
            <a:r>
              <a:rPr lang="en-US" altLang="ko-KR" sz="3600" dirty="0"/>
              <a:t>: What command-line argument will cause the program to print “Good Job!”?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107661"/>
            <a:ext cx="13918048" cy="197980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71031"/>
            <a:ext cx="17930547" cy="276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77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-228600" y="2324100"/>
            <a:ext cx="18135600" cy="923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4</a:t>
            </a:r>
            <a:r>
              <a:rPr lang="en-US" altLang="ko-KR" sz="3600" dirty="0"/>
              <a:t>: What command-line argument will cause the program to print “Good Job!”?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9380" y="3638906"/>
            <a:ext cx="11655002" cy="5850717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725400" y="8044898"/>
            <a:ext cx="1225914" cy="52760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59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5E63-7411-FBCF-D891-AC618EF1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2FA8F04-DDE1-8026-8114-4219D1DA774F}"/>
              </a:ext>
            </a:extLst>
          </p:cNvPr>
          <p:cNvSpPr txBox="1"/>
          <p:nvPr/>
        </p:nvSpPr>
        <p:spPr>
          <a:xfrm>
            <a:off x="-228600" y="2324100"/>
            <a:ext cx="18135600" cy="9235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r>
              <a:rPr lang="en-US" altLang="ko-KR" sz="3600" b="1" dirty="0"/>
              <a:t>Question 4</a:t>
            </a:r>
            <a:r>
              <a:rPr lang="en-US" altLang="ko-KR" sz="3600" dirty="0"/>
              <a:t>: What command-line argument will cause the program to print “Good Job!”?</a:t>
            </a:r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lvl="2">
              <a:lnSpc>
                <a:spcPts val="3100"/>
              </a:lnSpc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/>
          </a:p>
          <a:p>
            <a:pPr marL="1428750" lvl="2" indent="-514350">
              <a:lnSpc>
                <a:spcPts val="31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ts val="3100"/>
              </a:lnSpc>
            </a:pPr>
            <a:endParaRPr lang="en-US" altLang="ko-K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F3E2381-51F2-2F0A-3B16-8ACFF79849D1}"/>
              </a:ext>
            </a:extLst>
          </p:cNvPr>
          <p:cNvSpPr/>
          <p:nvPr/>
        </p:nvSpPr>
        <p:spPr>
          <a:xfrm>
            <a:off x="1028703" y="1972544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2D0F230-3300-7484-D286-598843EF1461}"/>
              </a:ext>
            </a:extLst>
          </p:cNvPr>
          <p:cNvSpPr/>
          <p:nvPr/>
        </p:nvSpPr>
        <p:spPr>
          <a:xfrm>
            <a:off x="1028703" y="871466"/>
            <a:ext cx="16230594" cy="0"/>
          </a:xfrm>
          <a:prstGeom prst="line">
            <a:avLst/>
          </a:prstGeom>
          <a:ln w="19050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D35EB2F-E19D-1CC4-EABE-95F2403D6AC7}"/>
              </a:ext>
            </a:extLst>
          </p:cNvPr>
          <p:cNvSpPr txBox="1"/>
          <p:nvPr/>
        </p:nvSpPr>
        <p:spPr>
          <a:xfrm>
            <a:off x="1028702" y="1071491"/>
            <a:ext cx="12001498" cy="67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199"/>
              </a:lnSpc>
            </a:pPr>
            <a:r>
              <a:rPr lang="en-US" sz="4800" b="1" spc="-279" dirty="0">
                <a:solidFill>
                  <a:srgbClr val="333333"/>
                </a:solidFill>
                <a:latin typeface="Times New Roman" panose="02020603050405020304" pitchFamily="18" charset="0"/>
                <a:ea typeface="Arita Buri Semi-Bold" panose="020B0600000101010101" charset="-127"/>
                <a:cs typeface="Times New Roman" panose="02020603050405020304" pitchFamily="18" charset="0"/>
                <a:sym typeface="Arita Buri Semi-Bold"/>
              </a:rPr>
              <a:t>Lab 15 - 1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6E2EA-68E6-CBDA-1E24-B3E6DDFA146C}"/>
              </a:ext>
            </a:extLst>
          </p:cNvPr>
          <p:cNvSpPr txBox="1"/>
          <p:nvPr/>
        </p:nvSpPr>
        <p:spPr>
          <a:xfrm>
            <a:off x="13951314" y="9497531"/>
            <a:ext cx="3574686" cy="334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1900" b="1" dirty="0">
                <a:solidFill>
                  <a:srgbClr val="333333"/>
                </a:solidFill>
                <a:latin typeface="Arita Dotum Semi-Bold"/>
                <a:ea typeface="Arita Dotum Semi-Bold"/>
                <a:cs typeface="Arita Dotum Semi-Bold"/>
                <a:sym typeface="Arita Dotum Semi-Bold"/>
              </a:rPr>
              <a:t>18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91" y="4229100"/>
            <a:ext cx="16422017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3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82"/>
    </mc:Choice>
    <mc:Fallback xmlns="">
      <p:transition spd="slow" advTm="6428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7914-B778-3B2E-0C97-82A7335E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0">
            <a:extLst>
              <a:ext uri="{FF2B5EF4-FFF2-40B4-BE49-F238E27FC236}">
                <a16:creationId xmlns:a16="http://schemas.microsoft.com/office/drawing/2014/main" id="{F44C18E5-B649-CA01-2084-3AAAF9C12A3F}"/>
              </a:ext>
            </a:extLst>
          </p:cNvPr>
          <p:cNvSpPr txBox="1"/>
          <p:nvPr/>
        </p:nvSpPr>
        <p:spPr>
          <a:xfrm>
            <a:off x="990600" y="4404836"/>
            <a:ext cx="16960948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latinLnBrk="1"/>
            <a:r>
              <a:rPr lang="en-US" altLang="ko-KR" sz="9600" b="1" dirty="0"/>
              <a:t>Thank You</a:t>
            </a:r>
            <a:endParaRPr lang="ko-KR" altLang="ko-KR" sz="9600" dirty="0"/>
          </a:p>
        </p:txBody>
      </p:sp>
    </p:spTree>
    <p:extLst>
      <p:ext uri="{BB962C8B-B14F-4D97-AF65-F5344CB8AC3E}">
        <p14:creationId xmlns:p14="http://schemas.microsoft.com/office/powerpoint/2010/main" val="152046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05"/>
    </mc:Choice>
    <mc:Fallback xmlns="">
      <p:transition spd="slow" advTm="37505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3484</TotalTime>
  <Words>944</Words>
  <Application>Microsoft Office PowerPoint</Application>
  <PresentationFormat>사용자 지정</PresentationFormat>
  <Paragraphs>350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Arita Dotum Light</vt:lpstr>
      <vt:lpstr>Arita Buri Semi-Bold</vt:lpstr>
      <vt:lpstr>Times New Roman</vt:lpstr>
      <vt:lpstr>Arial</vt:lpstr>
      <vt:lpstr>Arita Buri Medium</vt:lpstr>
      <vt:lpstr>Calibri</vt:lpstr>
      <vt:lpstr>Wingdings</vt:lpstr>
      <vt:lpstr>Arita Dotum Semi-Bold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흑백 미니멀리스트 비즈니스 프레젠테이션</dc:title>
  <dc:creator>User</dc:creator>
  <cp:lastModifiedBy>Windows 사용자</cp:lastModifiedBy>
  <cp:revision>48</cp:revision>
  <dcterms:created xsi:type="dcterms:W3CDTF">2006-08-16T00:00:00Z</dcterms:created>
  <dcterms:modified xsi:type="dcterms:W3CDTF">2026-02-11T05:30:10Z</dcterms:modified>
  <dc:identifier>DAG1CZBgfY0</dc:identifier>
</cp:coreProperties>
</file>