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0"/>
  </p:notesMasterIdLst>
  <p:sldIdLst>
    <p:sldId id="258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2" r:id="rId11"/>
    <p:sldId id="301" r:id="rId12"/>
    <p:sldId id="287" r:id="rId13"/>
    <p:sldId id="288" r:id="rId14"/>
    <p:sldId id="289" r:id="rId15"/>
    <p:sldId id="290" r:id="rId16"/>
    <p:sldId id="291" r:id="rId17"/>
    <p:sldId id="292" r:id="rId18"/>
    <p:sldId id="283" r:id="rId19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F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82" autoAdjust="0"/>
    <p:restoredTop sz="64520" autoAdjust="0"/>
  </p:normalViewPr>
  <p:slideViewPr>
    <p:cSldViewPr snapToGrid="0">
      <p:cViewPr>
        <p:scale>
          <a:sx n="42" d="100"/>
          <a:sy n="42" d="100"/>
        </p:scale>
        <p:origin x="15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1868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36495-DC0D-4CAB-99CF-2BC91B7B4E63}" type="datetimeFigureOut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743950" y="6513910"/>
            <a:ext cx="397934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A937ED-931D-40D0-A52B-9D3119F2622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417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, </a:t>
            </a:r>
            <a:r>
              <a:rPr lang="ko-KR" altLang="en-US" dirty="0"/>
              <a:t>오늘 제가 진행할 주제는 </a:t>
            </a:r>
            <a:r>
              <a:rPr lang="en-US" altLang="ko-KR" dirty="0"/>
              <a:t>malware-focused network signatures 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369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A1BB3E-FAC5-6A89-3198-8A9C81211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2189E1-85F3-4010-6A55-1B04FA3FC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C68084-CBE0-02BD-54C3-BFEEFC34BA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 장에서는 악성코드와 네트워크의 관계를 다룹니다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요즘 악성코드는 대부분 </a:t>
            </a:r>
            <a:r>
              <a:rPr lang="ko-KR" altLang="en-US" b="1" dirty="0"/>
              <a:t>네트워크 연결을 적극적으로 사용합니다</a:t>
            </a:r>
            <a:r>
              <a:rPr lang="en-US" altLang="ko-KR" b="1" dirty="0"/>
              <a:t>.</a:t>
            </a:r>
          </a:p>
          <a:p>
            <a:br>
              <a:rPr lang="ko-KR" altLang="en-US" dirty="0"/>
            </a:br>
            <a:r>
              <a:rPr lang="ko-KR" altLang="en-US" dirty="0"/>
              <a:t>혼자 실행되고 끝나는 경우는 거의 없고</a:t>
            </a:r>
            <a:r>
              <a:rPr lang="en-US" altLang="ko-KR" dirty="0"/>
              <a:t>, </a:t>
            </a:r>
            <a:r>
              <a:rPr lang="ko-KR" altLang="en-US" dirty="0"/>
              <a:t>외부 서버와 통신하면서 소통하는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악성코드는 </a:t>
            </a:r>
            <a:r>
              <a:rPr lang="ko-KR" altLang="en-US" b="1" dirty="0"/>
              <a:t>외부와의 통신 없이는 목적을 완전히 달성하기 어렵습니다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중요한 점은</a:t>
            </a:r>
            <a:r>
              <a:rPr lang="en-US" altLang="ko-KR" dirty="0"/>
              <a:t>, </a:t>
            </a:r>
            <a:r>
              <a:rPr lang="ko-KR" altLang="en-US" dirty="0"/>
              <a:t>네트워크 트래픽을 보면 단순히 ‘무슨 기능을 </a:t>
            </a:r>
            <a:r>
              <a:rPr lang="ko-KR" altLang="en-US" dirty="0" err="1"/>
              <a:t>했는지’가</a:t>
            </a:r>
            <a:r>
              <a:rPr lang="ko-KR" altLang="en-US" dirty="0"/>
              <a:t> 아니라 </a:t>
            </a:r>
            <a:r>
              <a:rPr lang="ko-KR" altLang="en-US" b="1" dirty="0"/>
              <a:t>어떤 의도를 가지고 행동했는지</a:t>
            </a:r>
            <a:r>
              <a:rPr lang="ko-KR" altLang="en-US" dirty="0"/>
              <a:t>를 알 수 있다는 것입니다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F0EA61-0C67-14D9-6147-77E4D595F7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8137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FE227-E0DE-934E-8B01-2452820D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841D4D-4A13-0950-ACCD-604BFF716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791C71-9310-5A3F-660C-350387073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“이제 네트워크 기반 대응 기법에 대해 간단히 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여기서 </a:t>
            </a:r>
            <a:r>
              <a:rPr lang="en-US" altLang="ko-KR" b="1" dirty="0"/>
              <a:t>countermeasures</a:t>
            </a:r>
            <a:r>
              <a:rPr lang="ko-KR" altLang="en-US" dirty="0"/>
              <a:t>는 악성 활동을 </a:t>
            </a:r>
            <a:r>
              <a:rPr lang="ko-KR" altLang="en-US" b="1" dirty="0"/>
              <a:t>탐지하거나 차단하기 위한 방법</a:t>
            </a:r>
            <a:r>
              <a:rPr lang="ko-KR" altLang="en-US" dirty="0"/>
              <a:t>을 의미합니다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가장 기본적인 방법은 </a:t>
            </a:r>
            <a:r>
              <a:rPr lang="ko-KR" altLang="en-US" b="1" dirty="0"/>
              <a:t>방화벽이나 라우터를 이용한 필터링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IP </a:t>
            </a:r>
            <a:r>
              <a:rPr lang="ko-KR" altLang="en-US" dirty="0"/>
              <a:t>주소나 </a:t>
            </a:r>
            <a:r>
              <a:rPr lang="en-US" altLang="ko-KR" dirty="0"/>
              <a:t>TCP, UDP </a:t>
            </a:r>
            <a:r>
              <a:rPr lang="ko-KR" altLang="en-US" dirty="0"/>
              <a:t>포트를 기준으로 의심스러운 트래픽을 차단할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</a:t>
            </a:r>
            <a:r>
              <a:rPr lang="en-US" altLang="ko-KR" b="1" dirty="0"/>
              <a:t>DNS </a:t>
            </a:r>
            <a:r>
              <a:rPr lang="ko-KR" altLang="en-US" b="1" dirty="0"/>
              <a:t>기반 방어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악성 도메인을 정상 서버가 아니라 내부의 </a:t>
            </a:r>
            <a:r>
              <a:rPr lang="ko-KR" altLang="en-US" b="1" dirty="0" err="1"/>
              <a:t>싱크홀</a:t>
            </a:r>
            <a:r>
              <a:rPr lang="ko-KR" altLang="en-US" b="1" dirty="0"/>
              <a:t> 서버로 연결</a:t>
            </a:r>
            <a:r>
              <a:rPr lang="ko-KR" altLang="en-US" dirty="0"/>
              <a:t>시켜서 통신을 무력화하여 방어하는 방식입니다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 하나는 </a:t>
            </a:r>
            <a:r>
              <a:rPr lang="ko-KR" altLang="en-US" b="1" dirty="0"/>
              <a:t>프록시 서버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도메인이나 </a:t>
            </a:r>
            <a:r>
              <a:rPr lang="en-US" altLang="ko-KR" dirty="0"/>
              <a:t>URL </a:t>
            </a:r>
            <a:r>
              <a:rPr lang="ko-KR" altLang="en-US" dirty="0"/>
              <a:t>단위로 접근을 차단하거나 로그를 남길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이런 방법에는 한계가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공격자는 </a:t>
            </a:r>
            <a:r>
              <a:rPr lang="en-US" altLang="ko-KR" b="1" dirty="0"/>
              <a:t>IP</a:t>
            </a:r>
            <a:r>
              <a:rPr lang="ko-KR" altLang="en-US" b="1" dirty="0"/>
              <a:t>나 도메인을 매우 쉽게 바꿀 수 있기 때문입니다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그래서 단순히 주소만 보는 방식이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트래픽의 내용 자체를 분석하는 방법도 필요합니다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6A749A-CBA1-C354-62FB-431968067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762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0AC7C6-7161-F221-8B38-ECDA9E04E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BD7E55-418D-C62C-7031-9AA79155A9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F35DD6-4FB5-AAC9-8A06-C604CC9028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=</a:t>
            </a:r>
            <a:r>
              <a:rPr lang="ko-KR" altLang="en-US" dirty="0"/>
              <a:t>다음으로는 </a:t>
            </a:r>
            <a:r>
              <a:rPr lang="ko-KR" altLang="en-US" b="1" dirty="0"/>
              <a:t>악성코드가 네트워크에서 어떤 흔적을 남기는지</a:t>
            </a:r>
            <a:r>
              <a:rPr lang="ko-KR" altLang="en-US" dirty="0"/>
              <a:t>를 간단히 설명하겠습니다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악성코드는 혼자서는 거의 의미 있는 일을 못 하고</a:t>
            </a:r>
            <a:r>
              <a:rPr lang="en-US" altLang="ko-KR" dirty="0"/>
              <a:t>, </a:t>
            </a:r>
            <a:r>
              <a:rPr lang="ko-KR" altLang="en-US" b="1" dirty="0"/>
              <a:t>외부 서버와 통신하면서 활동</a:t>
            </a:r>
            <a:r>
              <a:rPr lang="ko-KR" altLang="en-US" dirty="0"/>
              <a:t>하는 경우가 많다고 앞에서 말씀드렸는데</a:t>
            </a:r>
            <a:br>
              <a:rPr lang="en-US" altLang="ko-KR" dirty="0"/>
            </a:br>
            <a:r>
              <a:rPr lang="ko-KR" altLang="en-US" dirty="0"/>
              <a:t>그 과정에서 </a:t>
            </a:r>
            <a:r>
              <a:rPr lang="ko-KR" altLang="en-US" b="1" dirty="0"/>
              <a:t>관찰 가능한 네트워크 지표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en-US" altLang="ko-KR" i="1" dirty="0"/>
              <a:t>indicator</a:t>
            </a:r>
            <a:r>
              <a:rPr lang="ko-KR" altLang="en-US" dirty="0"/>
              <a:t>가 생깁니다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대표적인 지표는 세 가지입니다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 번째는 </a:t>
            </a:r>
            <a:r>
              <a:rPr lang="ko-KR" altLang="en-US" b="1" dirty="0"/>
              <a:t>도메인 이름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예를 들어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www.badsite.com</a:t>
            </a:r>
            <a:r>
              <a:rPr lang="ko-KR" altLang="en-US" dirty="0"/>
              <a:t>처럼</a:t>
            </a:r>
            <a:r>
              <a:rPr lang="en-US" altLang="ko-KR" dirty="0"/>
              <a:t>,</a:t>
            </a:r>
            <a:r>
              <a:rPr lang="ko-KR" altLang="en-US" dirty="0"/>
              <a:t>악성코드가 접속하는 서버의 주소가 여기에 해당합니다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 도메인은 실제로는 </a:t>
            </a:r>
            <a:r>
              <a:rPr lang="en-US" altLang="ko-KR" b="1" dirty="0"/>
              <a:t>IP </a:t>
            </a:r>
            <a:r>
              <a:rPr lang="ko-KR" altLang="en-US" b="1" dirty="0"/>
              <a:t>주소로 변환되어 통신</a:t>
            </a:r>
            <a:r>
              <a:rPr lang="ko-KR" altLang="en-US" dirty="0"/>
              <a:t>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</a:t>
            </a:r>
            <a:r>
              <a:rPr lang="en-US" altLang="ko-KR" b="1" dirty="0"/>
              <a:t>IP </a:t>
            </a:r>
            <a:r>
              <a:rPr lang="ko-KR" altLang="en-US" b="1" dirty="0"/>
              <a:t>주소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도메인을 쓰지 않고</a:t>
            </a:r>
            <a:r>
              <a:rPr lang="en-US" altLang="ko-KR" dirty="0"/>
              <a:t>, IP </a:t>
            </a:r>
            <a:r>
              <a:rPr lang="ko-KR" altLang="en-US" dirty="0"/>
              <a:t>주소를 직접 사용하는 경우도 많습니다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 번째는 </a:t>
            </a:r>
            <a:r>
              <a:rPr lang="en-US" altLang="ko-KR" b="1" dirty="0"/>
              <a:t>HTTP </a:t>
            </a:r>
            <a:r>
              <a:rPr lang="ko-KR" altLang="en-US" b="1" dirty="0"/>
              <a:t>요청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특히 </a:t>
            </a:r>
            <a:r>
              <a:rPr lang="en-US" altLang="ko-KR" dirty="0"/>
              <a:t>GET </a:t>
            </a:r>
            <a:r>
              <a:rPr lang="ko-KR" altLang="en-US" dirty="0"/>
              <a:t>요청 안에는 경로</a:t>
            </a:r>
            <a:r>
              <a:rPr lang="en-US" altLang="ko-KR" dirty="0"/>
              <a:t>, User-Agent </a:t>
            </a:r>
            <a:r>
              <a:rPr lang="ko-KR" altLang="en-US" dirty="0"/>
              <a:t>같은 정보가 포함되어 있고</a:t>
            </a:r>
            <a:r>
              <a:rPr lang="en-US" altLang="ko-KR" dirty="0"/>
              <a:t>, </a:t>
            </a:r>
            <a:r>
              <a:rPr lang="ko-KR" altLang="en-US" dirty="0"/>
              <a:t>이 안에 </a:t>
            </a:r>
            <a:r>
              <a:rPr lang="ko-KR" altLang="en-US" b="1" dirty="0"/>
              <a:t>악성 행위의 특징</a:t>
            </a:r>
            <a:r>
              <a:rPr lang="ko-KR" altLang="en-US" dirty="0"/>
              <a:t>이 드러나는 경우가 많습니다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슬라이드부터는 이런 단순한 지표를 넘어서</a:t>
            </a:r>
            <a:r>
              <a:rPr lang="en-US" altLang="ko-KR" dirty="0"/>
              <a:t>, </a:t>
            </a:r>
            <a:r>
              <a:rPr lang="ko-KR" altLang="en-US" b="1" dirty="0"/>
              <a:t>공격자가 어떻게 더 교묘하게 트래픽을 숨기는지</a:t>
            </a:r>
            <a:r>
              <a:rPr lang="ko-KR" altLang="en-US" dirty="0"/>
              <a:t>를 보겠습니다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A59D3F0-7910-54AD-3772-65C5F8AA1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3187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FA609-D328-49D9-F79A-B6FEDD0C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C4CC23-5BFB-54CD-545D-1BF2BC05E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8A07AE-4414-4CD7-E095-5D811D86AF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 슬라이드에서 도메인</a:t>
            </a:r>
            <a:r>
              <a:rPr lang="en-US" altLang="ko-KR" dirty="0"/>
              <a:t>, IP </a:t>
            </a:r>
            <a:r>
              <a:rPr lang="ko-KR" altLang="en-US" dirty="0"/>
              <a:t>같은 “기본 </a:t>
            </a:r>
            <a:r>
              <a:rPr lang="ko-KR" altLang="en-US" dirty="0" err="1"/>
              <a:t>지표”를</a:t>
            </a:r>
            <a:r>
              <a:rPr lang="ko-KR" altLang="en-US" dirty="0"/>
              <a:t> 봤는데요</a:t>
            </a:r>
            <a:r>
              <a:rPr lang="en-US" altLang="ko-KR" dirty="0"/>
              <a:t>,</a:t>
            </a:r>
          </a:p>
          <a:p>
            <a:br>
              <a:rPr lang="en-US" altLang="ko-KR" dirty="0"/>
            </a:br>
            <a:r>
              <a:rPr lang="ko-KR" altLang="en-US" dirty="0"/>
              <a:t>여기서 포인트는 </a:t>
            </a:r>
            <a:r>
              <a:rPr lang="ko-KR" altLang="en-US" b="1" dirty="0"/>
              <a:t>도메인과 </a:t>
            </a:r>
            <a:r>
              <a:rPr lang="en-US" altLang="ko-KR" b="1" dirty="0"/>
              <a:t>IP </a:t>
            </a:r>
            <a:r>
              <a:rPr lang="ko-KR" altLang="en-US" b="1" dirty="0"/>
              <a:t>자체가 끝이 아니라</a:t>
            </a:r>
            <a:r>
              <a:rPr lang="en-US" altLang="ko-KR" b="1" dirty="0"/>
              <a:t>, </a:t>
            </a:r>
            <a:r>
              <a:rPr lang="ko-KR" altLang="en-US" b="1" dirty="0"/>
              <a:t>주변에 붙는 정보가 굉장히 많다</a:t>
            </a:r>
            <a:r>
              <a:rPr lang="ko-KR" altLang="en-US" dirty="0"/>
              <a:t>는 겁니다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 도메인은 </a:t>
            </a:r>
            <a:r>
              <a:rPr lang="ko-KR" altLang="en-US" b="1" dirty="0"/>
              <a:t>누가 등록했는지</a:t>
            </a:r>
            <a:r>
              <a:rPr lang="en-US" altLang="ko-KR" b="1" dirty="0"/>
              <a:t>(</a:t>
            </a:r>
            <a:r>
              <a:rPr lang="ko-KR" altLang="en-US" b="1" dirty="0"/>
              <a:t>도메인 </a:t>
            </a:r>
            <a:r>
              <a:rPr lang="en-US" altLang="ko-KR" b="1" dirty="0"/>
              <a:t>registry)</a:t>
            </a:r>
            <a:r>
              <a:rPr lang="en-US" altLang="ko-KR" dirty="0"/>
              <a:t>, </a:t>
            </a:r>
            <a:r>
              <a:rPr lang="ko-KR" altLang="en-US" dirty="0"/>
              <a:t>그리고 </a:t>
            </a:r>
            <a:r>
              <a:rPr lang="en-US" altLang="ko-KR" b="1" dirty="0"/>
              <a:t>DNS </a:t>
            </a:r>
            <a:r>
              <a:rPr lang="ko-KR" altLang="en-US" b="1" dirty="0"/>
              <a:t>기록을 통해 어떤 </a:t>
            </a:r>
            <a:r>
              <a:rPr lang="en-US" altLang="ko-KR" b="1" dirty="0"/>
              <a:t>IP</a:t>
            </a:r>
            <a:r>
              <a:rPr lang="ko-KR" altLang="en-US" b="1" dirty="0"/>
              <a:t>로 </a:t>
            </a:r>
            <a:r>
              <a:rPr lang="ko-KR" altLang="en-US" b="1" dirty="0" err="1"/>
              <a:t>매핑되는지</a:t>
            </a:r>
            <a:r>
              <a:rPr lang="ko-KR" altLang="en-US" dirty="0" err="1"/>
              <a:t>를</a:t>
            </a:r>
            <a:r>
              <a:rPr lang="ko-KR" altLang="en-US" dirty="0"/>
              <a:t> 알 수 있어요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en-US" altLang="ko-KR" dirty="0"/>
              <a:t>IP</a:t>
            </a:r>
            <a:r>
              <a:rPr lang="ko-KR" altLang="en-US" dirty="0"/>
              <a:t>도 마찬가지로 </a:t>
            </a:r>
            <a:r>
              <a:rPr lang="ko-KR" altLang="en-US" b="1" dirty="0"/>
              <a:t>어느 기관</a:t>
            </a:r>
            <a:r>
              <a:rPr lang="en-US" altLang="ko-KR" b="1" dirty="0"/>
              <a:t>/</a:t>
            </a:r>
            <a:r>
              <a:rPr lang="ko-KR" altLang="en-US" b="1" dirty="0"/>
              <a:t>대역에 속하는지</a:t>
            </a:r>
            <a:r>
              <a:rPr lang="en-US" altLang="ko-KR" b="1" dirty="0"/>
              <a:t>(IP registry)</a:t>
            </a:r>
            <a:r>
              <a:rPr lang="ko-KR" altLang="en-US" dirty="0"/>
              <a:t> 같은 정보가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여기에 </a:t>
            </a:r>
            <a:r>
              <a:rPr lang="ko-KR" altLang="en-US" b="1" dirty="0"/>
              <a:t>블랙리스트 기록</a:t>
            </a:r>
            <a:r>
              <a:rPr lang="ko-KR" altLang="en-US" dirty="0"/>
              <a:t>이나 </a:t>
            </a:r>
            <a:r>
              <a:rPr lang="ko-KR" altLang="en-US" b="1" dirty="0"/>
              <a:t>지역</a:t>
            </a:r>
            <a:r>
              <a:rPr lang="en-US" altLang="ko-KR" b="1" dirty="0"/>
              <a:t>(Geo) </a:t>
            </a:r>
            <a:r>
              <a:rPr lang="ko-KR" altLang="en-US" b="1" dirty="0"/>
              <a:t>정보</a:t>
            </a:r>
            <a:r>
              <a:rPr lang="ko-KR" altLang="en-US" dirty="0"/>
              <a:t>도 붙습니다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그래서 한 도메인을 보면</a:t>
            </a:r>
            <a:r>
              <a:rPr lang="en-US" altLang="ko-KR" dirty="0"/>
              <a:t>, </a:t>
            </a:r>
            <a:r>
              <a:rPr lang="ko-KR" altLang="en-US" dirty="0"/>
              <a:t>단순히 “이 도메인 </a:t>
            </a:r>
            <a:r>
              <a:rPr lang="ko-KR" altLang="en-US" dirty="0" err="1"/>
              <a:t>수상해요”가</a:t>
            </a:r>
            <a:r>
              <a:rPr lang="ko-KR" altLang="en-US" dirty="0"/>
              <a:t> 아니라</a:t>
            </a:r>
            <a:br>
              <a:rPr lang="ko-KR" altLang="en-US" dirty="0"/>
            </a:br>
            <a:r>
              <a:rPr lang="en-US" altLang="ko-KR" b="1" dirty="0"/>
              <a:t>(1) </a:t>
            </a:r>
            <a:r>
              <a:rPr lang="ko-KR" altLang="en-US" b="1" dirty="0"/>
              <a:t>여러 </a:t>
            </a:r>
            <a:r>
              <a:rPr lang="en-US" altLang="ko-KR" b="1" dirty="0"/>
              <a:t>IP</a:t>
            </a:r>
            <a:r>
              <a:rPr lang="ko-KR" altLang="en-US" b="1" dirty="0"/>
              <a:t>로 바뀌는 패턴이 있는지</a:t>
            </a:r>
            <a:r>
              <a:rPr lang="en-US" altLang="ko-KR" dirty="0"/>
              <a:t>, </a:t>
            </a:r>
            <a:r>
              <a:rPr lang="en-US" altLang="ko-KR" b="1" dirty="0"/>
              <a:t>(2) </a:t>
            </a:r>
            <a:r>
              <a:rPr lang="ko-KR" altLang="en-US" b="1" dirty="0"/>
              <a:t>과거에도 악성 활동이 있었는지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b="1" dirty="0"/>
              <a:t>(3) </a:t>
            </a:r>
            <a:r>
              <a:rPr lang="ko-KR" altLang="en-US" b="1" dirty="0"/>
              <a:t>다른 악성 도메인과 연결돼 </a:t>
            </a:r>
            <a:r>
              <a:rPr lang="ko-KR" altLang="en-US" b="1" dirty="0" err="1"/>
              <a:t>보이는지</a:t>
            </a:r>
            <a:r>
              <a:rPr lang="ko-KR" altLang="en-US" dirty="0" err="1"/>
              <a:t>까지</a:t>
            </a:r>
            <a:r>
              <a:rPr lang="ko-KR" altLang="en-US" dirty="0"/>
              <a:t> 같이 볼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 그림은 이런 데이터가 각각 따로 있는 게 아니라</a:t>
            </a:r>
            <a:r>
              <a:rPr lang="en-US" altLang="ko-KR" dirty="0"/>
              <a:t>, </a:t>
            </a:r>
            <a:r>
              <a:rPr lang="en-US" altLang="ko-KR" b="1" dirty="0"/>
              <a:t>DNS</a:t>
            </a:r>
            <a:r>
              <a:rPr lang="ko-KR" altLang="en-US" b="1" dirty="0"/>
              <a:t>를 중심으로 서로 연결되어 분석에 쓰인다</a:t>
            </a:r>
            <a:r>
              <a:rPr lang="ko-KR" altLang="en-US" dirty="0"/>
              <a:t>는 걸 정리해둔 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3FD330-CB8C-78E5-180C-4C8F65142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52759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20120-8508-6839-7564-006623D7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0E12C26-2E36-B535-767C-427499791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0D1F8-1557-E2B2-E6D1-B92BFA06E2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슬라이드에서는 </a:t>
            </a:r>
            <a:r>
              <a:rPr lang="ko-KR" altLang="en-US" b="1" dirty="0"/>
              <a:t>네트워크 </a:t>
            </a:r>
            <a:r>
              <a:rPr lang="ko-KR" altLang="en-US" b="1" dirty="0" err="1"/>
              <a:t>시그니처를</a:t>
            </a:r>
            <a:r>
              <a:rPr lang="ko-KR" altLang="en-US" b="1" dirty="0"/>
              <a:t> 이용해 </a:t>
            </a:r>
            <a:r>
              <a:rPr lang="ko-KR" altLang="en-US" b="1" dirty="0" err="1"/>
              <a:t>멀웨어를</a:t>
            </a:r>
            <a:r>
              <a:rPr lang="ko-KR" altLang="en-US" b="1" dirty="0"/>
              <a:t> 탐지하는 방법</a:t>
            </a:r>
            <a:r>
              <a:rPr lang="ko-KR" altLang="en-US" dirty="0"/>
              <a:t>을 설명합니다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여기서 네트워크 </a:t>
            </a:r>
            <a:r>
              <a:rPr lang="ko-KR" altLang="en-US" dirty="0" err="1"/>
              <a:t>시그니처는</a:t>
            </a:r>
            <a:r>
              <a:rPr lang="ko-KR" altLang="en-US" dirty="0"/>
              <a:t> 네트워크 트래픽에서 이거 공격이다</a:t>
            </a:r>
            <a:r>
              <a:rPr lang="en-US" altLang="ko-KR" dirty="0"/>
              <a:t>,</a:t>
            </a:r>
            <a:r>
              <a:rPr lang="ko-KR" altLang="en-US" dirty="0"/>
              <a:t>악성이다 라고 판단할 수 있는 고유한 패턴입니다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대표적인 도구로 </a:t>
            </a:r>
            <a:r>
              <a:rPr lang="en-US" altLang="ko-KR" b="1" dirty="0"/>
              <a:t>Snort</a:t>
            </a:r>
            <a:r>
              <a:rPr lang="ko-KR" altLang="en-US" dirty="0"/>
              <a:t>가 있는데</a:t>
            </a:r>
            <a:r>
              <a:rPr lang="en-US" altLang="ko-KR" dirty="0"/>
              <a:t>, Snort</a:t>
            </a:r>
            <a:r>
              <a:rPr lang="ko-KR" altLang="en-US" dirty="0"/>
              <a:t>는 </a:t>
            </a:r>
            <a:r>
              <a:rPr lang="ko-KR" altLang="en-US" dirty="0" err="1"/>
              <a:t>시그니처</a:t>
            </a:r>
            <a:r>
              <a:rPr lang="ko-KR" altLang="en-US" dirty="0"/>
              <a:t> 기반 규칙을 사용해서</a:t>
            </a:r>
            <a:br>
              <a:rPr lang="ko-KR" altLang="en-US" dirty="0"/>
            </a:br>
            <a:r>
              <a:rPr lang="ko-KR" altLang="en-US" dirty="0"/>
              <a:t>네트워크 트래픽 중에서 </a:t>
            </a:r>
            <a:r>
              <a:rPr lang="ko-KR" altLang="en-US" b="1" dirty="0" err="1"/>
              <a:t>멀웨어</a:t>
            </a:r>
            <a:r>
              <a:rPr lang="ko-KR" altLang="en-US" b="1" dirty="0"/>
              <a:t> 특유의 패턴</a:t>
            </a:r>
            <a:r>
              <a:rPr lang="ko-KR" altLang="en-US" dirty="0"/>
              <a:t>을 찾아냅니다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Snort </a:t>
            </a:r>
            <a:r>
              <a:rPr lang="ko-KR" altLang="en-US" dirty="0"/>
              <a:t>규칙은 크게 두 가지 정보를 결합합니다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하나는 </a:t>
            </a:r>
            <a:r>
              <a:rPr lang="ko-KR" altLang="en-US" b="1" dirty="0"/>
              <a:t>네트워크 메타데이터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예를 들면 통신 방향이나 프로토콜</a:t>
            </a:r>
            <a:r>
              <a:rPr lang="en-US" altLang="ko-KR" dirty="0"/>
              <a:t>, </a:t>
            </a:r>
            <a:r>
              <a:rPr lang="ko-KR" altLang="en-US" dirty="0"/>
              <a:t>포트 정보이고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다른 하나는 </a:t>
            </a:r>
            <a:r>
              <a:rPr lang="ko-KR" altLang="en-US" b="1" dirty="0"/>
              <a:t>패킷 안의 실제 내용</a:t>
            </a:r>
            <a:r>
              <a:rPr lang="en-US" altLang="ko-KR" dirty="0"/>
              <a:t>, </a:t>
            </a:r>
            <a:r>
              <a:rPr lang="ko-KR" altLang="en-US" dirty="0"/>
              <a:t>즉 페이로드입니다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가운데에 보이는 예시는 실제 </a:t>
            </a:r>
            <a:r>
              <a:rPr lang="en-US" altLang="ko-KR" dirty="0"/>
              <a:t>Snort </a:t>
            </a:r>
            <a:r>
              <a:rPr lang="ko-KR" altLang="en-US" dirty="0"/>
              <a:t>규칙입니다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노란색 하이라이트를 보시면 알 수 </a:t>
            </a:r>
            <a:r>
              <a:rPr lang="ko-KR" altLang="en-US" dirty="0" err="1"/>
              <a:t>있는게</a:t>
            </a:r>
            <a:r>
              <a:rPr lang="ko-KR" altLang="en-US" dirty="0"/>
              <a:t> 이 규칙은 내부 네트워크에서 외부로 나가는 </a:t>
            </a:r>
            <a:r>
              <a:rPr lang="en-US" altLang="ko-KR" dirty="0"/>
              <a:t>HTTP </a:t>
            </a:r>
            <a:r>
              <a:rPr lang="ko-KR" altLang="en-US" dirty="0"/>
              <a:t>트래픽 중에서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User-Agent: Wefa7e</a:t>
            </a:r>
            <a:r>
              <a:rPr lang="ko-KR" altLang="en-US" dirty="0"/>
              <a:t>라는 </a:t>
            </a:r>
            <a:r>
              <a:rPr lang="ko-KR" altLang="en-US" b="1" dirty="0"/>
              <a:t>비정상적인 </a:t>
            </a:r>
            <a:r>
              <a:rPr lang="en-US" altLang="ko-KR" b="1" dirty="0"/>
              <a:t>User-Agent </a:t>
            </a:r>
            <a:r>
              <a:rPr lang="ko-KR" altLang="en-US" b="1" dirty="0"/>
              <a:t>문자열</a:t>
            </a:r>
            <a:r>
              <a:rPr lang="ko-KR" altLang="en-US" dirty="0"/>
              <a:t>이 포함된 경우를 탐지합니다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 표는 이 규칙을 구성하는 주요 키워드들의 의미를 설명합니다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msg</a:t>
            </a:r>
            <a:r>
              <a:rPr lang="ko-KR" altLang="en-US" dirty="0"/>
              <a:t>는 탐지 시 출력될 메시지이고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content</a:t>
            </a:r>
            <a:r>
              <a:rPr lang="ko-KR" altLang="en-US" dirty="0"/>
              <a:t>는 패킷에서 실제로 검색할 문자열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classtype</a:t>
            </a:r>
            <a:r>
              <a:rPr lang="ko-KR" altLang="en-US" dirty="0"/>
              <a:t>은 공격 유형 분류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sid</a:t>
            </a:r>
            <a:r>
              <a:rPr lang="ko-KR" altLang="en-US" dirty="0"/>
              <a:t>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rev</a:t>
            </a:r>
            <a:r>
              <a:rPr lang="ko-KR" altLang="en-US" dirty="0"/>
              <a:t>는 규칙을 관리하기 위한 고유 식별자입니다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이런 방식은 단순히 </a:t>
            </a:r>
            <a:r>
              <a:rPr lang="en-US" altLang="ko-KR" dirty="0"/>
              <a:t>IP </a:t>
            </a:r>
            <a:r>
              <a:rPr lang="ko-KR" altLang="en-US" dirty="0"/>
              <a:t>주소나 도메인을 차단하는 것보다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 err="1"/>
              <a:t>멀웨어의</a:t>
            </a:r>
            <a:r>
              <a:rPr lang="ko-KR" altLang="en-US" b="1" dirty="0"/>
              <a:t> 통신 행동 자체를 기반으로 탐지</a:t>
            </a:r>
            <a:r>
              <a:rPr lang="ko-KR" altLang="en-US" dirty="0"/>
              <a:t>할 수 있다는 장점이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AB2EE9-461D-F021-BFAF-5EB60547DB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65360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6AFA3-FD23-FEA2-7600-6C26B6422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031658C-D2A0-DEFD-B289-2F4226AF60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43C643-6D4C-E9DD-B123-19CF8E91F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표는 </a:t>
            </a:r>
            <a:r>
              <a:rPr lang="ko-KR" altLang="en-US" b="1" dirty="0" err="1"/>
              <a:t>멀웨어</a:t>
            </a:r>
            <a:r>
              <a:rPr lang="ko-KR" altLang="en-US" b="1" dirty="0"/>
              <a:t> 분석이 네 단계로 나뉜다</a:t>
            </a:r>
            <a:r>
              <a:rPr lang="ko-KR" altLang="en-US" dirty="0"/>
              <a:t>는 걸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 번째는 </a:t>
            </a:r>
            <a:r>
              <a:rPr lang="en-US" altLang="ko-KR" b="1" dirty="0"/>
              <a:t>Surface analysis</a:t>
            </a:r>
            <a:r>
              <a:rPr lang="ko-KR" altLang="en-US" dirty="0"/>
              <a:t>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샌드박스</a:t>
            </a:r>
            <a:r>
              <a:rPr lang="ko-KR" altLang="en-US" dirty="0"/>
              <a:t> 결과처럼 </a:t>
            </a:r>
            <a:r>
              <a:rPr lang="en-US" altLang="ko-KR" b="1" dirty="0"/>
              <a:t>IP, </a:t>
            </a:r>
            <a:r>
              <a:rPr lang="ko-KR" altLang="en-US" b="1" dirty="0"/>
              <a:t>도메인</a:t>
            </a:r>
            <a:r>
              <a:rPr lang="en-US" altLang="ko-KR" b="1" dirty="0"/>
              <a:t>, GET </a:t>
            </a:r>
            <a:r>
              <a:rPr lang="ko-KR" altLang="en-US" b="1" dirty="0"/>
              <a:t>요청 같은 겉으로 드러난 지표</a:t>
            </a:r>
            <a:r>
              <a:rPr lang="ko-KR" altLang="en-US" dirty="0"/>
              <a:t>를 보는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두 번째는 </a:t>
            </a:r>
            <a:r>
              <a:rPr lang="en-US" altLang="ko-KR" b="1" dirty="0"/>
              <a:t>Communication method coverage</a:t>
            </a:r>
            <a:r>
              <a:rPr lang="ko-KR" altLang="en-US" dirty="0"/>
              <a:t>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멀웨어가</a:t>
            </a:r>
            <a:r>
              <a:rPr lang="ko-KR" altLang="en-US" dirty="0"/>
              <a:t> </a:t>
            </a:r>
            <a:r>
              <a:rPr lang="en-US" altLang="ko-KR" b="1" dirty="0"/>
              <a:t>HTTP, DNS </a:t>
            </a:r>
            <a:r>
              <a:rPr lang="ko-KR" altLang="en-US" b="1" dirty="0"/>
              <a:t>같은 통신을 어떤 방식으로 구현했는지</a:t>
            </a:r>
            <a:r>
              <a:rPr lang="ko-KR" altLang="en-US" dirty="0"/>
              <a:t> 코드를 통해 이해하는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세 번째는 </a:t>
            </a:r>
            <a:r>
              <a:rPr lang="en-US" altLang="ko-KR" b="1" dirty="0"/>
              <a:t>Operational replication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이는 </a:t>
            </a:r>
            <a:r>
              <a:rPr lang="ko-KR" altLang="en-US" dirty="0" err="1"/>
              <a:t>멀웨어</a:t>
            </a:r>
            <a:r>
              <a:rPr lang="ko-KR" altLang="en-US" dirty="0"/>
              <a:t> 서버를 흉내 내는 도구를 만들어서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 err="1"/>
              <a:t>멀웨어를</a:t>
            </a:r>
            <a:r>
              <a:rPr lang="ko-KR" altLang="en-US" b="1" dirty="0"/>
              <a:t> 실제처럼 동작하게 재현할 수 있는 수준</a:t>
            </a:r>
            <a:r>
              <a:rPr lang="ko-KR" altLang="en-US" dirty="0"/>
              <a:t>을 의미합니다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마지막은 </a:t>
            </a:r>
            <a:r>
              <a:rPr lang="en-US" altLang="ko-KR" b="1" dirty="0"/>
              <a:t>Code coverage</a:t>
            </a:r>
            <a:r>
              <a:rPr lang="ko-KR" altLang="en-US" dirty="0"/>
              <a:t>로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 err="1"/>
              <a:t>멀웨어의</a:t>
            </a:r>
            <a:r>
              <a:rPr lang="ko-KR" altLang="en-US" dirty="0"/>
              <a:t> </a:t>
            </a:r>
            <a:r>
              <a:rPr lang="ko-KR" altLang="en-US" b="1" dirty="0"/>
              <a:t>모든 코드 블록을 하나하나 완전히 이해하는 단계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챕터에서 중요한 점은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 err="1"/>
              <a:t>샌드박스</a:t>
            </a:r>
            <a:r>
              <a:rPr lang="ko-KR" altLang="en-US" b="1" dirty="0"/>
              <a:t> 수준의 분석만으로는 부족할 수 있고</a:t>
            </a:r>
            <a:r>
              <a:rPr lang="en-US" altLang="ko-KR" dirty="0"/>
              <a:t>, </a:t>
            </a:r>
            <a:r>
              <a:rPr lang="ko-KR" altLang="en-US" dirty="0"/>
              <a:t>너무 특정한 지표에만 의존하면 </a:t>
            </a:r>
            <a:r>
              <a:rPr lang="ko-KR" altLang="en-US" b="1" dirty="0"/>
              <a:t>잘못된 </a:t>
            </a:r>
            <a:r>
              <a:rPr lang="ko-KR" altLang="en-US" b="1" dirty="0" err="1"/>
              <a:t>시그니처를</a:t>
            </a:r>
            <a:r>
              <a:rPr lang="ko-KR" altLang="en-US" b="1" dirty="0"/>
              <a:t> 만들 수 있다</a:t>
            </a:r>
            <a:r>
              <a:rPr lang="ko-KR" altLang="en-US" dirty="0"/>
              <a:t>는 것입니다</a:t>
            </a:r>
            <a:r>
              <a:rPr lang="en-US" altLang="ko-KR" dirty="0"/>
              <a:t>.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EEFF53-56FD-398B-3CC0-33BB5314A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2429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CBFD-8F91-DB6F-2126-C3CE9DF4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AC9965-487F-D750-1A33-0BE26882A9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FAB9176-B4CD-0F07-AC45-7EEC180229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US" altLang="ko-KR" dirty="0"/>
            </a:br>
            <a:r>
              <a:rPr lang="ko-KR" altLang="en-US" dirty="0"/>
              <a:t>그럼 실제 </a:t>
            </a:r>
            <a:r>
              <a:rPr lang="ko-KR" altLang="en-US" dirty="0" err="1"/>
              <a:t>멀웨어</a:t>
            </a:r>
            <a:r>
              <a:rPr lang="ko-KR" altLang="en-US" dirty="0"/>
              <a:t> 트래픽은 어떻게 생겼는지 한 번 보겠습니다</a:t>
            </a:r>
            <a:r>
              <a:rPr lang="en-US" altLang="ko-KR" dirty="0"/>
              <a:t>.”</a:t>
            </a:r>
          </a:p>
          <a:p>
            <a:endParaRPr lang="en-US" altLang="ko-KR" dirty="0"/>
          </a:p>
          <a:p>
            <a:r>
              <a:rPr lang="ko-KR" altLang="en-US" dirty="0" err="1"/>
              <a:t>멀웨어는</a:t>
            </a:r>
            <a:r>
              <a:rPr lang="ko-KR" altLang="en-US" dirty="0"/>
              <a:t> 티 안 나게 통신하려고 </a:t>
            </a:r>
            <a:r>
              <a:rPr lang="ko-KR" altLang="en-US" b="1" dirty="0"/>
              <a:t>정상 웹요청처럼 보이는 </a:t>
            </a:r>
            <a:r>
              <a:rPr lang="en-US" altLang="ko-KR" b="1" dirty="0"/>
              <a:t>HTTP GET</a:t>
            </a:r>
            <a:r>
              <a:rPr lang="ko-KR" altLang="en-US" dirty="0"/>
              <a:t>을 씁니다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GET </a:t>
            </a:r>
            <a:r>
              <a:rPr lang="ko-KR" altLang="en-US" dirty="0"/>
              <a:t>안에 명령이나 시스템 정보</a:t>
            </a:r>
            <a:r>
              <a:rPr lang="en-US" altLang="ko-KR" dirty="0"/>
              <a:t>, </a:t>
            </a:r>
            <a:r>
              <a:rPr lang="ko-KR" altLang="en-US" dirty="0" err="1"/>
              <a:t>인코딩된</a:t>
            </a:r>
            <a:r>
              <a:rPr lang="ko-KR" altLang="en-US" dirty="0"/>
              <a:t> 데이터를 숨길 수 있어요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오른쪽처럼 </a:t>
            </a:r>
            <a:r>
              <a:rPr lang="en-US" altLang="ko-KR" dirty="0"/>
              <a:t>User-Agent</a:t>
            </a:r>
            <a:r>
              <a:rPr lang="ko-KR" altLang="en-US" dirty="0"/>
              <a:t>가 비정상적으로 길면</a:t>
            </a:r>
            <a:r>
              <a:rPr lang="en-US" altLang="ko-KR" dirty="0"/>
              <a:t>, </a:t>
            </a:r>
            <a:r>
              <a:rPr lang="ko-KR" altLang="en-US" dirty="0"/>
              <a:t>보통 </a:t>
            </a:r>
            <a:r>
              <a:rPr lang="ko-KR" altLang="en-US" b="1" dirty="0"/>
              <a:t>숨긴 데이터가 들어간 신호</a:t>
            </a:r>
            <a:r>
              <a:rPr lang="ko-KR" altLang="en-US" dirty="0"/>
              <a:t>라고 보면 됩니다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452F57-A918-3CD6-6027-FF7BC304A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48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871CA-FA2F-B312-CD42-B774133E9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303943-819C-AF6E-2180-567874EE5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9BF2A6-EBE7-1C45-067B-7731DA26C0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“아까 슬라이드 </a:t>
            </a:r>
            <a:r>
              <a:rPr lang="en-US" altLang="ko-KR" dirty="0"/>
              <a:t>8</a:t>
            </a:r>
            <a:r>
              <a:rPr lang="ko-KR" altLang="en-US" dirty="0"/>
              <a:t>에서 ‘</a:t>
            </a:r>
            <a:r>
              <a:rPr lang="en-US" altLang="ko-KR" dirty="0"/>
              <a:t>GET </a:t>
            </a:r>
            <a:r>
              <a:rPr lang="ko-KR" altLang="en-US" dirty="0"/>
              <a:t>요청이 평범해 보이지만 안에 데이터를 숨길 수 있다’고 했죠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그걸 더 자연스럽게 숨기는 대표 방법이 </a:t>
            </a:r>
            <a:r>
              <a:rPr lang="en-US" altLang="ko-KR" b="1" dirty="0"/>
              <a:t>User-Agent</a:t>
            </a:r>
            <a:r>
              <a:rPr lang="ko-KR" altLang="en-US" dirty="0"/>
              <a:t>예요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위에 보이는 </a:t>
            </a:r>
            <a:r>
              <a:rPr lang="en-US" altLang="ko-KR" dirty="0"/>
              <a:t>User-Agent </a:t>
            </a:r>
            <a:r>
              <a:rPr lang="ko-KR" altLang="en-US" dirty="0"/>
              <a:t>문자열을 보면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일반 웹 브라우저에서 쓰는 </a:t>
            </a:r>
            <a:r>
              <a:rPr lang="ko-KR" altLang="en-US" dirty="0" err="1"/>
              <a:t>값이랑</a:t>
            </a:r>
            <a:r>
              <a:rPr lang="ko-KR" altLang="en-US" dirty="0"/>
              <a:t> 거의 똑같습니다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그래서 </a:t>
            </a:r>
            <a:r>
              <a:rPr lang="en-US" altLang="ko-KR" b="1" dirty="0"/>
              <a:t>User-Agent</a:t>
            </a:r>
            <a:r>
              <a:rPr lang="ko-KR" altLang="en-US" b="1" dirty="0"/>
              <a:t>만 보고는 악성인지 판단하기 어렵습니다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그리고 아래 </a:t>
            </a:r>
            <a:r>
              <a:rPr lang="en-US" altLang="ko-KR" dirty="0"/>
              <a:t>HTML </a:t>
            </a:r>
            <a:r>
              <a:rPr lang="ko-KR" altLang="en-US" dirty="0"/>
              <a:t>소스를 보면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웹 페이지 자체는 정상인데</a:t>
            </a:r>
            <a:br>
              <a:rPr lang="ko-KR" altLang="en-US" dirty="0"/>
            </a:br>
            <a:r>
              <a:rPr lang="ko-KR" altLang="en-US" dirty="0"/>
              <a:t>실제 명령은 </a:t>
            </a:r>
            <a:r>
              <a:rPr lang="en-US" altLang="ko-KR" b="1" dirty="0"/>
              <a:t>HTML </a:t>
            </a:r>
            <a:r>
              <a:rPr lang="ko-KR" altLang="en-US" b="1" dirty="0"/>
              <a:t>주석 안에 숨겨져 있습니다</a:t>
            </a:r>
            <a:r>
              <a:rPr lang="en-US" altLang="ko-KR" b="1" dirty="0"/>
              <a:t>.</a:t>
            </a:r>
          </a:p>
          <a:p>
            <a:endParaRPr lang="ko-KR" altLang="en-US" dirty="0"/>
          </a:p>
          <a:p>
            <a:r>
              <a:rPr lang="ko-KR" altLang="en-US" dirty="0"/>
              <a:t>이런 방식 때문에</a:t>
            </a:r>
            <a:br>
              <a:rPr lang="ko-KR" altLang="en-US" dirty="0"/>
            </a:br>
            <a:r>
              <a:rPr lang="ko-KR" altLang="en-US" dirty="0"/>
              <a:t>악성 트래픽이 정상 웹 트래픽 속에 섞여서</a:t>
            </a:r>
            <a:br>
              <a:rPr lang="ko-KR" altLang="en-US" dirty="0"/>
            </a:br>
            <a:r>
              <a:rPr lang="ko-KR" altLang="en-US" dirty="0"/>
              <a:t>탐지가 어려워집니다</a:t>
            </a:r>
            <a:r>
              <a:rPr lang="en-US" altLang="ko-KR" dirty="0"/>
              <a:t>.”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A121FA-116D-E656-7E8F-4C4CF5A55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342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D837-9D55-74EA-C704-57F99C334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3A1592-6C9B-E285-23FA-BE6C7F4B4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54F922-E86F-A997-23DD-53ADDBE197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본 것처럼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악성코드는 정상 웹 트래픽처럼 위장해서 통신합니다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이런 통신은 보통 한 번으로 끝나지 않고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주기적으로 서버에 “살아 있다”라고 신호를 보냅니다</a:t>
            </a:r>
            <a:r>
              <a:rPr lang="en-US" altLang="ko-KR" b="1" dirty="0"/>
              <a:t>.</a:t>
            </a:r>
            <a:endParaRPr lang="ko-KR" altLang="en-US" dirty="0"/>
          </a:p>
          <a:p>
            <a:r>
              <a:rPr lang="ko-KR" altLang="en-US" dirty="0"/>
              <a:t>이 반복적인 통신을 </a:t>
            </a:r>
            <a:r>
              <a:rPr lang="ko-KR" altLang="en-US" b="1" dirty="0" err="1"/>
              <a:t>비콘</a:t>
            </a:r>
            <a:r>
              <a:rPr lang="en-US" altLang="ko-KR" b="1" dirty="0"/>
              <a:t>, </a:t>
            </a:r>
            <a:r>
              <a:rPr lang="ko-KR" altLang="en-US" b="1" dirty="0"/>
              <a:t>즉 </a:t>
            </a:r>
            <a:r>
              <a:rPr lang="en-US" altLang="ko-KR" b="1" dirty="0"/>
              <a:t>Beaconing</a:t>
            </a:r>
            <a:r>
              <a:rPr lang="ko-KR" altLang="en-US" dirty="0"/>
              <a:t>이라고 부릅니다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비콘의</a:t>
            </a:r>
            <a:r>
              <a:rPr lang="ko-KR" altLang="en-US" dirty="0"/>
              <a:t> 목적은</a:t>
            </a:r>
            <a:br>
              <a:rPr lang="ko-KR" altLang="en-US" dirty="0"/>
            </a:br>
            <a:r>
              <a:rPr lang="ko-KR" altLang="en-US" dirty="0"/>
              <a:t>대량의 데이터를 보내는 게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명령을 기다리고 상태를 보고하는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최대한 </a:t>
            </a:r>
            <a:r>
              <a:rPr lang="ko-KR" altLang="en-US" dirty="0" err="1"/>
              <a:t>정상덕인</a:t>
            </a:r>
            <a:r>
              <a:rPr lang="ko-KR" altLang="en-US" dirty="0"/>
              <a:t> 트래픽처럼 눈에 띄지 않게 설계됩니다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D489C8-1605-6223-FD80-E093EE886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052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D307B-7699-23EB-C83F-39BBD4EB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4C6EFC-6A7D-D164-D340-665922B64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0F76CF-DBCC-253D-380F-841F4D7FD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“앞 슬라이드에서</a:t>
            </a:r>
            <a:r>
              <a:rPr lang="en-US" altLang="ko-KR" dirty="0"/>
              <a:t> </a:t>
            </a:r>
            <a:r>
              <a:rPr lang="ko-KR" altLang="en-US" dirty="0"/>
              <a:t>숨기는 위치를 봤다면</a:t>
            </a:r>
            <a:r>
              <a:rPr lang="en-US" altLang="ko-KR" dirty="0"/>
              <a:t>, </a:t>
            </a:r>
            <a:r>
              <a:rPr lang="ko-KR" altLang="en-US" dirty="0"/>
              <a:t>이제는 어떻게 숨기는가를 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“이 슬라이드는 악성코드가 </a:t>
            </a:r>
            <a:r>
              <a:rPr lang="ko-KR" altLang="en-US" b="1" dirty="0"/>
              <a:t>데이터를 어떻게 인코딩하는지</a:t>
            </a:r>
            <a:r>
              <a:rPr lang="ko-KR" altLang="en-US" dirty="0"/>
              <a:t>를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악성코드는 통신 전에 데이터를 인코딩해서</a:t>
            </a:r>
            <a:r>
              <a:rPr lang="en-US" altLang="ko-KR" dirty="0"/>
              <a:t>, </a:t>
            </a:r>
            <a:r>
              <a:rPr lang="ko-KR" altLang="en-US" dirty="0"/>
              <a:t>네트워크에서 바로 내용을 알아보기 어렵게 만듭니다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주로 사용하는 재료는 세 가지입니다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첫째는</a:t>
            </a:r>
            <a:r>
              <a:rPr lang="en-US" altLang="ko-KR" dirty="0"/>
              <a:t> </a:t>
            </a:r>
            <a:r>
              <a:rPr lang="ko-KR" altLang="en-US" b="1" dirty="0"/>
              <a:t>랜덤 바이트로</a:t>
            </a:r>
            <a:r>
              <a:rPr lang="ko-KR" altLang="en-US" dirty="0"/>
              <a:t> 매번 값이 달라져서 단순 비교가 어렵습니다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둘째는</a:t>
            </a:r>
            <a:r>
              <a:rPr lang="en-US" altLang="ko-KR" dirty="0"/>
              <a:t> </a:t>
            </a:r>
            <a:r>
              <a:rPr lang="ko-KR" altLang="en-US" b="1" dirty="0"/>
              <a:t>호스트 고유 정보로</a:t>
            </a:r>
            <a:r>
              <a:rPr lang="ko-KR" altLang="en-US" dirty="0"/>
              <a:t> 이 컴퓨터에서만 나오는 값이라 추적이 힘들어집니다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셋째는 </a:t>
            </a:r>
            <a:r>
              <a:rPr lang="ko-KR" altLang="en-US" b="1" dirty="0"/>
              <a:t>시간 값으로</a:t>
            </a:r>
            <a:r>
              <a:rPr lang="ko-KR" altLang="en-US" dirty="0"/>
              <a:t> 실행 시점마다 바뀝니다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 표는 실제로 이런 값들이 </a:t>
            </a:r>
            <a:r>
              <a:rPr lang="ko-KR" altLang="en-US" b="1" dirty="0"/>
              <a:t>어떤 순서로 결합돼서 하나의 문자열</a:t>
            </a:r>
            <a:r>
              <a:rPr lang="ko-KR" altLang="en-US" dirty="0"/>
              <a:t>이 되는지를 보여줍니다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중요한 점은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이렇게 복잡해 보여도 </a:t>
            </a:r>
            <a:r>
              <a:rPr lang="ko-KR" altLang="en-US" b="1" dirty="0"/>
              <a:t>패턴 자체는 반복된다는 것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F3D101-E4C1-4F8D-C225-825585297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03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75C49-FEE0-E761-D4C4-981567A8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C6E1663-7882-BECA-2C1E-DDBA9615D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438F2D-997C-D521-CE7E-BD6B9044A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첫번째 문제는 이 문제의 </a:t>
            </a:r>
            <a:r>
              <a:rPr lang="en-US" altLang="ko-KR" dirty="0"/>
              <a:t>lab</a:t>
            </a:r>
            <a:r>
              <a:rPr lang="ko-KR" altLang="en-US" dirty="0"/>
              <a:t>파일에 있는 </a:t>
            </a:r>
            <a:r>
              <a:rPr lang="en-US" altLang="ko-KR" dirty="0"/>
              <a:t>malware</a:t>
            </a:r>
            <a:r>
              <a:rPr lang="ko-KR" altLang="en-US" dirty="0"/>
              <a:t>가 사용하는 네트워크 ㄹ </a:t>
            </a:r>
            <a:r>
              <a:rPr lang="ko-KR" altLang="en-US" dirty="0" err="1"/>
              <a:t>ㅏ이브러리가</a:t>
            </a:r>
            <a:r>
              <a:rPr lang="ko-KR" altLang="en-US" dirty="0"/>
              <a:t> </a:t>
            </a:r>
            <a:r>
              <a:rPr lang="ko-KR" altLang="en-US" dirty="0" err="1"/>
              <a:t>뭔지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그리고 그 이점이 </a:t>
            </a:r>
            <a:r>
              <a:rPr lang="ko-KR" altLang="en-US" dirty="0" err="1"/>
              <a:t>뭔지를</a:t>
            </a:r>
            <a:r>
              <a:rPr lang="ko-KR" altLang="en-US" dirty="0"/>
              <a:t> 살펴보는 거입니다</a:t>
            </a:r>
            <a:r>
              <a:rPr lang="en-US" altLang="ko-KR" dirty="0"/>
              <a:t>.</a:t>
            </a:r>
            <a:br>
              <a:rPr lang="en-US" altLang="ko-KR" dirty="0"/>
            </a:br>
            <a:br>
              <a:rPr lang="en-US" altLang="ko-KR" dirty="0"/>
            </a:br>
            <a:endParaRPr lang="en-US" altLang="ko-KR" dirty="0"/>
          </a:p>
          <a:p>
            <a:r>
              <a:rPr lang="ko-KR" altLang="en-US" dirty="0"/>
              <a:t>이 화면은 </a:t>
            </a:r>
            <a:r>
              <a:rPr lang="en-US" altLang="ko-KR" dirty="0" err="1"/>
              <a:t>PEview</a:t>
            </a:r>
            <a:r>
              <a:rPr lang="ko-KR" altLang="en-US" dirty="0"/>
              <a:t>로 </a:t>
            </a:r>
            <a:r>
              <a:rPr lang="en-US" altLang="ko-KR" dirty="0"/>
              <a:t>Lab14-01.exe</a:t>
            </a:r>
            <a:r>
              <a:rPr lang="ko-KR" altLang="en-US" dirty="0"/>
              <a:t>를 연 모습입니다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여기서 중요한 부분은 </a:t>
            </a:r>
            <a:r>
              <a:rPr lang="en-US" altLang="ko-KR" b="1" dirty="0"/>
              <a:t>Import Table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Import Table</a:t>
            </a:r>
            <a:r>
              <a:rPr lang="ko-KR" altLang="en-US" dirty="0"/>
              <a:t>은 이 프로그램이 실행될 때</a:t>
            </a:r>
            <a:br>
              <a:rPr lang="ko-KR" altLang="en-US" dirty="0"/>
            </a:br>
            <a:r>
              <a:rPr lang="en-US" altLang="ko-KR" b="1" dirty="0"/>
              <a:t>Windows</a:t>
            </a:r>
            <a:r>
              <a:rPr lang="ko-KR" altLang="en-US" b="1" dirty="0"/>
              <a:t>로부터 어떤 기능을 빌려 쓰는지</a:t>
            </a:r>
            <a:r>
              <a:rPr lang="ko-KR" altLang="en-US" dirty="0"/>
              <a:t>를 보여줍니다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Import Table</a:t>
            </a:r>
            <a:r>
              <a:rPr lang="ko-KR" altLang="en-US" dirty="0"/>
              <a:t>의 </a:t>
            </a:r>
            <a:r>
              <a:rPr lang="en-US" altLang="ko-KR" dirty="0"/>
              <a:t>value</a:t>
            </a:r>
            <a:r>
              <a:rPr lang="ko-KR" altLang="en-US" dirty="0"/>
              <a:t>값</a:t>
            </a:r>
            <a:r>
              <a:rPr lang="en-US" altLang="ko-KR" dirty="0"/>
              <a:t>, </a:t>
            </a:r>
            <a:r>
              <a:rPr lang="ko-KR" altLang="en-US" dirty="0"/>
              <a:t>즉 맨 오른쪽 에서는 보통 </a:t>
            </a:r>
            <a:r>
              <a:rPr lang="ko-KR" altLang="en-US" b="1" dirty="0"/>
              <a:t>위에 함수 이름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아래에 그 함수가 속한 </a:t>
            </a:r>
            <a:r>
              <a:rPr lang="en-US" altLang="ko-KR" b="1" dirty="0"/>
              <a:t>DLL </a:t>
            </a:r>
            <a:r>
              <a:rPr lang="ko-KR" altLang="en-US" b="1" dirty="0"/>
              <a:t>이름</a:t>
            </a:r>
            <a:r>
              <a:rPr lang="ko-KR" altLang="en-US" dirty="0"/>
              <a:t>이 함께 나타납니다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이떄</a:t>
            </a:r>
            <a:r>
              <a:rPr lang="ko-KR" altLang="en-US" dirty="0"/>
              <a:t> </a:t>
            </a:r>
            <a:r>
              <a:rPr lang="en-US" altLang="ko-KR" dirty="0" err="1"/>
              <a:t>dll</a:t>
            </a:r>
            <a:r>
              <a:rPr lang="ko-KR" altLang="en-US" dirty="0"/>
              <a:t>은 </a:t>
            </a:r>
            <a:r>
              <a:rPr lang="en-US" altLang="ko-KR" dirty="0"/>
              <a:t>dynamic link library</a:t>
            </a:r>
            <a:r>
              <a:rPr lang="ko-KR" altLang="en-US" dirty="0"/>
              <a:t>를 뜻합니다</a:t>
            </a:r>
            <a:endParaRPr lang="en-US" altLang="ko-KR" dirty="0"/>
          </a:p>
          <a:p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다음은 장점입니다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urlmon.dll</a:t>
            </a:r>
            <a:r>
              <a:rPr lang="ko-KR" altLang="en-US" dirty="0"/>
              <a:t>을 사용하면</a:t>
            </a:r>
            <a:br>
              <a:rPr lang="ko-KR" altLang="en-US" dirty="0"/>
            </a:br>
            <a:r>
              <a:rPr lang="ko-KR" altLang="en-US" dirty="0"/>
              <a:t>하나의 </a:t>
            </a:r>
            <a:r>
              <a:rPr lang="en-US" altLang="ko-KR" dirty="0"/>
              <a:t>API </a:t>
            </a:r>
            <a:r>
              <a:rPr lang="ko-KR" altLang="en-US" dirty="0"/>
              <a:t>호출만으로 </a:t>
            </a:r>
            <a:r>
              <a:rPr lang="en-US" altLang="ko-KR" dirty="0"/>
              <a:t>HTTP</a:t>
            </a:r>
            <a:r>
              <a:rPr lang="ko-KR" altLang="en-US" dirty="0"/>
              <a:t>를 통해 파일을 다운로드할 수 있어</a:t>
            </a:r>
            <a:br>
              <a:rPr lang="ko-KR" altLang="en-US" dirty="0"/>
            </a:br>
            <a:r>
              <a:rPr lang="ko-KR" altLang="en-US" dirty="0"/>
              <a:t>구현이 매우 단순합니다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이 라이브러리는 </a:t>
            </a:r>
            <a:r>
              <a:rPr lang="en-US" altLang="ko-KR" dirty="0"/>
              <a:t>Windows</a:t>
            </a:r>
            <a:r>
              <a:rPr lang="ko-KR" altLang="en-US" dirty="0"/>
              <a:t>에서 기본적으로 사용하는</a:t>
            </a:r>
            <a:br>
              <a:rPr lang="ko-KR" altLang="en-US" dirty="0"/>
            </a:br>
            <a:r>
              <a:rPr lang="ko-KR" altLang="en-US" dirty="0"/>
              <a:t>웹 통신 스택을 그대로 활용합니다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 결과 생성되는 네트워크 트래픽이</a:t>
            </a:r>
            <a:br>
              <a:rPr lang="ko-KR" altLang="en-US" dirty="0"/>
            </a:br>
            <a:r>
              <a:rPr lang="ko-KR" altLang="en-US" dirty="0"/>
              <a:t>정상적인 웹 활동과 유사하게 보이기 때문에</a:t>
            </a:r>
            <a:br>
              <a:rPr lang="ko-KR" altLang="en-US" dirty="0"/>
            </a:br>
            <a:r>
              <a:rPr lang="ko-KR" altLang="en-US" dirty="0"/>
              <a:t>탐지를 회피하는 데 유리합니다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BA00AF-0300-86E1-EE02-29AAA559B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448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820C4-36DE-3C09-20BC-B3AFC3379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0956FB-F0EE-A42B-68C2-278DBA8DED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35C601-988F-119F-A063-5ECDCB1355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번에서 이 악성코드가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URLDownloadToCacheFileA</a:t>
            </a:r>
            <a:r>
              <a:rPr lang="ko-KR" altLang="en-US" dirty="0"/>
              <a:t>로 네트워크 통신을 한다는 걸 확인했죠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2</a:t>
            </a:r>
            <a:r>
              <a:rPr lang="ko-KR" altLang="en-US" dirty="0"/>
              <a:t>번에서는 그럼 “서버로 어떤 </a:t>
            </a:r>
            <a:r>
              <a:rPr lang="en-US" altLang="ko-KR" dirty="0"/>
              <a:t>URL</a:t>
            </a:r>
            <a:r>
              <a:rPr lang="ko-KR" altLang="en-US" dirty="0"/>
              <a:t>을 보내는지”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dirty="0" err="1"/>
              <a:t>비콘이</a:t>
            </a:r>
            <a:r>
              <a:rPr lang="ko-KR" altLang="en-US" dirty="0"/>
              <a:t> 어떻게 만들어지는지 봤습니다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먼저 </a:t>
            </a:r>
            <a:r>
              <a:rPr lang="en-US" altLang="ko-KR" dirty="0"/>
              <a:t>IDA Free</a:t>
            </a:r>
            <a:r>
              <a:rPr lang="ko-KR" altLang="en-US" dirty="0"/>
              <a:t>를 사용해 네트워크 통신이 발생하는 지점을 분석했습니다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URLDownloadToCacheFileA</a:t>
            </a:r>
            <a:r>
              <a:rPr lang="ko-KR" altLang="en-US" dirty="0"/>
              <a:t> 호출을 기준으로 추적한 결과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URL</a:t>
            </a:r>
            <a:r>
              <a:rPr lang="ko-KR" altLang="en-US" dirty="0"/>
              <a:t>이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sprintf</a:t>
            </a:r>
            <a:r>
              <a:rPr lang="ko-KR" altLang="en-US" dirty="0"/>
              <a:t> 함수를 통해 동적으로 생성된다는 것을 확인할 수 있었습니다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코드에서 확인할 수 있듯이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URL</a:t>
            </a:r>
            <a:r>
              <a:rPr lang="ko-KR" altLang="en-US" dirty="0"/>
              <a:t>의 기본 도메인은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www.practicalmalwareanalysis.com</a:t>
            </a:r>
            <a:r>
              <a:rPr lang="ko-KR" altLang="en-US" dirty="0"/>
              <a:t>으로 </a:t>
            </a:r>
            <a:r>
              <a:rPr lang="ko-KR" altLang="en-US" dirty="0" err="1"/>
              <a:t>하드코딩되어</a:t>
            </a:r>
            <a:r>
              <a:rPr lang="ko-KR" altLang="en-US" dirty="0"/>
              <a:t>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 뒤에 호스트를 식별하는 값이 삽입되어 최종 </a:t>
            </a:r>
            <a:r>
              <a:rPr lang="ko-KR" altLang="en-US" dirty="0" err="1"/>
              <a:t>비콘</a:t>
            </a:r>
            <a:r>
              <a:rPr lang="ko-KR" altLang="en-US" dirty="0"/>
              <a:t> </a:t>
            </a:r>
            <a:r>
              <a:rPr lang="en-US" altLang="ko-KR" dirty="0"/>
              <a:t>URL</a:t>
            </a:r>
            <a:r>
              <a:rPr lang="ko-KR" altLang="en-US" dirty="0"/>
              <a:t>이 구성됩니다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이를 통해 이 악성코드는 고정된 </a:t>
            </a:r>
            <a:r>
              <a:rPr lang="en-US" altLang="ko-KR" dirty="0"/>
              <a:t>URL</a:t>
            </a:r>
            <a:r>
              <a:rPr lang="ko-KR" altLang="en-US" dirty="0"/>
              <a:t>이 아니라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시스템 정보에 따라 달라지는 네트워크 </a:t>
            </a:r>
            <a:r>
              <a:rPr lang="ko-KR" altLang="en-US" dirty="0" err="1"/>
              <a:t>비콘을</a:t>
            </a:r>
            <a:r>
              <a:rPr lang="ko-KR" altLang="en-US" dirty="0"/>
              <a:t> 생성한다는 것을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0EA6F5-7C9A-436F-AB66-4DD3B3AFA7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845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16770-1EB1-E12E-BCAC-D7240F9A4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4D478D-98F5-F589-D6EC-B773320E6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1B6DBC-075B-313E-AA36-22B992DB9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확인한 것처럼 </a:t>
            </a:r>
            <a:r>
              <a:rPr lang="ko-KR" altLang="en-US" dirty="0" err="1"/>
              <a:t>비콘이</a:t>
            </a:r>
            <a:r>
              <a:rPr lang="ko-KR" altLang="en-US" dirty="0"/>
              <a:t> 시스템 정보를 기반으로 생성되기 때문에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특정 조건이 바뀌면 네트워크 </a:t>
            </a:r>
            <a:r>
              <a:rPr lang="ko-KR" altLang="en-US" dirty="0" err="1"/>
              <a:t>비콘</a:t>
            </a:r>
            <a:r>
              <a:rPr lang="ko-KR" altLang="en-US" dirty="0"/>
              <a:t> 역시 변경됩니다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악성코드가 </a:t>
            </a:r>
            <a:r>
              <a:rPr lang="ko-KR" altLang="en-US" b="1" dirty="0"/>
              <a:t>다른 호스트에서 실행될 경우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하드웨어 프로파일 </a:t>
            </a:r>
            <a:r>
              <a:rPr lang="en-US" altLang="ko-KR" dirty="0"/>
              <a:t>GUID</a:t>
            </a:r>
            <a:r>
              <a:rPr lang="ko-KR" altLang="en-US" dirty="0"/>
              <a:t>가 달라져 </a:t>
            </a:r>
            <a:r>
              <a:rPr lang="ko-KR" altLang="en-US" dirty="0" err="1"/>
              <a:t>비콘이</a:t>
            </a:r>
            <a:r>
              <a:rPr lang="ko-KR" altLang="en-US" dirty="0"/>
              <a:t> 변경됩니다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같은 시스템이라도</a:t>
            </a:r>
            <a:br>
              <a:rPr lang="ko-KR" altLang="en-US" dirty="0"/>
            </a:br>
            <a:r>
              <a:rPr lang="ko-KR" altLang="en-US" b="1" dirty="0"/>
              <a:t>하드웨어 프로파일이 변경되거나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b="1" dirty="0"/>
              <a:t>다른 사용자가 로그인하면 사용자 이름이 달라지기 때문에</a:t>
            </a:r>
            <a:br>
              <a:rPr lang="ko-KR" altLang="en-US" dirty="0"/>
            </a:br>
            <a:r>
              <a:rPr lang="ko-KR" altLang="en-US" dirty="0"/>
              <a:t>생성되는 </a:t>
            </a:r>
            <a:r>
              <a:rPr lang="ko-KR" altLang="en-US" dirty="0" err="1"/>
              <a:t>비콘</a:t>
            </a:r>
            <a:r>
              <a:rPr lang="ko-KR" altLang="en-US" dirty="0"/>
              <a:t> 역시 달라집니다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네트워크 </a:t>
            </a:r>
            <a:r>
              <a:rPr lang="ko-KR" altLang="en-US" dirty="0" err="1"/>
              <a:t>비콘은</a:t>
            </a:r>
            <a:br>
              <a:rPr lang="ko-KR" altLang="en-US" dirty="0"/>
            </a:br>
            <a:r>
              <a:rPr lang="ko-KR" altLang="en-US" dirty="0"/>
              <a:t>실행 환경과 사용자에 따라 달라지는 구조입니다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6BBCE-1A32-1FC1-5C24-1B65E502F1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9783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54EC6-6E1F-6789-FE43-63FF5D389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2041A6A-8EBF-6A98-76BE-3C2B41910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D5E43B-2859-7039-0C34-CFB6CE657E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네트워크 비콘에는 두 가지 중요한 정보가 포함되어 있습니다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첫 번째는 감염된 시스템을 식별할 수 있는</a:t>
            </a:r>
            <a:br>
              <a:rPr lang="ko-KR" altLang="en-US" dirty="0"/>
            </a:br>
            <a:r>
              <a:rPr lang="ko-KR" altLang="en-US" dirty="0"/>
              <a:t>하드웨어 프로파일 </a:t>
            </a:r>
            <a:r>
              <a:rPr lang="en-US" altLang="ko-KR" dirty="0"/>
              <a:t>GUID</a:t>
            </a:r>
            <a:r>
              <a:rPr lang="ko-KR" altLang="en-US" dirty="0"/>
              <a:t>의 일부이고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두 번째는 현재 악성코드가 실행되고 있는 사용자 이름입니다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공격자 입장에서는 이 정보를 통해</a:t>
            </a:r>
            <a:br>
              <a:rPr lang="ko-KR" altLang="en-US" dirty="0"/>
            </a:br>
            <a:r>
              <a:rPr lang="ko-KR" altLang="en-US" dirty="0"/>
              <a:t>동일한 호스트에서 반복적으로 발생하는 </a:t>
            </a:r>
            <a:r>
              <a:rPr lang="ko-KR" altLang="en-US" dirty="0" err="1"/>
              <a:t>비콘인지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아니면 새로운 감염 호스트인지 구분할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사용자 이름을 통해</a:t>
            </a:r>
            <a:br>
              <a:rPr lang="ko-KR" altLang="en-US" dirty="0"/>
            </a:br>
            <a:r>
              <a:rPr lang="ko-KR" altLang="en-US" dirty="0"/>
              <a:t>관리자 계정과 같은 가치가 높은 사용자를 식별할 수 있고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그에 따라 호스트나 사용자별로</a:t>
            </a:r>
            <a:br>
              <a:rPr lang="ko-KR" altLang="en-US" dirty="0"/>
            </a:br>
            <a:r>
              <a:rPr lang="ko-KR" altLang="en-US" dirty="0"/>
              <a:t>서로 다른 추가 페이로드를 선택적으로 배포할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 </a:t>
            </a:r>
            <a:r>
              <a:rPr lang="ko-KR" altLang="en-US" dirty="0" err="1"/>
              <a:t>비콘</a:t>
            </a:r>
            <a:r>
              <a:rPr lang="ko-KR" altLang="en-US" dirty="0"/>
              <a:t> 정보는</a:t>
            </a:r>
            <a:br>
              <a:rPr lang="ko-KR" altLang="en-US" dirty="0"/>
            </a:br>
            <a:r>
              <a:rPr lang="ko-KR" altLang="en-US" dirty="0"/>
              <a:t>감염 관리와 </a:t>
            </a:r>
            <a:r>
              <a:rPr lang="ko-KR" altLang="en-US" dirty="0" err="1"/>
              <a:t>표적화된</a:t>
            </a:r>
            <a:r>
              <a:rPr lang="ko-KR" altLang="en-US" dirty="0"/>
              <a:t> 후속 공격을 위해</a:t>
            </a:r>
            <a:br>
              <a:rPr lang="ko-KR" altLang="en-US" dirty="0"/>
            </a:br>
            <a:r>
              <a:rPr lang="ko-KR" altLang="en-US" dirty="0"/>
              <a:t>공격자에게 매우 유용한 정보입니다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1E9C142-3E1D-127A-6FB7-9AAD7CB65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09381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5017-FE16-87EB-496D-0852598FF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8B435B4-A1B2-32FF-B2FD-F35AFDD366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A0719F8-45B2-05E6-C46E-C410A96E9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</a:t>
            </a:r>
            <a:r>
              <a:rPr lang="ko-KR" altLang="en-US" b="1" dirty="0"/>
              <a:t>아래쪽 </a:t>
            </a:r>
            <a:r>
              <a:rPr lang="en-US" altLang="ko-KR" b="1" dirty="0"/>
              <a:t>Strings </a:t>
            </a:r>
            <a:r>
              <a:rPr lang="ko-KR" altLang="en-US" b="1" dirty="0"/>
              <a:t>창</a:t>
            </a:r>
            <a:r>
              <a:rPr lang="ko-KR" altLang="en-US" dirty="0"/>
              <a:t>을 보면</a:t>
            </a:r>
            <a:br>
              <a:rPr lang="ko-KR" altLang="en-US" dirty="0"/>
            </a:b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ABCDEFGHIJKLMNOPQRSTUVWXYZabcdefghijklmnopqrstuvwxyz0123456789+/</a:t>
            </a:r>
            <a:r>
              <a:rPr lang="ko-KR" altLang="en-US" dirty="0"/>
              <a:t> 형태의</a:t>
            </a:r>
            <a:br>
              <a:rPr lang="ko-KR" altLang="en-US" dirty="0"/>
            </a:br>
            <a:r>
              <a:rPr lang="en-US" altLang="ko-KR" b="1" dirty="0"/>
              <a:t>Base64 </a:t>
            </a:r>
            <a:r>
              <a:rPr lang="ko-KR" altLang="en-US" b="1" dirty="0"/>
              <a:t>문자 테이블</a:t>
            </a:r>
            <a:r>
              <a:rPr lang="ko-KR" altLang="en-US" dirty="0"/>
              <a:t>이 존재하는 것을 확인할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이를 통해 기본적인 </a:t>
            </a:r>
            <a:r>
              <a:rPr lang="en-US" altLang="ko-KR" dirty="0"/>
              <a:t>Base64 </a:t>
            </a:r>
            <a:r>
              <a:rPr lang="ko-KR" altLang="en-US" dirty="0"/>
              <a:t>인코딩 구조를 사용하고 있다는 점을 알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다음으로 </a:t>
            </a:r>
            <a:r>
              <a:rPr lang="ko-KR" altLang="en-US" b="1" dirty="0"/>
              <a:t>왼쪽 코드 블록</a:t>
            </a:r>
            <a:r>
              <a:rPr lang="ko-KR" altLang="en-US" dirty="0"/>
              <a:t>을 보면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계산된 값을 인덱스로 사용해 이 문자 테이블에서 문자를 가져오는 동작이 보이는데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 역시 </a:t>
            </a:r>
            <a:r>
              <a:rPr lang="en-US" altLang="ko-KR" dirty="0"/>
              <a:t>Base64 </a:t>
            </a:r>
            <a:r>
              <a:rPr lang="ko-KR" altLang="en-US" dirty="0"/>
              <a:t>인코딩 방식과 일치합니다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ko-KR" altLang="en-US" b="1" dirty="0"/>
              <a:t>오른쪽 분기 코드</a:t>
            </a:r>
            <a:r>
              <a:rPr lang="ko-KR" altLang="en-US" dirty="0"/>
              <a:t>를 보면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특정 조건에서 출력 문자를 테이블에서 가져오지 않고</a:t>
            </a:r>
            <a:br>
              <a:rPr lang="ko-KR" altLang="en-US" dirty="0"/>
            </a:b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0x61</a:t>
            </a:r>
            <a:r>
              <a:rPr lang="en-US" altLang="ko-KR" dirty="0"/>
              <a:t>, </a:t>
            </a:r>
            <a:r>
              <a:rPr lang="ko-KR" altLang="en-US" dirty="0"/>
              <a:t>즉 문자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ko-KR" altLang="en-US" dirty="0"/>
              <a:t>를 직접 대입하고 있습니다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이 부분이 바로 </a:t>
            </a:r>
            <a:r>
              <a:rPr lang="ko-KR" altLang="en-US" b="1" dirty="0"/>
              <a:t>패딩 처리 구간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표준 </a:t>
            </a:r>
            <a:r>
              <a:rPr lang="en-US" altLang="ko-KR" dirty="0"/>
              <a:t>Base64</a:t>
            </a:r>
            <a:r>
              <a:rPr lang="ko-KR" altLang="en-US" dirty="0"/>
              <a:t>에서는 패딩 문자로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'='</a:t>
            </a:r>
            <a:r>
              <a:rPr lang="ko-KR" altLang="en-US" dirty="0"/>
              <a:t>를 사용하지만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 악성코드는 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'a'</a:t>
            </a:r>
            <a:r>
              <a:rPr lang="ko-KR" altLang="en-US" dirty="0"/>
              <a:t>를 패딩 문자로 사용하고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 악성코드는</a:t>
            </a:r>
            <a:br>
              <a:rPr lang="ko-KR" altLang="en-US" dirty="0"/>
            </a:br>
            <a:r>
              <a:rPr lang="en-US" altLang="ko-KR" b="1" dirty="0"/>
              <a:t>Base64 </a:t>
            </a:r>
            <a:r>
              <a:rPr lang="ko-KR" altLang="en-US" b="1" dirty="0"/>
              <a:t>구조는 사용하지만</a:t>
            </a:r>
            <a:r>
              <a:rPr lang="en-US" altLang="ko-KR" b="1" dirty="0"/>
              <a:t>, </a:t>
            </a:r>
            <a:r>
              <a:rPr lang="ko-KR" altLang="en-US" b="1" dirty="0"/>
              <a:t>패딩 방식을 변형한 비표준 </a:t>
            </a:r>
            <a:r>
              <a:rPr lang="en-US" altLang="ko-KR" b="1" dirty="0"/>
              <a:t>Base64 </a:t>
            </a:r>
            <a:r>
              <a:rPr lang="ko-KR" altLang="en-US" b="1" dirty="0"/>
              <a:t>인코딩</a:t>
            </a:r>
            <a:r>
              <a:rPr lang="ko-KR" altLang="en-US" dirty="0"/>
              <a:t>을 사용한다고 </a:t>
            </a:r>
            <a:r>
              <a:rPr lang="ko-KR" altLang="en-US" dirty="0" err="1"/>
              <a:t>결론낼</a:t>
            </a:r>
            <a:r>
              <a:rPr lang="ko-KR" altLang="en-US" dirty="0"/>
              <a:t>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0C32EA-3ED0-3B5B-DFE6-F2111E4AB9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668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E0B1F-BCD6-E79D-3505-743094D3B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B3EA5DC-B321-6B19-02EE-EDBD4BC10C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AAA7E0-D7D0-C5C0-068F-5824317EA2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 문제는 악성코드의 전체적인 목적을 묻고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먼저 </a:t>
            </a:r>
            <a:r>
              <a:rPr lang="ko-KR" altLang="en-US" b="1" dirty="0"/>
              <a:t>오른쪽 상단 코드</a:t>
            </a:r>
            <a:r>
              <a:rPr lang="ko-KR" altLang="en-US" dirty="0"/>
              <a:t>를 보면</a:t>
            </a:r>
            <a:br>
              <a:rPr lang="ko-KR" altLang="en-US" dirty="0"/>
            </a:b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URLDownloadToCacheFileA</a:t>
            </a:r>
            <a:r>
              <a:rPr lang="ko-KR" altLang="en-US" dirty="0"/>
              <a:t>를 호출해</a:t>
            </a:r>
            <a:br>
              <a:rPr lang="ko-KR" altLang="en-US" dirty="0"/>
            </a:br>
            <a:r>
              <a:rPr lang="ko-KR" altLang="en-US" dirty="0"/>
              <a:t>원격 서버로부터 파일을 다운로드하는 것을 확인할 수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다운로드 결과는 </a:t>
            </a:r>
            <a:r>
              <a:rPr lang="ko-KR" altLang="en-US" dirty="0" err="1"/>
              <a:t>반환값으로</a:t>
            </a:r>
            <a:r>
              <a:rPr lang="ko-KR" altLang="en-US" dirty="0"/>
              <a:t> 확인하고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성공한 경우 아래쪽 코드로 흐름이 이어집니다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b="1" dirty="0"/>
              <a:t>아래 코드 블록</a:t>
            </a:r>
            <a:r>
              <a:rPr lang="ko-KR" altLang="en-US" dirty="0"/>
              <a:t>에서는</a:t>
            </a:r>
            <a:br>
              <a:rPr lang="ko-KR" altLang="en-US" dirty="0"/>
            </a:b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CreateProcessA</a:t>
            </a:r>
            <a:r>
              <a:rPr lang="ko-KR" altLang="en-US" dirty="0"/>
              <a:t>를 호출해</a:t>
            </a:r>
            <a:br>
              <a:rPr lang="ko-KR" altLang="en-US" dirty="0"/>
            </a:br>
            <a:r>
              <a:rPr lang="ko-KR" altLang="en-US" dirty="0"/>
              <a:t>방금 다운로드한 파일을 새로운 프로세스로 실행합니다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악성코드는 자체적으로 복잡한 동작을 수행하기보다는</a:t>
            </a:r>
            <a:br>
              <a:rPr lang="ko-KR" altLang="en-US" dirty="0"/>
            </a:br>
            <a:r>
              <a:rPr lang="ko-KR" altLang="en-US" b="1" dirty="0"/>
              <a:t>외부에서 실행 파일을 </a:t>
            </a:r>
            <a:r>
              <a:rPr lang="ko-KR" altLang="en-US" b="1" dirty="0" err="1"/>
              <a:t>내려받아</a:t>
            </a:r>
            <a:r>
              <a:rPr lang="ko-KR" altLang="en-US" b="1" dirty="0"/>
              <a:t> 바로 실행하는 역할</a:t>
            </a:r>
            <a:r>
              <a:rPr lang="ko-KR" altLang="en-US" dirty="0"/>
              <a:t>을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이 샘플의 전체 목적은</a:t>
            </a:r>
            <a:br>
              <a:rPr lang="ko-KR" altLang="en-US" dirty="0"/>
            </a:br>
            <a:r>
              <a:rPr lang="ko-KR" altLang="en-US" b="1" dirty="0"/>
              <a:t>추가 악성코드를 전달하는 </a:t>
            </a:r>
            <a:r>
              <a:rPr lang="ko-KR" altLang="en-US" b="1" dirty="0" err="1"/>
              <a:t>다운로더라고</a:t>
            </a:r>
            <a:r>
              <a:rPr lang="ko-KR" altLang="en-US" b="1" dirty="0"/>
              <a:t> </a:t>
            </a:r>
            <a:r>
              <a:rPr lang="ko-KR" altLang="en-US" b="1" dirty="0" err="1"/>
              <a:t>할수잇</a:t>
            </a:r>
            <a:endParaRPr lang="ko-KR" altLang="en-US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2A06A3-766D-07D7-5B4E-C5B4F59E5C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74966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514600" y="857250"/>
            <a:ext cx="4114800" cy="231457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37A1B-24FB-461B-A1C8-15C12684E6DE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7907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416F52-52A4-4ADA-8337-1D0E38BC1528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6258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3CF2E-F772-4C48-A022-8DA17AB07D09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323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C6CCF-1BD5-41F2-8919-506642824762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503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013B8-9107-4FC6-B669-0711D906AEA8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9997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00FD3-F67E-42DB-A82A-D7687E1AB5C5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413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0D8341-9D4A-421F-9395-519F49F2F3AC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356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CD71C7-3F13-46B6-A58E-7CA23BE81ED6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288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E1AA6-5255-4A39-85AE-61A704FE972F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919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6F48E3-8B93-4D1A-AFFF-2EEA163A89A1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6312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EE3CF-2B66-464B-AD98-FE0BFF55D30D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2052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B0A1-7A7D-42C4-BC3D-4BA8A1C2FF4E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653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A22A1-79FE-4BB1-8901-01583DC1A7E6}" type="datetime1">
              <a:rPr lang="ko-KR" altLang="en-US" smtClean="0"/>
              <a:t>2026-02-11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30B1F-A8C1-4283-9092-BCCC9E34DE4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5751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racticalmalwareanalysis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5D2B271-A495-42C7-8960-C02F459CE3D5}"/>
              </a:ext>
            </a:extLst>
          </p:cNvPr>
          <p:cNvSpPr txBox="1">
            <a:spLocks/>
          </p:cNvSpPr>
          <p:nvPr/>
        </p:nvSpPr>
        <p:spPr>
          <a:xfrm>
            <a:off x="211122" y="1420589"/>
            <a:ext cx="11769755" cy="212478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5400" dirty="0"/>
              <a:t>MALWARE-FOCUSED </a:t>
            </a:r>
          </a:p>
          <a:p>
            <a:r>
              <a:rPr lang="en-US" altLang="ko-KR" sz="5400" dirty="0"/>
              <a:t>NETWORK SIGNATURES </a:t>
            </a:r>
            <a:endParaRPr lang="en-AU" sz="5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A938B2-426B-4B82-BFDE-FE7C1372E765}"/>
              </a:ext>
            </a:extLst>
          </p:cNvPr>
          <p:cNvSpPr txBox="1"/>
          <p:nvPr/>
        </p:nvSpPr>
        <p:spPr>
          <a:xfrm>
            <a:off x="4858024" y="5694091"/>
            <a:ext cx="2475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Textbook </a:t>
            </a:r>
            <a:r>
              <a:rPr lang="en-US" altLang="ko-KR" b="1" dirty="0" err="1"/>
              <a:t>Seminiar</a:t>
            </a:r>
            <a:endParaRPr lang="en-US" altLang="ko-KR" b="1" dirty="0"/>
          </a:p>
          <a:p>
            <a:pPr algn="ctr"/>
            <a:r>
              <a:rPr lang="en-US" altLang="ko-KR" b="1" dirty="0"/>
              <a:t>Presenter : Subin Cho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2491879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E85C-B53C-0517-6160-96268F42D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389CB-C51E-AE1C-5BFD-6A9B7F90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Malware and the Network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28C7193-D9F4-ABC2-53CC-28E0A165572C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5566903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A23F0E6-2D2B-F990-6820-6BAB1AE1A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B37A48-6A1E-9DAE-FF02-9E5912B015B8}"/>
              </a:ext>
            </a:extLst>
          </p:cNvPr>
          <p:cNvSpPr txBox="1"/>
          <p:nvPr/>
        </p:nvSpPr>
        <p:spPr>
          <a:xfrm>
            <a:off x="272982" y="1208567"/>
            <a:ext cx="112726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Modern malware makes heavy use of network connectivity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Malware rarely completes its mission without communicating externally</a:t>
            </a:r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Network traffic exposes behavioral intent, not just functionality</a:t>
            </a:r>
          </a:p>
        </p:txBody>
      </p:sp>
    </p:spTree>
    <p:extLst>
      <p:ext uri="{BB962C8B-B14F-4D97-AF65-F5344CB8AC3E}">
        <p14:creationId xmlns:p14="http://schemas.microsoft.com/office/powerpoint/2010/main" val="406539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D0066-6BEA-E31C-F455-C3EDEFA3A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667372-1A07-F1F5-5D04-A45637662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Network-Based Countermeasures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579C0FA1-05EF-1159-CE4B-9EAB7053C7C2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717196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960702F-6139-2CDD-67FC-A1157A95E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AFB5C-EA7C-E841-4DE0-EF1E68F51F06}"/>
              </a:ext>
            </a:extLst>
          </p:cNvPr>
          <p:cNvSpPr txBox="1"/>
          <p:nvPr/>
        </p:nvSpPr>
        <p:spPr>
          <a:xfrm>
            <a:off x="272982" y="1208567"/>
            <a:ext cx="1127263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Firewalls / Routers: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filter by </a:t>
            </a:r>
            <a:r>
              <a:rPr lang="en-US" altLang="ko-KR" sz="2400" b="1" dirty="0"/>
              <a:t>IP</a:t>
            </a:r>
            <a:r>
              <a:rPr lang="en-US" altLang="ko-KR" sz="2400" dirty="0"/>
              <a:t> + </a:t>
            </a:r>
            <a:r>
              <a:rPr lang="en-US" altLang="ko-KR" sz="2400" b="1" dirty="0"/>
              <a:t>TCP/UDP ports</a:t>
            </a:r>
          </a:p>
          <a:p>
            <a:pPr lvl="1"/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DNS defenses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redirect malicious domains to a </a:t>
            </a:r>
            <a:r>
              <a:rPr lang="en-US" altLang="ko-KR" sz="2400" b="1" dirty="0"/>
              <a:t>sinkhole</a:t>
            </a:r>
          </a:p>
          <a:p>
            <a:pPr lvl="1"/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Proxy servers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 block or log access by </a:t>
            </a:r>
            <a:r>
              <a:rPr lang="en-US" altLang="ko-KR" sz="2400" b="1" dirty="0"/>
              <a:t>domain / URL</a:t>
            </a:r>
          </a:p>
          <a:p>
            <a:pPr lvl="1"/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Limitation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 attackers can quickly </a:t>
            </a:r>
            <a:r>
              <a:rPr lang="en-US" altLang="ko-KR" sz="2400" b="1" dirty="0"/>
              <a:t>change IPs/domains</a:t>
            </a:r>
            <a:r>
              <a:rPr lang="en-US" altLang="ko-KR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 need </a:t>
            </a:r>
            <a:r>
              <a:rPr lang="en-US" altLang="ko-KR" sz="2400" b="1" dirty="0"/>
              <a:t>content-based</a:t>
            </a:r>
            <a:r>
              <a:rPr lang="en-US" altLang="ko-KR" sz="2400" dirty="0"/>
              <a:t> detection </a:t>
            </a:r>
          </a:p>
        </p:txBody>
      </p:sp>
    </p:spTree>
    <p:extLst>
      <p:ext uri="{BB962C8B-B14F-4D97-AF65-F5344CB8AC3E}">
        <p14:creationId xmlns:p14="http://schemas.microsoft.com/office/powerpoint/2010/main" val="2431039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B6293-03E6-AB44-BBD8-FA70A5BB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BE1415-097B-BED4-F308-658B2258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Basic Network Indicators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5FED610-2DA4-49EE-AE81-913DC7D33DFD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5479354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90171DE-5D70-D0A8-4E97-AB03FC5B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66389-AC7B-A248-EC93-481626FB523D}"/>
              </a:ext>
            </a:extLst>
          </p:cNvPr>
          <p:cNvSpPr txBox="1"/>
          <p:nvPr/>
        </p:nvSpPr>
        <p:spPr>
          <a:xfrm>
            <a:off x="272982" y="1208567"/>
            <a:ext cx="112726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Malware activity often exposes observable indicators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Common indicator types: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Domains (with resolved IPs)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IP addresses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HTTP requests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BDE3A3-0401-3143-5DBD-2BB188FDD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6102" y="3239383"/>
            <a:ext cx="9399795" cy="311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744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FE734-656E-30F2-B07E-C8E5AD8A6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056A9-EC35-B262-342A-5E356E8B2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Information Exists Around Domains and IPs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29A92B6-9BD4-88B8-6FEA-E3FE984C670D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9117498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4B02692-2474-A6DE-08E0-4E758D7D9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BC6679-15EC-7F8B-BF4C-5995BCF6F419}"/>
              </a:ext>
            </a:extLst>
          </p:cNvPr>
          <p:cNvSpPr txBox="1"/>
          <p:nvPr/>
        </p:nvSpPr>
        <p:spPr>
          <a:xfrm>
            <a:off x="272982" y="1208567"/>
            <a:ext cx="1127263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Domain and IP data comes from multiple sources: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Domain registries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DNS records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IP registries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Blacklists and geo information</a:t>
            </a:r>
          </a:p>
          <a:p>
            <a:pPr lvl="1"/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 single domain can be linked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Multiple IPs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Historical activity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Other malicious domains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93C044-BE56-797A-AE26-C4C942D40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937" y="1954180"/>
            <a:ext cx="6392905" cy="3040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855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A3165-D556-B24F-9AE2-F8758A66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CAF833-FEA3-DB32-ED5B-1EE569336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Detecting Malware with Network Signatures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43455AD-DED8-1885-2BFC-3312F58C73C1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9419056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4B240DD-8786-DDEC-08A9-5D6EC246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7136EE-8EDA-BDFF-3049-D08332A2B77B}"/>
              </a:ext>
            </a:extLst>
          </p:cNvPr>
          <p:cNvSpPr txBox="1"/>
          <p:nvPr/>
        </p:nvSpPr>
        <p:spPr>
          <a:xfrm>
            <a:off x="272982" y="1208567"/>
            <a:ext cx="1127263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Snort uses signature-based rules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Rules combine: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Network metadata </a:t>
            </a:r>
            <a:r>
              <a:rPr lang="fr-FR" altLang="ko-KR" sz="2400" dirty="0"/>
              <a:t>(communication direction, protocol, port information)</a:t>
            </a: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Payload content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CEC67EE-4508-731E-86D8-12B5FB730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35" y="2912825"/>
            <a:ext cx="10677525" cy="8572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C3C2C16-97EB-35DD-967C-3CB5AC3D7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368" y="3863097"/>
            <a:ext cx="7134225" cy="263842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042D7E62-C1AD-5953-2CC1-87D2AD7E3429}"/>
              </a:ext>
            </a:extLst>
          </p:cNvPr>
          <p:cNvSpPr/>
          <p:nvPr/>
        </p:nvSpPr>
        <p:spPr>
          <a:xfrm>
            <a:off x="2451370" y="3341450"/>
            <a:ext cx="2071992" cy="209146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359A8A3-372E-FB04-9CED-DF0EECBFBE2D}"/>
              </a:ext>
            </a:extLst>
          </p:cNvPr>
          <p:cNvSpPr/>
          <p:nvPr/>
        </p:nvSpPr>
        <p:spPr>
          <a:xfrm>
            <a:off x="726332" y="3098765"/>
            <a:ext cx="1014919" cy="20914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7811AAE-BAD7-08F8-16C1-B082BD6EC4F4}"/>
              </a:ext>
            </a:extLst>
          </p:cNvPr>
          <p:cNvSpPr/>
          <p:nvPr/>
        </p:nvSpPr>
        <p:spPr>
          <a:xfrm>
            <a:off x="1825556" y="3098764"/>
            <a:ext cx="3262009" cy="209145"/>
          </a:xfrm>
          <a:prstGeom prst="rect">
            <a:avLst/>
          </a:prstGeom>
          <a:solidFill>
            <a:schemeClr val="accent4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783D1EB-E121-8B80-561F-7C122629859D}"/>
              </a:ext>
            </a:extLst>
          </p:cNvPr>
          <p:cNvSpPr/>
          <p:nvPr/>
        </p:nvSpPr>
        <p:spPr>
          <a:xfrm>
            <a:off x="6575898" y="3098764"/>
            <a:ext cx="321013" cy="24268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48895A9-C4AF-91A8-521F-119BACF446C4}"/>
              </a:ext>
            </a:extLst>
          </p:cNvPr>
          <p:cNvSpPr/>
          <p:nvPr/>
        </p:nvSpPr>
        <p:spPr>
          <a:xfrm>
            <a:off x="726332" y="3336586"/>
            <a:ext cx="771728" cy="24268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1010F2A-E4BC-26E3-996A-1D6B846C9EF9}"/>
              </a:ext>
            </a:extLst>
          </p:cNvPr>
          <p:cNvSpPr/>
          <p:nvPr/>
        </p:nvSpPr>
        <p:spPr>
          <a:xfrm>
            <a:off x="4844375" y="3336586"/>
            <a:ext cx="1001948" cy="24268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45D04B-712E-3D08-996E-C2725A35A1E7}"/>
              </a:ext>
            </a:extLst>
          </p:cNvPr>
          <p:cNvSpPr/>
          <p:nvPr/>
        </p:nvSpPr>
        <p:spPr>
          <a:xfrm>
            <a:off x="7738352" y="3324680"/>
            <a:ext cx="403699" cy="24268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2DBCFF7-2A23-7D87-3A99-B73EE77CEA16}"/>
              </a:ext>
            </a:extLst>
          </p:cNvPr>
          <p:cNvSpPr/>
          <p:nvPr/>
        </p:nvSpPr>
        <p:spPr>
          <a:xfrm>
            <a:off x="9128418" y="3321995"/>
            <a:ext cx="403699" cy="24268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CA4DECC-AAD9-BBF1-6341-F43F46110387}"/>
              </a:ext>
            </a:extLst>
          </p:cNvPr>
          <p:cNvSpPr/>
          <p:nvPr/>
        </p:nvSpPr>
        <p:spPr>
          <a:xfrm>
            <a:off x="2608008" y="3956014"/>
            <a:ext cx="903677" cy="2400336"/>
          </a:xfrm>
          <a:prstGeom prst="rect">
            <a:avLst/>
          </a:prstGeom>
          <a:solidFill>
            <a:schemeClr val="accent6">
              <a:lumMod val="60000"/>
              <a:lumOff val="40000"/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596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2331D-9BC3-3847-1B9B-857BBBBF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1E42E-5C99-3F41-F5BE-E96268A45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Malware Analysis Levels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B568642-29A8-6DC1-FFBF-38E65D8F640A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509024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C391A98-5CBC-67BF-06A1-C3DFCB8FE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BAD42A-A612-D18B-6BF7-D9B55E0F48C7}"/>
              </a:ext>
            </a:extLst>
          </p:cNvPr>
          <p:cNvSpPr txBox="1"/>
          <p:nvPr/>
        </p:nvSpPr>
        <p:spPr>
          <a:xfrm>
            <a:off x="272982" y="1208567"/>
            <a:ext cx="1127263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Malware analysis has multiple levels: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lvl="1"/>
            <a:endParaRPr lang="en-US" altLang="ko-KR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Sandbox-level indicators are not always sufficient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Overfitting signatures leads to false confidence</a:t>
            </a:r>
          </a:p>
          <a:p>
            <a:pPr lvl="1"/>
            <a:endParaRPr lang="en-US" altLang="ko-KR" sz="2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98440B-E1BE-B137-81E2-018AC0FF5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29" y="1836692"/>
            <a:ext cx="10990513" cy="318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812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6564-AC30-7F80-1F03-5D7A18352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556594-D85A-90A2-60D9-4AFA96975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Malware Communication Over HTTP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796AB54-1125-74D3-06EE-1A5F14899554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766807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CA1ADE8-72DC-9F28-2E3E-1057AE02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CEDF25-4146-FFBF-2A3C-43D861CF462D}"/>
              </a:ext>
            </a:extLst>
          </p:cNvPr>
          <p:cNvSpPr txBox="1"/>
          <p:nvPr/>
        </p:nvSpPr>
        <p:spPr>
          <a:xfrm>
            <a:off x="272982" y="1208567"/>
            <a:ext cx="112726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Malware often uses HTTP GET 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Can embed: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Commands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System information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Encoded payloads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2767B17-870E-0243-37D3-2FEFF877EA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317"/>
          <a:stretch>
            <a:fillRect/>
          </a:stretch>
        </p:blipFill>
        <p:spPr>
          <a:xfrm>
            <a:off x="4507272" y="2048688"/>
            <a:ext cx="6846528" cy="203693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64D8E4E-6105-3D3B-9936-851A67C963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88" r="-1100" b="261"/>
          <a:stretch>
            <a:fillRect/>
          </a:stretch>
        </p:blipFill>
        <p:spPr>
          <a:xfrm>
            <a:off x="4526728" y="4085618"/>
            <a:ext cx="6827072" cy="173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58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318AB-F8BC-DCBF-AB54-965EA6128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89392-CED4-E421-968A-5650E2EBC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Blending into Legitimate Traffic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4EBAA57-9E81-136F-6A6A-C8A9957C796A}"/>
              </a:ext>
            </a:extLst>
          </p:cNvPr>
          <p:cNvCxnSpPr>
            <a:cxnSpLocks/>
          </p:cNvCxnSpPr>
          <p:nvPr/>
        </p:nvCxnSpPr>
        <p:spPr>
          <a:xfrm>
            <a:off x="357243" y="945291"/>
            <a:ext cx="670503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4D9AE2-D311-6C59-E50F-A7943E7D3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007ED1-63D2-56BD-063B-3482E8C6CB00}"/>
              </a:ext>
            </a:extLst>
          </p:cNvPr>
          <p:cNvSpPr txBox="1"/>
          <p:nvPr/>
        </p:nvSpPr>
        <p:spPr>
          <a:xfrm>
            <a:off x="272982" y="1208567"/>
            <a:ext cx="112726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User-Agent abuse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Header looks normal, but can </a:t>
            </a:r>
            <a:r>
              <a:rPr lang="en-US" altLang="ko-KR" sz="2400" b="1" dirty="0"/>
              <a:t>carry hidden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Early malware:</a:t>
            </a:r>
            <a:r>
              <a:rPr lang="en-US" altLang="ko-KR" sz="2400" dirty="0"/>
              <a:t> weird User-Agents, easy to flag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Now:</a:t>
            </a:r>
            <a:r>
              <a:rPr lang="en-US" altLang="ko-KR" sz="2400" dirty="0"/>
              <a:t> mimics browsers (looks legitimate)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Using existing infrastructure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C2 commands can hide in </a:t>
            </a:r>
            <a:r>
              <a:rPr lang="en-US" altLang="ko-KR" sz="2400" b="1" dirty="0"/>
              <a:t>web page source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90F7B2-ECCF-9A9F-9994-3BD72CCE29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993" y="2813541"/>
            <a:ext cx="8562975" cy="6858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6A4F9E4-28F5-2EE3-4A2D-862C563AF1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90" r="1037"/>
          <a:stretch>
            <a:fillRect/>
          </a:stretch>
        </p:blipFill>
        <p:spPr>
          <a:xfrm>
            <a:off x="6595353" y="3615090"/>
            <a:ext cx="5596647" cy="254614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62BB48E-8BC8-C877-2DD2-4EA9323DC5A4}"/>
              </a:ext>
            </a:extLst>
          </p:cNvPr>
          <p:cNvSpPr/>
          <p:nvPr/>
        </p:nvSpPr>
        <p:spPr>
          <a:xfrm>
            <a:off x="6595353" y="5515583"/>
            <a:ext cx="2015247" cy="133850"/>
          </a:xfrm>
          <a:prstGeom prst="rect">
            <a:avLst/>
          </a:prstGeom>
          <a:solidFill>
            <a:schemeClr val="accent4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109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3C51F-9D29-91F0-9671-48F0E2267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B4A08-3DBC-057D-0681-9AAD3E17E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Beaconing: How Malware Communicates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8C0D4AD-3200-A365-D3C9-EDD0C24371BA}"/>
              </a:ext>
            </a:extLst>
          </p:cNvPr>
          <p:cNvCxnSpPr>
            <a:cxnSpLocks/>
          </p:cNvCxnSpPr>
          <p:nvPr/>
        </p:nvCxnSpPr>
        <p:spPr>
          <a:xfrm>
            <a:off x="357243" y="945291"/>
            <a:ext cx="843902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6A0E6F7-4E50-FDE1-FA97-26D06005A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1566ED-C49E-37B6-0B89-DEAF702CA4AC}"/>
              </a:ext>
            </a:extLst>
          </p:cNvPr>
          <p:cNvSpPr txBox="1"/>
          <p:nvPr/>
        </p:nvSpPr>
        <p:spPr>
          <a:xfrm>
            <a:off x="272982" y="1208567"/>
            <a:ext cx="112726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b="1" dirty="0"/>
              <a:t>Beaconing</a:t>
            </a:r>
            <a:r>
              <a:rPr lang="en-US" altLang="ko-KR" sz="2400" dirty="0"/>
              <a:t> = malware repeatedly “checks in” with a C2 server</a:t>
            </a:r>
          </a:p>
          <a:p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Purpose of beacon traffic: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Receive commands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Confirm infection is still alive</a:t>
            </a:r>
          </a:p>
          <a:p>
            <a:pPr lvl="1"/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Beacon traffic is designed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Look like </a:t>
            </a:r>
            <a:r>
              <a:rPr lang="en-US" altLang="ko-KR" sz="2400" b="1" dirty="0"/>
              <a:t>normal HTTP traffic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820758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EA23-07A2-7847-447E-18A156FDF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D00927-105B-4842-E35A-CA003D7B9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 Encoding Patterns Used by Malware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CBFB0A5-851E-CCDC-3270-74C184B7B0FE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7551345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03FB92-C859-77D8-9722-2A59C1BAA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869986-B083-4956-EB7D-6A1826D8FE2D}"/>
              </a:ext>
            </a:extLst>
          </p:cNvPr>
          <p:cNvSpPr txBox="1"/>
          <p:nvPr/>
        </p:nvSpPr>
        <p:spPr>
          <a:xfrm>
            <a:off x="272982" y="1208567"/>
            <a:ext cx="1127263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Malware often </a:t>
            </a:r>
            <a:r>
              <a:rPr lang="en-US" altLang="ko-KR" sz="2400" b="1" dirty="0"/>
              <a:t>encodes data before sending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Common inputs: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Random bytes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Host-specific values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Time-based values Patterns can be </a:t>
            </a:r>
            <a:r>
              <a:rPr lang="en-US" altLang="ko-KR" sz="2400" b="1" dirty="0"/>
              <a:t>generalized into signatures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4AC4E33-0C33-367D-59A3-7686797A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1" y="3964426"/>
            <a:ext cx="10591800" cy="1866900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6AD0C78-4393-FA5F-5712-621B7C6DC3DB}"/>
              </a:ext>
            </a:extLst>
          </p:cNvPr>
          <p:cNvSpPr/>
          <p:nvPr/>
        </p:nvSpPr>
        <p:spPr>
          <a:xfrm>
            <a:off x="963038" y="4182894"/>
            <a:ext cx="10262681" cy="247809"/>
          </a:xfrm>
          <a:prstGeom prst="rect">
            <a:avLst/>
          </a:prstGeom>
          <a:solidFill>
            <a:schemeClr val="accent4">
              <a:lumMod val="60000"/>
              <a:lumOff val="40000"/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03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D6FC2-54E7-BE5D-D1E9-9BA0400E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F09CD-17B3-C602-3E97-D835FD2D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3BA9E7D5-DFF9-A033-B80C-E20AF28EDF8B}"/>
              </a:ext>
            </a:extLst>
          </p:cNvPr>
          <p:cNvCxnSpPr>
            <a:cxnSpLocks/>
          </p:cNvCxnSpPr>
          <p:nvPr/>
        </p:nvCxnSpPr>
        <p:spPr>
          <a:xfrm>
            <a:off x="272982" y="906380"/>
            <a:ext cx="1876831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41CCB57-EBFD-6D39-4D09-134E2E32B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95E6F-5E9F-58EF-112C-BFD70A13A487}"/>
              </a:ext>
            </a:extLst>
          </p:cNvPr>
          <p:cNvSpPr txBox="1"/>
          <p:nvPr/>
        </p:nvSpPr>
        <p:spPr>
          <a:xfrm>
            <a:off x="272982" y="1208567"/>
            <a:ext cx="1127263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dirty="0"/>
              <a:t>Which networking libraries does the malware use, and what are their advantages?</a:t>
            </a:r>
          </a:p>
          <a:p>
            <a:pPr marL="457200" indent="-457200">
              <a:buAutoNum type="arabicPeriod"/>
            </a:pP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Networking Library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urlmon.dll (Windows URL Moniker)</a:t>
            </a:r>
          </a:p>
          <a:p>
            <a:pPr lvl="1"/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Advantages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Simple HTTP file download via a single API call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Use of the standard Windows web stack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Network traffic similar to legitimate web activity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438CBCE-A2D0-C8ED-794B-1C261A76F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48" y="4963035"/>
            <a:ext cx="10728304" cy="842537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21819B8-439B-6BE4-584E-BFD98362B19B}"/>
              </a:ext>
            </a:extLst>
          </p:cNvPr>
          <p:cNvSpPr/>
          <p:nvPr/>
        </p:nvSpPr>
        <p:spPr>
          <a:xfrm>
            <a:off x="6653719" y="5048655"/>
            <a:ext cx="3881336" cy="301558"/>
          </a:xfrm>
          <a:prstGeom prst="rect">
            <a:avLst/>
          </a:prstGeom>
          <a:solidFill>
            <a:schemeClr val="accent4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AE49100-D879-B45D-18C6-D81612B55579}"/>
              </a:ext>
            </a:extLst>
          </p:cNvPr>
          <p:cNvSpPr/>
          <p:nvPr/>
        </p:nvSpPr>
        <p:spPr>
          <a:xfrm>
            <a:off x="6653719" y="5435833"/>
            <a:ext cx="1167319" cy="213599"/>
          </a:xfrm>
          <a:prstGeom prst="rect">
            <a:avLst/>
          </a:prstGeom>
          <a:solidFill>
            <a:schemeClr val="accent4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81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2B065-8BDE-E536-F088-9099F3659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1D42E8-C20D-54A5-308A-6E8742030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8" y="381494"/>
            <a:ext cx="11983452" cy="575233"/>
          </a:xfrm>
        </p:spPr>
        <p:txBody>
          <a:bodyPr>
            <a:normAutofit fontScale="90000"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595C4C5-74D7-B2A1-D6C6-13E46CDD2012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1607745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4EA08F1-81D3-7656-ACC7-FAB8B83F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F9B5E0-5684-EA5C-9669-2E9072CE3B64}"/>
              </a:ext>
            </a:extLst>
          </p:cNvPr>
          <p:cNvSpPr txBox="1"/>
          <p:nvPr/>
        </p:nvSpPr>
        <p:spPr>
          <a:xfrm>
            <a:off x="203868" y="1033469"/>
            <a:ext cx="117842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2"/>
            </a:pPr>
            <a:r>
              <a:rPr lang="en-US" altLang="ko-KR" sz="2400" dirty="0"/>
              <a:t>What source elements are used to construct the networking beacon, and what conditions would cause the beacon to change?</a:t>
            </a:r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Method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Trace the call to </a:t>
            </a:r>
            <a:r>
              <a:rPr lang="en-US" altLang="ko-KR" sz="2400" dirty="0" err="1"/>
              <a:t>URLDownloadToCacheFileA</a:t>
            </a:r>
            <a:endParaRPr lang="en-US" altLang="ko-KR" sz="2400" dirty="0"/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Analyze URL construction using _sprint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Beacon Source Elements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Hardcoded URL template: </a:t>
            </a:r>
            <a:r>
              <a:rPr lang="en-US" altLang="ko-KR" dirty="0">
                <a:hlinkClick r:id="rId3"/>
              </a:rPr>
              <a:t>www.practicalmalwareanalysis.com</a:t>
            </a:r>
            <a:endParaRPr lang="en-US" altLang="ko-KR" sz="2400" dirty="0"/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Host identifier inserted into the URL: Hardware Profile GUID</a:t>
            </a:r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6FF1633-F9CF-516E-D14A-405B02388F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641"/>
          <a:stretch>
            <a:fillRect/>
          </a:stretch>
        </p:blipFill>
        <p:spPr>
          <a:xfrm>
            <a:off x="2565242" y="4003220"/>
            <a:ext cx="6854238" cy="271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945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A4F00-64C8-EA78-BF9E-0F8CC99E1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657E23-7E71-4E4E-2A21-049E009B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B471639-3967-D6C6-B802-B8F40DA4EE3F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172447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3331036-2090-DA61-5F9D-C0993A3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883A85-860C-1644-7F08-2F974C05036B}"/>
              </a:ext>
            </a:extLst>
          </p:cNvPr>
          <p:cNvSpPr txBox="1"/>
          <p:nvPr/>
        </p:nvSpPr>
        <p:spPr>
          <a:xfrm>
            <a:off x="272982" y="1208567"/>
            <a:ext cx="117842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2"/>
            </a:pPr>
            <a:r>
              <a:rPr lang="en-US" altLang="ko-KR" sz="2400" dirty="0"/>
              <a:t>What source elements are used to construct the networking beacon, and what conditions would cause the beacon to change?</a:t>
            </a:r>
          </a:p>
          <a:p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Beacon Changes When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Runs on a different host, Hardware profile changes (GUID changes)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dirty="0"/>
              <a:t>Different user logs in (username changes)</a:t>
            </a:r>
          </a:p>
          <a:p>
            <a:pPr marL="800100" lvl="1" indent="-342900">
              <a:buFontTx/>
              <a:buChar char="-"/>
            </a:pPr>
            <a:endParaRPr lang="en-US" altLang="ko-KR" sz="2400" dirty="0"/>
          </a:p>
          <a:p>
            <a:pPr marL="800100" lvl="1" indent="-342900">
              <a:buFontTx/>
              <a:buChar char="-"/>
            </a:pPr>
            <a:endParaRPr lang="en-US" altLang="ko-KR" sz="2400" dirty="0"/>
          </a:p>
          <a:p>
            <a:pPr lvl="1"/>
            <a:endParaRPr lang="en-US" altLang="ko-KR" sz="2400" dirty="0"/>
          </a:p>
        </p:txBody>
      </p:sp>
      <p:sp>
        <p:nvSpPr>
          <p:cNvPr id="3" name="AutoShape 2" descr="업로드한 이미지">
            <a:extLst>
              <a:ext uri="{FF2B5EF4-FFF2-40B4-BE49-F238E27FC236}">
                <a16:creationId xmlns:a16="http://schemas.microsoft.com/office/drawing/2014/main" id="{4BB3726F-76CD-4A34-5613-E07C6CF481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15288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92057-6440-BD94-7D37-D54B27CFB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C1E4C-A20A-674D-67E1-9E7F6F73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A25BCA83-DCD9-EDC8-5A60-913774DB1548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1889847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86A4336-3BC2-13AE-CD3E-7BA14DDE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14D2C2-DD1F-D0DE-3280-8A6CA679B54A}"/>
              </a:ext>
            </a:extLst>
          </p:cNvPr>
          <p:cNvSpPr txBox="1"/>
          <p:nvPr/>
        </p:nvSpPr>
        <p:spPr>
          <a:xfrm>
            <a:off x="272982" y="1208567"/>
            <a:ext cx="1178426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3.   Why might the information embedded in the networking beacon be of interest to the attacker?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Beacon contains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b="1" dirty="0"/>
              <a:t>Host ID</a:t>
            </a:r>
            <a:r>
              <a:rPr lang="en-US" altLang="ko-KR" sz="2400" dirty="0"/>
              <a:t>: Hardware Profile GUID (partial)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b="1" dirty="0"/>
              <a:t>User ID</a:t>
            </a:r>
            <a:r>
              <a:rPr lang="en-US" altLang="ko-KR" sz="2400" dirty="0"/>
              <a:t>: Username</a:t>
            </a:r>
            <a:endParaRPr lang="en-US" altLang="ko-K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Why attacker cares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b="1" dirty="0"/>
              <a:t>Track infections</a:t>
            </a:r>
            <a:r>
              <a:rPr lang="en-US" altLang="ko-KR" sz="2400" dirty="0"/>
              <a:t>: distinguish “same host” vs “new host”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b="1" dirty="0"/>
              <a:t>Prioritize targets</a:t>
            </a:r>
            <a:r>
              <a:rPr lang="en-US" altLang="ko-KR" sz="2400" dirty="0"/>
              <a:t>: spot valuable users (e.g., admin)</a:t>
            </a:r>
          </a:p>
          <a:p>
            <a:pPr marL="800100" lvl="1" indent="-342900">
              <a:buFontTx/>
              <a:buChar char="-"/>
            </a:pPr>
            <a:r>
              <a:rPr lang="en-US" altLang="ko-KR" sz="2400" b="1" dirty="0"/>
              <a:t>Targeted payloads</a:t>
            </a:r>
            <a:r>
              <a:rPr lang="en-US" altLang="ko-KR" sz="2400" dirty="0"/>
              <a:t>: send different downloads per host/user</a:t>
            </a:r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6561928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DF7BF-7C61-DA00-3EF3-F8B87C18E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69FA53-C1FD-3910-034D-C245B581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059" y="1581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1E7458F-DA77-308F-D91E-203458D962CD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2064945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FF7678D-FC2E-9F68-D815-97A2F1DC5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24D14C-DE23-F4FF-45B7-AD95BC2404C7}"/>
              </a:ext>
            </a:extLst>
          </p:cNvPr>
          <p:cNvSpPr txBox="1"/>
          <p:nvPr/>
        </p:nvSpPr>
        <p:spPr>
          <a:xfrm>
            <a:off x="272982" y="1208567"/>
            <a:ext cx="117842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 startAt="4"/>
            </a:pPr>
            <a:r>
              <a:rPr lang="en-US" altLang="ko-KR" sz="2400" dirty="0"/>
              <a:t>Does the malware use standard Base64 encoding? If not, how is the encoding unusual?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Uses a Base64 character table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Padding character is not '=‘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Uses 'a' (0x61) as the padding character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This is a non-standard Base64 encoding</a:t>
            </a:r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94DCC9F-A6E2-C1C4-153A-683C8EC083E5}"/>
              </a:ext>
            </a:extLst>
          </p:cNvPr>
          <p:cNvGrpSpPr/>
          <p:nvPr/>
        </p:nvGrpSpPr>
        <p:grpSpPr>
          <a:xfrm>
            <a:off x="1914930" y="3209516"/>
            <a:ext cx="7909109" cy="3401118"/>
            <a:chOff x="1914930" y="3413798"/>
            <a:chExt cx="7909109" cy="3401118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2941C654-AE72-8D52-7432-DA417AFB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14930" y="3413798"/>
              <a:ext cx="7909109" cy="3401118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83DCB77F-1413-F347-B601-D2575C918DDF}"/>
                </a:ext>
              </a:extLst>
            </p:cNvPr>
            <p:cNvSpPr/>
            <p:nvPr/>
          </p:nvSpPr>
          <p:spPr>
            <a:xfrm>
              <a:off x="4912468" y="3959157"/>
              <a:ext cx="2159541" cy="369652"/>
            </a:xfrm>
            <a:prstGeom prst="rect">
              <a:avLst/>
            </a:prstGeom>
            <a:solidFill>
              <a:srgbClr val="FC6F68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D8A6E43-7647-F5ED-4660-A27CE13FBED9}"/>
                </a:ext>
              </a:extLst>
            </p:cNvPr>
            <p:cNvSpPr/>
            <p:nvPr/>
          </p:nvSpPr>
          <p:spPr>
            <a:xfrm>
              <a:off x="2487039" y="5496200"/>
              <a:ext cx="2298969" cy="233391"/>
            </a:xfrm>
            <a:prstGeom prst="rect">
              <a:avLst/>
            </a:prstGeom>
            <a:solidFill>
              <a:srgbClr val="FC6F68">
                <a:alpha val="39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168937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0D77C-CE36-EB2A-56FC-3BEC3005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5C9ACF-7E75-5088-278E-599B3757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5" y="27882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 LAB 14-1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E6AC8C1-85FD-5EBF-5507-0C11E267825F}"/>
              </a:ext>
            </a:extLst>
          </p:cNvPr>
          <p:cNvCxnSpPr>
            <a:cxnSpLocks/>
          </p:cNvCxnSpPr>
          <p:nvPr/>
        </p:nvCxnSpPr>
        <p:spPr>
          <a:xfrm>
            <a:off x="328059" y="945291"/>
            <a:ext cx="1967669" cy="0"/>
          </a:xfrm>
          <a:prstGeom prst="line">
            <a:avLst/>
          </a:prstGeom>
          <a:ln w="38100">
            <a:solidFill>
              <a:schemeClr val="bg2">
                <a:lumMod val="75000"/>
                <a:alpha val="71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5129D15F-6DE9-4067-5AE5-FFC53CB55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DC56D0-FF08-79D8-8E7E-32C8C361F8BD}"/>
              </a:ext>
            </a:extLst>
          </p:cNvPr>
          <p:cNvSpPr txBox="1"/>
          <p:nvPr/>
        </p:nvSpPr>
        <p:spPr>
          <a:xfrm>
            <a:off x="272982" y="1208567"/>
            <a:ext cx="1178426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5.  What is the overall purpose of this malware?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Connects to a remote server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Downloads an executable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Executes the downloaded file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ko-KR" sz="2400" dirty="0"/>
              <a:t>Acts as a downloader / dropper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altLang="ko-KR" sz="2400" dirty="0"/>
          </a:p>
          <a:p>
            <a:pPr lvl="1"/>
            <a:endParaRPr lang="en-US" altLang="ko-KR" sz="2400" dirty="0"/>
          </a:p>
          <a:p>
            <a:pPr lvl="1"/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192178A-A2F5-7085-7FBE-444D168D7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5132" y="1607605"/>
            <a:ext cx="5876925" cy="5222513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9F9CCE8-2FAB-9C2C-BD35-0BA351136343}"/>
              </a:ext>
            </a:extLst>
          </p:cNvPr>
          <p:cNvSpPr/>
          <p:nvPr/>
        </p:nvSpPr>
        <p:spPr>
          <a:xfrm>
            <a:off x="5642043" y="1607605"/>
            <a:ext cx="2256817" cy="435204"/>
          </a:xfrm>
          <a:prstGeom prst="rect">
            <a:avLst/>
          </a:prstGeom>
          <a:solidFill>
            <a:srgbClr val="FC6F68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003D5F2-C3A6-E583-0FA5-F7DAC5084B0C}"/>
              </a:ext>
            </a:extLst>
          </p:cNvPr>
          <p:cNvSpPr/>
          <p:nvPr/>
        </p:nvSpPr>
        <p:spPr>
          <a:xfrm>
            <a:off x="7762673" y="6614808"/>
            <a:ext cx="1964987" cy="215309"/>
          </a:xfrm>
          <a:prstGeom prst="rect">
            <a:avLst/>
          </a:prstGeom>
          <a:solidFill>
            <a:srgbClr val="FC6F68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0708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06D44-CB47-4014-B83D-6EA04D70F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48" y="2783609"/>
            <a:ext cx="11983452" cy="1290781"/>
          </a:xfrm>
        </p:spPr>
        <p:txBody>
          <a:bodyPr>
            <a:normAutofit/>
          </a:bodyPr>
          <a:lstStyle/>
          <a:p>
            <a:r>
              <a:rPr lang="en-US" altLang="ko-KR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  <a:endParaRPr lang="ko-KR" alt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40ED4217-0B92-45F0-8674-DAA046A7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30B1F-A8C1-4283-9092-BCCC9E34DE4E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7886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11133</TotalTime>
  <Words>2403</Words>
  <Application>Microsoft Office PowerPoint</Application>
  <PresentationFormat>와이드스크린</PresentationFormat>
  <Paragraphs>305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 Malware and the Network</vt:lpstr>
      <vt:lpstr>  Network-Based Countermeasures</vt:lpstr>
      <vt:lpstr>  Basic Network Indicators</vt:lpstr>
      <vt:lpstr>  Information Exists Around Domains and IPs</vt:lpstr>
      <vt:lpstr>  Detecting Malware with Network Signatures</vt:lpstr>
      <vt:lpstr> Malware Analysis Levels</vt:lpstr>
      <vt:lpstr>  Malware Communication Over HTTP</vt:lpstr>
      <vt:lpstr>  Blending into Legitimate Traffic</vt:lpstr>
      <vt:lpstr>Beaconing: How Malware Communicates</vt:lpstr>
      <vt:lpstr>  Encoding Patterns Used by Malware</vt:lpstr>
      <vt:lpstr>LAB 14-1</vt:lpstr>
      <vt:lpstr>LAB 14-1</vt:lpstr>
      <vt:lpstr>LAB 14-1</vt:lpstr>
      <vt:lpstr> LAB 14-1</vt:lpstr>
      <vt:lpstr>LAB 14-1</vt:lpstr>
      <vt:lpstr> LAB 14-1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수빈 조</cp:lastModifiedBy>
  <cp:revision>198</cp:revision>
  <dcterms:created xsi:type="dcterms:W3CDTF">2025-02-25T16:10:16Z</dcterms:created>
  <dcterms:modified xsi:type="dcterms:W3CDTF">2026-02-11T05:36:44Z</dcterms:modified>
</cp:coreProperties>
</file>